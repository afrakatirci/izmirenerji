
<file path=[Content_Types].xml><?xml version="1.0" encoding="utf-8"?>
<Types xmlns="http://schemas.openxmlformats.org/package/2006/content-types">
  <Default Extension="xlsx" ContentType="application/vnd.openxmlformats-officedocument.spreadsheetml.sheet"/>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2.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7" r:id="rId5"/>
    <p:sldId id="258" r:id="rId6"/>
    <p:sldId id="259" r:id="rId7"/>
    <p:sldId id="282" r:id="rId8"/>
    <p:sldId id="260" r:id="rId9"/>
    <p:sldId id="261" r:id="rId10"/>
    <p:sldId id="292" r:id="rId11"/>
    <p:sldId id="284" r:id="rId12"/>
    <p:sldId id="285" r:id="rId13"/>
    <p:sldId id="262" r:id="rId14"/>
    <p:sldId id="263" r:id="rId15"/>
    <p:sldId id="264" r:id="rId16"/>
    <p:sldId id="299" r:id="rId17"/>
    <p:sldId id="293" r:id="rId18"/>
    <p:sldId id="286" r:id="rId19"/>
    <p:sldId id="287" r:id="rId20"/>
    <p:sldId id="265" r:id="rId21"/>
    <p:sldId id="266" r:id="rId22"/>
    <p:sldId id="267" r:id="rId23"/>
    <p:sldId id="288" r:id="rId24"/>
    <p:sldId id="279" r:id="rId25"/>
    <p:sldId id="268" r:id="rId26"/>
    <p:sldId id="277" r:id="rId27"/>
    <p:sldId id="278" r:id="rId28"/>
    <p:sldId id="289" r:id="rId29"/>
    <p:sldId id="297" r:id="rId30"/>
    <p:sldId id="298" r:id="rId31"/>
    <p:sldId id="269" r:id="rId32"/>
    <p:sldId id="270" r:id="rId33"/>
    <p:sldId id="283" r:id="rId34"/>
    <p:sldId id="290" r:id="rId35"/>
    <p:sldId id="291" r:id="rId36"/>
    <p:sldId id="271" r:id="rId37"/>
    <p:sldId id="296" r:id="rId38"/>
    <p:sldId id="272" r:id="rId39"/>
    <p:sldId id="273" r:id="rId40"/>
    <p:sldId id="274" r:id="rId41"/>
    <p:sldId id="275" r:id="rId42"/>
    <p:sldId id="276" r:id="rId43"/>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10" d="100"/>
          <a:sy n="110" d="100"/>
        </p:scale>
        <p:origin x="658"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6" Type="http://schemas.openxmlformats.org/officeDocument/2006/relationships/tableStyles" Target="tableStyles.xml"/><Relationship Id="rId45" Type="http://schemas.openxmlformats.org/officeDocument/2006/relationships/viewProps" Target="viewProps.xml"/><Relationship Id="rId44" Type="http://schemas.openxmlformats.org/officeDocument/2006/relationships/presProps" Target="presProps.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Workbook1.xlsx"/></Relationships>
</file>

<file path=ppt/charts/_rels/chart2.xml.rels><?xml version="1.0" encoding="UTF-8" standalone="yes"?>
<Relationships xmlns="http://schemas.openxmlformats.org/package/2006/relationships"><Relationship Id="rId1" Type="http://schemas.openxmlformats.org/officeDocument/2006/relationships/package" Target="../embeddings/Workbook2.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0" vertOverflow="ellipsis" vert="horz" wrap="square" anchor="ctr" anchorCtr="1"/>
          <a:lstStyle/>
          <a:p>
            <a:pPr>
              <a:defRPr lang="tr-TR" sz="1000" b="0" i="0" u="none" strike="noStrike" kern="1200" baseline="0">
                <a:solidFill>
                  <a:srgbClr val="212121"/>
                </a:solidFill>
                <a:latin typeface="Arial" panose="020B0604020202020204"/>
                <a:ea typeface="+mn-ea"/>
                <a:cs typeface="+mn-cs"/>
              </a:defRPr>
            </a:pPr>
            <a:r>
              <a:rPr lang="en-GB" sz="1000" b="0" i="0" u="none" strike="noStrike">
                <a:solidFill>
                  <a:srgbClr val="212121"/>
                </a:solidFill>
                <a:latin typeface="Arial" panose="020B0604020202020204"/>
              </a:rPr>
              <a:t>Kapasite Faktörü (%)</a:t>
            </a:r>
            <a:endParaRPr lang="en-GB" sz="1000" b="0" i="0" u="none" strike="noStrike">
              <a:solidFill>
                <a:srgbClr val="212121"/>
              </a:solidFill>
              <a:latin typeface="Arial" panose="020B0604020202020204"/>
            </a:endParaRPr>
          </a:p>
        </c:rich>
      </c:tx>
      <c:layout/>
      <c:overlay val="0"/>
    </c:title>
    <c:autoTitleDeleted val="0"/>
    <c:plotArea>
      <c:layout/>
      <c:barChart>
        <c:barDir val="col"/>
        <c:grouping val="clustered"/>
        <c:varyColors val="0"/>
        <c:ser>
          <c:idx val="0"/>
          <c:order val="0"/>
          <c:tx>
            <c:strRef>
              <c:f>Sheet1!$B$1</c:f>
              <c:strCache>
                <c:ptCount val="1"/>
                <c:pt idx="0">
                  <c:v>Kapasite Faktörü (%)</c:v>
                </c:pt>
              </c:strCache>
            </c:strRef>
          </c:tx>
          <c:spPr>
            <a:solidFill>
              <a:srgbClr val="E67E22"/>
            </a:solidFill>
            <a:effectLst/>
          </c:spPr>
          <c:invertIfNegative val="0"/>
          <c:dPt>
            <c:idx val="0"/>
            <c:invertIfNegative val="0"/>
            <c:bubble3D val="0"/>
          </c:dPt>
          <c:dPt>
            <c:idx val="1"/>
            <c:invertIfNegative val="0"/>
            <c:bubble3D val="0"/>
            <c:spPr>
              <a:solidFill>
                <a:srgbClr val="1A5276"/>
              </a:solidFill>
              <a:effectLst/>
            </c:spPr>
          </c:dPt>
          <c:dPt>
            <c:idx val="2"/>
            <c:invertIfNegative val="0"/>
            <c:bubble3D val="0"/>
            <c:spPr>
              <a:solidFill>
                <a:srgbClr val="1E8449"/>
              </a:solidFill>
              <a:effectLst/>
            </c:spPr>
          </c:dPt>
          <c:dPt>
            <c:idx val="3"/>
            <c:invertIfNegative val="0"/>
            <c:bubble3D val="0"/>
            <c:spPr>
              <a:solidFill>
                <a:srgbClr val="922B21"/>
              </a:solidFill>
              <a:effectLst/>
            </c:spPr>
          </c:dPt>
          <c:dLbls>
            <c:numFmt formatCode="#,##0" sourceLinked="0"/>
            <c:spPr>
              <a:noFill/>
              <a:ln>
                <a:noFill/>
              </a:ln>
              <a:effectLst/>
            </c:spPr>
            <c:txPr>
              <a:bodyPr rot="0" spcFirstLastPara="0" vertOverflow="ellipsis" vert="horz" wrap="square" lIns="38100" tIns="19050" rIns="38100" bIns="19050" anchor="ctr" anchorCtr="1"/>
              <a:lstStyle/>
              <a:p>
                <a:pPr>
                  <a:defRPr lang="tr-TR" sz="1000" b="0" i="0" u="none" strike="noStrike" kern="1200" baseline="0">
                    <a:solidFill>
                      <a:srgbClr val="1A1A1A"/>
                    </a:solidFill>
                    <a:latin typeface="Arial" panose="020B0604020202020204"/>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0"/>
                <c15:leaderLines/>
              </c:ext>
            </c:extLst>
          </c:dLbls>
          <c:cat>
            <c:strRef>
              <c:f>Sheet1!$A$2:$A$5</c:f>
              <c:strCache>
                <c:ptCount val="4"/>
                <c:pt idx="0">
                  <c:v>GES</c:v>
                </c:pt>
                <c:pt idx="1">
                  <c:v>RES</c:v>
                </c:pt>
                <c:pt idx="2">
                  <c:v>Mikro-HES</c:v>
                </c:pt>
                <c:pt idx="3">
                  <c:v>Nükleer</c:v>
                </c:pt>
              </c:strCache>
            </c:strRef>
          </c:cat>
          <c:val>
            <c:numRef>
              <c:f>Sheet1!$B$2:$B$5</c:f>
              <c:numCache>
                <c:formatCode>General</c:formatCode>
                <c:ptCount val="4"/>
                <c:pt idx="0">
                  <c:v>15.9</c:v>
                </c:pt>
                <c:pt idx="1">
                  <c:v>40</c:v>
                </c:pt>
                <c:pt idx="2">
                  <c:v>31.4</c:v>
                </c:pt>
                <c:pt idx="3">
                  <c:v>90</c:v>
                </c:pt>
              </c:numCache>
            </c:numRef>
          </c:val>
        </c:ser>
        <c:dLbls>
          <c:showLegendKey val="0"/>
          <c:showVal val="1"/>
          <c:showCatName val="0"/>
          <c:showSerName val="0"/>
          <c:showPercent val="0"/>
          <c:showBubbleSize val="0"/>
        </c:dLbls>
        <c:gapWidth val="150"/>
        <c:axId val="183764832"/>
        <c:axId val="183765920"/>
      </c:barChart>
      <c:catAx>
        <c:axId val="183764832"/>
        <c:scaling>
          <c:orientation val="minMax"/>
        </c:scaling>
        <c:delete val="0"/>
        <c:axPos val="b"/>
        <c:numFmt formatCode="General" sourceLinked="1"/>
        <c:majorTickMark val="out"/>
        <c:minorTickMark val="none"/>
        <c:tickLblPos val="low"/>
        <c:spPr>
          <a:ln w="12700" cap="flat" cmpd="sng" algn="ctr">
            <a:solidFill>
              <a:srgbClr val="888888"/>
            </a:solidFill>
            <a:prstDash val="solid"/>
            <a:round/>
          </a:ln>
        </c:spPr>
        <c:txPr>
          <a:bodyPr rot="-60000000" spcFirstLastPara="0" vertOverflow="ellipsis" vert="horz" wrap="square" anchor="ctr" anchorCtr="1"/>
          <a:lstStyle/>
          <a:p>
            <a:pPr>
              <a:defRPr lang="tr-TR" sz="1200" b="0" i="0" u="none" strike="noStrike" kern="1200" baseline="0">
                <a:solidFill>
                  <a:srgbClr val="444444"/>
                </a:solidFill>
                <a:latin typeface="Arial" panose="020B0604020202020204"/>
                <a:ea typeface="+mn-ea"/>
                <a:cs typeface="+mn-cs"/>
              </a:defRPr>
            </a:pPr>
          </a:p>
        </c:txPr>
        <c:crossAx val="183765920"/>
        <c:crosses val="autoZero"/>
        <c:auto val="1"/>
        <c:lblAlgn val="ctr"/>
        <c:lblOffset val="100"/>
        <c:noMultiLvlLbl val="1"/>
      </c:catAx>
      <c:valAx>
        <c:axId val="183765920"/>
        <c:scaling>
          <c:orientation val="minMax"/>
        </c:scaling>
        <c:delete val="0"/>
        <c:axPos val="l"/>
        <c:majorGridlines>
          <c:spPr>
            <a:ln w="6350" cap="flat" cmpd="sng" algn="ctr">
              <a:solidFill>
                <a:srgbClr val="E2E8F0"/>
              </a:solidFill>
              <a:prstDash val="solid"/>
              <a:round/>
            </a:ln>
          </c:spPr>
        </c:majorGridlines>
        <c:numFmt formatCode="General" sourceLinked="0"/>
        <c:majorTickMark val="out"/>
        <c:minorTickMark val="none"/>
        <c:tickLblPos val="nextTo"/>
        <c:spPr>
          <a:ln w="12700" cap="flat" cmpd="sng" algn="ctr">
            <a:solidFill>
              <a:srgbClr val="888888"/>
            </a:solidFill>
            <a:prstDash val="solid"/>
            <a:round/>
          </a:ln>
        </c:spPr>
        <c:txPr>
          <a:bodyPr rot="-60000000" spcFirstLastPara="0" vertOverflow="ellipsis" vert="horz" wrap="square" anchor="ctr" anchorCtr="1"/>
          <a:lstStyle/>
          <a:p>
            <a:pPr>
              <a:defRPr lang="tr-TR" sz="1200" b="0" i="0" u="none" strike="noStrike" kern="1200" baseline="0">
                <a:solidFill>
                  <a:srgbClr val="444444"/>
                </a:solidFill>
                <a:latin typeface="Arial" panose="020B0604020202020204"/>
                <a:ea typeface="+mn-ea"/>
                <a:cs typeface="+mn-cs"/>
              </a:defRPr>
            </a:pPr>
          </a:p>
        </c:txPr>
        <c:crossAx val="183764832"/>
        <c:crosses val="autoZero"/>
        <c:crossBetween val="between"/>
      </c:valAx>
      <c:spPr>
        <a:noFill/>
        <a:ln>
          <a:noFill/>
        </a:ln>
        <a:effectLst/>
      </c:spPr>
    </c:plotArea>
    <c:plotVisOnly val="1"/>
    <c:dispBlanksAs val="span"/>
    <c:showDLblsOverMax val="1"/>
    <c:extLst>
      <c:ext uri="{0b15fc19-7d7d-44ad-8c2d-2c3a37ce22c3}">
        <chartProps xmlns="https://web.wps.cn/et/2018/main" chartId="{59d921d0-5bf9-4a50-b078-0feecd1e95b4}"/>
      </c:ext>
    </c:extLst>
  </c:chart>
  <c:spPr>
    <a:solidFill>
      <a:srgbClr val="F4F6F8"/>
    </a:solidFill>
    <a:ln>
      <a:noFill/>
    </a:ln>
    <a:effectLst/>
  </c:spPr>
  <c:txPr>
    <a:bodyPr/>
    <a:lstStyle/>
    <a:p>
      <a:pPr>
        <a:defRPr lang="tr-TR"/>
      </a:pPr>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0" vertOverflow="ellipsis" vert="horz" wrap="square" anchor="ctr" anchorCtr="1"/>
          <a:lstStyle/>
          <a:p>
            <a:pPr>
              <a:defRPr lang="tr-TR" sz="1000" b="0" i="0" u="none" strike="noStrike" kern="1200" baseline="0">
                <a:solidFill>
                  <a:srgbClr val="212121"/>
                </a:solidFill>
                <a:latin typeface="Arial" panose="020B0604020202020204"/>
                <a:ea typeface="+mn-ea"/>
                <a:cs typeface="+mn-cs"/>
              </a:defRPr>
            </a:pPr>
            <a:r>
              <a:rPr lang="en-GB" sz="1000" b="0" i="0" u="none" strike="noStrike">
                <a:solidFill>
                  <a:srgbClr val="212121"/>
                </a:solidFill>
                <a:latin typeface="Arial" panose="020B0604020202020204"/>
              </a:rPr>
              <a:t>Yıllık Üretim (MWh)</a:t>
            </a:r>
            <a:endParaRPr lang="en-GB" sz="1000" b="0" i="0" u="none" strike="noStrike">
              <a:solidFill>
                <a:srgbClr val="212121"/>
              </a:solidFill>
              <a:latin typeface="Arial" panose="020B0604020202020204"/>
            </a:endParaRPr>
          </a:p>
        </c:rich>
      </c:tx>
      <c:layout/>
      <c:overlay val="0"/>
    </c:title>
    <c:autoTitleDeleted val="0"/>
    <c:plotArea>
      <c:layout/>
      <c:barChart>
        <c:barDir val="col"/>
        <c:grouping val="clustered"/>
        <c:varyColors val="0"/>
        <c:ser>
          <c:idx val="0"/>
          <c:order val="0"/>
          <c:tx>
            <c:strRef>
              <c:f>Sheet1!$B$1</c:f>
              <c:strCache>
                <c:ptCount val="1"/>
                <c:pt idx="0">
                  <c:v>Yıllık Üretim (MWh)</c:v>
                </c:pt>
              </c:strCache>
            </c:strRef>
          </c:tx>
          <c:spPr>
            <a:solidFill>
              <a:srgbClr val="E67E22"/>
            </a:solidFill>
            <a:effectLst/>
          </c:spPr>
          <c:invertIfNegative val="0"/>
          <c:dPt>
            <c:idx val="0"/>
            <c:invertIfNegative val="0"/>
            <c:bubble3D val="0"/>
          </c:dPt>
          <c:dPt>
            <c:idx val="1"/>
            <c:invertIfNegative val="0"/>
            <c:bubble3D val="0"/>
            <c:spPr>
              <a:solidFill>
                <a:srgbClr val="1A5276"/>
              </a:solidFill>
              <a:effectLst/>
            </c:spPr>
          </c:dPt>
          <c:dPt>
            <c:idx val="2"/>
            <c:invertIfNegative val="0"/>
            <c:bubble3D val="0"/>
            <c:spPr>
              <a:solidFill>
                <a:srgbClr val="1E8449"/>
              </a:solidFill>
              <a:effectLst/>
            </c:spPr>
          </c:dPt>
          <c:dLbls>
            <c:numFmt formatCode="#,##0" sourceLinked="0"/>
            <c:spPr>
              <a:noFill/>
              <a:ln>
                <a:noFill/>
              </a:ln>
              <a:effectLst/>
            </c:spPr>
            <c:txPr>
              <a:bodyPr rot="0" spcFirstLastPara="0" vertOverflow="ellipsis" vert="horz" wrap="square" lIns="38100" tIns="19050" rIns="38100" bIns="19050" anchor="ctr" anchorCtr="1"/>
              <a:lstStyle/>
              <a:p>
                <a:pPr>
                  <a:defRPr lang="tr-TR" sz="1000" b="0" i="0" u="none" strike="noStrike" kern="1200" baseline="0">
                    <a:solidFill>
                      <a:srgbClr val="1A1A1A"/>
                    </a:solidFill>
                    <a:latin typeface="Arial" panose="020B0604020202020204"/>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0"/>
                <c15:leaderLines/>
              </c:ext>
            </c:extLst>
          </c:dLbls>
          <c:cat>
            <c:strRef>
              <c:f>Sheet1!$A$2:$A$4</c:f>
              <c:strCache>
                <c:ptCount val="3"/>
                <c:pt idx="0">
                  <c:v>GES</c:v>
                </c:pt>
                <c:pt idx="1">
                  <c:v>RES</c:v>
                </c:pt>
                <c:pt idx="2">
                  <c:v>Mikro-HES</c:v>
                </c:pt>
              </c:strCache>
            </c:strRef>
          </c:cat>
          <c:val>
            <c:numRef>
              <c:f>Sheet1!$B$2:$B$4</c:f>
              <c:numCache>
                <c:formatCode>General</c:formatCode>
                <c:ptCount val="3"/>
                <c:pt idx="0">
                  <c:v>69800</c:v>
                </c:pt>
                <c:pt idx="1">
                  <c:v>120900</c:v>
                </c:pt>
                <c:pt idx="2">
                  <c:v>5500</c:v>
                </c:pt>
              </c:numCache>
            </c:numRef>
          </c:val>
        </c:ser>
        <c:dLbls>
          <c:showLegendKey val="0"/>
          <c:showVal val="1"/>
          <c:showCatName val="0"/>
          <c:showSerName val="0"/>
          <c:showPercent val="0"/>
          <c:showBubbleSize val="0"/>
        </c:dLbls>
        <c:gapWidth val="150"/>
        <c:axId val="183757760"/>
        <c:axId val="183761568"/>
      </c:barChart>
      <c:catAx>
        <c:axId val="183757760"/>
        <c:scaling>
          <c:orientation val="minMax"/>
        </c:scaling>
        <c:delete val="0"/>
        <c:axPos val="b"/>
        <c:numFmt formatCode="General" sourceLinked="1"/>
        <c:majorTickMark val="out"/>
        <c:minorTickMark val="none"/>
        <c:tickLblPos val="low"/>
        <c:spPr>
          <a:ln w="12700" cap="flat" cmpd="sng" algn="ctr">
            <a:solidFill>
              <a:srgbClr val="888888"/>
            </a:solidFill>
            <a:prstDash val="solid"/>
            <a:round/>
          </a:ln>
        </c:spPr>
        <c:txPr>
          <a:bodyPr rot="-60000000" spcFirstLastPara="0" vertOverflow="ellipsis" vert="horz" wrap="square" anchor="ctr" anchorCtr="1"/>
          <a:lstStyle/>
          <a:p>
            <a:pPr>
              <a:defRPr lang="tr-TR" sz="1200" b="0" i="0" u="none" strike="noStrike" kern="1200" baseline="0">
                <a:solidFill>
                  <a:srgbClr val="444444"/>
                </a:solidFill>
                <a:latin typeface="Arial" panose="020B0604020202020204"/>
                <a:ea typeface="+mn-ea"/>
                <a:cs typeface="+mn-cs"/>
              </a:defRPr>
            </a:pPr>
          </a:p>
        </c:txPr>
        <c:crossAx val="183761568"/>
        <c:crosses val="autoZero"/>
        <c:auto val="1"/>
        <c:lblAlgn val="ctr"/>
        <c:lblOffset val="100"/>
        <c:noMultiLvlLbl val="1"/>
      </c:catAx>
      <c:valAx>
        <c:axId val="183761568"/>
        <c:scaling>
          <c:orientation val="minMax"/>
        </c:scaling>
        <c:delete val="0"/>
        <c:axPos val="l"/>
        <c:majorGridlines>
          <c:spPr>
            <a:ln w="6350" cap="flat" cmpd="sng" algn="ctr">
              <a:solidFill>
                <a:srgbClr val="E2E8F0"/>
              </a:solidFill>
              <a:prstDash val="solid"/>
              <a:round/>
            </a:ln>
          </c:spPr>
        </c:majorGridlines>
        <c:numFmt formatCode="General" sourceLinked="0"/>
        <c:majorTickMark val="out"/>
        <c:minorTickMark val="none"/>
        <c:tickLblPos val="nextTo"/>
        <c:spPr>
          <a:ln w="12700" cap="flat" cmpd="sng" algn="ctr">
            <a:solidFill>
              <a:srgbClr val="888888"/>
            </a:solidFill>
            <a:prstDash val="solid"/>
            <a:round/>
          </a:ln>
        </c:spPr>
        <c:txPr>
          <a:bodyPr rot="-60000000" spcFirstLastPara="0" vertOverflow="ellipsis" vert="horz" wrap="square" anchor="ctr" anchorCtr="1"/>
          <a:lstStyle/>
          <a:p>
            <a:pPr>
              <a:defRPr lang="tr-TR" sz="1200" b="0" i="0" u="none" strike="noStrike" kern="1200" baseline="0">
                <a:solidFill>
                  <a:srgbClr val="444444"/>
                </a:solidFill>
                <a:latin typeface="Arial" panose="020B0604020202020204"/>
                <a:ea typeface="+mn-ea"/>
                <a:cs typeface="+mn-cs"/>
              </a:defRPr>
            </a:pPr>
          </a:p>
        </c:txPr>
        <c:crossAx val="183757760"/>
        <c:crosses val="autoZero"/>
        <c:crossBetween val="between"/>
      </c:valAx>
      <c:spPr>
        <a:noFill/>
        <a:ln>
          <a:noFill/>
        </a:ln>
        <a:effectLst/>
      </c:spPr>
    </c:plotArea>
    <c:plotVisOnly val="1"/>
    <c:dispBlanksAs val="span"/>
    <c:showDLblsOverMax val="1"/>
    <c:extLst>
      <c:ext uri="{0b15fc19-7d7d-44ad-8c2d-2c3a37ce22c3}">
        <chartProps xmlns="https://web.wps.cn/et/2018/main" chartId="{6595894f-6705-4bd3-be9e-d7d274f0487e}"/>
      </c:ext>
    </c:extLst>
  </c:chart>
  <c:spPr>
    <a:solidFill>
      <a:srgbClr val="F4F6F8"/>
    </a:solidFill>
    <a:ln>
      <a:noFill/>
    </a:ln>
    <a:effectLst/>
  </c:spPr>
  <c:txPr>
    <a:bodyPr/>
    <a:lstStyle/>
    <a:p>
      <a:pPr>
        <a:defRPr lang="tr-TR"/>
      </a:pPr>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Metin Yer Tutucu 1"/>
          <p:cNvSpPr>
            <a:spLocks noGrp="1"/>
          </p:cNvSpPr>
          <p:nvPr>
            <p:ph type="body" sz="quarter"/>
          </p:nvPr>
        </p:nvSpPr>
        <p:spPr>
          <a:xfrm>
            <a:off x="496512" y="3931500"/>
            <a:ext cx="3972099" cy="3216682"/>
          </a:xfrm>
          <a:prstGeom prst="rect">
            <a:avLst/>
          </a:prstGeom>
        </p:spPr>
        <p:txBody>
          <a:bodyPr/>
          <a:p>
            <a:endParaRPr lang="tr-TR"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p:spPr>
        <p:txBody>
          <a:bodyPr/>
          <a:lstStyle/>
          <a:p>
            <a:r>
              <a:rPr lang="en-US"/>
              <a:t>Click to edit Master title style</a:t>
            </a:r>
            <a:endParaRPr lang="en-US"/>
          </a:p>
        </p:txBody>
      </p:sp>
      <p:sp>
        <p:nvSpPr>
          <p:cNvPr id="3" name="Text Placeholder 2"/>
          <p:cNvSpPr>
            <a:spLocks noGrp="1"/>
          </p:cNvSpPr>
          <p:nvPr>
            <p:ph type="body" idx="1"/>
          </p:nvPr>
        </p:nvSpPr>
        <p:spPr>
          <a:xfrm>
            <a:off x="838200" y="1825625"/>
            <a:ext cx="10515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a:xfrm>
            <a:off x="838200" y="6356350"/>
            <a:ext cx="2743200" cy="365125"/>
          </a:xfrm>
        </p:spPr>
        <p:txBody>
          <a:bodyPr/>
          <a:lstStyle/>
          <a:p>
            <a:fld id="{FDE934FF-F4E1-47C5-9CA5-30A81DDE2BE4}" type="datetimeFigureOut">
              <a:rPr lang="en-US" smtClean="0"/>
            </a:fld>
            <a:endParaRPr lang="en-US"/>
          </a:p>
        </p:txBody>
      </p:sp>
      <p:sp>
        <p:nvSpPr>
          <p:cNvPr id="5" name="Footer Placeholder 4"/>
          <p:cNvSpPr>
            <a:spLocks noGrp="1"/>
          </p:cNvSpPr>
          <p:nvPr>
            <p:ph type="ftr" sz="quarter" idx="11"/>
          </p:nvPr>
        </p:nvSpPr>
        <p:spPr>
          <a:xfrm>
            <a:off x="4038600" y="6356350"/>
            <a:ext cx="4114800" cy="365125"/>
          </a:xfrm>
        </p:spPr>
        <p:txBody>
          <a:bodyPr/>
          <a:lstStyle/>
          <a:p>
            <a:endParaRPr lang="en-US"/>
          </a:p>
        </p:txBody>
      </p:sp>
      <p:sp>
        <p:nvSpPr>
          <p:cNvPr id="6" name="Slide Number Placeholder 5"/>
          <p:cNvSpPr>
            <a:spLocks noGrp="1"/>
          </p:cNvSpPr>
          <p:nvPr>
            <p:ph type="sldNum" sz="quarter" idx="12"/>
          </p:nvPr>
        </p:nvSpPr>
        <p:spPr>
          <a:xfrm>
            <a:off x="8610600" y="6356350"/>
            <a:ext cx="2743200" cy="365125"/>
          </a:xfrm>
        </p:spPr>
        <p:txBody>
          <a:bodyPr/>
          <a:lstStyle/>
          <a:p>
            <a:fld id="{B3561BA9-CDCF-4958-B8AB-66F3BF063E13}"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9" Type="http://schemas.openxmlformats.org/officeDocument/2006/relationships/tags" Target="../tags/tag9.xml"/><Relationship Id="rId8" Type="http://schemas.openxmlformats.org/officeDocument/2006/relationships/tags" Target="../tags/tag8.xml"/><Relationship Id="rId7" Type="http://schemas.openxmlformats.org/officeDocument/2006/relationships/tags" Target="../tags/tag7.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 Type="http://schemas.openxmlformats.org/officeDocument/2006/relationships/tags" Target="../tags/tag2.xml"/><Relationship Id="rId18" Type="http://schemas.openxmlformats.org/officeDocument/2006/relationships/notesSlide" Target="../notesSlides/notesSlide6.xml"/><Relationship Id="rId17" Type="http://schemas.openxmlformats.org/officeDocument/2006/relationships/slideLayout" Target="../slideLayouts/slideLayout1.xml"/><Relationship Id="rId16" Type="http://schemas.openxmlformats.org/officeDocument/2006/relationships/tags" Target="../tags/tag16.xml"/><Relationship Id="rId15" Type="http://schemas.openxmlformats.org/officeDocument/2006/relationships/tags" Target="../tags/tag15.xml"/><Relationship Id="rId14" Type="http://schemas.openxmlformats.org/officeDocument/2006/relationships/tags" Target="../tags/tag14.xml"/><Relationship Id="rId13" Type="http://schemas.openxmlformats.org/officeDocument/2006/relationships/tags" Target="../tags/tag13.xml"/><Relationship Id="rId12" Type="http://schemas.openxmlformats.org/officeDocument/2006/relationships/tags" Target="../tags/tag12.xml"/><Relationship Id="rId11" Type="http://schemas.openxmlformats.org/officeDocument/2006/relationships/tags" Target="../tags/tag11.xml"/><Relationship Id="rId10" Type="http://schemas.openxmlformats.org/officeDocument/2006/relationships/tags" Target="../tags/tag10.xml"/><Relationship Id="rId1" Type="http://schemas.openxmlformats.org/officeDocument/2006/relationships/tags" Target="../tags/tag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9" Type="http://schemas.openxmlformats.org/officeDocument/2006/relationships/tags" Target="../tags/tag25.xml"/><Relationship Id="rId8" Type="http://schemas.openxmlformats.org/officeDocument/2006/relationships/tags" Target="../tags/tag24.xml"/><Relationship Id="rId7" Type="http://schemas.openxmlformats.org/officeDocument/2006/relationships/tags" Target="../tags/tag23.xml"/><Relationship Id="rId6" Type="http://schemas.openxmlformats.org/officeDocument/2006/relationships/tags" Target="../tags/tag22.xml"/><Relationship Id="rId5" Type="http://schemas.openxmlformats.org/officeDocument/2006/relationships/tags" Target="../tags/tag21.xml"/><Relationship Id="rId4" Type="http://schemas.openxmlformats.org/officeDocument/2006/relationships/tags" Target="../tags/tag20.xml"/><Relationship Id="rId3" Type="http://schemas.openxmlformats.org/officeDocument/2006/relationships/tags" Target="../tags/tag19.xml"/><Relationship Id="rId2" Type="http://schemas.openxmlformats.org/officeDocument/2006/relationships/tags" Target="../tags/tag18.xml"/><Relationship Id="rId18" Type="http://schemas.openxmlformats.org/officeDocument/2006/relationships/notesSlide" Target="../notesSlides/notesSlide9.xml"/><Relationship Id="rId17" Type="http://schemas.openxmlformats.org/officeDocument/2006/relationships/slideLayout" Target="../slideLayouts/slideLayout1.xml"/><Relationship Id="rId16" Type="http://schemas.openxmlformats.org/officeDocument/2006/relationships/tags" Target="../tags/tag32.xml"/><Relationship Id="rId15" Type="http://schemas.openxmlformats.org/officeDocument/2006/relationships/tags" Target="../tags/tag31.xml"/><Relationship Id="rId14" Type="http://schemas.openxmlformats.org/officeDocument/2006/relationships/tags" Target="../tags/tag30.xml"/><Relationship Id="rId13" Type="http://schemas.openxmlformats.org/officeDocument/2006/relationships/tags" Target="../tags/tag29.xml"/><Relationship Id="rId12" Type="http://schemas.openxmlformats.org/officeDocument/2006/relationships/tags" Target="../tags/tag28.xml"/><Relationship Id="rId11" Type="http://schemas.openxmlformats.org/officeDocument/2006/relationships/tags" Target="../tags/tag27.xml"/><Relationship Id="rId10" Type="http://schemas.openxmlformats.org/officeDocument/2006/relationships/tags" Target="../tags/tag26.xml"/><Relationship Id="rId1" Type="http://schemas.openxmlformats.org/officeDocument/2006/relationships/tags" Target="../tags/tag17.xml"/></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3.png"/><Relationship Id="rId1"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4.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5.jpeg"/></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6.jpeg"/></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7.png"/></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8.png"/></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xml"/><Relationship Id="rId1" Type="http://schemas.openxmlformats.org/officeDocument/2006/relationships/image" Target="../media/image9.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0.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1.png"/></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2.png"/></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4" Type="http://schemas.openxmlformats.org/officeDocument/2006/relationships/notesSlide" Target="../notesSlides/notesSlide19.xml"/><Relationship Id="rId3" Type="http://schemas.openxmlformats.org/officeDocument/2006/relationships/slideLayout" Target="../slideLayouts/slideLayout1.xml"/><Relationship Id="rId2" Type="http://schemas.openxmlformats.org/officeDocument/2006/relationships/chart" Target="../charts/chart2.xml"/><Relationship Id="rId1" Type="http://schemas.openxmlformats.org/officeDocument/2006/relationships/chart" Target="../charts/char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B3A6B"/>
        </a:solidFill>
        <a:effectLst/>
      </p:bgPr>
    </p:bg>
    <p:spTree>
      <p:nvGrpSpPr>
        <p:cNvPr id="1" name=""/>
        <p:cNvGrpSpPr/>
        <p:nvPr/>
      </p:nvGrpSpPr>
      <p:grpSpPr>
        <a:xfrm>
          <a:off x="0" y="0"/>
          <a:ext cx="0" cy="0"/>
          <a:chOff x="0" y="0"/>
          <a:chExt cx="0" cy="0"/>
        </a:xfrm>
      </p:grpSpPr>
      <p:sp>
        <p:nvSpPr>
          <p:cNvPr id="2" name="Shape 0"/>
          <p:cNvSpPr/>
          <p:nvPr/>
        </p:nvSpPr>
        <p:spPr>
          <a:xfrm>
            <a:off x="5943600" y="0"/>
            <a:ext cx="3200400" cy="5143500"/>
          </a:xfrm>
          <a:prstGeom prst="rect">
            <a:avLst/>
          </a:prstGeom>
          <a:solidFill>
            <a:srgbClr val="1D6A72">
              <a:alpha val="70000"/>
            </a:srgbClr>
          </a:solidFill>
          <a:ln w="12700">
            <a:solidFill>
              <a:srgbClr val="1D6A72"/>
            </a:solidFill>
            <a:prstDash val="solid"/>
          </a:ln>
        </p:spPr>
        <p:txBody>
          <a:bodyPr/>
          <a:lstStyle/>
          <a:p>
            <a:endParaRPr lang="tr-TR"/>
          </a:p>
        </p:txBody>
      </p:sp>
      <p:sp>
        <p:nvSpPr>
          <p:cNvPr id="3" name="Shape 1"/>
          <p:cNvSpPr/>
          <p:nvPr/>
        </p:nvSpPr>
        <p:spPr>
          <a:xfrm>
            <a:off x="0" y="4663440"/>
            <a:ext cx="9144000" cy="480060"/>
          </a:xfrm>
          <a:prstGeom prst="rect">
            <a:avLst/>
          </a:prstGeom>
          <a:solidFill>
            <a:srgbClr val="C8901A"/>
          </a:solidFill>
          <a:ln w="12700">
            <a:solidFill>
              <a:srgbClr val="C8901A"/>
            </a:solidFill>
            <a:prstDash val="solid"/>
          </a:ln>
        </p:spPr>
        <p:txBody>
          <a:bodyPr/>
          <a:lstStyle/>
          <a:p>
            <a:endParaRPr lang="tr-TR"/>
          </a:p>
        </p:txBody>
      </p:sp>
      <p:sp>
        <p:nvSpPr>
          <p:cNvPr id="4" name="Text 2"/>
          <p:cNvSpPr/>
          <p:nvPr/>
        </p:nvSpPr>
        <p:spPr>
          <a:xfrm>
            <a:off x="457200" y="640080"/>
            <a:ext cx="5669280" cy="731520"/>
          </a:xfrm>
          <a:prstGeom prst="rect">
            <a:avLst/>
          </a:prstGeom>
          <a:noFill/>
        </p:spPr>
        <p:txBody>
          <a:bodyPr wrap="square" rtlCol="0" anchor="ctr"/>
          <a:lstStyle/>
          <a:p>
            <a:pPr marL="0" indent="0">
              <a:buNone/>
            </a:pPr>
            <a:r>
              <a:rPr lang="en-US" sz="3800" b="1" kern="0" spc="600" dirty="0">
                <a:solidFill>
                  <a:srgbClr val="FFFFFF"/>
                </a:solidFill>
                <a:latin typeface="Calibri" panose="020F0502020204030204" pitchFamily="34" charset="0"/>
                <a:ea typeface="Calibri" panose="020F0502020204030204" pitchFamily="34" charset="-122"/>
                <a:cs typeface="Calibri" panose="020F0502020204030204" pitchFamily="34" charset="-120"/>
              </a:rPr>
              <a:t>İZMİR </a:t>
            </a:r>
            <a:endParaRPr lang="en-US" sz="3800" dirty="0"/>
          </a:p>
        </p:txBody>
      </p:sp>
      <p:sp>
        <p:nvSpPr>
          <p:cNvPr id="5" name="Text 3"/>
          <p:cNvSpPr/>
          <p:nvPr/>
        </p:nvSpPr>
        <p:spPr>
          <a:xfrm>
            <a:off x="457200" y="1417320"/>
            <a:ext cx="5669280" cy="1005840"/>
          </a:xfrm>
          <a:prstGeom prst="rect">
            <a:avLst/>
          </a:prstGeom>
          <a:noFill/>
        </p:spPr>
        <p:txBody>
          <a:bodyPr wrap="square" rtlCol="0" anchor="ctr"/>
          <a:lstStyle/>
          <a:p>
            <a:pPr marL="0" indent="0">
              <a:buNone/>
            </a:pPr>
            <a:r>
              <a:rPr lang="en-US" sz="2200" dirty="0">
                <a:solidFill>
                  <a:srgbClr val="A9CCE3"/>
                </a:solidFill>
                <a:latin typeface="Calibri" panose="020F0502020204030204" pitchFamily="34" charset="0"/>
                <a:ea typeface="Calibri" panose="020F0502020204030204" pitchFamily="34" charset="-122"/>
                <a:cs typeface="Calibri" panose="020F0502020204030204" pitchFamily="34" charset="-120"/>
              </a:rPr>
              <a:t>YENİLENEBİLİR ENERJİ</a:t>
            </a:r>
            <a:endParaRPr lang="en-US" sz="2200" dirty="0"/>
          </a:p>
          <a:p>
            <a:pPr marL="0" indent="0">
              <a:buNone/>
            </a:pPr>
            <a:r>
              <a:rPr lang="en-US" sz="2200" dirty="0">
                <a:solidFill>
                  <a:srgbClr val="A9CCE3"/>
                </a:solidFill>
                <a:latin typeface="Calibri" panose="020F0502020204030204" pitchFamily="34" charset="0"/>
                <a:ea typeface="Calibri" panose="020F0502020204030204" pitchFamily="34" charset="-122"/>
                <a:cs typeface="Calibri" panose="020F0502020204030204" pitchFamily="34" charset="-120"/>
              </a:rPr>
              <a:t>KAYNAKLARI ANALİZİ</a:t>
            </a:r>
            <a:endParaRPr lang="en-US" sz="2200" dirty="0"/>
          </a:p>
        </p:txBody>
      </p:sp>
      <p:sp>
        <p:nvSpPr>
          <p:cNvPr id="6" name="Text 4"/>
          <p:cNvSpPr/>
          <p:nvPr/>
        </p:nvSpPr>
        <p:spPr>
          <a:xfrm>
            <a:off x="457200" y="2514600"/>
            <a:ext cx="5669280" cy="411480"/>
          </a:xfrm>
          <a:prstGeom prst="rect">
            <a:avLst/>
          </a:prstGeom>
          <a:noFill/>
        </p:spPr>
        <p:txBody>
          <a:bodyPr wrap="square" rtlCol="0" anchor="ctr"/>
          <a:lstStyle/>
          <a:p>
            <a:pPr marL="0" indent="0">
              <a:buNone/>
            </a:pPr>
            <a:r>
              <a:rPr lang="en-US" sz="1300" i="1" dirty="0">
                <a:solidFill>
                  <a:srgbClr val="C8901A"/>
                </a:solidFill>
                <a:latin typeface="Calibri" panose="020F0502020204030204" pitchFamily="34" charset="0"/>
                <a:ea typeface="Calibri" panose="020F0502020204030204" pitchFamily="34" charset="-122"/>
                <a:cs typeface="Calibri" panose="020F0502020204030204" pitchFamily="34" charset="-120"/>
              </a:rPr>
              <a:t>GES  ·  RES  ·  MİKRO-HES  ·  NÜKLEER</a:t>
            </a:r>
            <a:endParaRPr lang="en-US" sz="1300" dirty="0"/>
          </a:p>
        </p:txBody>
      </p:sp>
      <p:sp>
        <p:nvSpPr>
          <p:cNvPr id="7" name="Shape 5"/>
          <p:cNvSpPr/>
          <p:nvPr/>
        </p:nvSpPr>
        <p:spPr>
          <a:xfrm>
            <a:off x="457200" y="3017520"/>
            <a:ext cx="5029200" cy="0"/>
          </a:xfrm>
          <a:prstGeom prst="line">
            <a:avLst/>
          </a:prstGeom>
          <a:noFill/>
          <a:ln w="19050">
            <a:solidFill>
              <a:srgbClr val="C8901A"/>
            </a:solidFill>
            <a:prstDash val="solid"/>
          </a:ln>
        </p:spPr>
        <p:txBody>
          <a:bodyPr/>
          <a:lstStyle/>
          <a:p>
            <a:endParaRPr lang="tr-TR"/>
          </a:p>
        </p:txBody>
      </p:sp>
      <p:sp>
        <p:nvSpPr>
          <p:cNvPr id="8" name="Text 6"/>
          <p:cNvSpPr/>
          <p:nvPr/>
        </p:nvSpPr>
        <p:spPr>
          <a:xfrm>
            <a:off x="457200" y="3246120"/>
            <a:ext cx="5669280" cy="777240"/>
          </a:xfrm>
          <a:prstGeom prst="rect">
            <a:avLst/>
          </a:prstGeom>
          <a:noFill/>
        </p:spPr>
        <p:txBody>
          <a:bodyPr wrap="square" rtlCol="0" anchor="ctr"/>
          <a:lstStyle/>
          <a:p>
            <a:pPr marL="0" indent="0">
              <a:buNone/>
            </a:pPr>
            <a:r>
              <a:rPr lang="en-US" sz="1100" b="1" dirty="0">
                <a:solidFill>
                  <a:srgbClr val="D6EAF8"/>
                </a:solidFill>
                <a:latin typeface="Calibri" panose="020F0502020204030204" pitchFamily="34" charset="0"/>
                <a:ea typeface="Calibri" panose="020F0502020204030204" pitchFamily="34" charset="-122"/>
                <a:cs typeface="Calibri" panose="020F0502020204030204" pitchFamily="34" charset="-120"/>
              </a:rPr>
              <a:t>Danışman: </a:t>
            </a:r>
            <a:r>
              <a:rPr lang="en-US" sz="1100" dirty="0">
                <a:solidFill>
                  <a:srgbClr val="D6EAF8"/>
                </a:solidFill>
                <a:latin typeface="Calibri" panose="020F0502020204030204" pitchFamily="34" charset="0"/>
                <a:ea typeface="Calibri" panose="020F0502020204030204" pitchFamily="34" charset="-122"/>
                <a:cs typeface="Calibri" panose="020F0502020204030204" pitchFamily="34" charset="-120"/>
              </a:rPr>
              <a:t>Doç. Dr. Ceyda Aksoy Tırmıkçı
</a:t>
            </a:r>
            <a:r>
              <a:rPr lang="en-US" sz="1100" b="1" dirty="0">
                <a:solidFill>
                  <a:srgbClr val="D6EAF8"/>
                </a:solidFill>
                <a:latin typeface="Calibri" panose="020F0502020204030204" pitchFamily="34" charset="0"/>
                <a:ea typeface="Calibri" panose="020F0502020204030204" pitchFamily="34" charset="-122"/>
                <a:cs typeface="Calibri" panose="020F0502020204030204" pitchFamily="34" charset="-120"/>
              </a:rPr>
              <a:t>Ekip: </a:t>
            </a:r>
            <a:r>
              <a:rPr lang="en-US" sz="1100" dirty="0">
                <a:solidFill>
                  <a:srgbClr val="D6EAF8"/>
                </a:solidFill>
                <a:latin typeface="Calibri" panose="020F0502020204030204" pitchFamily="34" charset="0"/>
                <a:ea typeface="Calibri" panose="020F0502020204030204" pitchFamily="34" charset="-122"/>
                <a:cs typeface="Calibri" panose="020F0502020204030204" pitchFamily="34" charset="-120"/>
              </a:rPr>
              <a:t>Can Burak Turcan · Afra Katırcı · Vahit Cem Bozkaya</a:t>
            </a:r>
            <a:endParaRPr lang="en-US" sz="1100" dirty="0"/>
          </a:p>
        </p:txBody>
      </p:sp>
      <p:sp>
        <p:nvSpPr>
          <p:cNvPr id="9" name="Text 7"/>
          <p:cNvSpPr/>
          <p:nvPr/>
        </p:nvSpPr>
        <p:spPr>
          <a:xfrm>
            <a:off x="274320" y="4681728"/>
            <a:ext cx="8595360" cy="338328"/>
          </a:xfrm>
          <a:prstGeom prst="rect">
            <a:avLst/>
          </a:prstGeom>
          <a:noFill/>
        </p:spPr>
        <p:txBody>
          <a:bodyPr wrap="square" rtlCol="0" anchor="ctr"/>
          <a:lstStyle/>
          <a:p>
            <a:pPr marL="0" indent="0" algn="ctr">
              <a:buNone/>
            </a:pPr>
            <a:r>
              <a:rPr lang="en-US" sz="1000" b="1" dirty="0">
                <a:solidFill>
                  <a:srgbClr val="1B3A6B"/>
                </a:solidFill>
                <a:latin typeface="Calibri" panose="020F0502020204030204" pitchFamily="34" charset="0"/>
                <a:ea typeface="Calibri" panose="020F0502020204030204" pitchFamily="34" charset="-122"/>
                <a:cs typeface="Calibri" panose="020F0502020204030204" pitchFamily="34" charset="-120"/>
              </a:rPr>
              <a:t>SAÜ  |  Elektrik-Elektronik Mühendisliği  |  2024–2025</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8F9FA"/>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B3A6B"/>
          </a:solidFill>
          <a:ln w="12700">
            <a:solidFill>
              <a:srgbClr val="1B3A6B"/>
            </a:solidFill>
            <a:prstDash val="solid"/>
          </a:ln>
        </p:spPr>
        <p:txBody>
          <a:bodyPr/>
          <a:lstStyle/>
          <a:p>
            <a:endParaRPr lang="tr-TR"/>
          </a:p>
        </p:txBody>
      </p:sp>
      <p:sp>
        <p:nvSpPr>
          <p:cNvPr id="3" name="Shape 1"/>
          <p:cNvSpPr/>
          <p:nvPr/>
        </p:nvSpPr>
        <p:spPr>
          <a:xfrm>
            <a:off x="0" y="685800"/>
            <a:ext cx="9144000" cy="45720"/>
          </a:xfrm>
          <a:prstGeom prst="rect">
            <a:avLst/>
          </a:prstGeom>
          <a:solidFill>
            <a:srgbClr val="C8901A"/>
          </a:solidFill>
          <a:ln w="12700">
            <a:solidFill>
              <a:srgbClr val="C8901A"/>
            </a:solidFill>
            <a:prstDash val="solid"/>
          </a:ln>
        </p:spPr>
        <p:txBody>
          <a:bodyPr/>
          <a:lstStyle/>
          <a:p>
            <a:endParaRPr lang="tr-TR"/>
          </a:p>
        </p:txBody>
      </p:sp>
      <p:sp>
        <p:nvSpPr>
          <p:cNvPr id="4" name="Shape 2"/>
          <p:cNvSpPr/>
          <p:nvPr/>
        </p:nvSpPr>
        <p:spPr>
          <a:xfrm>
            <a:off x="0" y="4892040"/>
            <a:ext cx="9144000" cy="251460"/>
          </a:xfrm>
          <a:prstGeom prst="rect">
            <a:avLst/>
          </a:prstGeom>
          <a:solidFill>
            <a:srgbClr val="1B3A6B"/>
          </a:solidFill>
          <a:ln w="12700">
            <a:solidFill>
              <a:srgbClr val="1B3A6B"/>
            </a:solidFill>
            <a:prstDash val="solid"/>
          </a:ln>
        </p:spPr>
        <p:txBody>
          <a:bodyPr/>
          <a:lstStyle/>
          <a:p>
            <a:endParaRPr lang="tr-TR"/>
          </a:p>
        </p:txBody>
      </p:sp>
      <p:sp>
        <p:nvSpPr>
          <p:cNvPr id="5" name="Text 3"/>
          <p:cNvSpPr/>
          <p:nvPr/>
        </p:nvSpPr>
        <p:spPr>
          <a:xfrm>
            <a:off x="274320" y="4892040"/>
            <a:ext cx="8595360" cy="251460"/>
          </a:xfrm>
          <a:prstGeom prst="rect">
            <a:avLst/>
          </a:prstGeom>
          <a:noFill/>
        </p:spPr>
        <p:txBody>
          <a:bodyPr wrap="square" rtlCol="0" anchor="ctr"/>
          <a:lstStyle/>
          <a:p>
            <a:pPr marL="0" indent="0" algn="ctr">
              <a:buNone/>
            </a:pPr>
            <a:r>
              <a:rPr lang="en-US" sz="800" dirty="0">
                <a:solidFill>
                  <a:srgbClr val="E0E6ED"/>
                </a:solidFill>
                <a:latin typeface="Calibri" panose="020F0502020204030204" pitchFamily="34" charset="0"/>
                <a:ea typeface="Calibri" panose="020F0502020204030204" pitchFamily="34" charset="-122"/>
                <a:cs typeface="Calibri" panose="020F0502020204030204" pitchFamily="34" charset="-120"/>
              </a:rPr>
              <a:t>SAÜ EEM  |  İzmir Yenilenebilir Enerji Analizi</a:t>
            </a:r>
            <a:endParaRPr lang="en-US" sz="800" dirty="0"/>
          </a:p>
        </p:txBody>
      </p:sp>
      <p:sp>
        <p:nvSpPr>
          <p:cNvPr id="6" name="Text 4"/>
          <p:cNvSpPr/>
          <p:nvPr/>
        </p:nvSpPr>
        <p:spPr>
          <a:xfrm>
            <a:off x="274320" y="45720"/>
            <a:ext cx="8595360" cy="594360"/>
          </a:xfrm>
          <a:prstGeom prst="rect">
            <a:avLst/>
          </a:prstGeom>
          <a:noFill/>
        </p:spPr>
        <p:txBody>
          <a:bodyPr wrap="square" lIns="0" tIns="0" rIns="0" bIns="0" rtlCol="0" anchor="ctr"/>
          <a:lstStyle/>
          <a:p>
            <a:pPr marL="0" indent="0" algn="l">
              <a:buNone/>
            </a:pPr>
            <a:r>
              <a:rPr lang="en-US" sz="1800" b="1" dirty="0">
                <a:solidFill>
                  <a:srgbClr val="FFFFFF"/>
                </a:solidFill>
                <a:latin typeface="Calibri" panose="020F0502020204030204" pitchFamily="34" charset="0"/>
                <a:ea typeface="Calibri" panose="020F0502020204030204" pitchFamily="34" charset="-122"/>
                <a:cs typeface="Calibri" panose="020F0502020204030204" pitchFamily="34" charset="-120"/>
              </a:rPr>
              <a:t>Sunum İçeriği</a:t>
            </a:r>
            <a:endParaRPr lang="en-US" sz="1800" dirty="0"/>
          </a:p>
        </p:txBody>
      </p:sp>
      <p:sp>
        <p:nvSpPr>
          <p:cNvPr id="7" name="Shape 5"/>
          <p:cNvSpPr/>
          <p:nvPr/>
        </p:nvSpPr>
        <p:spPr>
          <a:xfrm>
            <a:off x="365760" y="868680"/>
            <a:ext cx="438912" cy="475488"/>
          </a:xfrm>
          <a:prstGeom prst="rect">
            <a:avLst/>
          </a:prstGeom>
          <a:solidFill>
            <a:srgbClr val="1D6A72"/>
          </a:solidFill>
          <a:ln w="12700">
            <a:solidFill>
              <a:srgbClr val="1D6A72"/>
            </a:solidFill>
            <a:prstDash val="solid"/>
          </a:ln>
        </p:spPr>
        <p:txBody>
          <a:bodyPr/>
          <a:lstStyle/>
          <a:p>
            <a:endParaRPr lang="tr-TR"/>
          </a:p>
        </p:txBody>
      </p:sp>
      <p:sp>
        <p:nvSpPr>
          <p:cNvPr id="8" name="Text 6"/>
          <p:cNvSpPr/>
          <p:nvPr/>
        </p:nvSpPr>
        <p:spPr>
          <a:xfrm>
            <a:off x="365760" y="868680"/>
            <a:ext cx="438912" cy="475488"/>
          </a:xfrm>
          <a:prstGeom prst="rect">
            <a:avLst/>
          </a:prstGeom>
          <a:noFill/>
        </p:spPr>
        <p:txBody>
          <a:bodyPr wrap="square" rtlCol="0" anchor="ctr"/>
          <a:lstStyle/>
          <a:p>
            <a:pPr marL="0" indent="0" algn="ctr">
              <a:buNone/>
            </a:pPr>
            <a:r>
              <a:rPr lang="en-US" sz="1600" b="1" dirty="0">
                <a:solidFill>
                  <a:srgbClr val="FFFFFF"/>
                </a:solidFill>
                <a:latin typeface="Calibri" panose="020F0502020204030204" pitchFamily="34" charset="0"/>
                <a:ea typeface="Calibri" panose="020F0502020204030204" pitchFamily="34" charset="-122"/>
                <a:cs typeface="Calibri" panose="020F0502020204030204" pitchFamily="34" charset="-120"/>
              </a:rPr>
              <a:t>01</a:t>
            </a:r>
            <a:endParaRPr lang="en-US" sz="1600" dirty="0"/>
          </a:p>
        </p:txBody>
      </p:sp>
      <p:sp>
        <p:nvSpPr>
          <p:cNvPr id="9" name="Text 7"/>
          <p:cNvSpPr/>
          <p:nvPr/>
        </p:nvSpPr>
        <p:spPr>
          <a:xfrm>
            <a:off x="960120" y="923544"/>
            <a:ext cx="7772400" cy="411480"/>
          </a:xfrm>
          <a:prstGeom prst="rect">
            <a:avLst/>
          </a:prstGeom>
          <a:noFill/>
        </p:spPr>
        <p:txBody>
          <a:bodyPr wrap="square" rtlCol="0" anchor="ctr"/>
          <a:lstStyle/>
          <a:p>
            <a:pPr marL="0" indent="0" algn="l">
              <a:buNone/>
            </a:pPr>
            <a:r>
              <a:rPr lang="en-US" sz="1300" dirty="0">
                <a:solidFill>
                  <a:srgbClr val="212121"/>
                </a:solidFill>
                <a:latin typeface="Calibri" panose="020F0502020204030204" pitchFamily="34" charset="0"/>
                <a:ea typeface="Calibri" panose="020F0502020204030204" pitchFamily="34" charset="-122"/>
                <a:cs typeface="Calibri" panose="020F0502020204030204" pitchFamily="34" charset="-120"/>
              </a:rPr>
              <a:t>İzmir</a:t>
            </a:r>
            <a:r>
              <a:rPr lang="tr-TR" sz="1300" dirty="0">
                <a:solidFill>
                  <a:srgbClr val="212121"/>
                </a:solidFill>
                <a:latin typeface="Calibri" panose="020F0502020204030204" pitchFamily="34" charset="0"/>
                <a:ea typeface="Calibri" panose="020F0502020204030204" pitchFamily="34" charset="-122"/>
                <a:cs typeface="Calibri" panose="020F0502020204030204" pitchFamily="34" charset="-120"/>
              </a:rPr>
              <a:t> </a:t>
            </a:r>
            <a:r>
              <a:rPr lang="en-US" sz="1300" dirty="0">
                <a:solidFill>
                  <a:srgbClr val="212121"/>
                </a:solidFill>
                <a:latin typeface="Calibri" panose="020F0502020204030204" pitchFamily="34" charset="0"/>
                <a:ea typeface="Calibri" panose="020F0502020204030204" pitchFamily="34" charset="-122"/>
                <a:cs typeface="Calibri" panose="020F0502020204030204" pitchFamily="34" charset="-120"/>
              </a:rPr>
              <a:t>— Enerji İhtiyacı ve Tüketim Analizi</a:t>
            </a:r>
            <a:endParaRPr lang="en-US" sz="1300" dirty="0"/>
          </a:p>
        </p:txBody>
      </p:sp>
      <p:sp>
        <p:nvSpPr>
          <p:cNvPr id="10" name="Shape 8"/>
          <p:cNvSpPr/>
          <p:nvPr/>
        </p:nvSpPr>
        <p:spPr>
          <a:xfrm>
            <a:off x="365760" y="1499616"/>
            <a:ext cx="438912" cy="475488"/>
          </a:xfrm>
          <a:prstGeom prst="rect">
            <a:avLst/>
          </a:prstGeom>
          <a:solidFill>
            <a:srgbClr val="E67E22"/>
          </a:solidFill>
          <a:ln w="12700">
            <a:solidFill>
              <a:srgbClr val="E67E22"/>
            </a:solidFill>
            <a:prstDash val="solid"/>
          </a:ln>
        </p:spPr>
        <p:txBody>
          <a:bodyPr/>
          <a:lstStyle/>
          <a:p>
            <a:endParaRPr lang="tr-TR"/>
          </a:p>
        </p:txBody>
      </p:sp>
      <p:sp>
        <p:nvSpPr>
          <p:cNvPr id="11" name="Text 9"/>
          <p:cNvSpPr/>
          <p:nvPr/>
        </p:nvSpPr>
        <p:spPr>
          <a:xfrm>
            <a:off x="365760" y="1499616"/>
            <a:ext cx="438912" cy="475488"/>
          </a:xfrm>
          <a:prstGeom prst="rect">
            <a:avLst/>
          </a:prstGeom>
          <a:noFill/>
        </p:spPr>
        <p:txBody>
          <a:bodyPr wrap="square" rtlCol="0" anchor="ctr"/>
          <a:lstStyle/>
          <a:p>
            <a:pPr marL="0" indent="0" algn="ctr">
              <a:buNone/>
            </a:pPr>
            <a:r>
              <a:rPr lang="en-US" sz="1600" b="1" dirty="0">
                <a:solidFill>
                  <a:srgbClr val="FFFFFF"/>
                </a:solidFill>
                <a:latin typeface="Calibri" panose="020F0502020204030204" pitchFamily="34" charset="0"/>
                <a:ea typeface="Calibri" panose="020F0502020204030204" pitchFamily="34" charset="-122"/>
                <a:cs typeface="Calibri" panose="020F0502020204030204" pitchFamily="34" charset="-120"/>
              </a:rPr>
              <a:t>02</a:t>
            </a:r>
            <a:endParaRPr lang="en-US" sz="1600" dirty="0"/>
          </a:p>
        </p:txBody>
      </p:sp>
      <p:sp>
        <p:nvSpPr>
          <p:cNvPr id="12" name="Text 10"/>
          <p:cNvSpPr/>
          <p:nvPr/>
        </p:nvSpPr>
        <p:spPr>
          <a:xfrm>
            <a:off x="960120" y="1554480"/>
            <a:ext cx="7772400" cy="411480"/>
          </a:xfrm>
          <a:prstGeom prst="rect">
            <a:avLst/>
          </a:prstGeom>
          <a:noFill/>
        </p:spPr>
        <p:txBody>
          <a:bodyPr wrap="square" rtlCol="0" anchor="ctr"/>
          <a:lstStyle/>
          <a:p>
            <a:pPr marL="0" indent="0" algn="l">
              <a:buNone/>
            </a:pPr>
            <a:r>
              <a:rPr lang="en-US" sz="1300" dirty="0">
                <a:solidFill>
                  <a:srgbClr val="212121"/>
                </a:solidFill>
                <a:latin typeface="Calibri" panose="020F0502020204030204" pitchFamily="34" charset="0"/>
                <a:ea typeface="Calibri" panose="020F0502020204030204" pitchFamily="34" charset="-122"/>
                <a:cs typeface="Calibri" panose="020F0502020204030204" pitchFamily="34" charset="-120"/>
              </a:rPr>
              <a:t>Güneş Enerjisi (GES) — Tanıtım, Hesaplamalar, Göstergeler</a:t>
            </a:r>
            <a:endParaRPr lang="en-US" sz="1300" dirty="0"/>
          </a:p>
        </p:txBody>
      </p:sp>
      <p:sp>
        <p:nvSpPr>
          <p:cNvPr id="13" name="Shape 11"/>
          <p:cNvSpPr/>
          <p:nvPr/>
        </p:nvSpPr>
        <p:spPr>
          <a:xfrm>
            <a:off x="365760" y="2130552"/>
            <a:ext cx="438912" cy="475488"/>
          </a:xfrm>
          <a:prstGeom prst="rect">
            <a:avLst/>
          </a:prstGeom>
          <a:solidFill>
            <a:srgbClr val="1A5276"/>
          </a:solidFill>
          <a:ln w="12700">
            <a:solidFill>
              <a:srgbClr val="1A5276"/>
            </a:solidFill>
            <a:prstDash val="solid"/>
          </a:ln>
        </p:spPr>
        <p:txBody>
          <a:bodyPr/>
          <a:lstStyle/>
          <a:p>
            <a:endParaRPr lang="tr-TR"/>
          </a:p>
        </p:txBody>
      </p:sp>
      <p:sp>
        <p:nvSpPr>
          <p:cNvPr id="14" name="Text 12"/>
          <p:cNvSpPr/>
          <p:nvPr/>
        </p:nvSpPr>
        <p:spPr>
          <a:xfrm>
            <a:off x="365760" y="2130552"/>
            <a:ext cx="438912" cy="475488"/>
          </a:xfrm>
          <a:prstGeom prst="rect">
            <a:avLst/>
          </a:prstGeom>
          <a:noFill/>
        </p:spPr>
        <p:txBody>
          <a:bodyPr wrap="square" rtlCol="0" anchor="ctr"/>
          <a:lstStyle/>
          <a:p>
            <a:pPr marL="0" indent="0" algn="ctr">
              <a:buNone/>
            </a:pPr>
            <a:r>
              <a:rPr lang="en-US" sz="1600" b="1" dirty="0">
                <a:solidFill>
                  <a:srgbClr val="FFFFFF"/>
                </a:solidFill>
                <a:latin typeface="Calibri" panose="020F0502020204030204" pitchFamily="34" charset="0"/>
                <a:ea typeface="Calibri" panose="020F0502020204030204" pitchFamily="34" charset="-122"/>
                <a:cs typeface="Calibri" panose="020F0502020204030204" pitchFamily="34" charset="-120"/>
              </a:rPr>
              <a:t>03</a:t>
            </a:r>
            <a:endParaRPr lang="en-US" sz="1600" dirty="0"/>
          </a:p>
        </p:txBody>
      </p:sp>
      <p:sp>
        <p:nvSpPr>
          <p:cNvPr id="15" name="Text 13"/>
          <p:cNvSpPr/>
          <p:nvPr/>
        </p:nvSpPr>
        <p:spPr>
          <a:xfrm>
            <a:off x="960120" y="2185416"/>
            <a:ext cx="7772400" cy="411480"/>
          </a:xfrm>
          <a:prstGeom prst="rect">
            <a:avLst/>
          </a:prstGeom>
          <a:noFill/>
        </p:spPr>
        <p:txBody>
          <a:bodyPr wrap="square" rtlCol="0" anchor="ctr"/>
          <a:lstStyle/>
          <a:p>
            <a:pPr marL="0" indent="0" algn="l">
              <a:buNone/>
            </a:pPr>
            <a:r>
              <a:rPr lang="en-US" sz="1300" dirty="0">
                <a:solidFill>
                  <a:srgbClr val="212121"/>
                </a:solidFill>
                <a:latin typeface="Calibri" panose="020F0502020204030204" pitchFamily="34" charset="0"/>
                <a:ea typeface="Calibri" panose="020F0502020204030204" pitchFamily="34" charset="-122"/>
                <a:cs typeface="Calibri" panose="020F0502020204030204" pitchFamily="34" charset="-120"/>
              </a:rPr>
              <a:t>Rüzgar Enerjisi (RES) — Tanıtım, Hesaplamalar, Göstergeler</a:t>
            </a:r>
            <a:endParaRPr lang="en-US" sz="1300" dirty="0"/>
          </a:p>
        </p:txBody>
      </p:sp>
      <p:sp>
        <p:nvSpPr>
          <p:cNvPr id="16" name="Shape 14"/>
          <p:cNvSpPr/>
          <p:nvPr/>
        </p:nvSpPr>
        <p:spPr>
          <a:xfrm>
            <a:off x="365760" y="2761488"/>
            <a:ext cx="438912" cy="475488"/>
          </a:xfrm>
          <a:prstGeom prst="rect">
            <a:avLst/>
          </a:prstGeom>
          <a:solidFill>
            <a:srgbClr val="1E8449"/>
          </a:solidFill>
          <a:ln w="12700">
            <a:solidFill>
              <a:srgbClr val="1E8449"/>
            </a:solidFill>
            <a:prstDash val="solid"/>
          </a:ln>
        </p:spPr>
        <p:txBody>
          <a:bodyPr/>
          <a:lstStyle/>
          <a:p>
            <a:endParaRPr lang="tr-TR"/>
          </a:p>
        </p:txBody>
      </p:sp>
      <p:sp>
        <p:nvSpPr>
          <p:cNvPr id="17" name="Text 15"/>
          <p:cNvSpPr/>
          <p:nvPr/>
        </p:nvSpPr>
        <p:spPr>
          <a:xfrm>
            <a:off x="365760" y="2761488"/>
            <a:ext cx="438912" cy="475488"/>
          </a:xfrm>
          <a:prstGeom prst="rect">
            <a:avLst/>
          </a:prstGeom>
          <a:noFill/>
        </p:spPr>
        <p:txBody>
          <a:bodyPr wrap="square" rtlCol="0" anchor="ctr"/>
          <a:lstStyle/>
          <a:p>
            <a:pPr marL="0" indent="0" algn="ctr">
              <a:buNone/>
            </a:pPr>
            <a:r>
              <a:rPr lang="en-US" sz="1600" b="1" dirty="0">
                <a:solidFill>
                  <a:srgbClr val="FFFFFF"/>
                </a:solidFill>
                <a:latin typeface="Calibri" panose="020F0502020204030204" pitchFamily="34" charset="0"/>
                <a:ea typeface="Calibri" panose="020F0502020204030204" pitchFamily="34" charset="-122"/>
                <a:cs typeface="Calibri" panose="020F0502020204030204" pitchFamily="34" charset="-120"/>
              </a:rPr>
              <a:t>04</a:t>
            </a:r>
            <a:endParaRPr lang="en-US" sz="1600" dirty="0"/>
          </a:p>
        </p:txBody>
      </p:sp>
      <p:sp>
        <p:nvSpPr>
          <p:cNvPr id="18" name="Text 16"/>
          <p:cNvSpPr/>
          <p:nvPr/>
        </p:nvSpPr>
        <p:spPr>
          <a:xfrm>
            <a:off x="960120" y="2816352"/>
            <a:ext cx="7772400" cy="411480"/>
          </a:xfrm>
          <a:prstGeom prst="rect">
            <a:avLst/>
          </a:prstGeom>
          <a:noFill/>
        </p:spPr>
        <p:txBody>
          <a:bodyPr wrap="square" rtlCol="0" anchor="ctr"/>
          <a:lstStyle/>
          <a:p>
            <a:pPr marL="0" indent="0" algn="l">
              <a:buNone/>
            </a:pPr>
            <a:r>
              <a:rPr lang="en-US" sz="1300" dirty="0">
                <a:solidFill>
                  <a:srgbClr val="212121"/>
                </a:solidFill>
                <a:latin typeface="Calibri" panose="020F0502020204030204" pitchFamily="34" charset="0"/>
                <a:ea typeface="Calibri" panose="020F0502020204030204" pitchFamily="34" charset="-122"/>
                <a:cs typeface="Calibri" panose="020F0502020204030204" pitchFamily="34" charset="-120"/>
              </a:rPr>
              <a:t>Mikro-HES — Tanıtım, Hesaplamalar, Göstergeler</a:t>
            </a:r>
            <a:endParaRPr lang="en-US" sz="1300" dirty="0"/>
          </a:p>
        </p:txBody>
      </p:sp>
      <p:sp>
        <p:nvSpPr>
          <p:cNvPr id="19" name="Shape 17"/>
          <p:cNvSpPr/>
          <p:nvPr/>
        </p:nvSpPr>
        <p:spPr>
          <a:xfrm>
            <a:off x="365760" y="3392424"/>
            <a:ext cx="438912" cy="475488"/>
          </a:xfrm>
          <a:prstGeom prst="rect">
            <a:avLst/>
          </a:prstGeom>
          <a:solidFill>
            <a:srgbClr val="922B21"/>
          </a:solidFill>
          <a:ln w="12700">
            <a:solidFill>
              <a:srgbClr val="922B21"/>
            </a:solidFill>
            <a:prstDash val="solid"/>
          </a:ln>
        </p:spPr>
        <p:txBody>
          <a:bodyPr/>
          <a:lstStyle/>
          <a:p>
            <a:endParaRPr lang="tr-TR"/>
          </a:p>
        </p:txBody>
      </p:sp>
      <p:sp>
        <p:nvSpPr>
          <p:cNvPr id="20" name="Text 18"/>
          <p:cNvSpPr/>
          <p:nvPr/>
        </p:nvSpPr>
        <p:spPr>
          <a:xfrm>
            <a:off x="365760" y="3392424"/>
            <a:ext cx="438912" cy="475488"/>
          </a:xfrm>
          <a:prstGeom prst="rect">
            <a:avLst/>
          </a:prstGeom>
          <a:noFill/>
        </p:spPr>
        <p:txBody>
          <a:bodyPr wrap="square" rtlCol="0" anchor="ctr"/>
          <a:lstStyle/>
          <a:p>
            <a:pPr marL="0" indent="0" algn="ctr">
              <a:buNone/>
            </a:pPr>
            <a:r>
              <a:rPr lang="en-US" sz="1600" b="1" dirty="0">
                <a:solidFill>
                  <a:srgbClr val="FFFFFF"/>
                </a:solidFill>
                <a:latin typeface="Calibri" panose="020F0502020204030204" pitchFamily="34" charset="0"/>
                <a:ea typeface="Calibri" panose="020F0502020204030204" pitchFamily="34" charset="-122"/>
                <a:cs typeface="Calibri" panose="020F0502020204030204" pitchFamily="34" charset="-120"/>
              </a:rPr>
              <a:t>05</a:t>
            </a:r>
            <a:endParaRPr lang="en-US" sz="1600" dirty="0"/>
          </a:p>
        </p:txBody>
      </p:sp>
      <p:sp>
        <p:nvSpPr>
          <p:cNvPr id="21" name="Text 19"/>
          <p:cNvSpPr/>
          <p:nvPr/>
        </p:nvSpPr>
        <p:spPr>
          <a:xfrm>
            <a:off x="960120" y="3447288"/>
            <a:ext cx="7772400" cy="411480"/>
          </a:xfrm>
          <a:prstGeom prst="rect">
            <a:avLst/>
          </a:prstGeom>
          <a:noFill/>
        </p:spPr>
        <p:txBody>
          <a:bodyPr wrap="square" rtlCol="0" anchor="ctr"/>
          <a:lstStyle/>
          <a:p>
            <a:pPr marL="0" indent="0" algn="l">
              <a:buNone/>
            </a:pPr>
            <a:r>
              <a:rPr lang="en-US" sz="1300" dirty="0">
                <a:solidFill>
                  <a:srgbClr val="212121"/>
                </a:solidFill>
                <a:latin typeface="Calibri" panose="020F0502020204030204" pitchFamily="34" charset="0"/>
                <a:ea typeface="Calibri" panose="020F0502020204030204" pitchFamily="34" charset="-122"/>
                <a:cs typeface="Calibri" panose="020F0502020204030204" pitchFamily="34" charset="-120"/>
              </a:rPr>
              <a:t>Nükleer Enerji — Tanıtım, Uygunluk Değerlendirmesi</a:t>
            </a:r>
            <a:endParaRPr lang="en-US" sz="1300" dirty="0"/>
          </a:p>
        </p:txBody>
      </p:sp>
      <p:sp>
        <p:nvSpPr>
          <p:cNvPr id="22" name="Shape 20"/>
          <p:cNvSpPr/>
          <p:nvPr/>
        </p:nvSpPr>
        <p:spPr>
          <a:xfrm>
            <a:off x="365760" y="4023360"/>
            <a:ext cx="438912" cy="475488"/>
          </a:xfrm>
          <a:prstGeom prst="rect">
            <a:avLst/>
          </a:prstGeom>
          <a:solidFill>
            <a:srgbClr val="C8901A"/>
          </a:solidFill>
          <a:ln w="12700">
            <a:solidFill>
              <a:srgbClr val="C8901A"/>
            </a:solidFill>
            <a:prstDash val="solid"/>
          </a:ln>
        </p:spPr>
        <p:txBody>
          <a:bodyPr/>
          <a:lstStyle/>
          <a:p>
            <a:endParaRPr lang="tr-TR"/>
          </a:p>
        </p:txBody>
      </p:sp>
      <p:sp>
        <p:nvSpPr>
          <p:cNvPr id="23" name="Text 21"/>
          <p:cNvSpPr/>
          <p:nvPr/>
        </p:nvSpPr>
        <p:spPr>
          <a:xfrm>
            <a:off x="365760" y="4023360"/>
            <a:ext cx="438912" cy="475488"/>
          </a:xfrm>
          <a:prstGeom prst="rect">
            <a:avLst/>
          </a:prstGeom>
          <a:noFill/>
        </p:spPr>
        <p:txBody>
          <a:bodyPr wrap="square" rtlCol="0" anchor="ctr"/>
          <a:lstStyle/>
          <a:p>
            <a:pPr marL="0" indent="0" algn="ctr">
              <a:buNone/>
            </a:pPr>
            <a:r>
              <a:rPr lang="en-US" sz="1600" b="1" dirty="0">
                <a:solidFill>
                  <a:srgbClr val="FFFFFF"/>
                </a:solidFill>
                <a:latin typeface="Calibri" panose="020F0502020204030204" pitchFamily="34" charset="0"/>
                <a:ea typeface="Calibri" panose="020F0502020204030204" pitchFamily="34" charset="-122"/>
                <a:cs typeface="Calibri" panose="020F0502020204030204" pitchFamily="34" charset="-120"/>
              </a:rPr>
              <a:t>06</a:t>
            </a:r>
            <a:endParaRPr lang="en-US" sz="1600" dirty="0"/>
          </a:p>
        </p:txBody>
      </p:sp>
      <p:sp>
        <p:nvSpPr>
          <p:cNvPr id="24" name="Text 22"/>
          <p:cNvSpPr/>
          <p:nvPr/>
        </p:nvSpPr>
        <p:spPr>
          <a:xfrm>
            <a:off x="960120" y="4078224"/>
            <a:ext cx="7772400" cy="411480"/>
          </a:xfrm>
          <a:prstGeom prst="rect">
            <a:avLst/>
          </a:prstGeom>
          <a:noFill/>
        </p:spPr>
        <p:txBody>
          <a:bodyPr wrap="square" rtlCol="0" anchor="ctr"/>
          <a:lstStyle/>
          <a:p>
            <a:pPr marL="0" indent="0" algn="l">
              <a:buNone/>
            </a:pPr>
            <a:r>
              <a:rPr lang="en-US" sz="1300" dirty="0">
                <a:solidFill>
                  <a:srgbClr val="212121"/>
                </a:solidFill>
                <a:latin typeface="Calibri" panose="020F0502020204030204" pitchFamily="34" charset="0"/>
                <a:ea typeface="Calibri" panose="020F0502020204030204" pitchFamily="34" charset="-122"/>
                <a:cs typeface="Calibri" panose="020F0502020204030204" pitchFamily="34" charset="-120"/>
              </a:rPr>
              <a:t>Karşılaştırmalı Analiz ve Sonuç</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D6A72"/>
        </a:solidFill>
        <a:effectLst/>
      </p:bgPr>
    </p:bg>
    <p:spTree>
      <p:nvGrpSpPr>
        <p:cNvPr id="1" name=""/>
        <p:cNvGrpSpPr/>
        <p:nvPr/>
      </p:nvGrpSpPr>
      <p:grpSpPr>
        <a:xfrm>
          <a:off x="0" y="0"/>
          <a:ext cx="0" cy="0"/>
          <a:chOff x="0" y="0"/>
          <a:chExt cx="0" cy="0"/>
        </a:xfrm>
      </p:grpSpPr>
      <p:sp>
        <p:nvSpPr>
          <p:cNvPr id="2" name="Shape 0"/>
          <p:cNvSpPr/>
          <p:nvPr/>
        </p:nvSpPr>
        <p:spPr>
          <a:xfrm>
            <a:off x="0" y="4114800"/>
            <a:ext cx="9144000" cy="1028700"/>
          </a:xfrm>
          <a:prstGeom prst="rect">
            <a:avLst/>
          </a:prstGeom>
          <a:solidFill>
            <a:srgbClr val="1B3A6B"/>
          </a:solidFill>
          <a:ln w="12700">
            <a:solidFill>
              <a:srgbClr val="1B3A6B"/>
            </a:solidFill>
            <a:prstDash val="solid"/>
          </a:ln>
        </p:spPr>
        <p:txBody>
          <a:bodyPr/>
          <a:lstStyle/>
          <a:p>
            <a:endParaRPr lang="tr-TR"/>
          </a:p>
        </p:txBody>
      </p:sp>
      <p:sp>
        <p:nvSpPr>
          <p:cNvPr id="3" name="Shape 1"/>
          <p:cNvSpPr/>
          <p:nvPr/>
        </p:nvSpPr>
        <p:spPr>
          <a:xfrm>
            <a:off x="0" y="4114800"/>
            <a:ext cx="137160" cy="1028700"/>
          </a:xfrm>
          <a:prstGeom prst="rect">
            <a:avLst/>
          </a:prstGeom>
          <a:solidFill>
            <a:srgbClr val="C8901A"/>
          </a:solidFill>
          <a:ln w="12700">
            <a:solidFill>
              <a:srgbClr val="C8901A"/>
            </a:solidFill>
            <a:prstDash val="solid"/>
          </a:ln>
        </p:spPr>
        <p:txBody>
          <a:bodyPr/>
          <a:lstStyle/>
          <a:p>
            <a:endParaRPr lang="tr-TR"/>
          </a:p>
        </p:txBody>
      </p:sp>
      <p:sp>
        <p:nvSpPr>
          <p:cNvPr id="4" name="Text 2"/>
          <p:cNvSpPr/>
          <p:nvPr/>
        </p:nvSpPr>
        <p:spPr>
          <a:xfrm>
            <a:off x="457200" y="914400"/>
            <a:ext cx="8229600" cy="2560320"/>
          </a:xfrm>
          <a:prstGeom prst="rect">
            <a:avLst/>
          </a:prstGeom>
          <a:noFill/>
        </p:spPr>
        <p:txBody>
          <a:bodyPr wrap="square" rtlCol="0" anchor="ctr"/>
          <a:lstStyle/>
          <a:p>
            <a:pPr marL="0" indent="0" algn="ctr">
              <a:buNone/>
            </a:pPr>
            <a:r>
              <a:rPr lang="en-US" sz="3600" b="1" dirty="0">
                <a:solidFill>
                  <a:srgbClr val="FFFFFF"/>
                </a:solidFill>
                <a:latin typeface="Calibri" panose="020F0502020204030204" pitchFamily="34" charset="0"/>
                <a:ea typeface="Calibri" panose="020F0502020204030204" pitchFamily="34" charset="-122"/>
                <a:cs typeface="Calibri" panose="020F0502020204030204" pitchFamily="34" charset="-120"/>
              </a:rPr>
              <a:t>İzmir </a:t>
            </a:r>
            <a:endParaRPr lang="en-US" sz="3600" dirty="0"/>
          </a:p>
          <a:p>
            <a:pPr marL="0" indent="0" algn="ctr">
              <a:buNone/>
            </a:pPr>
            <a:r>
              <a:rPr lang="en-US" sz="3600" b="1" dirty="0">
                <a:solidFill>
                  <a:srgbClr val="FFFFFF"/>
                </a:solidFill>
                <a:latin typeface="Calibri" panose="020F0502020204030204" pitchFamily="34" charset="0"/>
                <a:ea typeface="Calibri" panose="020F0502020204030204" pitchFamily="34" charset="-122"/>
                <a:cs typeface="Calibri" panose="020F0502020204030204" pitchFamily="34" charset="-120"/>
              </a:rPr>
              <a:t>Enerji İhtiyacı</a:t>
            </a:r>
            <a:endParaRPr lang="en-US" sz="3600" dirty="0"/>
          </a:p>
        </p:txBody>
      </p:sp>
      <p:sp>
        <p:nvSpPr>
          <p:cNvPr id="5" name="Text 3"/>
          <p:cNvSpPr/>
          <p:nvPr/>
        </p:nvSpPr>
        <p:spPr>
          <a:xfrm>
            <a:off x="274320" y="4206240"/>
            <a:ext cx="8595360" cy="731520"/>
          </a:xfrm>
          <a:prstGeom prst="rect">
            <a:avLst/>
          </a:prstGeom>
          <a:noFill/>
        </p:spPr>
        <p:txBody>
          <a:bodyPr wrap="square" rtlCol="0" anchor="ctr"/>
          <a:lstStyle/>
          <a:p>
            <a:pPr marL="0" indent="0" algn="ctr">
              <a:buNone/>
            </a:pPr>
            <a:r>
              <a:rPr lang="en-US" sz="900" dirty="0">
                <a:solidFill>
                  <a:srgbClr val="E0E6ED"/>
                </a:solidFill>
                <a:latin typeface="Calibri" panose="020F0502020204030204" pitchFamily="34" charset="0"/>
                <a:ea typeface="Calibri" panose="020F0502020204030204" pitchFamily="34" charset="-122"/>
                <a:cs typeface="Calibri" panose="020F0502020204030204" pitchFamily="34" charset="-120"/>
              </a:rPr>
              <a:t>SAÜ EEM  |  Yenilenebilir ve Sürdürülebilir Enerji</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8F9FA"/>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D6A72"/>
          </a:solidFill>
          <a:ln w="12700">
            <a:solidFill>
              <a:srgbClr val="1D6A72"/>
            </a:solidFill>
            <a:prstDash val="solid"/>
          </a:ln>
        </p:spPr>
        <p:txBody>
          <a:bodyPr/>
          <a:lstStyle/>
          <a:p>
            <a:endParaRPr lang="tr-TR"/>
          </a:p>
        </p:txBody>
      </p:sp>
      <p:sp>
        <p:nvSpPr>
          <p:cNvPr id="3" name="Shape 1"/>
          <p:cNvSpPr/>
          <p:nvPr/>
        </p:nvSpPr>
        <p:spPr>
          <a:xfrm>
            <a:off x="0" y="685800"/>
            <a:ext cx="9144000" cy="45720"/>
          </a:xfrm>
          <a:prstGeom prst="rect">
            <a:avLst/>
          </a:prstGeom>
          <a:solidFill>
            <a:srgbClr val="C8901A"/>
          </a:solidFill>
          <a:ln w="12700">
            <a:solidFill>
              <a:srgbClr val="C8901A"/>
            </a:solidFill>
            <a:prstDash val="solid"/>
          </a:ln>
        </p:spPr>
        <p:txBody>
          <a:bodyPr/>
          <a:lstStyle/>
          <a:p>
            <a:endParaRPr lang="tr-TR"/>
          </a:p>
        </p:txBody>
      </p:sp>
      <p:sp>
        <p:nvSpPr>
          <p:cNvPr id="4" name="Shape 2"/>
          <p:cNvSpPr/>
          <p:nvPr/>
        </p:nvSpPr>
        <p:spPr>
          <a:xfrm>
            <a:off x="0" y="4892040"/>
            <a:ext cx="9144000" cy="251460"/>
          </a:xfrm>
          <a:prstGeom prst="rect">
            <a:avLst/>
          </a:prstGeom>
          <a:solidFill>
            <a:srgbClr val="1B3A6B"/>
          </a:solidFill>
          <a:ln w="12700">
            <a:solidFill>
              <a:srgbClr val="1B3A6B"/>
            </a:solidFill>
            <a:prstDash val="solid"/>
          </a:ln>
        </p:spPr>
        <p:txBody>
          <a:bodyPr/>
          <a:lstStyle/>
          <a:p>
            <a:endParaRPr lang="tr-TR"/>
          </a:p>
        </p:txBody>
      </p:sp>
      <p:sp>
        <p:nvSpPr>
          <p:cNvPr id="5" name="Text 3"/>
          <p:cNvSpPr/>
          <p:nvPr/>
        </p:nvSpPr>
        <p:spPr>
          <a:xfrm>
            <a:off x="274320" y="4892040"/>
            <a:ext cx="8595360" cy="251460"/>
          </a:xfrm>
          <a:prstGeom prst="rect">
            <a:avLst/>
          </a:prstGeom>
          <a:noFill/>
        </p:spPr>
        <p:txBody>
          <a:bodyPr wrap="square" rtlCol="0" anchor="ctr"/>
          <a:lstStyle/>
          <a:p>
            <a:pPr marL="0" indent="0" algn="ctr">
              <a:buNone/>
            </a:pPr>
            <a:r>
              <a:rPr lang="en-US" sz="800" dirty="0">
                <a:solidFill>
                  <a:srgbClr val="E0E6ED"/>
                </a:solidFill>
                <a:latin typeface="Calibri" panose="020F0502020204030204" pitchFamily="34" charset="0"/>
                <a:ea typeface="Calibri" panose="020F0502020204030204" pitchFamily="34" charset="-122"/>
                <a:cs typeface="Calibri" panose="020F0502020204030204" pitchFamily="34" charset="-120"/>
              </a:rPr>
              <a:t>SAÜ EEM  |  İzmir Yenilenebilir Enerji Analizi</a:t>
            </a:r>
            <a:endParaRPr lang="en-US" sz="800" dirty="0"/>
          </a:p>
        </p:txBody>
      </p:sp>
      <p:sp>
        <p:nvSpPr>
          <p:cNvPr id="6" name="Text 4"/>
          <p:cNvSpPr/>
          <p:nvPr/>
        </p:nvSpPr>
        <p:spPr>
          <a:xfrm>
            <a:off x="274320" y="45720"/>
            <a:ext cx="8595360" cy="594360"/>
          </a:xfrm>
          <a:prstGeom prst="rect">
            <a:avLst/>
          </a:prstGeom>
          <a:noFill/>
        </p:spPr>
        <p:txBody>
          <a:bodyPr wrap="square" lIns="0" tIns="0" rIns="0" bIns="0" rtlCol="0" anchor="ctr"/>
          <a:lstStyle/>
          <a:p>
            <a:pPr marL="0" indent="0" algn="l">
              <a:buNone/>
            </a:pPr>
            <a:r>
              <a:rPr lang="en-US" sz="1800" b="1" dirty="0">
                <a:solidFill>
                  <a:srgbClr val="FFFFFF"/>
                </a:solidFill>
                <a:latin typeface="Calibri" panose="020F0502020204030204" pitchFamily="34" charset="0"/>
                <a:ea typeface="Calibri" panose="020F0502020204030204" pitchFamily="34" charset="-122"/>
                <a:cs typeface="Calibri" panose="020F0502020204030204" pitchFamily="34" charset="-120"/>
              </a:rPr>
              <a:t>İzmir — Yıllık Elektrik Tüketimi ve İhtiyaç Analizi</a:t>
            </a:r>
            <a:endParaRPr lang="en-US" sz="1800" dirty="0"/>
          </a:p>
        </p:txBody>
      </p:sp>
      <p:sp>
        <p:nvSpPr>
          <p:cNvPr id="7" name="Shape 5"/>
          <p:cNvSpPr/>
          <p:nvPr/>
        </p:nvSpPr>
        <p:spPr>
          <a:xfrm>
            <a:off x="320040" y="822960"/>
            <a:ext cx="1920240" cy="914400"/>
          </a:xfrm>
          <a:prstGeom prst="rect">
            <a:avLst/>
          </a:prstGeom>
          <a:solidFill>
            <a:srgbClr val="1D6A72"/>
          </a:solidFill>
          <a:ln w="12700">
            <a:solidFill>
              <a:srgbClr val="1D6A72"/>
            </a:solidFill>
            <a:prstDash val="solid"/>
          </a:ln>
          <a:effectLst>
            <a:outerShdw blurRad="76200" dist="38100" dir="8100000" algn="bl" rotWithShape="0">
              <a:srgbClr val="000000">
                <a:alpha val="15000"/>
              </a:srgbClr>
            </a:outerShdw>
          </a:effectLst>
        </p:spPr>
        <p:txBody>
          <a:bodyPr/>
          <a:lstStyle/>
          <a:p>
            <a:endParaRPr lang="tr-TR"/>
          </a:p>
        </p:txBody>
      </p:sp>
      <p:sp>
        <p:nvSpPr>
          <p:cNvPr id="8" name="Text 6"/>
          <p:cNvSpPr/>
          <p:nvPr/>
        </p:nvSpPr>
        <p:spPr>
          <a:xfrm>
            <a:off x="320040" y="868680"/>
            <a:ext cx="1920240" cy="530352"/>
          </a:xfrm>
          <a:prstGeom prst="rect">
            <a:avLst/>
          </a:prstGeom>
          <a:noFill/>
        </p:spPr>
        <p:txBody>
          <a:bodyPr wrap="square" rtlCol="0" anchor="ctr"/>
          <a:lstStyle/>
          <a:p>
            <a:pPr marL="0" indent="0" algn="ctr">
              <a:buNone/>
            </a:pPr>
            <a:r>
              <a:rPr lang="en-US" sz="2800" b="1" dirty="0">
                <a:solidFill>
                  <a:srgbClr val="FFFFFF"/>
                </a:solidFill>
                <a:latin typeface="Calibri" panose="020F0502020204030204" pitchFamily="34" charset="0"/>
                <a:ea typeface="Calibri" panose="020F0502020204030204" pitchFamily="34" charset="-122"/>
                <a:cs typeface="Calibri" panose="020F0502020204030204" pitchFamily="34" charset="-120"/>
              </a:rPr>
              <a:t>~14,8 TWh</a:t>
            </a:r>
            <a:endParaRPr lang="en-US" sz="2800" dirty="0"/>
          </a:p>
        </p:txBody>
      </p:sp>
      <p:sp>
        <p:nvSpPr>
          <p:cNvPr id="9" name="Text 7"/>
          <p:cNvSpPr/>
          <p:nvPr/>
        </p:nvSpPr>
        <p:spPr>
          <a:xfrm>
            <a:off x="320040" y="1371600"/>
            <a:ext cx="1920240" cy="347472"/>
          </a:xfrm>
          <a:prstGeom prst="rect">
            <a:avLst/>
          </a:prstGeom>
          <a:noFill/>
        </p:spPr>
        <p:txBody>
          <a:bodyPr wrap="square" rtlCol="0" anchor="ctr"/>
          <a:lstStyle/>
          <a:p>
            <a:pPr marL="0" indent="0" algn="ctr">
              <a:buNone/>
            </a:pPr>
            <a:r>
              <a:rPr lang="en-US" sz="1000" dirty="0">
                <a:solidFill>
                  <a:srgbClr val="D6EAF8"/>
                </a:solidFill>
                <a:latin typeface="Calibri" panose="020F0502020204030204" pitchFamily="34" charset="0"/>
                <a:ea typeface="Calibri" panose="020F0502020204030204" pitchFamily="34" charset="-122"/>
                <a:cs typeface="Calibri" panose="020F0502020204030204" pitchFamily="34" charset="-120"/>
              </a:rPr>
              <a:t>Yıllık Toplam</a:t>
            </a:r>
            <a:endParaRPr lang="en-US" sz="1000" dirty="0"/>
          </a:p>
          <a:p>
            <a:pPr marL="0" indent="0" algn="ctr">
              <a:buNone/>
            </a:pPr>
            <a:r>
              <a:rPr lang="en-US" sz="1000" dirty="0">
                <a:solidFill>
                  <a:srgbClr val="D6EAF8"/>
                </a:solidFill>
                <a:latin typeface="Calibri" panose="020F0502020204030204" pitchFamily="34" charset="0"/>
                <a:ea typeface="Calibri" panose="020F0502020204030204" pitchFamily="34" charset="-122"/>
                <a:cs typeface="Calibri" panose="020F0502020204030204" pitchFamily="34" charset="-120"/>
              </a:rPr>
              <a:t>Elektrik Tüketimi</a:t>
            </a:r>
            <a:endParaRPr lang="en-US" sz="1000" dirty="0"/>
          </a:p>
        </p:txBody>
      </p:sp>
      <p:sp>
        <p:nvSpPr>
          <p:cNvPr id="10" name="Shape 8"/>
          <p:cNvSpPr/>
          <p:nvPr/>
        </p:nvSpPr>
        <p:spPr>
          <a:xfrm>
            <a:off x="2377440" y="822960"/>
            <a:ext cx="1920240" cy="914400"/>
          </a:xfrm>
          <a:prstGeom prst="rect">
            <a:avLst/>
          </a:prstGeom>
          <a:solidFill>
            <a:srgbClr val="1B3A6B"/>
          </a:solidFill>
          <a:ln w="12700">
            <a:solidFill>
              <a:srgbClr val="1B3A6B"/>
            </a:solidFill>
            <a:prstDash val="solid"/>
          </a:ln>
          <a:effectLst>
            <a:outerShdw blurRad="76200" dist="38100" dir="8100000" algn="bl" rotWithShape="0">
              <a:srgbClr val="000000">
                <a:alpha val="15000"/>
              </a:srgbClr>
            </a:outerShdw>
          </a:effectLst>
        </p:spPr>
        <p:txBody>
          <a:bodyPr/>
          <a:lstStyle/>
          <a:p>
            <a:endParaRPr lang="tr-TR"/>
          </a:p>
        </p:txBody>
      </p:sp>
      <p:sp>
        <p:nvSpPr>
          <p:cNvPr id="11" name="Text 9"/>
          <p:cNvSpPr/>
          <p:nvPr/>
        </p:nvSpPr>
        <p:spPr>
          <a:xfrm>
            <a:off x="2377440" y="868680"/>
            <a:ext cx="1920240" cy="530352"/>
          </a:xfrm>
          <a:prstGeom prst="rect">
            <a:avLst/>
          </a:prstGeom>
          <a:noFill/>
        </p:spPr>
        <p:txBody>
          <a:bodyPr wrap="square" rtlCol="0" anchor="ctr"/>
          <a:lstStyle/>
          <a:p>
            <a:pPr marL="0" indent="0" algn="ctr">
              <a:buNone/>
            </a:pPr>
            <a:r>
              <a:rPr lang="en-US" sz="2800" b="1" dirty="0">
                <a:solidFill>
                  <a:srgbClr val="FFFFFF"/>
                </a:solidFill>
                <a:latin typeface="Calibri" panose="020F0502020204030204" pitchFamily="34" charset="0"/>
                <a:ea typeface="Calibri" panose="020F0502020204030204" pitchFamily="34" charset="-122"/>
                <a:cs typeface="Calibri" panose="020F0502020204030204" pitchFamily="34" charset="-120"/>
              </a:rPr>
              <a:t>4,5 M</a:t>
            </a:r>
            <a:endParaRPr lang="en-US" sz="2800" dirty="0"/>
          </a:p>
        </p:txBody>
      </p:sp>
      <p:sp>
        <p:nvSpPr>
          <p:cNvPr id="12" name="Text 10"/>
          <p:cNvSpPr/>
          <p:nvPr/>
        </p:nvSpPr>
        <p:spPr>
          <a:xfrm>
            <a:off x="2377440" y="1371600"/>
            <a:ext cx="1920240" cy="347472"/>
          </a:xfrm>
          <a:prstGeom prst="rect">
            <a:avLst/>
          </a:prstGeom>
          <a:noFill/>
        </p:spPr>
        <p:txBody>
          <a:bodyPr wrap="square" rtlCol="0" anchor="ctr"/>
          <a:lstStyle/>
          <a:p>
            <a:pPr marL="0" indent="0" algn="ctr">
              <a:buNone/>
            </a:pPr>
            <a:r>
              <a:rPr lang="en-US" sz="1000" dirty="0">
                <a:solidFill>
                  <a:srgbClr val="D6EAF8"/>
                </a:solidFill>
                <a:latin typeface="Calibri" panose="020F0502020204030204" pitchFamily="34" charset="0"/>
                <a:ea typeface="Calibri" panose="020F0502020204030204" pitchFamily="34" charset="-122"/>
                <a:cs typeface="Calibri" panose="020F0502020204030204" pitchFamily="34" charset="-120"/>
              </a:rPr>
              <a:t>Nüfus</a:t>
            </a:r>
            <a:endParaRPr lang="en-US" sz="1000" dirty="0"/>
          </a:p>
          <a:p>
            <a:pPr marL="0" indent="0" algn="ctr">
              <a:buNone/>
            </a:pPr>
            <a:r>
              <a:rPr lang="en-US" sz="1000" dirty="0">
                <a:solidFill>
                  <a:srgbClr val="D6EAF8"/>
                </a:solidFill>
                <a:latin typeface="Calibri" panose="020F0502020204030204" pitchFamily="34" charset="0"/>
                <a:ea typeface="Calibri" panose="020F0502020204030204" pitchFamily="34" charset="-122"/>
                <a:cs typeface="Calibri" panose="020F0502020204030204" pitchFamily="34" charset="-120"/>
              </a:rPr>
              <a:t>(2023)</a:t>
            </a:r>
            <a:endParaRPr lang="en-US" sz="1000" dirty="0"/>
          </a:p>
        </p:txBody>
      </p:sp>
      <p:sp>
        <p:nvSpPr>
          <p:cNvPr id="13" name="Shape 11"/>
          <p:cNvSpPr/>
          <p:nvPr/>
        </p:nvSpPr>
        <p:spPr>
          <a:xfrm>
            <a:off x="4434840" y="822960"/>
            <a:ext cx="1920240" cy="914400"/>
          </a:xfrm>
          <a:prstGeom prst="rect">
            <a:avLst/>
          </a:prstGeom>
          <a:solidFill>
            <a:srgbClr val="C8901A"/>
          </a:solidFill>
          <a:ln w="12700">
            <a:solidFill>
              <a:srgbClr val="C8901A"/>
            </a:solidFill>
            <a:prstDash val="solid"/>
          </a:ln>
          <a:effectLst>
            <a:outerShdw blurRad="76200" dist="38100" dir="8100000" algn="bl" rotWithShape="0">
              <a:srgbClr val="000000">
                <a:alpha val="15000"/>
              </a:srgbClr>
            </a:outerShdw>
          </a:effectLst>
        </p:spPr>
        <p:txBody>
          <a:bodyPr/>
          <a:lstStyle/>
          <a:p>
            <a:endParaRPr lang="tr-TR"/>
          </a:p>
        </p:txBody>
      </p:sp>
      <p:sp>
        <p:nvSpPr>
          <p:cNvPr id="14" name="Text 12"/>
          <p:cNvSpPr/>
          <p:nvPr/>
        </p:nvSpPr>
        <p:spPr>
          <a:xfrm>
            <a:off x="4434840" y="868680"/>
            <a:ext cx="1920240" cy="530352"/>
          </a:xfrm>
          <a:prstGeom prst="rect">
            <a:avLst/>
          </a:prstGeom>
          <a:noFill/>
        </p:spPr>
        <p:txBody>
          <a:bodyPr wrap="square" rtlCol="0" anchor="ctr"/>
          <a:lstStyle/>
          <a:p>
            <a:pPr marL="0" indent="0" algn="ctr">
              <a:buNone/>
            </a:pPr>
            <a:r>
              <a:rPr lang="en-US" sz="2800" b="1" dirty="0">
                <a:solidFill>
                  <a:srgbClr val="FFFFFF"/>
                </a:solidFill>
                <a:latin typeface="Calibri" panose="020F0502020204030204" pitchFamily="34" charset="0"/>
                <a:ea typeface="Calibri" panose="020F0502020204030204" pitchFamily="34" charset="-122"/>
                <a:cs typeface="Calibri" panose="020F0502020204030204" pitchFamily="34" charset="-120"/>
              </a:rPr>
              <a:t>~3.289</a:t>
            </a:r>
            <a:endParaRPr lang="en-US" sz="2800" dirty="0"/>
          </a:p>
        </p:txBody>
      </p:sp>
      <p:sp>
        <p:nvSpPr>
          <p:cNvPr id="15" name="Text 13"/>
          <p:cNvSpPr/>
          <p:nvPr/>
        </p:nvSpPr>
        <p:spPr>
          <a:xfrm>
            <a:off x="4434840" y="1371600"/>
            <a:ext cx="1920240" cy="347472"/>
          </a:xfrm>
          <a:prstGeom prst="rect">
            <a:avLst/>
          </a:prstGeom>
          <a:noFill/>
        </p:spPr>
        <p:txBody>
          <a:bodyPr wrap="square" rtlCol="0" anchor="ctr"/>
          <a:lstStyle/>
          <a:p>
            <a:pPr marL="0" indent="0" algn="ctr">
              <a:buNone/>
            </a:pPr>
            <a:r>
              <a:rPr lang="en-US" sz="1000" dirty="0">
                <a:solidFill>
                  <a:srgbClr val="D6EAF8"/>
                </a:solidFill>
                <a:latin typeface="Calibri" panose="020F0502020204030204" pitchFamily="34" charset="0"/>
                <a:ea typeface="Calibri" panose="020F0502020204030204" pitchFamily="34" charset="-122"/>
                <a:cs typeface="Calibri" panose="020F0502020204030204" pitchFamily="34" charset="-120"/>
              </a:rPr>
              <a:t>kWh/Kişi/Yıl</a:t>
            </a:r>
            <a:endParaRPr lang="en-US" sz="1000" dirty="0"/>
          </a:p>
          <a:p>
            <a:pPr marL="0" indent="0" algn="ctr">
              <a:buNone/>
            </a:pPr>
            <a:r>
              <a:rPr lang="en-US" sz="1000" dirty="0">
                <a:solidFill>
                  <a:srgbClr val="D6EAF8"/>
                </a:solidFill>
                <a:latin typeface="Calibri" panose="020F0502020204030204" pitchFamily="34" charset="0"/>
                <a:ea typeface="Calibri" panose="020F0502020204030204" pitchFamily="34" charset="-122"/>
                <a:cs typeface="Calibri" panose="020F0502020204030204" pitchFamily="34" charset="-120"/>
              </a:rPr>
              <a:t>Ortalama</a:t>
            </a:r>
            <a:endParaRPr lang="en-US" sz="1000" dirty="0"/>
          </a:p>
        </p:txBody>
      </p:sp>
      <p:sp>
        <p:nvSpPr>
          <p:cNvPr id="16" name="Shape 14"/>
          <p:cNvSpPr/>
          <p:nvPr/>
        </p:nvSpPr>
        <p:spPr>
          <a:xfrm>
            <a:off x="6492240" y="822960"/>
            <a:ext cx="1920240" cy="914400"/>
          </a:xfrm>
          <a:prstGeom prst="rect">
            <a:avLst/>
          </a:prstGeom>
          <a:solidFill>
            <a:srgbClr val="1E8449"/>
          </a:solidFill>
          <a:ln w="12700">
            <a:solidFill>
              <a:srgbClr val="1E8449"/>
            </a:solidFill>
            <a:prstDash val="solid"/>
          </a:ln>
          <a:effectLst>
            <a:outerShdw blurRad="76200" dist="38100" dir="8100000" algn="bl" rotWithShape="0">
              <a:srgbClr val="000000">
                <a:alpha val="15000"/>
              </a:srgbClr>
            </a:outerShdw>
          </a:effectLst>
        </p:spPr>
        <p:txBody>
          <a:bodyPr/>
          <a:lstStyle/>
          <a:p>
            <a:endParaRPr lang="tr-TR"/>
          </a:p>
        </p:txBody>
      </p:sp>
      <p:sp>
        <p:nvSpPr>
          <p:cNvPr id="17" name="Text 15"/>
          <p:cNvSpPr/>
          <p:nvPr/>
        </p:nvSpPr>
        <p:spPr>
          <a:xfrm>
            <a:off x="6492240" y="868680"/>
            <a:ext cx="1920240" cy="530352"/>
          </a:xfrm>
          <a:prstGeom prst="rect">
            <a:avLst/>
          </a:prstGeom>
          <a:noFill/>
        </p:spPr>
        <p:txBody>
          <a:bodyPr wrap="square" rtlCol="0" anchor="ctr"/>
          <a:lstStyle/>
          <a:p>
            <a:pPr marL="0" indent="0" algn="ctr">
              <a:buNone/>
            </a:pPr>
            <a:r>
              <a:rPr lang="en-US" sz="2800" b="1" dirty="0">
                <a:solidFill>
                  <a:srgbClr val="FFFFFF"/>
                </a:solidFill>
                <a:latin typeface="Calibri" panose="020F0502020204030204" pitchFamily="34" charset="0"/>
                <a:ea typeface="Calibri" panose="020F0502020204030204" pitchFamily="34" charset="-122"/>
                <a:cs typeface="Calibri" panose="020F0502020204030204" pitchFamily="34" charset="-120"/>
              </a:rPr>
              <a:t>~3.500</a:t>
            </a:r>
            <a:endParaRPr lang="en-US" sz="2800" dirty="0"/>
          </a:p>
        </p:txBody>
      </p:sp>
      <p:sp>
        <p:nvSpPr>
          <p:cNvPr id="18" name="Text 16"/>
          <p:cNvSpPr/>
          <p:nvPr/>
        </p:nvSpPr>
        <p:spPr>
          <a:xfrm>
            <a:off x="6492240" y="1371600"/>
            <a:ext cx="1920240" cy="347472"/>
          </a:xfrm>
          <a:prstGeom prst="rect">
            <a:avLst/>
          </a:prstGeom>
          <a:noFill/>
        </p:spPr>
        <p:txBody>
          <a:bodyPr wrap="square" rtlCol="0" anchor="ctr"/>
          <a:lstStyle/>
          <a:p>
            <a:pPr marL="0" indent="0" algn="ctr">
              <a:buNone/>
            </a:pPr>
            <a:r>
              <a:rPr lang="en-US" sz="1000" dirty="0">
                <a:solidFill>
                  <a:srgbClr val="D6EAF8"/>
                </a:solidFill>
                <a:latin typeface="Calibri" panose="020F0502020204030204" pitchFamily="34" charset="0"/>
                <a:ea typeface="Calibri" panose="020F0502020204030204" pitchFamily="34" charset="-122"/>
                <a:cs typeface="Calibri" panose="020F0502020204030204" pitchFamily="34" charset="-120"/>
              </a:rPr>
              <a:t>kWh/Hane/Yıl</a:t>
            </a:r>
            <a:endParaRPr lang="en-US" sz="1000" dirty="0"/>
          </a:p>
          <a:p>
            <a:pPr marL="0" indent="0" algn="ctr">
              <a:buNone/>
            </a:pPr>
            <a:r>
              <a:rPr lang="en-US" sz="1000" dirty="0">
                <a:solidFill>
                  <a:srgbClr val="D6EAF8"/>
                </a:solidFill>
                <a:latin typeface="Calibri" panose="020F0502020204030204" pitchFamily="34" charset="0"/>
                <a:ea typeface="Calibri" panose="020F0502020204030204" pitchFamily="34" charset="-122"/>
                <a:cs typeface="Calibri" panose="020F0502020204030204" pitchFamily="34" charset="-120"/>
              </a:rPr>
              <a:t>Türkiye Ort.</a:t>
            </a:r>
            <a:endParaRPr lang="en-US" sz="1000" dirty="0"/>
          </a:p>
        </p:txBody>
      </p:sp>
      <p:graphicFrame>
        <p:nvGraphicFramePr>
          <p:cNvPr id="19" name="Table 0"/>
          <p:cNvGraphicFramePr>
            <a:graphicFrameLocks noGrp="1"/>
          </p:cNvGraphicFramePr>
          <p:nvPr/>
        </p:nvGraphicFramePr>
        <p:xfrm>
          <a:off x="320040" y="1874520"/>
          <a:ext cx="8705548" cy="1737360"/>
        </p:xfrm>
        <a:graphic>
          <a:graphicData uri="http://schemas.openxmlformats.org/drawingml/2006/table">
            <a:tbl>
              <a:tblPr/>
              <a:tblGrid>
                <a:gridCol w="1954307"/>
                <a:gridCol w="888321"/>
                <a:gridCol w="2487299"/>
                <a:gridCol w="3375621"/>
              </a:tblGrid>
              <a:tr h="347472">
                <a:tc>
                  <a:txBody>
                    <a:bodyPr/>
                    <a:lstStyle/>
                    <a:p>
                      <a:pPr marL="0" indent="0" algn="ctr">
                        <a:buNone/>
                      </a:pPr>
                      <a:r>
                        <a:rPr lang="en-US" sz="1000" b="1" dirty="0">
                          <a:solidFill>
                            <a:srgbClr val="FFFFFF"/>
                          </a:solidFill>
                          <a:latin typeface="Calibri" panose="020F0502020204030204" pitchFamily="34" charset="0"/>
                          <a:ea typeface="Calibri" panose="020F0502020204030204" pitchFamily="34" charset="-122"/>
                          <a:cs typeface="Calibri" panose="020F0502020204030204" pitchFamily="34" charset="-120"/>
                        </a:rPr>
                        <a:t>Sektör</a:t>
                      </a:r>
                      <a:endParaRPr lang="en-US" sz="1000" dirty="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E0E6ED"/>
                      </a:solidFill>
                      <a:prstDash val="solid"/>
                      <a:round/>
                      <a:headEnd type="none" w="med" len="med"/>
                      <a:tailEnd type="none" w="med" len="med"/>
                    </a:lnL>
                    <a:lnR w="6350" cap="flat" cmpd="sng" algn="ctr">
                      <a:solidFill>
                        <a:srgbClr val="E0E6ED"/>
                      </a:solidFill>
                      <a:prstDash val="solid"/>
                      <a:round/>
                      <a:headEnd type="none" w="med" len="med"/>
                      <a:tailEnd type="none" w="med" len="med"/>
                    </a:lnR>
                    <a:lnT w="6350" cap="flat" cmpd="sng" algn="ctr">
                      <a:solidFill>
                        <a:srgbClr val="E0E6ED"/>
                      </a:solidFill>
                      <a:prstDash val="solid"/>
                      <a:round/>
                      <a:headEnd type="none" w="med" len="med"/>
                      <a:tailEnd type="none" w="med" len="med"/>
                    </a:lnT>
                    <a:lnB w="6350" cap="flat" cmpd="sng" algn="ctr">
                      <a:solidFill>
                        <a:srgbClr val="E0E6ED"/>
                      </a:solidFill>
                      <a:prstDash val="solid"/>
                      <a:round/>
                      <a:headEnd type="none" w="med" len="med"/>
                      <a:tailEnd type="none" w="med" len="med"/>
                    </a:lnB>
                    <a:solidFill>
                      <a:srgbClr val="1D6A72"/>
                    </a:solidFill>
                  </a:tcPr>
                </a:tc>
                <a:tc>
                  <a:txBody>
                    <a:bodyPr/>
                    <a:lstStyle/>
                    <a:p>
                      <a:pPr marL="0" indent="0" algn="ctr">
                        <a:buNone/>
                      </a:pPr>
                      <a:r>
                        <a:rPr lang="en-US" sz="1000" b="1" dirty="0">
                          <a:solidFill>
                            <a:srgbClr val="FFFFFF"/>
                          </a:solidFill>
                          <a:latin typeface="Calibri" panose="020F0502020204030204" pitchFamily="34" charset="0"/>
                          <a:ea typeface="Calibri" panose="020F0502020204030204" pitchFamily="34" charset="-122"/>
                          <a:cs typeface="Calibri" panose="020F0502020204030204" pitchFamily="34" charset="-120"/>
                        </a:rPr>
                        <a:t>Pay (%)</a:t>
                      </a:r>
                      <a:endParaRPr lang="en-US" sz="1000" dirty="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E0E6ED"/>
                      </a:solidFill>
                      <a:prstDash val="solid"/>
                      <a:round/>
                      <a:headEnd type="none" w="med" len="med"/>
                      <a:tailEnd type="none" w="med" len="med"/>
                    </a:lnL>
                    <a:lnR w="6350" cap="flat" cmpd="sng" algn="ctr">
                      <a:solidFill>
                        <a:srgbClr val="E0E6ED"/>
                      </a:solidFill>
                      <a:prstDash val="solid"/>
                      <a:round/>
                      <a:headEnd type="none" w="med" len="med"/>
                      <a:tailEnd type="none" w="med" len="med"/>
                    </a:lnR>
                    <a:lnT w="6350" cap="flat" cmpd="sng" algn="ctr">
                      <a:solidFill>
                        <a:srgbClr val="E0E6ED"/>
                      </a:solidFill>
                      <a:prstDash val="solid"/>
                      <a:round/>
                      <a:headEnd type="none" w="med" len="med"/>
                      <a:tailEnd type="none" w="med" len="med"/>
                    </a:lnT>
                    <a:lnB w="6350" cap="flat" cmpd="sng" algn="ctr">
                      <a:solidFill>
                        <a:srgbClr val="E0E6ED"/>
                      </a:solidFill>
                      <a:prstDash val="solid"/>
                      <a:round/>
                      <a:headEnd type="none" w="med" len="med"/>
                      <a:tailEnd type="none" w="med" len="med"/>
                    </a:lnB>
                    <a:solidFill>
                      <a:srgbClr val="1D6A72"/>
                    </a:solidFill>
                  </a:tcPr>
                </a:tc>
                <a:tc>
                  <a:txBody>
                    <a:bodyPr/>
                    <a:lstStyle/>
                    <a:p>
                      <a:pPr marL="0" indent="0" algn="ctr">
                        <a:buNone/>
                      </a:pPr>
                      <a:r>
                        <a:rPr lang="en-US" sz="1000" b="1" dirty="0">
                          <a:solidFill>
                            <a:srgbClr val="FFFFFF"/>
                          </a:solidFill>
                          <a:latin typeface="Calibri" panose="020F0502020204030204" pitchFamily="34" charset="0"/>
                          <a:ea typeface="Calibri" panose="020F0502020204030204" pitchFamily="34" charset="-122"/>
                          <a:cs typeface="Calibri" panose="020F0502020204030204" pitchFamily="34" charset="-120"/>
                        </a:rPr>
                        <a:t>Yıllık Tüketim (MWh)</a:t>
                      </a:r>
                      <a:endParaRPr lang="en-US" sz="1000" dirty="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E0E6ED"/>
                      </a:solidFill>
                      <a:prstDash val="solid"/>
                      <a:round/>
                      <a:headEnd type="none" w="med" len="med"/>
                      <a:tailEnd type="none" w="med" len="med"/>
                    </a:lnL>
                    <a:lnR w="6350" cap="flat" cmpd="sng" algn="ctr">
                      <a:solidFill>
                        <a:srgbClr val="E0E6ED"/>
                      </a:solidFill>
                      <a:prstDash val="solid"/>
                      <a:round/>
                      <a:headEnd type="none" w="med" len="med"/>
                      <a:tailEnd type="none" w="med" len="med"/>
                    </a:lnR>
                    <a:lnT w="6350" cap="flat" cmpd="sng" algn="ctr">
                      <a:solidFill>
                        <a:srgbClr val="E0E6ED"/>
                      </a:solidFill>
                      <a:prstDash val="solid"/>
                      <a:round/>
                      <a:headEnd type="none" w="med" len="med"/>
                      <a:tailEnd type="none" w="med" len="med"/>
                    </a:lnT>
                    <a:lnB w="6350" cap="flat" cmpd="sng" algn="ctr">
                      <a:solidFill>
                        <a:srgbClr val="E0E6ED"/>
                      </a:solidFill>
                      <a:prstDash val="solid"/>
                      <a:round/>
                      <a:headEnd type="none" w="med" len="med"/>
                      <a:tailEnd type="none" w="med" len="med"/>
                    </a:lnB>
                    <a:solidFill>
                      <a:srgbClr val="1D6A72"/>
                    </a:solidFill>
                  </a:tcPr>
                </a:tc>
                <a:tc>
                  <a:txBody>
                    <a:bodyPr/>
                    <a:lstStyle/>
                    <a:p>
                      <a:pPr marL="0" indent="0" algn="ctr">
                        <a:buNone/>
                      </a:pPr>
                      <a:r>
                        <a:rPr lang="en-US" sz="1000" b="1" dirty="0">
                          <a:solidFill>
                            <a:srgbClr val="FFFFFF"/>
                          </a:solidFill>
                          <a:latin typeface="Calibri" panose="020F0502020204030204" pitchFamily="34" charset="0"/>
                          <a:ea typeface="Calibri" panose="020F0502020204030204" pitchFamily="34" charset="-122"/>
                          <a:cs typeface="Calibri" panose="020F0502020204030204" pitchFamily="34" charset="-120"/>
                        </a:rPr>
                        <a:t>Açıklama</a:t>
                      </a:r>
                      <a:endParaRPr lang="en-US" sz="1000" dirty="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E0E6ED"/>
                      </a:solidFill>
                      <a:prstDash val="solid"/>
                      <a:round/>
                      <a:headEnd type="none" w="med" len="med"/>
                      <a:tailEnd type="none" w="med" len="med"/>
                    </a:lnL>
                    <a:lnR w="6350" cap="flat" cmpd="sng" algn="ctr">
                      <a:solidFill>
                        <a:srgbClr val="E0E6ED"/>
                      </a:solidFill>
                      <a:prstDash val="solid"/>
                      <a:round/>
                      <a:headEnd type="none" w="med" len="med"/>
                      <a:tailEnd type="none" w="med" len="med"/>
                    </a:lnR>
                    <a:lnT w="6350" cap="flat" cmpd="sng" algn="ctr">
                      <a:solidFill>
                        <a:srgbClr val="E0E6ED"/>
                      </a:solidFill>
                      <a:prstDash val="solid"/>
                      <a:round/>
                      <a:headEnd type="none" w="med" len="med"/>
                      <a:tailEnd type="none" w="med" len="med"/>
                    </a:lnT>
                    <a:lnB w="6350" cap="flat" cmpd="sng" algn="ctr">
                      <a:solidFill>
                        <a:srgbClr val="E0E6ED"/>
                      </a:solidFill>
                      <a:prstDash val="solid"/>
                      <a:round/>
                      <a:headEnd type="none" w="med" len="med"/>
                      <a:tailEnd type="none" w="med" len="med"/>
                    </a:lnB>
                    <a:solidFill>
                      <a:srgbClr val="1D6A72"/>
                    </a:solidFill>
                  </a:tcPr>
                </a:tc>
              </a:tr>
              <a:tr h="347472">
                <a:tc>
                  <a:txBody>
                    <a:bodyPr/>
                    <a:lstStyle/>
                    <a:p>
                      <a:pPr marL="0" indent="0" algn="l">
                        <a:buNone/>
                      </a:pPr>
                      <a:r>
                        <a:rPr lang="en-US" sz="950" dirty="0">
                          <a:solidFill>
                            <a:srgbClr val="212121"/>
                          </a:solidFill>
                          <a:latin typeface="Calibri" panose="020F0502020204030204" pitchFamily="34" charset="0"/>
                          <a:ea typeface="Calibri" panose="020F0502020204030204" pitchFamily="34" charset="-122"/>
                          <a:cs typeface="Calibri" panose="020F0502020204030204" pitchFamily="34" charset="-120"/>
                        </a:rPr>
                        <a:t>Sanayi</a:t>
                      </a:r>
                      <a:endParaRPr lang="en-US" sz="950" dirty="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E0E6ED"/>
                      </a:solidFill>
                      <a:prstDash val="solid"/>
                      <a:round/>
                      <a:headEnd type="none" w="med" len="med"/>
                      <a:tailEnd type="none" w="med" len="med"/>
                    </a:lnL>
                    <a:lnR w="6350" cap="flat" cmpd="sng" algn="ctr">
                      <a:solidFill>
                        <a:srgbClr val="E0E6ED"/>
                      </a:solidFill>
                      <a:prstDash val="solid"/>
                      <a:round/>
                      <a:headEnd type="none" w="med" len="med"/>
                      <a:tailEnd type="none" w="med" len="med"/>
                    </a:lnR>
                    <a:lnT w="6350" cap="flat" cmpd="sng" algn="ctr">
                      <a:solidFill>
                        <a:srgbClr val="E0E6ED"/>
                      </a:solidFill>
                      <a:prstDash val="solid"/>
                      <a:round/>
                      <a:headEnd type="none" w="med" len="med"/>
                      <a:tailEnd type="none" w="med" len="med"/>
                    </a:lnT>
                    <a:lnB w="6350" cap="flat" cmpd="sng" algn="ctr">
                      <a:solidFill>
                        <a:srgbClr val="E0E6ED"/>
                      </a:solidFill>
                      <a:prstDash val="solid"/>
                      <a:round/>
                      <a:headEnd type="none" w="med" len="med"/>
                      <a:tailEnd type="none" w="med" len="med"/>
                    </a:lnB>
                    <a:solidFill>
                      <a:srgbClr val="F4F6F8"/>
                    </a:solidFill>
                  </a:tcPr>
                </a:tc>
                <a:tc>
                  <a:txBody>
                    <a:bodyPr/>
                    <a:lstStyle/>
                    <a:p>
                      <a:pPr marL="0" indent="0" algn="ctr">
                        <a:buNone/>
                      </a:pPr>
                      <a:r>
                        <a:rPr lang="en-US" sz="950" dirty="0">
                          <a:solidFill>
                            <a:srgbClr val="212121"/>
                          </a:solidFill>
                          <a:latin typeface="Calibri" panose="020F0502020204030204" pitchFamily="34" charset="0"/>
                          <a:ea typeface="Calibri" panose="020F0502020204030204" pitchFamily="34" charset="-122"/>
                          <a:cs typeface="Calibri" panose="020F0502020204030204" pitchFamily="34" charset="-120"/>
                        </a:rPr>
                        <a:t>~%45</a:t>
                      </a:r>
                      <a:endParaRPr lang="en-US" sz="950" dirty="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E0E6ED"/>
                      </a:solidFill>
                      <a:prstDash val="solid"/>
                      <a:round/>
                      <a:headEnd type="none" w="med" len="med"/>
                      <a:tailEnd type="none" w="med" len="med"/>
                    </a:lnL>
                    <a:lnR w="6350" cap="flat" cmpd="sng" algn="ctr">
                      <a:solidFill>
                        <a:srgbClr val="E0E6ED"/>
                      </a:solidFill>
                      <a:prstDash val="solid"/>
                      <a:round/>
                      <a:headEnd type="none" w="med" len="med"/>
                      <a:tailEnd type="none" w="med" len="med"/>
                    </a:lnR>
                    <a:lnT w="6350" cap="flat" cmpd="sng" algn="ctr">
                      <a:solidFill>
                        <a:srgbClr val="E0E6ED"/>
                      </a:solidFill>
                      <a:prstDash val="solid"/>
                      <a:round/>
                      <a:headEnd type="none" w="med" len="med"/>
                      <a:tailEnd type="none" w="med" len="med"/>
                    </a:lnT>
                    <a:lnB w="6350" cap="flat" cmpd="sng" algn="ctr">
                      <a:solidFill>
                        <a:srgbClr val="E0E6ED"/>
                      </a:solidFill>
                      <a:prstDash val="solid"/>
                      <a:round/>
                      <a:headEnd type="none" w="med" len="med"/>
                      <a:tailEnd type="none" w="med" len="med"/>
                    </a:lnB>
                    <a:solidFill>
                      <a:srgbClr val="F4F6F8"/>
                    </a:solidFill>
                  </a:tcPr>
                </a:tc>
                <a:tc>
                  <a:txBody>
                    <a:bodyPr/>
                    <a:lstStyle/>
                    <a:p>
                      <a:pPr marL="0" indent="0" algn="ctr">
                        <a:buNone/>
                      </a:pPr>
                      <a:r>
                        <a:rPr lang="en-US" sz="950" dirty="0">
                          <a:solidFill>
                            <a:srgbClr val="212121"/>
                          </a:solidFill>
                          <a:latin typeface="Calibri" panose="020F0502020204030204" pitchFamily="34" charset="0"/>
                          <a:ea typeface="Calibri" panose="020F0502020204030204" pitchFamily="34" charset="-122"/>
                          <a:cs typeface="Calibri" panose="020F0502020204030204" pitchFamily="34" charset="-120"/>
                        </a:rPr>
                        <a:t>~6.660.000 MWh</a:t>
                      </a:r>
                      <a:endParaRPr lang="en-US" sz="950" dirty="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E0E6ED"/>
                      </a:solidFill>
                      <a:prstDash val="solid"/>
                      <a:round/>
                      <a:headEnd type="none" w="med" len="med"/>
                      <a:tailEnd type="none" w="med" len="med"/>
                    </a:lnL>
                    <a:lnR w="6350" cap="flat" cmpd="sng" algn="ctr">
                      <a:solidFill>
                        <a:srgbClr val="E0E6ED"/>
                      </a:solidFill>
                      <a:prstDash val="solid"/>
                      <a:round/>
                      <a:headEnd type="none" w="med" len="med"/>
                      <a:tailEnd type="none" w="med" len="med"/>
                    </a:lnR>
                    <a:lnT w="6350" cap="flat" cmpd="sng" algn="ctr">
                      <a:solidFill>
                        <a:srgbClr val="E0E6ED"/>
                      </a:solidFill>
                      <a:prstDash val="solid"/>
                      <a:round/>
                      <a:headEnd type="none" w="med" len="med"/>
                      <a:tailEnd type="none" w="med" len="med"/>
                    </a:lnT>
                    <a:lnB w="6350" cap="flat" cmpd="sng" algn="ctr">
                      <a:solidFill>
                        <a:srgbClr val="E0E6ED"/>
                      </a:solidFill>
                      <a:prstDash val="solid"/>
                      <a:round/>
                      <a:headEnd type="none" w="med" len="med"/>
                      <a:tailEnd type="none" w="med" len="med"/>
                    </a:lnB>
                    <a:solidFill>
                      <a:srgbClr val="F4F6F8"/>
                    </a:solidFill>
                  </a:tcPr>
                </a:tc>
                <a:tc>
                  <a:txBody>
                    <a:bodyPr/>
                    <a:lstStyle/>
                    <a:p>
                      <a:pPr marL="0" indent="0" algn="ctr">
                        <a:buNone/>
                      </a:pPr>
                      <a:r>
                        <a:rPr lang="en-US" sz="950" dirty="0">
                          <a:solidFill>
                            <a:srgbClr val="212121"/>
                          </a:solidFill>
                          <a:latin typeface="Calibri" panose="020F0502020204030204" pitchFamily="34" charset="0"/>
                          <a:ea typeface="Calibri" panose="020F0502020204030204" pitchFamily="34" charset="-122"/>
                          <a:cs typeface="Calibri" panose="020F0502020204030204" pitchFamily="34" charset="-120"/>
                        </a:rPr>
                        <a:t>Aliağa rafineri, demir-çelik, kimya</a:t>
                      </a:r>
                      <a:endParaRPr lang="en-US" sz="950" dirty="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E0E6ED"/>
                      </a:solidFill>
                      <a:prstDash val="solid"/>
                      <a:round/>
                      <a:headEnd type="none" w="med" len="med"/>
                      <a:tailEnd type="none" w="med" len="med"/>
                    </a:lnL>
                    <a:lnR w="6350" cap="flat" cmpd="sng" algn="ctr">
                      <a:solidFill>
                        <a:srgbClr val="E0E6ED"/>
                      </a:solidFill>
                      <a:prstDash val="solid"/>
                      <a:round/>
                      <a:headEnd type="none" w="med" len="med"/>
                      <a:tailEnd type="none" w="med" len="med"/>
                    </a:lnR>
                    <a:lnT w="6350" cap="flat" cmpd="sng" algn="ctr">
                      <a:solidFill>
                        <a:srgbClr val="E0E6ED"/>
                      </a:solidFill>
                      <a:prstDash val="solid"/>
                      <a:round/>
                      <a:headEnd type="none" w="med" len="med"/>
                      <a:tailEnd type="none" w="med" len="med"/>
                    </a:lnT>
                    <a:lnB w="6350" cap="flat" cmpd="sng" algn="ctr">
                      <a:solidFill>
                        <a:srgbClr val="E0E6ED"/>
                      </a:solidFill>
                      <a:prstDash val="solid"/>
                      <a:round/>
                      <a:headEnd type="none" w="med" len="med"/>
                      <a:tailEnd type="none" w="med" len="med"/>
                    </a:lnB>
                    <a:solidFill>
                      <a:srgbClr val="F4F6F8"/>
                    </a:solidFill>
                  </a:tcPr>
                </a:tc>
              </a:tr>
              <a:tr h="347472">
                <a:tc>
                  <a:txBody>
                    <a:bodyPr/>
                    <a:lstStyle/>
                    <a:p>
                      <a:pPr marL="0" indent="0" algn="l">
                        <a:buNone/>
                      </a:pPr>
                      <a:r>
                        <a:rPr lang="en-US" sz="950" dirty="0">
                          <a:solidFill>
                            <a:srgbClr val="212121"/>
                          </a:solidFill>
                          <a:latin typeface="Calibri" panose="020F0502020204030204" pitchFamily="34" charset="0"/>
                          <a:ea typeface="Calibri" panose="020F0502020204030204" pitchFamily="34" charset="-122"/>
                          <a:cs typeface="Calibri" panose="020F0502020204030204" pitchFamily="34" charset="-120"/>
                        </a:rPr>
                        <a:t>Konut</a:t>
                      </a:r>
                      <a:endParaRPr lang="en-US" sz="950" dirty="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E0E6ED"/>
                      </a:solidFill>
                      <a:prstDash val="solid"/>
                      <a:round/>
                      <a:headEnd type="none" w="med" len="med"/>
                      <a:tailEnd type="none" w="med" len="med"/>
                    </a:lnL>
                    <a:lnR w="6350" cap="flat" cmpd="sng" algn="ctr">
                      <a:solidFill>
                        <a:srgbClr val="E0E6ED"/>
                      </a:solidFill>
                      <a:prstDash val="solid"/>
                      <a:round/>
                      <a:headEnd type="none" w="med" len="med"/>
                      <a:tailEnd type="none" w="med" len="med"/>
                    </a:lnR>
                    <a:lnT w="6350" cap="flat" cmpd="sng" algn="ctr">
                      <a:solidFill>
                        <a:srgbClr val="E0E6ED"/>
                      </a:solidFill>
                      <a:prstDash val="solid"/>
                      <a:round/>
                      <a:headEnd type="none" w="med" len="med"/>
                      <a:tailEnd type="none" w="med" len="med"/>
                    </a:lnT>
                    <a:lnB w="6350" cap="flat" cmpd="sng" algn="ctr">
                      <a:solidFill>
                        <a:srgbClr val="E0E6ED"/>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212121"/>
                          </a:solidFill>
                          <a:latin typeface="Calibri" panose="020F0502020204030204" pitchFamily="34" charset="0"/>
                          <a:ea typeface="Calibri" panose="020F0502020204030204" pitchFamily="34" charset="-122"/>
                          <a:cs typeface="Calibri" panose="020F0502020204030204" pitchFamily="34" charset="-120"/>
                        </a:rPr>
                        <a:t>~%35</a:t>
                      </a:r>
                      <a:endParaRPr lang="en-US" sz="950" dirty="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E0E6ED"/>
                      </a:solidFill>
                      <a:prstDash val="solid"/>
                      <a:round/>
                      <a:headEnd type="none" w="med" len="med"/>
                      <a:tailEnd type="none" w="med" len="med"/>
                    </a:lnL>
                    <a:lnR w="6350" cap="flat" cmpd="sng" algn="ctr">
                      <a:solidFill>
                        <a:srgbClr val="E0E6ED"/>
                      </a:solidFill>
                      <a:prstDash val="solid"/>
                      <a:round/>
                      <a:headEnd type="none" w="med" len="med"/>
                      <a:tailEnd type="none" w="med" len="med"/>
                    </a:lnR>
                    <a:lnT w="6350" cap="flat" cmpd="sng" algn="ctr">
                      <a:solidFill>
                        <a:srgbClr val="E0E6ED"/>
                      </a:solidFill>
                      <a:prstDash val="solid"/>
                      <a:round/>
                      <a:headEnd type="none" w="med" len="med"/>
                      <a:tailEnd type="none" w="med" len="med"/>
                    </a:lnT>
                    <a:lnB w="6350" cap="flat" cmpd="sng" algn="ctr">
                      <a:solidFill>
                        <a:srgbClr val="E0E6ED"/>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212121"/>
                          </a:solidFill>
                          <a:latin typeface="Calibri" panose="020F0502020204030204" pitchFamily="34" charset="0"/>
                          <a:ea typeface="Calibri" panose="020F0502020204030204" pitchFamily="34" charset="-122"/>
                          <a:cs typeface="Calibri" panose="020F0502020204030204" pitchFamily="34" charset="-120"/>
                        </a:rPr>
                        <a:t>~5.180.000 MWh</a:t>
                      </a:r>
                      <a:endParaRPr lang="en-US" sz="950" dirty="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E0E6ED"/>
                      </a:solidFill>
                      <a:prstDash val="solid"/>
                      <a:round/>
                      <a:headEnd type="none" w="med" len="med"/>
                      <a:tailEnd type="none" w="med" len="med"/>
                    </a:lnL>
                    <a:lnR w="6350" cap="flat" cmpd="sng" algn="ctr">
                      <a:solidFill>
                        <a:srgbClr val="E0E6ED"/>
                      </a:solidFill>
                      <a:prstDash val="solid"/>
                      <a:round/>
                      <a:headEnd type="none" w="med" len="med"/>
                      <a:tailEnd type="none" w="med" len="med"/>
                    </a:lnR>
                    <a:lnT w="6350" cap="flat" cmpd="sng" algn="ctr">
                      <a:solidFill>
                        <a:srgbClr val="E0E6ED"/>
                      </a:solidFill>
                      <a:prstDash val="solid"/>
                      <a:round/>
                      <a:headEnd type="none" w="med" len="med"/>
                      <a:tailEnd type="none" w="med" len="med"/>
                    </a:lnT>
                    <a:lnB w="6350" cap="flat" cmpd="sng" algn="ctr">
                      <a:solidFill>
                        <a:srgbClr val="E0E6ED"/>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212121"/>
                          </a:solidFill>
                          <a:latin typeface="Calibri" panose="020F0502020204030204" pitchFamily="34" charset="0"/>
                          <a:ea typeface="Calibri" panose="020F0502020204030204" pitchFamily="34" charset="-122"/>
                          <a:cs typeface="Calibri" panose="020F0502020204030204" pitchFamily="34" charset="-120"/>
                        </a:rPr>
                        <a:t>4,5M nüfus, ~3.289 kWh/kişi</a:t>
                      </a:r>
                      <a:endParaRPr lang="en-US" sz="950" dirty="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E0E6ED"/>
                      </a:solidFill>
                      <a:prstDash val="solid"/>
                      <a:round/>
                      <a:headEnd type="none" w="med" len="med"/>
                      <a:tailEnd type="none" w="med" len="med"/>
                    </a:lnL>
                    <a:lnR w="6350" cap="flat" cmpd="sng" algn="ctr">
                      <a:solidFill>
                        <a:srgbClr val="E0E6ED"/>
                      </a:solidFill>
                      <a:prstDash val="solid"/>
                      <a:round/>
                      <a:headEnd type="none" w="med" len="med"/>
                      <a:tailEnd type="none" w="med" len="med"/>
                    </a:lnR>
                    <a:lnT w="6350" cap="flat" cmpd="sng" algn="ctr">
                      <a:solidFill>
                        <a:srgbClr val="E0E6ED"/>
                      </a:solidFill>
                      <a:prstDash val="solid"/>
                      <a:round/>
                      <a:headEnd type="none" w="med" len="med"/>
                      <a:tailEnd type="none" w="med" len="med"/>
                    </a:lnT>
                    <a:lnB w="6350" cap="flat" cmpd="sng" algn="ctr">
                      <a:solidFill>
                        <a:srgbClr val="E0E6ED"/>
                      </a:solidFill>
                      <a:prstDash val="solid"/>
                      <a:round/>
                      <a:headEnd type="none" w="med" len="med"/>
                      <a:tailEnd type="none" w="med" len="med"/>
                    </a:lnB>
                    <a:solidFill>
                      <a:srgbClr val="FFFFFF"/>
                    </a:solidFill>
                  </a:tcPr>
                </a:tc>
              </a:tr>
              <a:tr h="347472">
                <a:tc>
                  <a:txBody>
                    <a:bodyPr/>
                    <a:lstStyle/>
                    <a:p>
                      <a:pPr marL="0" indent="0" algn="l">
                        <a:buNone/>
                      </a:pPr>
                      <a:r>
                        <a:rPr lang="en-US" sz="950" dirty="0">
                          <a:solidFill>
                            <a:srgbClr val="212121"/>
                          </a:solidFill>
                          <a:latin typeface="Calibri" panose="020F0502020204030204" pitchFamily="34" charset="0"/>
                          <a:ea typeface="Calibri" panose="020F0502020204030204" pitchFamily="34" charset="-122"/>
                          <a:cs typeface="Calibri" panose="020F0502020204030204" pitchFamily="34" charset="-120"/>
                        </a:rPr>
                        <a:t>Ticaret &amp; Diğer</a:t>
                      </a:r>
                      <a:endParaRPr lang="en-US" sz="950" dirty="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E0E6ED"/>
                      </a:solidFill>
                      <a:prstDash val="solid"/>
                      <a:round/>
                      <a:headEnd type="none" w="med" len="med"/>
                      <a:tailEnd type="none" w="med" len="med"/>
                    </a:lnL>
                    <a:lnR w="6350" cap="flat" cmpd="sng" algn="ctr">
                      <a:solidFill>
                        <a:srgbClr val="E0E6ED"/>
                      </a:solidFill>
                      <a:prstDash val="solid"/>
                      <a:round/>
                      <a:headEnd type="none" w="med" len="med"/>
                      <a:tailEnd type="none" w="med" len="med"/>
                    </a:lnR>
                    <a:lnT w="6350" cap="flat" cmpd="sng" algn="ctr">
                      <a:solidFill>
                        <a:srgbClr val="E0E6ED"/>
                      </a:solidFill>
                      <a:prstDash val="solid"/>
                      <a:round/>
                      <a:headEnd type="none" w="med" len="med"/>
                      <a:tailEnd type="none" w="med" len="med"/>
                    </a:lnT>
                    <a:lnB w="6350" cap="flat" cmpd="sng" algn="ctr">
                      <a:solidFill>
                        <a:srgbClr val="E0E6ED"/>
                      </a:solidFill>
                      <a:prstDash val="solid"/>
                      <a:round/>
                      <a:headEnd type="none" w="med" len="med"/>
                      <a:tailEnd type="none" w="med" len="med"/>
                    </a:lnB>
                    <a:solidFill>
                      <a:srgbClr val="F4F6F8"/>
                    </a:solidFill>
                  </a:tcPr>
                </a:tc>
                <a:tc>
                  <a:txBody>
                    <a:bodyPr/>
                    <a:lstStyle/>
                    <a:p>
                      <a:pPr marL="0" indent="0" algn="ctr">
                        <a:buNone/>
                      </a:pPr>
                      <a:r>
                        <a:rPr lang="en-US" sz="950" dirty="0">
                          <a:solidFill>
                            <a:srgbClr val="212121"/>
                          </a:solidFill>
                          <a:latin typeface="Calibri" panose="020F0502020204030204" pitchFamily="34" charset="0"/>
                          <a:ea typeface="Calibri" panose="020F0502020204030204" pitchFamily="34" charset="-122"/>
                          <a:cs typeface="Calibri" panose="020F0502020204030204" pitchFamily="34" charset="-120"/>
                        </a:rPr>
                        <a:t>~%20</a:t>
                      </a:r>
                      <a:endParaRPr lang="en-US" sz="950" dirty="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E0E6ED"/>
                      </a:solidFill>
                      <a:prstDash val="solid"/>
                      <a:round/>
                      <a:headEnd type="none" w="med" len="med"/>
                      <a:tailEnd type="none" w="med" len="med"/>
                    </a:lnL>
                    <a:lnR w="6350" cap="flat" cmpd="sng" algn="ctr">
                      <a:solidFill>
                        <a:srgbClr val="E0E6ED"/>
                      </a:solidFill>
                      <a:prstDash val="solid"/>
                      <a:round/>
                      <a:headEnd type="none" w="med" len="med"/>
                      <a:tailEnd type="none" w="med" len="med"/>
                    </a:lnR>
                    <a:lnT w="6350" cap="flat" cmpd="sng" algn="ctr">
                      <a:solidFill>
                        <a:srgbClr val="E0E6ED"/>
                      </a:solidFill>
                      <a:prstDash val="solid"/>
                      <a:round/>
                      <a:headEnd type="none" w="med" len="med"/>
                      <a:tailEnd type="none" w="med" len="med"/>
                    </a:lnT>
                    <a:lnB w="6350" cap="flat" cmpd="sng" algn="ctr">
                      <a:solidFill>
                        <a:srgbClr val="E0E6ED"/>
                      </a:solidFill>
                      <a:prstDash val="solid"/>
                      <a:round/>
                      <a:headEnd type="none" w="med" len="med"/>
                      <a:tailEnd type="none" w="med" len="med"/>
                    </a:lnB>
                    <a:solidFill>
                      <a:srgbClr val="F4F6F8"/>
                    </a:solidFill>
                  </a:tcPr>
                </a:tc>
                <a:tc>
                  <a:txBody>
                    <a:bodyPr/>
                    <a:lstStyle/>
                    <a:p>
                      <a:pPr marL="0" indent="0" algn="ctr">
                        <a:buNone/>
                      </a:pPr>
                      <a:r>
                        <a:rPr lang="en-US" sz="950" dirty="0">
                          <a:solidFill>
                            <a:srgbClr val="212121"/>
                          </a:solidFill>
                          <a:latin typeface="Calibri" panose="020F0502020204030204" pitchFamily="34" charset="0"/>
                          <a:ea typeface="Calibri" panose="020F0502020204030204" pitchFamily="34" charset="-122"/>
                          <a:cs typeface="Calibri" panose="020F0502020204030204" pitchFamily="34" charset="-120"/>
                        </a:rPr>
                        <a:t>~2.960.000 MWh</a:t>
                      </a:r>
                      <a:endParaRPr lang="en-US" sz="950" dirty="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E0E6ED"/>
                      </a:solidFill>
                      <a:prstDash val="solid"/>
                      <a:round/>
                      <a:headEnd type="none" w="med" len="med"/>
                      <a:tailEnd type="none" w="med" len="med"/>
                    </a:lnL>
                    <a:lnR w="6350" cap="flat" cmpd="sng" algn="ctr">
                      <a:solidFill>
                        <a:srgbClr val="E0E6ED"/>
                      </a:solidFill>
                      <a:prstDash val="solid"/>
                      <a:round/>
                      <a:headEnd type="none" w="med" len="med"/>
                      <a:tailEnd type="none" w="med" len="med"/>
                    </a:lnR>
                    <a:lnT w="6350" cap="flat" cmpd="sng" algn="ctr">
                      <a:solidFill>
                        <a:srgbClr val="E0E6ED"/>
                      </a:solidFill>
                      <a:prstDash val="solid"/>
                      <a:round/>
                      <a:headEnd type="none" w="med" len="med"/>
                      <a:tailEnd type="none" w="med" len="med"/>
                    </a:lnT>
                    <a:lnB w="6350" cap="flat" cmpd="sng" algn="ctr">
                      <a:solidFill>
                        <a:srgbClr val="E0E6ED"/>
                      </a:solidFill>
                      <a:prstDash val="solid"/>
                      <a:round/>
                      <a:headEnd type="none" w="med" len="med"/>
                      <a:tailEnd type="none" w="med" len="med"/>
                    </a:lnB>
                    <a:solidFill>
                      <a:srgbClr val="F4F6F8"/>
                    </a:solidFill>
                  </a:tcPr>
                </a:tc>
                <a:tc>
                  <a:txBody>
                    <a:bodyPr/>
                    <a:lstStyle/>
                    <a:p>
                      <a:pPr marL="0" indent="0" algn="ctr">
                        <a:buNone/>
                      </a:pPr>
                      <a:r>
                        <a:rPr lang="en-US" sz="950" dirty="0">
                          <a:solidFill>
                            <a:srgbClr val="212121"/>
                          </a:solidFill>
                          <a:latin typeface="Calibri" panose="020F0502020204030204" pitchFamily="34" charset="0"/>
                          <a:ea typeface="Calibri" panose="020F0502020204030204" pitchFamily="34" charset="-122"/>
                          <a:cs typeface="Calibri" panose="020F0502020204030204" pitchFamily="34" charset="-120"/>
                        </a:rPr>
                        <a:t>Turizm, hizmet, kamu</a:t>
                      </a:r>
                      <a:endParaRPr lang="en-US" sz="950" dirty="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E0E6ED"/>
                      </a:solidFill>
                      <a:prstDash val="solid"/>
                      <a:round/>
                      <a:headEnd type="none" w="med" len="med"/>
                      <a:tailEnd type="none" w="med" len="med"/>
                    </a:lnL>
                    <a:lnR w="6350" cap="flat" cmpd="sng" algn="ctr">
                      <a:solidFill>
                        <a:srgbClr val="E0E6ED"/>
                      </a:solidFill>
                      <a:prstDash val="solid"/>
                      <a:round/>
                      <a:headEnd type="none" w="med" len="med"/>
                      <a:tailEnd type="none" w="med" len="med"/>
                    </a:lnR>
                    <a:lnT w="6350" cap="flat" cmpd="sng" algn="ctr">
                      <a:solidFill>
                        <a:srgbClr val="E0E6ED"/>
                      </a:solidFill>
                      <a:prstDash val="solid"/>
                      <a:round/>
                      <a:headEnd type="none" w="med" len="med"/>
                      <a:tailEnd type="none" w="med" len="med"/>
                    </a:lnT>
                    <a:lnB w="6350" cap="flat" cmpd="sng" algn="ctr">
                      <a:solidFill>
                        <a:srgbClr val="E0E6ED"/>
                      </a:solidFill>
                      <a:prstDash val="solid"/>
                      <a:round/>
                      <a:headEnd type="none" w="med" len="med"/>
                      <a:tailEnd type="none" w="med" len="med"/>
                    </a:lnB>
                    <a:solidFill>
                      <a:srgbClr val="F4F6F8"/>
                    </a:solidFill>
                  </a:tcPr>
                </a:tc>
              </a:tr>
              <a:tr h="347472">
                <a:tc>
                  <a:txBody>
                    <a:bodyPr/>
                    <a:lstStyle/>
                    <a:p>
                      <a:pPr marL="0" indent="0" algn="l">
                        <a:buNone/>
                      </a:pPr>
                      <a:r>
                        <a:rPr lang="en-US" sz="950" dirty="0">
                          <a:solidFill>
                            <a:srgbClr val="212121"/>
                          </a:solidFill>
                          <a:latin typeface="Calibri" panose="020F0502020204030204" pitchFamily="34" charset="0"/>
                          <a:ea typeface="Calibri" panose="020F0502020204030204" pitchFamily="34" charset="-122"/>
                          <a:cs typeface="Calibri" panose="020F0502020204030204" pitchFamily="34" charset="-120"/>
                        </a:rPr>
                        <a:t>TOPLAM</a:t>
                      </a:r>
                      <a:endParaRPr lang="en-US" sz="950" dirty="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E0E6ED"/>
                      </a:solidFill>
                      <a:prstDash val="solid"/>
                      <a:round/>
                      <a:headEnd type="none" w="med" len="med"/>
                      <a:tailEnd type="none" w="med" len="med"/>
                    </a:lnL>
                    <a:lnR w="6350" cap="flat" cmpd="sng" algn="ctr">
                      <a:solidFill>
                        <a:srgbClr val="E0E6ED"/>
                      </a:solidFill>
                      <a:prstDash val="solid"/>
                      <a:round/>
                      <a:headEnd type="none" w="med" len="med"/>
                      <a:tailEnd type="none" w="med" len="med"/>
                    </a:lnR>
                    <a:lnT w="6350" cap="flat" cmpd="sng" algn="ctr">
                      <a:solidFill>
                        <a:srgbClr val="E0E6ED"/>
                      </a:solidFill>
                      <a:prstDash val="solid"/>
                      <a:round/>
                      <a:headEnd type="none" w="med" len="med"/>
                      <a:tailEnd type="none" w="med" len="med"/>
                    </a:lnT>
                    <a:lnB w="6350" cap="flat" cmpd="sng" algn="ctr">
                      <a:solidFill>
                        <a:srgbClr val="E0E6ED"/>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212121"/>
                          </a:solidFill>
                          <a:latin typeface="Calibri" panose="020F0502020204030204" pitchFamily="34" charset="0"/>
                          <a:ea typeface="Calibri" panose="020F0502020204030204" pitchFamily="34" charset="-122"/>
                          <a:cs typeface="Calibri" panose="020F0502020204030204" pitchFamily="34" charset="-120"/>
                        </a:rPr>
                        <a:t>%100</a:t>
                      </a:r>
                      <a:endParaRPr lang="en-US" sz="950" dirty="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E0E6ED"/>
                      </a:solidFill>
                      <a:prstDash val="solid"/>
                      <a:round/>
                      <a:headEnd type="none" w="med" len="med"/>
                      <a:tailEnd type="none" w="med" len="med"/>
                    </a:lnL>
                    <a:lnR w="6350" cap="flat" cmpd="sng" algn="ctr">
                      <a:solidFill>
                        <a:srgbClr val="E0E6ED"/>
                      </a:solidFill>
                      <a:prstDash val="solid"/>
                      <a:round/>
                      <a:headEnd type="none" w="med" len="med"/>
                      <a:tailEnd type="none" w="med" len="med"/>
                    </a:lnR>
                    <a:lnT w="6350" cap="flat" cmpd="sng" algn="ctr">
                      <a:solidFill>
                        <a:srgbClr val="E0E6ED"/>
                      </a:solidFill>
                      <a:prstDash val="solid"/>
                      <a:round/>
                      <a:headEnd type="none" w="med" len="med"/>
                      <a:tailEnd type="none" w="med" len="med"/>
                    </a:lnT>
                    <a:lnB w="6350" cap="flat" cmpd="sng" algn="ctr">
                      <a:solidFill>
                        <a:srgbClr val="E0E6ED"/>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212121"/>
                          </a:solidFill>
                          <a:latin typeface="Calibri" panose="020F0502020204030204" pitchFamily="34" charset="0"/>
                          <a:ea typeface="Calibri" panose="020F0502020204030204" pitchFamily="34" charset="-122"/>
                          <a:cs typeface="Calibri" panose="020F0502020204030204" pitchFamily="34" charset="-120"/>
                        </a:rPr>
                        <a:t>~14.800.000 MWh</a:t>
                      </a:r>
                      <a:endParaRPr lang="en-US" sz="950" dirty="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E0E6ED"/>
                      </a:solidFill>
                      <a:prstDash val="solid"/>
                      <a:round/>
                      <a:headEnd type="none" w="med" len="med"/>
                      <a:tailEnd type="none" w="med" len="med"/>
                    </a:lnL>
                    <a:lnR w="6350" cap="flat" cmpd="sng" algn="ctr">
                      <a:solidFill>
                        <a:srgbClr val="E0E6ED"/>
                      </a:solidFill>
                      <a:prstDash val="solid"/>
                      <a:round/>
                      <a:headEnd type="none" w="med" len="med"/>
                      <a:tailEnd type="none" w="med" len="med"/>
                    </a:lnR>
                    <a:lnT w="6350" cap="flat" cmpd="sng" algn="ctr">
                      <a:solidFill>
                        <a:srgbClr val="E0E6ED"/>
                      </a:solidFill>
                      <a:prstDash val="solid"/>
                      <a:round/>
                      <a:headEnd type="none" w="med" len="med"/>
                      <a:tailEnd type="none" w="med" len="med"/>
                    </a:lnT>
                    <a:lnB w="6350" cap="flat" cmpd="sng" algn="ctr">
                      <a:solidFill>
                        <a:srgbClr val="E0E6ED"/>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212121"/>
                          </a:solidFill>
                          <a:latin typeface="Calibri" panose="020F0502020204030204" pitchFamily="34" charset="0"/>
                          <a:ea typeface="Calibri" panose="020F0502020204030204" pitchFamily="34" charset="-122"/>
                          <a:cs typeface="Calibri" panose="020F0502020204030204" pitchFamily="34" charset="-120"/>
                        </a:rPr>
                        <a:t>TEİAŞ 2023 il bazlı veri</a:t>
                      </a:r>
                      <a:endParaRPr lang="en-US" sz="950" dirty="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E0E6ED"/>
                      </a:solidFill>
                      <a:prstDash val="solid"/>
                      <a:round/>
                      <a:headEnd type="none" w="med" len="med"/>
                      <a:tailEnd type="none" w="med" len="med"/>
                    </a:lnL>
                    <a:lnR w="6350" cap="flat" cmpd="sng" algn="ctr">
                      <a:solidFill>
                        <a:srgbClr val="E0E6ED"/>
                      </a:solidFill>
                      <a:prstDash val="solid"/>
                      <a:round/>
                      <a:headEnd type="none" w="med" len="med"/>
                      <a:tailEnd type="none" w="med" len="med"/>
                    </a:lnR>
                    <a:lnT w="6350" cap="flat" cmpd="sng" algn="ctr">
                      <a:solidFill>
                        <a:srgbClr val="E0E6ED"/>
                      </a:solidFill>
                      <a:prstDash val="solid"/>
                      <a:round/>
                      <a:headEnd type="none" w="med" len="med"/>
                      <a:tailEnd type="none" w="med" len="med"/>
                    </a:lnT>
                    <a:lnB w="6350" cap="flat" cmpd="sng" algn="ctr">
                      <a:solidFill>
                        <a:srgbClr val="E0E6ED"/>
                      </a:solidFill>
                      <a:prstDash val="solid"/>
                      <a:round/>
                      <a:headEnd type="none" w="med" len="med"/>
                      <a:tailEnd type="none" w="med" len="med"/>
                    </a:lnB>
                    <a:solidFill>
                      <a:srgbClr val="FFFFFF"/>
                    </a:solidFill>
                  </a:tcPr>
                </a:tc>
              </a:tr>
            </a:tbl>
          </a:graphicData>
        </a:graphic>
      </p:graphicFrame>
      <p:sp>
        <p:nvSpPr>
          <p:cNvPr id="20" name="Shape 17"/>
          <p:cNvSpPr/>
          <p:nvPr/>
        </p:nvSpPr>
        <p:spPr>
          <a:xfrm>
            <a:off x="320040" y="3749040"/>
            <a:ext cx="8503920" cy="1005840"/>
          </a:xfrm>
          <a:prstGeom prst="rect">
            <a:avLst/>
          </a:prstGeom>
          <a:solidFill>
            <a:srgbClr val="D6EAF8"/>
          </a:solidFill>
          <a:ln w="6350">
            <a:solidFill>
              <a:srgbClr val="E0E6ED"/>
            </a:solidFill>
            <a:prstDash val="solid"/>
          </a:ln>
        </p:spPr>
        <p:txBody>
          <a:bodyPr/>
          <a:lstStyle/>
          <a:p>
            <a:endParaRPr lang="tr-TR"/>
          </a:p>
        </p:txBody>
      </p:sp>
      <p:sp>
        <p:nvSpPr>
          <p:cNvPr id="21" name="Text 18"/>
          <p:cNvSpPr/>
          <p:nvPr/>
        </p:nvSpPr>
        <p:spPr>
          <a:xfrm>
            <a:off x="457200" y="3566160"/>
            <a:ext cx="8229600" cy="1143000"/>
          </a:xfrm>
          <a:prstGeom prst="rect">
            <a:avLst/>
          </a:prstGeom>
          <a:noFill/>
        </p:spPr>
        <p:txBody>
          <a:bodyPr wrap="square" rtlCol="0" anchor="ctr"/>
          <a:lstStyle/>
          <a:p>
            <a:pPr marL="0" indent="0">
              <a:buNone/>
            </a:pPr>
            <a:r>
              <a:rPr lang="en-US" sz="1050" b="1" dirty="0">
                <a:solidFill>
                  <a:srgbClr val="212121"/>
                </a:solidFill>
                <a:latin typeface="Calibri" panose="020F0502020204030204" pitchFamily="34" charset="0"/>
                <a:ea typeface="Calibri" panose="020F0502020204030204" pitchFamily="34" charset="-122"/>
                <a:cs typeface="Calibri" panose="020F0502020204030204" pitchFamily="34" charset="-120"/>
              </a:rPr>
              <a:t>📊 Üretimimizin İhtiyacı Karşılama Oranı (Hesaplarımıza Göre)
</a:t>
            </a:r>
            <a:r>
              <a:rPr lang="en-US" sz="1000" dirty="0">
                <a:solidFill>
                  <a:srgbClr val="212121"/>
                </a:solidFill>
                <a:latin typeface="Calibri" panose="020F0502020204030204" pitchFamily="34" charset="0"/>
                <a:ea typeface="Calibri" panose="020F0502020204030204" pitchFamily="34" charset="-122"/>
                <a:cs typeface="Calibri" panose="020F0502020204030204" pitchFamily="34" charset="-120"/>
              </a:rPr>
              <a:t>GES 50 MWp: 69.800 MWh  →  Toplam ihtiyacın  </a:t>
            </a:r>
            <a:r>
              <a:rPr lang="en-US" sz="1000" b="1" dirty="0">
                <a:solidFill>
                  <a:srgbClr val="E67E22"/>
                </a:solidFill>
                <a:latin typeface="Calibri" panose="020F0502020204030204" pitchFamily="34" charset="0"/>
                <a:ea typeface="Calibri" panose="020F0502020204030204" pitchFamily="34" charset="-122"/>
                <a:cs typeface="Calibri" panose="020F0502020204030204" pitchFamily="34" charset="-120"/>
              </a:rPr>
              <a:t>%0,47</a:t>
            </a:r>
            <a:r>
              <a:rPr lang="en-US" sz="1000" dirty="0">
                <a:solidFill>
                  <a:srgbClr val="212121"/>
                </a:solidFill>
                <a:latin typeface="Calibri" panose="020F0502020204030204" pitchFamily="34" charset="0"/>
                <a:ea typeface="Calibri" panose="020F0502020204030204" pitchFamily="34" charset="-122"/>
                <a:cs typeface="Calibri" panose="020F0502020204030204" pitchFamily="34" charset="-120"/>
              </a:rPr>
              <a:t>'ını karşılar   |   RES 34,5 MW: 120.900 MWh  →  </a:t>
            </a:r>
            <a:r>
              <a:rPr lang="en-US" sz="1000" b="1" dirty="0">
                <a:solidFill>
                  <a:srgbClr val="1A5276"/>
                </a:solidFill>
                <a:latin typeface="Calibri" panose="020F0502020204030204" pitchFamily="34" charset="0"/>
                <a:ea typeface="Calibri" panose="020F0502020204030204" pitchFamily="34" charset="-122"/>
                <a:cs typeface="Calibri" panose="020F0502020204030204" pitchFamily="34" charset="-120"/>
              </a:rPr>
              <a:t>%0,82</a:t>
            </a:r>
            <a:r>
              <a:rPr lang="en-US" sz="1000" dirty="0">
                <a:solidFill>
                  <a:srgbClr val="212121"/>
                </a:solidFill>
                <a:latin typeface="Calibri" panose="020F0502020204030204" pitchFamily="34" charset="0"/>
                <a:ea typeface="Calibri" panose="020F0502020204030204" pitchFamily="34" charset="-122"/>
                <a:cs typeface="Calibri" panose="020F0502020204030204" pitchFamily="34" charset="-120"/>
              </a:rPr>
              <a:t>'ını karşılar
Hibrit (GES+RES): 190.700 MWh  →  </a:t>
            </a:r>
            <a:r>
              <a:rPr lang="en-US" sz="1000" b="1" dirty="0">
                <a:solidFill>
                  <a:srgbClr val="1D6A72"/>
                </a:solidFill>
                <a:latin typeface="Calibri" panose="020F0502020204030204" pitchFamily="34" charset="0"/>
                <a:ea typeface="Calibri" panose="020F0502020204030204" pitchFamily="34" charset="-122"/>
                <a:cs typeface="Calibri" panose="020F0502020204030204" pitchFamily="34" charset="-120"/>
              </a:rPr>
              <a:t>%1,29</a:t>
            </a:r>
            <a:r>
              <a:rPr lang="en-US" sz="1000" dirty="0">
                <a:solidFill>
                  <a:srgbClr val="212121"/>
                </a:solidFill>
                <a:latin typeface="Calibri" panose="020F0502020204030204" pitchFamily="34" charset="0"/>
                <a:ea typeface="Calibri" panose="020F0502020204030204" pitchFamily="34" charset="-122"/>
                <a:cs typeface="Calibri" panose="020F0502020204030204" pitchFamily="34" charset="-120"/>
              </a:rPr>
              <a:t>'ını karşılar   |   Tüm İzmir için </a:t>
            </a:r>
            <a:r>
              <a:rPr lang="en-US" sz="1000" b="1" dirty="0">
                <a:solidFill>
                  <a:srgbClr val="1B3A6B"/>
                </a:solidFill>
                <a:latin typeface="Calibri" panose="020F0502020204030204" pitchFamily="34" charset="0"/>
                <a:ea typeface="Calibri" panose="020F0502020204030204" pitchFamily="34" charset="-122"/>
                <a:cs typeface="Calibri" panose="020F0502020204030204" pitchFamily="34" charset="-120"/>
              </a:rPr>
              <a:t>~4.229 adet</a:t>
            </a:r>
            <a:r>
              <a:rPr lang="en-US" sz="1000" dirty="0">
                <a:solidFill>
                  <a:srgbClr val="212121"/>
                </a:solidFill>
                <a:latin typeface="Calibri" panose="020F0502020204030204" pitchFamily="34" charset="0"/>
                <a:ea typeface="Calibri" panose="020F0502020204030204" pitchFamily="34" charset="-122"/>
                <a:cs typeface="Calibri" panose="020F0502020204030204" pitchFamily="34" charset="-120"/>
              </a:rPr>
              <a:t> RES türbini (V136-3,45 MW, CF=%40) gerekir.</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hape 18"/>
          <p:cNvSpPr/>
          <p:nvPr/>
        </p:nvSpPr>
        <p:spPr>
          <a:xfrm>
            <a:off x="182880" y="777240"/>
            <a:ext cx="8704580" cy="1165860"/>
          </a:xfrm>
          <a:prstGeom prst="rect">
            <a:avLst/>
          </a:prstGeom>
          <a:solidFill>
            <a:srgbClr val="FEF9E7"/>
          </a:solidFill>
          <a:ln w="10160">
            <a:solidFill>
              <a:srgbClr val="C8901A"/>
            </a:solidFill>
            <a:prstDash val="solid"/>
          </a:ln>
        </p:spPr>
        <p:txBody>
          <a:bodyPr/>
          <a:lstStyle/>
          <a:p>
            <a:endParaRPr lang="tr-TR"/>
          </a:p>
        </p:txBody>
      </p:sp>
      <p:sp>
        <p:nvSpPr>
          <p:cNvPr id="5" name="Shape 18"/>
          <p:cNvSpPr/>
          <p:nvPr/>
        </p:nvSpPr>
        <p:spPr>
          <a:xfrm>
            <a:off x="182880" y="2076450"/>
            <a:ext cx="8704580" cy="999490"/>
          </a:xfrm>
          <a:prstGeom prst="rect">
            <a:avLst/>
          </a:prstGeom>
          <a:solidFill>
            <a:srgbClr val="FEF9E7"/>
          </a:solidFill>
          <a:ln w="10160">
            <a:solidFill>
              <a:srgbClr val="C8901A"/>
            </a:solidFill>
            <a:prstDash val="solid"/>
          </a:ln>
        </p:spPr>
        <p:txBody>
          <a:bodyPr/>
          <a:lstStyle/>
          <a:p>
            <a:endParaRPr lang="tr-TR"/>
          </a:p>
        </p:txBody>
      </p:sp>
      <p:sp>
        <p:nvSpPr>
          <p:cNvPr id="21" name="Shape 18"/>
          <p:cNvSpPr/>
          <p:nvPr/>
        </p:nvSpPr>
        <p:spPr>
          <a:xfrm>
            <a:off x="182880" y="3209290"/>
            <a:ext cx="8684260" cy="1372235"/>
          </a:xfrm>
          <a:prstGeom prst="rect">
            <a:avLst/>
          </a:prstGeom>
          <a:solidFill>
            <a:srgbClr val="FEF9E7"/>
          </a:solidFill>
          <a:ln w="10160">
            <a:solidFill>
              <a:srgbClr val="C8901A"/>
            </a:solidFill>
            <a:prstDash val="solid"/>
          </a:ln>
        </p:spPr>
        <p:txBody>
          <a:bodyPr/>
          <a:lstStyle/>
          <a:p>
            <a:endParaRPr lang="tr-TR"/>
          </a:p>
        </p:txBody>
      </p:sp>
      <p:sp>
        <p:nvSpPr>
          <p:cNvPr id="8" name="Shape 0"/>
          <p:cNvSpPr/>
          <p:nvPr/>
        </p:nvSpPr>
        <p:spPr>
          <a:xfrm>
            <a:off x="0" y="0"/>
            <a:ext cx="9144000" cy="685800"/>
          </a:xfrm>
          <a:prstGeom prst="rect">
            <a:avLst/>
          </a:prstGeom>
          <a:solidFill>
            <a:srgbClr val="1D6A72"/>
          </a:solidFill>
          <a:ln w="12700">
            <a:solidFill>
              <a:srgbClr val="1D6A72"/>
            </a:solidFill>
            <a:prstDash val="solid"/>
          </a:ln>
        </p:spPr>
        <p:txBody>
          <a:bodyPr/>
          <a:lstStyle/>
          <a:p>
            <a:endParaRPr lang="tr-TR"/>
          </a:p>
        </p:txBody>
      </p:sp>
      <p:sp>
        <p:nvSpPr>
          <p:cNvPr id="9" name="Shape 1"/>
          <p:cNvSpPr/>
          <p:nvPr/>
        </p:nvSpPr>
        <p:spPr>
          <a:xfrm>
            <a:off x="60960" y="708660"/>
            <a:ext cx="9144000" cy="45720"/>
          </a:xfrm>
          <a:prstGeom prst="rect">
            <a:avLst/>
          </a:prstGeom>
          <a:solidFill>
            <a:srgbClr val="C8901A"/>
          </a:solidFill>
          <a:ln w="12700">
            <a:solidFill>
              <a:srgbClr val="C8901A"/>
            </a:solidFill>
            <a:prstDash val="solid"/>
          </a:ln>
        </p:spPr>
        <p:txBody>
          <a:bodyPr/>
          <a:lstStyle/>
          <a:p>
            <a:endParaRPr lang="tr-TR"/>
          </a:p>
        </p:txBody>
      </p:sp>
      <p:sp>
        <p:nvSpPr>
          <p:cNvPr id="6" name="Text 4"/>
          <p:cNvSpPr/>
          <p:nvPr/>
        </p:nvSpPr>
        <p:spPr>
          <a:xfrm>
            <a:off x="121920" y="91440"/>
            <a:ext cx="8595360" cy="594360"/>
          </a:xfrm>
          <a:prstGeom prst="rect">
            <a:avLst/>
          </a:prstGeom>
          <a:noFill/>
        </p:spPr>
        <p:txBody>
          <a:bodyPr wrap="square" lIns="0" tIns="0" rIns="0" bIns="0" rtlCol="0" anchor="ctr"/>
          <a:lstStyle/>
          <a:p>
            <a:pPr marL="0" indent="0" algn="l">
              <a:buNone/>
            </a:pPr>
            <a:r>
              <a:rPr lang="en-US" altLang="tr-TR" sz="1800" dirty="0">
                <a:solidFill>
                  <a:schemeClr val="bg1"/>
                </a:solidFill>
              </a:rPr>
              <a:t> </a:t>
            </a:r>
            <a:r>
              <a:rPr lang="en-US" altLang="en-US" sz="1800" dirty="0">
                <a:solidFill>
                  <a:schemeClr val="bg1"/>
                </a:solidFill>
              </a:rPr>
              <a:t>İ</a:t>
            </a:r>
            <a:r>
              <a:rPr lang="en-US" altLang="tr-TR" sz="1800" dirty="0">
                <a:solidFill>
                  <a:schemeClr val="bg1"/>
                </a:solidFill>
              </a:rPr>
              <a:t>zmir’in Yenilenebilir Enerji Portf</a:t>
            </a:r>
            <a:r>
              <a:rPr lang="en-US" altLang="en-US" sz="1800" dirty="0">
                <a:solidFill>
                  <a:schemeClr val="bg1"/>
                </a:solidFill>
              </a:rPr>
              <a:t>ö</a:t>
            </a:r>
            <a:r>
              <a:rPr lang="en-US" altLang="tr-TR" sz="1800" dirty="0">
                <a:solidFill>
                  <a:schemeClr val="bg1"/>
                </a:solidFill>
              </a:rPr>
              <a:t>y</a:t>
            </a:r>
            <a:r>
              <a:rPr lang="en-US" altLang="en-US" sz="1800" dirty="0">
                <a:solidFill>
                  <a:schemeClr val="bg1"/>
                </a:solidFill>
              </a:rPr>
              <a:t>ü</a:t>
            </a:r>
            <a:r>
              <a:rPr lang="en-US" altLang="tr-TR" sz="1800" dirty="0">
                <a:solidFill>
                  <a:schemeClr val="bg1"/>
                </a:solidFill>
              </a:rPr>
              <a:t> ve Tarihsel Geli</a:t>
            </a:r>
            <a:r>
              <a:rPr lang="en-US" altLang="en-US" sz="1800" dirty="0">
                <a:solidFill>
                  <a:schemeClr val="bg1"/>
                </a:solidFill>
              </a:rPr>
              <a:t>ş</a:t>
            </a:r>
            <a:r>
              <a:rPr lang="en-US" altLang="tr-TR" sz="1800" dirty="0">
                <a:solidFill>
                  <a:schemeClr val="bg1"/>
                </a:solidFill>
              </a:rPr>
              <a:t>imi</a:t>
            </a:r>
            <a:endParaRPr lang="en-US" altLang="tr-TR" sz="1800" dirty="0">
              <a:solidFill>
                <a:schemeClr val="bg1"/>
              </a:solidFill>
            </a:endParaRPr>
          </a:p>
        </p:txBody>
      </p:sp>
      <p:sp>
        <p:nvSpPr>
          <p:cNvPr id="10" name="Shape 2"/>
          <p:cNvSpPr/>
          <p:nvPr/>
        </p:nvSpPr>
        <p:spPr>
          <a:xfrm>
            <a:off x="0" y="4892040"/>
            <a:ext cx="9144000" cy="251460"/>
          </a:xfrm>
          <a:prstGeom prst="rect">
            <a:avLst/>
          </a:prstGeom>
          <a:solidFill>
            <a:srgbClr val="1B3A6B"/>
          </a:solidFill>
          <a:ln w="12700">
            <a:solidFill>
              <a:srgbClr val="1B3A6B"/>
            </a:solidFill>
            <a:prstDash val="solid"/>
          </a:ln>
        </p:spPr>
        <p:txBody>
          <a:bodyPr/>
          <a:lstStyle/>
          <a:p>
            <a:endParaRPr lang="tr-TR"/>
          </a:p>
        </p:txBody>
      </p:sp>
      <p:sp>
        <p:nvSpPr>
          <p:cNvPr id="11" name="Text 3"/>
          <p:cNvSpPr/>
          <p:nvPr/>
        </p:nvSpPr>
        <p:spPr>
          <a:xfrm>
            <a:off x="274320" y="4892040"/>
            <a:ext cx="8595360" cy="251460"/>
          </a:xfrm>
          <a:prstGeom prst="rect">
            <a:avLst/>
          </a:prstGeom>
          <a:noFill/>
        </p:spPr>
        <p:txBody>
          <a:bodyPr wrap="square" rtlCol="0" anchor="ctr"/>
          <a:lstStyle/>
          <a:p>
            <a:pPr marL="0" indent="0" algn="ctr">
              <a:buNone/>
            </a:pPr>
            <a:r>
              <a:rPr lang="en-US" sz="800" dirty="0">
                <a:solidFill>
                  <a:srgbClr val="E0E6ED"/>
                </a:solidFill>
                <a:latin typeface="Calibri" panose="020F0502020204030204" pitchFamily="34" charset="0"/>
                <a:ea typeface="Calibri" panose="020F0502020204030204" pitchFamily="34" charset="-122"/>
                <a:cs typeface="Calibri" panose="020F0502020204030204" pitchFamily="34" charset="-120"/>
              </a:rPr>
              <a:t>SAÜ EEM  |  İzmir Yenilenebilir Enerji Analizi</a:t>
            </a:r>
            <a:endParaRPr lang="en-US" sz="800" dirty="0"/>
          </a:p>
        </p:txBody>
      </p:sp>
      <p:sp>
        <p:nvSpPr>
          <p:cNvPr id="4" name="Metin Kutusu 3"/>
          <p:cNvSpPr txBox="1"/>
          <p:nvPr/>
        </p:nvSpPr>
        <p:spPr>
          <a:xfrm>
            <a:off x="136525" y="777240"/>
            <a:ext cx="8733155" cy="4053840"/>
          </a:xfrm>
          <a:prstGeom prst="rect">
            <a:avLst/>
          </a:prstGeom>
          <a:noFill/>
        </p:spPr>
        <p:txBody>
          <a:bodyPr wrap="square" rtlCol="0" anchor="t">
            <a:noAutofit/>
          </a:bodyPr>
          <a:lstStyle/>
          <a:p>
            <a:r>
              <a:rPr lang="en-US" altLang="tr-TR" sz="1100" b="1"/>
              <a:t>​</a:t>
            </a:r>
            <a:r>
              <a:rPr lang="en-US" altLang="tr-TR" sz="1200" b="1"/>
              <a:t>1. T</a:t>
            </a:r>
            <a:r>
              <a:rPr lang="en-US" altLang="en-US" sz="1200" b="1"/>
              <a:t>ü</a:t>
            </a:r>
            <a:r>
              <a:rPr lang="en-US" altLang="tr-TR" sz="1200" b="1"/>
              <a:t>rkiye'nin R</a:t>
            </a:r>
            <a:r>
              <a:rPr lang="en-US" altLang="en-US" sz="1200" b="1"/>
              <a:t>ü</a:t>
            </a:r>
            <a:r>
              <a:rPr lang="en-US" altLang="tr-TR" sz="1200" b="1"/>
              <a:t>zgar Ba</a:t>
            </a:r>
            <a:r>
              <a:rPr lang="en-US" altLang="en-US" sz="1200" b="1"/>
              <a:t>ş</a:t>
            </a:r>
            <a:r>
              <a:rPr lang="en-US" altLang="tr-TR" sz="1200" b="1"/>
              <a:t>kenti</a:t>
            </a:r>
            <a:endParaRPr lang="en-US" altLang="tr-TR" sz="1200" b="1"/>
          </a:p>
          <a:p>
            <a:r>
              <a:rPr lang="en-US" altLang="tr-TR" sz="1200"/>
              <a:t>​</a:t>
            </a:r>
            <a:r>
              <a:rPr lang="en-US" altLang="tr-TR" sz="1200" u="sng"/>
              <a:t>Liderlik: </a:t>
            </a:r>
            <a:r>
              <a:rPr lang="en-US" altLang="en-US" sz="1200"/>
              <a:t>İ</a:t>
            </a:r>
            <a:r>
              <a:rPr lang="en-US" altLang="tr-TR" sz="1200"/>
              <a:t>zmir, T</a:t>
            </a:r>
            <a:r>
              <a:rPr lang="en-US" altLang="en-US" sz="1200"/>
              <a:t>ü</a:t>
            </a:r>
            <a:r>
              <a:rPr lang="en-US" altLang="tr-TR" sz="1200"/>
              <a:t>rkiye'nin r</a:t>
            </a:r>
            <a:r>
              <a:rPr lang="en-US" altLang="en-US" sz="1200"/>
              <a:t>ü</a:t>
            </a:r>
            <a:r>
              <a:rPr lang="en-US" altLang="tr-TR" sz="1200"/>
              <a:t>zgar enerjisi kurulu g</a:t>
            </a:r>
            <a:r>
              <a:rPr lang="en-US" altLang="en-US" sz="1200"/>
              <a:t>ü</a:t>
            </a:r>
            <a:r>
              <a:rPr lang="en-US" altLang="tr-TR" sz="1200"/>
              <a:t>c</a:t>
            </a:r>
            <a:r>
              <a:rPr lang="en-US" altLang="en-US" sz="1200"/>
              <a:t>ü</a:t>
            </a:r>
            <a:r>
              <a:rPr lang="en-US" altLang="tr-TR" sz="1200"/>
              <a:t>nde lider </a:t>
            </a:r>
            <a:r>
              <a:rPr lang="en-US" altLang="en-US" sz="1200"/>
              <a:t>ş</a:t>
            </a:r>
            <a:r>
              <a:rPr lang="en-US" altLang="tr-TR" sz="1200"/>
              <a:t>ehirdir. </a:t>
            </a:r>
            <a:r>
              <a:rPr lang="en-US" altLang="en-US" sz="1200"/>
              <a:t>Ü</a:t>
            </a:r>
            <a:r>
              <a:rPr lang="en-US" altLang="tr-TR" sz="1200"/>
              <a:t>lkedeki toplam r</a:t>
            </a:r>
            <a:r>
              <a:rPr lang="en-US" altLang="en-US" sz="1200"/>
              <a:t>ü</a:t>
            </a:r>
            <a:r>
              <a:rPr lang="en-US" altLang="tr-TR" sz="1200"/>
              <a:t>zgar kapasitesinin yakla</a:t>
            </a:r>
            <a:r>
              <a:rPr lang="en-US" altLang="en-US" sz="1200"/>
              <a:t>şı</a:t>
            </a:r>
            <a:r>
              <a:rPr lang="en-US" altLang="tr-TR" sz="1200"/>
              <a:t>k %20'sine tek ba</a:t>
            </a:r>
            <a:r>
              <a:rPr lang="en-US" altLang="en-US" sz="1200"/>
              <a:t>şı</a:t>
            </a:r>
            <a:r>
              <a:rPr lang="en-US" altLang="tr-TR" sz="1200"/>
              <a:t>na ev sahipli</a:t>
            </a:r>
            <a:r>
              <a:rPr lang="en-US" altLang="en-US" sz="1200"/>
              <a:t>ğ</a:t>
            </a:r>
            <a:r>
              <a:rPr lang="en-US" altLang="tr-TR" sz="1200"/>
              <a:t>i yapar.</a:t>
            </a:r>
            <a:endParaRPr lang="en-US" altLang="tr-TR" sz="1200"/>
          </a:p>
          <a:p>
            <a:r>
              <a:rPr lang="en-US" altLang="tr-TR" sz="1200" u="sng"/>
              <a:t>​</a:t>
            </a:r>
            <a:r>
              <a:rPr lang="en-US" altLang="en-US" sz="1200" u="sng"/>
              <a:t>Ç</a:t>
            </a:r>
            <a:r>
              <a:rPr lang="en-US" altLang="tr-TR" sz="1200" u="sng"/>
              <a:t>e</a:t>
            </a:r>
            <a:r>
              <a:rPr lang="en-US" altLang="en-US" sz="1200" u="sng"/>
              <a:t>ş</a:t>
            </a:r>
            <a:r>
              <a:rPr lang="en-US" altLang="tr-TR" sz="1200" u="sng"/>
              <a:t>itlilik</a:t>
            </a:r>
            <a:r>
              <a:rPr lang="en-US" altLang="tr-TR" sz="1200"/>
              <a:t>: </a:t>
            </a:r>
            <a:r>
              <a:rPr lang="en-US" altLang="en-US" sz="1200"/>
              <a:t>Ş</a:t>
            </a:r>
            <a:r>
              <a:rPr lang="en-US" altLang="tr-TR" sz="1200"/>
              <a:t>ehirde r</a:t>
            </a:r>
            <a:r>
              <a:rPr lang="en-US" altLang="en-US" sz="1200"/>
              <a:t>ü</a:t>
            </a:r>
            <a:r>
              <a:rPr lang="en-US" altLang="tr-TR" sz="1200"/>
              <a:t>zgar</a:t>
            </a:r>
            <a:r>
              <a:rPr lang="en-US" altLang="en-US" sz="1200"/>
              <a:t>ı</a:t>
            </a:r>
            <a:r>
              <a:rPr lang="en-US" altLang="tr-TR" sz="1200"/>
              <a:t>n yan</a:t>
            </a:r>
            <a:r>
              <a:rPr lang="en-US" altLang="en-US" sz="1200"/>
              <a:t>ı</a:t>
            </a:r>
            <a:r>
              <a:rPr lang="en-US" altLang="tr-TR" sz="1200"/>
              <a:t> s</a:t>
            </a:r>
            <a:r>
              <a:rPr lang="en-US" altLang="en-US" sz="1200"/>
              <a:t>ı</a:t>
            </a:r>
            <a:r>
              <a:rPr lang="en-US" altLang="tr-TR" sz="1200"/>
              <a:t>ra jeotermal (</a:t>
            </a:r>
            <a:r>
              <a:rPr lang="en-US" altLang="en-US" sz="1200"/>
              <a:t>ö</a:t>
            </a:r>
            <a:r>
              <a:rPr lang="en-US" altLang="tr-TR" sz="1200"/>
              <a:t>zellikle Dikili ve Bal</a:t>
            </a:r>
            <a:r>
              <a:rPr lang="en-US" altLang="en-US" sz="1200"/>
              <a:t>ç</a:t>
            </a:r>
            <a:r>
              <a:rPr lang="en-US" altLang="tr-TR" sz="1200"/>
              <a:t>ova b</a:t>
            </a:r>
            <a:r>
              <a:rPr lang="en-US" altLang="en-US" sz="1200"/>
              <a:t>ö</a:t>
            </a:r>
            <a:r>
              <a:rPr lang="en-US" altLang="tr-TR" sz="1200"/>
              <a:t>lgelerinde), biyok</a:t>
            </a:r>
            <a:r>
              <a:rPr lang="en-US" altLang="en-US" sz="1200"/>
              <a:t>ü</a:t>
            </a:r>
            <a:r>
              <a:rPr lang="en-US" altLang="tr-TR" sz="1200"/>
              <a:t>tle (Harmandal</a:t>
            </a:r>
            <a:r>
              <a:rPr lang="en-US" altLang="en-US" sz="1200"/>
              <a:t>ı</a:t>
            </a:r>
            <a:r>
              <a:rPr lang="en-US" altLang="tr-TR" sz="1200"/>
              <a:t> tesisi gibi) ve h</a:t>
            </a:r>
            <a:r>
              <a:rPr lang="en-US" altLang="en-US" sz="1200"/>
              <a:t>ı</a:t>
            </a:r>
            <a:r>
              <a:rPr lang="en-US" altLang="tr-TR" sz="1200"/>
              <a:t>zla artan lisanss</a:t>
            </a:r>
            <a:r>
              <a:rPr lang="en-US" altLang="en-US" sz="1200"/>
              <a:t>ı</a:t>
            </a:r>
            <a:r>
              <a:rPr lang="en-US" altLang="tr-TR" sz="1200"/>
              <a:t>z g</a:t>
            </a:r>
            <a:r>
              <a:rPr lang="en-US" altLang="en-US" sz="1200"/>
              <a:t>ü</a:t>
            </a:r>
            <a:r>
              <a:rPr lang="en-US" altLang="tr-TR" sz="1200"/>
              <a:t>ne</a:t>
            </a:r>
            <a:r>
              <a:rPr lang="en-US" altLang="en-US" sz="1200"/>
              <a:t>ş</a:t>
            </a:r>
            <a:r>
              <a:rPr lang="en-US" altLang="tr-TR" sz="1200"/>
              <a:t> enerjisi yat</a:t>
            </a:r>
            <a:r>
              <a:rPr lang="en-US" altLang="en-US" sz="1200"/>
              <a:t>ı</a:t>
            </a:r>
            <a:r>
              <a:rPr lang="en-US" altLang="tr-TR" sz="1200"/>
              <a:t>r</a:t>
            </a:r>
            <a:r>
              <a:rPr lang="en-US" altLang="en-US" sz="1200"/>
              <a:t>ı</a:t>
            </a:r>
            <a:r>
              <a:rPr lang="en-US" altLang="tr-TR" sz="1200"/>
              <a:t>mlar</a:t>
            </a:r>
            <a:r>
              <a:rPr lang="en-US" altLang="en-US" sz="1200"/>
              <a:t>ı</a:t>
            </a:r>
            <a:r>
              <a:rPr lang="en-US" altLang="tr-TR" sz="1200"/>
              <a:t> mevcuttur.</a:t>
            </a:r>
            <a:endParaRPr lang="en-US" altLang="tr-TR" sz="1200"/>
          </a:p>
          <a:p>
            <a:r>
              <a:rPr lang="en-US" altLang="tr-TR" sz="1200"/>
              <a:t>​</a:t>
            </a:r>
            <a:r>
              <a:rPr lang="en-US" altLang="tr-TR" sz="1200" u="sng"/>
              <a:t>Sanayi K</a:t>
            </a:r>
            <a:r>
              <a:rPr lang="en-US" altLang="en-US" sz="1200" u="sng"/>
              <a:t>ü</a:t>
            </a:r>
            <a:r>
              <a:rPr lang="en-US" altLang="tr-TR" sz="1200" u="sng"/>
              <a:t>melenmesi:</a:t>
            </a:r>
            <a:r>
              <a:rPr lang="en-US" altLang="tr-TR" sz="1200"/>
              <a:t> </a:t>
            </a:r>
            <a:r>
              <a:rPr lang="en-US" altLang="en-US" sz="1200"/>
              <a:t>İ</a:t>
            </a:r>
            <a:r>
              <a:rPr lang="en-US" altLang="tr-TR" sz="1200"/>
              <a:t>zmir sadece enerji </a:t>
            </a:r>
            <a:r>
              <a:rPr lang="en-US" altLang="en-US" sz="1200"/>
              <a:t>ü</a:t>
            </a:r>
            <a:r>
              <a:rPr lang="en-US" altLang="tr-TR" sz="1200"/>
              <a:t>retmekle kalmaz; r</a:t>
            </a:r>
            <a:r>
              <a:rPr lang="en-US" altLang="en-US" sz="1200"/>
              <a:t>ü</a:t>
            </a:r>
            <a:r>
              <a:rPr lang="en-US" altLang="tr-TR" sz="1200"/>
              <a:t>zgar t</a:t>
            </a:r>
            <a:r>
              <a:rPr lang="en-US" altLang="en-US" sz="1200"/>
              <a:t>ü</a:t>
            </a:r>
            <a:r>
              <a:rPr lang="en-US" altLang="tr-TR" sz="1200"/>
              <a:t>rbini kanad</a:t>
            </a:r>
            <a:r>
              <a:rPr lang="en-US" altLang="en-US" sz="1200"/>
              <a:t>ı</a:t>
            </a:r>
            <a:r>
              <a:rPr lang="en-US" altLang="tr-TR" sz="1200"/>
              <a:t>, kule ve jenerat</a:t>
            </a:r>
            <a:r>
              <a:rPr lang="en-US" altLang="en-US" sz="1200"/>
              <a:t>ö</a:t>
            </a:r>
            <a:r>
              <a:rPr lang="en-US" altLang="tr-TR" sz="1200"/>
              <a:t>r </a:t>
            </a:r>
            <a:r>
              <a:rPr lang="en-US" altLang="en-US" sz="1200"/>
              <a:t>ü</a:t>
            </a:r>
            <a:r>
              <a:rPr lang="en-US" altLang="tr-TR" sz="1200"/>
              <a:t>retimiyle bu alan</a:t>
            </a:r>
            <a:r>
              <a:rPr lang="en-US" altLang="en-US" sz="1200"/>
              <a:t>ı</a:t>
            </a:r>
            <a:r>
              <a:rPr lang="en-US" altLang="tr-TR" sz="1200"/>
              <a:t>n sanayi merkezidir.</a:t>
            </a:r>
            <a:endParaRPr lang="en-US" altLang="tr-TR" sz="1200"/>
          </a:p>
          <a:p>
            <a:r>
              <a:rPr lang="en-US" altLang="tr-TR" sz="1200"/>
              <a:t>​</a:t>
            </a:r>
            <a:br>
              <a:rPr lang="en-US" altLang="tr-TR" sz="1200"/>
            </a:br>
            <a:r>
              <a:rPr lang="en-US" altLang="tr-TR" sz="1200" b="1"/>
              <a:t>2. Neden R</a:t>
            </a:r>
            <a:r>
              <a:rPr lang="en-US" altLang="en-US" sz="1200" b="1"/>
              <a:t>ü</a:t>
            </a:r>
            <a:r>
              <a:rPr lang="en-US" altLang="tr-TR" sz="1200" b="1"/>
              <a:t>zgar ve G</a:t>
            </a:r>
            <a:r>
              <a:rPr lang="en-US" altLang="en-US" sz="1200" b="1"/>
              <a:t>ü</a:t>
            </a:r>
            <a:r>
              <a:rPr lang="en-US" altLang="tr-TR" sz="1200" b="1"/>
              <a:t>ne</a:t>
            </a:r>
            <a:r>
              <a:rPr lang="en-US" altLang="en-US" sz="1200" b="1"/>
              <a:t>ş</a:t>
            </a:r>
            <a:r>
              <a:rPr lang="en-US" altLang="tr-TR" sz="1200" b="1"/>
              <a:t>?</a:t>
            </a:r>
            <a:endParaRPr lang="en-US" altLang="tr-TR" sz="1200"/>
          </a:p>
          <a:p>
            <a:r>
              <a:rPr lang="en-US" altLang="tr-TR" sz="1200"/>
              <a:t>​</a:t>
            </a:r>
            <a:r>
              <a:rPr lang="en-US" altLang="tr-TR" sz="1200" u="sng"/>
              <a:t>Stratejik Uygunluk:</a:t>
            </a:r>
            <a:r>
              <a:rPr lang="en-US" altLang="tr-TR" sz="1200"/>
              <a:t> Yap</a:t>
            </a:r>
            <a:r>
              <a:rPr lang="en-US" altLang="en-US" sz="1200"/>
              <a:t>ı</a:t>
            </a:r>
            <a:r>
              <a:rPr lang="en-US" altLang="tr-TR" sz="1200"/>
              <a:t>lan analizler, </a:t>
            </a:r>
            <a:r>
              <a:rPr lang="en-US" altLang="en-US" sz="1200"/>
              <a:t>İ</a:t>
            </a:r>
            <a:r>
              <a:rPr lang="en-US" altLang="tr-TR" sz="1200"/>
              <a:t>zmir'in y</a:t>
            </a:r>
            <a:r>
              <a:rPr lang="en-US" altLang="en-US" sz="1200"/>
              <a:t>ü</a:t>
            </a:r>
            <a:r>
              <a:rPr lang="en-US" altLang="tr-TR" sz="1200"/>
              <a:t>ksek kapasite fakt</a:t>
            </a:r>
            <a:r>
              <a:rPr lang="en-US" altLang="en-US" sz="1200"/>
              <a:t>ö</a:t>
            </a:r>
            <a:r>
              <a:rPr lang="en-US" altLang="tr-TR" sz="1200"/>
              <a:t>r</a:t>
            </a:r>
            <a:r>
              <a:rPr lang="en-US" altLang="en-US" sz="1200"/>
              <a:t>ü</a:t>
            </a:r>
            <a:r>
              <a:rPr lang="en-US" altLang="tr-TR" sz="1200"/>
              <a:t> (%40) nedeniyle en </a:t>
            </a:r>
            <a:r>
              <a:rPr lang="en-US" altLang="en-US" sz="1200"/>
              <a:t>ç</a:t>
            </a:r>
            <a:r>
              <a:rPr lang="en-US" altLang="tr-TR" sz="1200"/>
              <a:t>ok RES (R</a:t>
            </a:r>
            <a:r>
              <a:rPr lang="en-US" altLang="en-US" sz="1200"/>
              <a:t>ü</a:t>
            </a:r>
            <a:r>
              <a:rPr lang="en-US" altLang="tr-TR" sz="1200"/>
              <a:t>zgar Enerji Santralleri) kurulumuna uygun oldu</a:t>
            </a:r>
            <a:r>
              <a:rPr lang="en-US" altLang="en-US" sz="1200"/>
              <a:t>ğ</a:t>
            </a:r>
            <a:r>
              <a:rPr lang="en-US" altLang="tr-TR" sz="1200"/>
              <a:t>unu g</a:t>
            </a:r>
            <a:r>
              <a:rPr lang="en-US" altLang="en-US" sz="1200"/>
              <a:t>ö</a:t>
            </a:r>
            <a:r>
              <a:rPr lang="en-US" altLang="tr-TR" sz="1200"/>
              <a:t>stermektedir.  </a:t>
            </a:r>
            <a:endParaRPr lang="en-US" altLang="tr-TR" sz="1200"/>
          </a:p>
          <a:p>
            <a:r>
              <a:rPr lang="en-US" altLang="tr-TR" sz="1200"/>
              <a:t>​</a:t>
            </a:r>
            <a:r>
              <a:rPr lang="en-US" altLang="tr-TR" sz="1200" u="sng"/>
              <a:t>G</a:t>
            </a:r>
            <a:r>
              <a:rPr lang="en-US" altLang="en-US" sz="1200" u="sng"/>
              <a:t>ü</a:t>
            </a:r>
            <a:r>
              <a:rPr lang="en-US" altLang="tr-TR" sz="1200" u="sng"/>
              <a:t>ne</a:t>
            </a:r>
            <a:r>
              <a:rPr lang="en-US" altLang="en-US" sz="1200" u="sng"/>
              <a:t>ş</a:t>
            </a:r>
            <a:r>
              <a:rPr lang="en-US" altLang="tr-TR" sz="1200" u="sng"/>
              <a:t> Potansiyeli:</a:t>
            </a:r>
            <a:r>
              <a:rPr lang="en-US" altLang="tr-TR" sz="1200"/>
              <a:t> </a:t>
            </a:r>
            <a:r>
              <a:rPr lang="en-US" altLang="en-US" sz="1200"/>
              <a:t>Ş</a:t>
            </a:r>
            <a:r>
              <a:rPr lang="en-US" altLang="tr-TR" sz="1200"/>
              <a:t>ehir, g</a:t>
            </a:r>
            <a:r>
              <a:rPr lang="en-US" altLang="en-US" sz="1200"/>
              <a:t>ü</a:t>
            </a:r>
            <a:r>
              <a:rPr lang="en-US" altLang="tr-TR" sz="1200"/>
              <a:t>nl</a:t>
            </a:r>
            <a:r>
              <a:rPr lang="en-US" altLang="en-US" sz="1200"/>
              <a:t>ü</a:t>
            </a:r>
            <a:r>
              <a:rPr lang="en-US" altLang="tr-TR" sz="1200"/>
              <a:t>k ortalama 4,78 kWh/m</a:t>
            </a:r>
            <a:r>
              <a:rPr lang="en-US" altLang="en-US" sz="1200"/>
              <a:t>²</a:t>
            </a:r>
            <a:r>
              <a:rPr lang="en-US" altLang="tr-TR" sz="1200"/>
              <a:t> </a:t>
            </a:r>
            <a:r>
              <a:rPr lang="en-US" altLang="en-US" sz="1200"/>
              <a:t>ışı</a:t>
            </a:r>
            <a:r>
              <a:rPr lang="en-US" altLang="tr-TR" sz="1200"/>
              <a:t>n</a:t>
            </a:r>
            <a:r>
              <a:rPr lang="en-US" altLang="en-US" sz="1200"/>
              <a:t>ı</a:t>
            </a:r>
            <a:r>
              <a:rPr lang="en-US" altLang="tr-TR" sz="1200"/>
              <a:t>m de</a:t>
            </a:r>
            <a:r>
              <a:rPr lang="en-US" altLang="en-US" sz="1200"/>
              <a:t>ğ</a:t>
            </a:r>
            <a:r>
              <a:rPr lang="en-US" altLang="tr-TR" sz="1200"/>
              <a:t>eriyle GES yat</a:t>
            </a:r>
            <a:r>
              <a:rPr lang="en-US" altLang="en-US" sz="1200"/>
              <a:t>ı</a:t>
            </a:r>
            <a:r>
              <a:rPr lang="en-US" altLang="tr-TR" sz="1200"/>
              <a:t>r</a:t>
            </a:r>
            <a:r>
              <a:rPr lang="en-US" altLang="en-US" sz="1200"/>
              <a:t>ı</a:t>
            </a:r>
            <a:r>
              <a:rPr lang="en-US" altLang="tr-TR" sz="1200"/>
              <a:t>mlar</a:t>
            </a:r>
            <a:r>
              <a:rPr lang="en-US" altLang="en-US" sz="1200"/>
              <a:t>ı</a:t>
            </a:r>
            <a:r>
              <a:rPr lang="en-US" altLang="tr-TR" sz="1200"/>
              <a:t> i</a:t>
            </a:r>
            <a:r>
              <a:rPr lang="en-US" altLang="en-US" sz="1200"/>
              <a:t>ç</a:t>
            </a:r>
            <a:r>
              <a:rPr lang="en-US" altLang="tr-TR" sz="1200"/>
              <a:t>in de olduk</a:t>
            </a:r>
            <a:r>
              <a:rPr lang="en-US" altLang="en-US" sz="1200"/>
              <a:t>ç</a:t>
            </a:r>
            <a:r>
              <a:rPr lang="en-US" altLang="tr-TR" sz="1200"/>
              <a:t>a y</a:t>
            </a:r>
            <a:r>
              <a:rPr lang="en-US" altLang="en-US" sz="1200"/>
              <a:t>ü</a:t>
            </a:r>
            <a:r>
              <a:rPr lang="en-US" altLang="tr-TR" sz="1200"/>
              <a:t>ksek bir potansiyele sahiptir.  </a:t>
            </a:r>
            <a:endParaRPr lang="en-US" altLang="tr-TR" sz="1200"/>
          </a:p>
          <a:p>
            <a:r>
              <a:rPr lang="en-US" altLang="tr-TR" sz="1200"/>
              <a:t>​</a:t>
            </a:r>
            <a:r>
              <a:rPr lang="en-US" altLang="tr-TR" sz="1200" u="sng"/>
              <a:t>K</a:t>
            </a:r>
            <a:r>
              <a:rPr lang="en-US" altLang="en-US" sz="1200" u="sng"/>
              <a:t>ı</a:t>
            </a:r>
            <a:r>
              <a:rPr lang="en-US" altLang="tr-TR" sz="1200" u="sng"/>
              <a:t>s</a:t>
            </a:r>
            <a:r>
              <a:rPr lang="en-US" altLang="en-US" sz="1200" u="sng"/>
              <a:t>ı</a:t>
            </a:r>
            <a:r>
              <a:rPr lang="en-US" altLang="tr-TR" sz="1200" u="sng"/>
              <a:t>tlar:</a:t>
            </a:r>
            <a:r>
              <a:rPr lang="en-US" altLang="tr-TR" sz="1200"/>
              <a:t> N</a:t>
            </a:r>
            <a:r>
              <a:rPr lang="en-US" altLang="en-US" sz="1200"/>
              <a:t>ü</a:t>
            </a:r>
            <a:r>
              <a:rPr lang="en-US" altLang="tr-TR" sz="1200"/>
              <a:t>kleer enerji, </a:t>
            </a:r>
            <a:r>
              <a:rPr lang="en-US" altLang="en-US" sz="1200"/>
              <a:t>ş</a:t>
            </a:r>
            <a:r>
              <a:rPr lang="en-US" altLang="tr-TR" sz="1200"/>
              <a:t>ehrin aktif fay hatt</a:t>
            </a:r>
            <a:r>
              <a:rPr lang="en-US" altLang="en-US" sz="1200"/>
              <a:t>ı</a:t>
            </a:r>
            <a:r>
              <a:rPr lang="en-US" altLang="tr-TR" sz="1200"/>
              <a:t> yap</a:t>
            </a:r>
            <a:r>
              <a:rPr lang="en-US" altLang="en-US" sz="1200"/>
              <a:t>ı</a:t>
            </a:r>
            <a:r>
              <a:rPr lang="en-US" altLang="tr-TR" sz="1200"/>
              <a:t>s</a:t>
            </a:r>
            <a:r>
              <a:rPr lang="en-US" altLang="en-US" sz="1200"/>
              <a:t>ı</a:t>
            </a:r>
            <a:r>
              <a:rPr lang="en-US" altLang="tr-TR" sz="1200"/>
              <a:t> ve y</a:t>
            </a:r>
            <a:r>
              <a:rPr lang="en-US" altLang="en-US" sz="1200"/>
              <a:t>ü</a:t>
            </a:r>
            <a:r>
              <a:rPr lang="en-US" altLang="tr-TR" sz="1200"/>
              <a:t>ksek n</a:t>
            </a:r>
            <a:r>
              <a:rPr lang="en-US" altLang="en-US" sz="1200"/>
              <a:t>ü</a:t>
            </a:r>
            <a:r>
              <a:rPr lang="en-US" altLang="tr-TR" sz="1200"/>
              <a:t>fus yo</a:t>
            </a:r>
            <a:r>
              <a:rPr lang="en-US" altLang="en-US" sz="1200"/>
              <a:t>ğ</a:t>
            </a:r>
            <a:r>
              <a:rPr lang="en-US" altLang="tr-TR" sz="1200"/>
              <a:t>unlu</a:t>
            </a:r>
            <a:r>
              <a:rPr lang="en-US" altLang="en-US" sz="1200"/>
              <a:t>ğ</a:t>
            </a:r>
            <a:r>
              <a:rPr lang="en-US" altLang="tr-TR" sz="1200"/>
              <a:t>u nedeniyle teknik ve yasal olarak uygun g</a:t>
            </a:r>
            <a:r>
              <a:rPr lang="en-US" altLang="en-US" sz="1200"/>
              <a:t>ö</a:t>
            </a:r>
            <a:r>
              <a:rPr lang="en-US" altLang="tr-TR" sz="1200"/>
              <a:t>r</a:t>
            </a:r>
            <a:r>
              <a:rPr lang="en-US" altLang="en-US" sz="1200"/>
              <a:t>ü</a:t>
            </a:r>
            <a:r>
              <a:rPr lang="en-US" altLang="tr-TR" sz="1200"/>
              <a:t>lmemi</a:t>
            </a:r>
            <a:r>
              <a:rPr lang="en-US" altLang="en-US" sz="1200"/>
              <a:t>ş</a:t>
            </a:r>
            <a:r>
              <a:rPr lang="en-US" altLang="tr-TR" sz="1200"/>
              <a:t>tir.  </a:t>
            </a:r>
            <a:endParaRPr lang="en-US" altLang="tr-TR" sz="1200"/>
          </a:p>
          <a:p>
            <a:r>
              <a:rPr lang="en-US" altLang="tr-TR" sz="1200"/>
              <a:t>​</a:t>
            </a:r>
            <a:br>
              <a:rPr lang="en-US" altLang="tr-TR" sz="1200"/>
            </a:br>
            <a:r>
              <a:rPr lang="en-US" altLang="tr-TR" sz="1200" b="1"/>
              <a:t>3. </a:t>
            </a:r>
            <a:r>
              <a:rPr lang="en-US" altLang="en-US" sz="1200" b="1"/>
              <a:t>İ</a:t>
            </a:r>
            <a:r>
              <a:rPr lang="en-US" altLang="tr-TR" sz="1200" b="1"/>
              <a:t>zmir’in Yenilenebilir Enerji Tarih</a:t>
            </a:r>
            <a:r>
              <a:rPr lang="en-US" altLang="en-US" sz="1200" b="1"/>
              <a:t>ç</a:t>
            </a:r>
            <a:r>
              <a:rPr lang="en-US" altLang="tr-TR" sz="1200" b="1"/>
              <a:t>esi</a:t>
            </a:r>
            <a:endParaRPr lang="en-US" altLang="tr-TR" sz="1200" b="1"/>
          </a:p>
          <a:p>
            <a:r>
              <a:rPr lang="en-US" altLang="tr-TR" sz="1200"/>
              <a:t>​1998 — Bir D</a:t>
            </a:r>
            <a:r>
              <a:rPr lang="en-US" altLang="en-US" sz="1200"/>
              <a:t>ö</a:t>
            </a:r>
            <a:r>
              <a:rPr lang="en-US" altLang="tr-TR" sz="1200"/>
              <a:t>n</a:t>
            </a:r>
            <a:r>
              <a:rPr lang="en-US" altLang="en-US" sz="1200"/>
              <a:t>ü</a:t>
            </a:r>
            <a:r>
              <a:rPr lang="en-US" altLang="tr-TR" sz="1200"/>
              <a:t>m Noktas</a:t>
            </a:r>
            <a:r>
              <a:rPr lang="en-US" altLang="en-US" sz="1200"/>
              <a:t>ı</a:t>
            </a:r>
            <a:r>
              <a:rPr lang="en-US" altLang="tr-TR" sz="1200"/>
              <a:t>: T</a:t>
            </a:r>
            <a:r>
              <a:rPr lang="en-US" altLang="en-US" sz="1200"/>
              <a:t>ü</a:t>
            </a:r>
            <a:r>
              <a:rPr lang="en-US" altLang="tr-TR" sz="1200"/>
              <a:t>rkiye'nin ilk r</a:t>
            </a:r>
            <a:r>
              <a:rPr lang="en-US" altLang="en-US" sz="1200"/>
              <a:t>ü</a:t>
            </a:r>
            <a:r>
              <a:rPr lang="en-US" altLang="tr-TR" sz="1200"/>
              <a:t>zgar enerji santrali (ARES), </a:t>
            </a:r>
            <a:r>
              <a:rPr lang="en-US" altLang="en-US" sz="1200"/>
              <a:t>İ</a:t>
            </a:r>
            <a:r>
              <a:rPr lang="en-US" altLang="tr-TR" sz="1200"/>
              <a:t>zmir’in </a:t>
            </a:r>
            <a:r>
              <a:rPr lang="en-US" altLang="en-US" sz="1200"/>
              <a:t>Ç</a:t>
            </a:r>
            <a:r>
              <a:rPr lang="en-US" altLang="tr-TR" sz="1200"/>
              <a:t>e</a:t>
            </a:r>
            <a:r>
              <a:rPr lang="en-US" altLang="en-US" sz="1200"/>
              <a:t>ş</a:t>
            </a:r>
            <a:r>
              <a:rPr lang="en-US" altLang="tr-TR" sz="1200"/>
              <a:t>me-Ala</a:t>
            </a:r>
            <a:r>
              <a:rPr lang="en-US" altLang="en-US" sz="1200"/>
              <a:t>ç</a:t>
            </a:r>
            <a:r>
              <a:rPr lang="en-US" altLang="tr-TR" sz="1200"/>
              <a:t>at</a:t>
            </a:r>
            <a:r>
              <a:rPr lang="en-US" altLang="en-US" sz="1200"/>
              <a:t>ı</a:t>
            </a:r>
            <a:r>
              <a:rPr lang="en-US" altLang="tr-TR" sz="1200"/>
              <a:t> b</a:t>
            </a:r>
            <a:r>
              <a:rPr lang="en-US" altLang="en-US" sz="1200"/>
              <a:t>ö</a:t>
            </a:r>
            <a:r>
              <a:rPr lang="en-US" altLang="tr-TR" sz="1200"/>
              <a:t>lgesinde kurulmu</a:t>
            </a:r>
            <a:r>
              <a:rPr lang="en-US" altLang="en-US" sz="1200"/>
              <a:t>ş</a:t>
            </a:r>
            <a:r>
              <a:rPr lang="en-US" altLang="tr-TR" sz="1200"/>
              <a:t>tur. Bu, </a:t>
            </a:r>
            <a:r>
              <a:rPr lang="en-US" altLang="en-US" sz="1200"/>
              <a:t>ş</a:t>
            </a:r>
            <a:r>
              <a:rPr lang="en-US" altLang="tr-TR" sz="1200"/>
              <a:t>ehrin yenilenebilir enerji yolculu</a:t>
            </a:r>
            <a:r>
              <a:rPr lang="en-US" altLang="en-US" sz="1200"/>
              <a:t>ğ</a:t>
            </a:r>
            <a:r>
              <a:rPr lang="en-US" altLang="tr-TR" sz="1200"/>
              <a:t>unun ba</a:t>
            </a:r>
            <a:r>
              <a:rPr lang="en-US" altLang="en-US" sz="1200"/>
              <a:t>ş</a:t>
            </a:r>
            <a:r>
              <a:rPr lang="en-US" altLang="tr-TR" sz="1200"/>
              <a:t>lang</a:t>
            </a:r>
            <a:r>
              <a:rPr lang="en-US" altLang="en-US" sz="1200"/>
              <a:t>ı</a:t>
            </a:r>
            <a:r>
              <a:rPr lang="en-US" altLang="tr-TR" sz="1200"/>
              <a:t>c</a:t>
            </a:r>
            <a:r>
              <a:rPr lang="en-US" altLang="en-US" sz="1200"/>
              <a:t>ı</a:t>
            </a:r>
            <a:r>
              <a:rPr lang="en-US" altLang="tr-TR" sz="1200"/>
              <a:t>d</a:t>
            </a:r>
            <a:r>
              <a:rPr lang="en-US" altLang="en-US" sz="1200"/>
              <a:t>ı</a:t>
            </a:r>
            <a:r>
              <a:rPr lang="en-US" altLang="tr-TR" sz="1200"/>
              <a:t>r.</a:t>
            </a:r>
            <a:endParaRPr lang="en-US" altLang="tr-TR" sz="1200"/>
          </a:p>
          <a:p>
            <a:r>
              <a:rPr lang="en-US" altLang="tr-TR" sz="1200"/>
              <a:t>​2000'ler — </a:t>
            </a:r>
            <a:r>
              <a:rPr lang="en-US" altLang="en-US" sz="1200"/>
              <a:t>Ç</a:t>
            </a:r>
            <a:r>
              <a:rPr lang="en-US" altLang="tr-TR" sz="1200"/>
              <a:t>e</a:t>
            </a:r>
            <a:r>
              <a:rPr lang="en-US" altLang="en-US" sz="1200"/>
              <a:t>ş</a:t>
            </a:r>
            <a:r>
              <a:rPr lang="en-US" altLang="tr-TR" sz="1200"/>
              <a:t>itlenme: Jeotermal enerjinin konut </a:t>
            </a:r>
            <a:r>
              <a:rPr lang="en-US" altLang="en-US" sz="1200"/>
              <a:t>ı</a:t>
            </a:r>
            <a:r>
              <a:rPr lang="en-US" altLang="tr-TR" sz="1200"/>
              <a:t>s</a:t>
            </a:r>
            <a:r>
              <a:rPr lang="en-US" altLang="en-US" sz="1200"/>
              <a:t>ı</a:t>
            </a:r>
            <a:r>
              <a:rPr lang="en-US" altLang="tr-TR" sz="1200"/>
              <a:t>tmas</a:t>
            </a:r>
            <a:r>
              <a:rPr lang="en-US" altLang="en-US" sz="1200"/>
              <a:t>ı</a:t>
            </a:r>
            <a:r>
              <a:rPr lang="en-US" altLang="tr-TR" sz="1200"/>
              <a:t>nda (Bal</a:t>
            </a:r>
            <a:r>
              <a:rPr lang="en-US" altLang="en-US" sz="1200"/>
              <a:t>ç</a:t>
            </a:r>
            <a:r>
              <a:rPr lang="en-US" altLang="tr-TR" sz="1200"/>
              <a:t>ova) yayg</a:t>
            </a:r>
            <a:r>
              <a:rPr lang="en-US" altLang="en-US" sz="1200"/>
              <a:t>ı</a:t>
            </a:r>
            <a:r>
              <a:rPr lang="en-US" altLang="tr-TR" sz="1200"/>
              <a:t>nla</a:t>
            </a:r>
            <a:r>
              <a:rPr lang="en-US" altLang="en-US" sz="1200"/>
              <a:t>ş</a:t>
            </a:r>
            <a:r>
              <a:rPr lang="en-US" altLang="tr-TR" sz="1200"/>
              <a:t>mas</a:t>
            </a:r>
            <a:r>
              <a:rPr lang="en-US" altLang="en-US" sz="1200"/>
              <a:t>ı</a:t>
            </a:r>
            <a:r>
              <a:rPr lang="en-US" altLang="tr-TR" sz="1200"/>
              <a:t> ve ilk b</a:t>
            </a:r>
            <a:r>
              <a:rPr lang="en-US" altLang="en-US" sz="1200"/>
              <a:t>ü</a:t>
            </a:r>
            <a:r>
              <a:rPr lang="en-US" altLang="tr-TR" sz="1200"/>
              <a:t>y</a:t>
            </a:r>
            <a:r>
              <a:rPr lang="en-US" altLang="en-US" sz="1200"/>
              <a:t>ü</a:t>
            </a:r>
            <a:r>
              <a:rPr lang="en-US" altLang="tr-TR" sz="1200"/>
              <a:t>k </a:t>
            </a:r>
            <a:r>
              <a:rPr lang="en-US" altLang="en-US" sz="1200"/>
              <a:t>ö</a:t>
            </a:r>
            <a:r>
              <a:rPr lang="en-US" altLang="tr-TR" sz="1200"/>
              <a:t>l</a:t>
            </a:r>
            <a:r>
              <a:rPr lang="en-US" altLang="en-US" sz="1200"/>
              <a:t>ç</a:t>
            </a:r>
            <a:r>
              <a:rPr lang="en-US" altLang="tr-TR" sz="1200"/>
              <a:t>ekli biyok</a:t>
            </a:r>
            <a:r>
              <a:rPr lang="en-US" altLang="en-US" sz="1200"/>
              <a:t>ü</a:t>
            </a:r>
            <a:r>
              <a:rPr lang="en-US" altLang="tr-TR" sz="1200"/>
              <a:t>tle yat</a:t>
            </a:r>
            <a:r>
              <a:rPr lang="en-US" altLang="en-US" sz="1200"/>
              <a:t>ı</a:t>
            </a:r>
            <a:r>
              <a:rPr lang="en-US" altLang="tr-TR" sz="1200"/>
              <a:t>r</a:t>
            </a:r>
            <a:r>
              <a:rPr lang="en-US" altLang="en-US" sz="1200"/>
              <a:t>ı</a:t>
            </a:r>
            <a:r>
              <a:rPr lang="en-US" altLang="tr-TR" sz="1200"/>
              <a:t>mlar</a:t>
            </a:r>
            <a:r>
              <a:rPr lang="en-US" altLang="en-US" sz="1200"/>
              <a:t>ı</a:t>
            </a:r>
            <a:r>
              <a:rPr lang="en-US" altLang="tr-TR" sz="1200"/>
              <a:t>n</a:t>
            </a:r>
            <a:r>
              <a:rPr lang="en-US" altLang="en-US" sz="1200"/>
              <a:t>ı</a:t>
            </a:r>
            <a:r>
              <a:rPr lang="en-US" altLang="tr-TR" sz="1200"/>
              <a:t>n ba</a:t>
            </a:r>
            <a:r>
              <a:rPr lang="en-US" altLang="en-US" sz="1200"/>
              <a:t>ş</a:t>
            </a:r>
            <a:r>
              <a:rPr lang="en-US" altLang="tr-TR" sz="1200"/>
              <a:t>lamas</a:t>
            </a:r>
            <a:r>
              <a:rPr lang="en-US" altLang="en-US" sz="1200"/>
              <a:t>ı</a:t>
            </a:r>
            <a:r>
              <a:rPr lang="en-US" altLang="tr-TR" sz="1200"/>
              <a:t>.</a:t>
            </a:r>
            <a:endParaRPr lang="en-US" altLang="tr-TR" sz="1200"/>
          </a:p>
          <a:p>
            <a:r>
              <a:rPr lang="en-US" altLang="tr-TR" sz="1200"/>
              <a:t>​2010'lar — Sanayile</a:t>
            </a:r>
            <a:r>
              <a:rPr lang="en-US" altLang="en-US" sz="1200"/>
              <a:t>ş</a:t>
            </a:r>
            <a:r>
              <a:rPr lang="en-US" altLang="tr-TR" sz="1200"/>
              <a:t>me: </a:t>
            </a:r>
            <a:r>
              <a:rPr lang="en-US" altLang="en-US" sz="1200"/>
              <a:t>İ</a:t>
            </a:r>
            <a:r>
              <a:rPr lang="en-US" altLang="tr-TR" sz="1200"/>
              <a:t>zmir’in yerli yenilenebilir enerji ekipman </a:t>
            </a:r>
            <a:r>
              <a:rPr lang="en-US" altLang="en-US" sz="1200"/>
              <a:t>ü</a:t>
            </a:r>
            <a:r>
              <a:rPr lang="en-US" altLang="tr-TR" sz="1200"/>
              <a:t>retiminde bir merkez haline gelmesi ve b</a:t>
            </a:r>
            <a:r>
              <a:rPr lang="en-US" altLang="en-US" sz="1200"/>
              <a:t>ü</a:t>
            </a:r>
            <a:r>
              <a:rPr lang="en-US" altLang="tr-TR" sz="1200"/>
              <a:t>y</a:t>
            </a:r>
            <a:r>
              <a:rPr lang="en-US" altLang="en-US" sz="1200"/>
              <a:t>ü</a:t>
            </a:r>
            <a:r>
              <a:rPr lang="en-US" altLang="tr-TR" sz="1200"/>
              <a:t>k </a:t>
            </a:r>
            <a:r>
              <a:rPr lang="en-US" altLang="en-US" sz="1200"/>
              <a:t>ö</a:t>
            </a:r>
            <a:r>
              <a:rPr lang="en-US" altLang="tr-TR" sz="1200"/>
              <a:t>l</a:t>
            </a:r>
            <a:r>
              <a:rPr lang="en-US" altLang="en-US" sz="1200"/>
              <a:t>ç</a:t>
            </a:r>
            <a:r>
              <a:rPr lang="en-US" altLang="tr-TR" sz="1200"/>
              <a:t>ekli RES projelerinin (Karaburun, Bergama vb.) h</a:t>
            </a:r>
            <a:r>
              <a:rPr lang="en-US" altLang="en-US" sz="1200"/>
              <a:t>ı</a:t>
            </a:r>
            <a:r>
              <a:rPr lang="en-US" altLang="tr-TR" sz="1200"/>
              <a:t>z kazanmas</a:t>
            </a:r>
            <a:r>
              <a:rPr lang="en-US" altLang="en-US" sz="1200"/>
              <a:t>ı</a:t>
            </a:r>
            <a:r>
              <a:rPr lang="en-US" altLang="tr-TR" sz="1200"/>
              <a:t>.</a:t>
            </a:r>
            <a:endParaRPr lang="tr-TR" altLang="en-US" sz="12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E67E22"/>
        </a:solidFill>
        <a:effectLst/>
      </p:bgPr>
    </p:bg>
    <p:spTree>
      <p:nvGrpSpPr>
        <p:cNvPr id="1" name=""/>
        <p:cNvGrpSpPr/>
        <p:nvPr/>
      </p:nvGrpSpPr>
      <p:grpSpPr>
        <a:xfrm>
          <a:off x="0" y="0"/>
          <a:ext cx="0" cy="0"/>
          <a:chOff x="0" y="0"/>
          <a:chExt cx="0" cy="0"/>
        </a:xfrm>
      </p:grpSpPr>
      <p:sp>
        <p:nvSpPr>
          <p:cNvPr id="2" name="Shape 0"/>
          <p:cNvSpPr/>
          <p:nvPr/>
        </p:nvSpPr>
        <p:spPr>
          <a:xfrm>
            <a:off x="0" y="4114800"/>
            <a:ext cx="9144000" cy="1028700"/>
          </a:xfrm>
          <a:prstGeom prst="rect">
            <a:avLst/>
          </a:prstGeom>
          <a:solidFill>
            <a:srgbClr val="1B3A6B"/>
          </a:solidFill>
          <a:ln w="12700">
            <a:solidFill>
              <a:srgbClr val="1B3A6B"/>
            </a:solidFill>
            <a:prstDash val="solid"/>
          </a:ln>
        </p:spPr>
        <p:txBody>
          <a:bodyPr/>
          <a:lstStyle/>
          <a:p>
            <a:endParaRPr lang="tr-TR"/>
          </a:p>
        </p:txBody>
      </p:sp>
      <p:sp>
        <p:nvSpPr>
          <p:cNvPr id="3" name="Shape 1"/>
          <p:cNvSpPr/>
          <p:nvPr/>
        </p:nvSpPr>
        <p:spPr>
          <a:xfrm>
            <a:off x="0" y="4114800"/>
            <a:ext cx="137160" cy="1028700"/>
          </a:xfrm>
          <a:prstGeom prst="rect">
            <a:avLst/>
          </a:prstGeom>
          <a:solidFill>
            <a:srgbClr val="C8901A"/>
          </a:solidFill>
          <a:ln w="12700">
            <a:solidFill>
              <a:srgbClr val="C8901A"/>
            </a:solidFill>
            <a:prstDash val="solid"/>
          </a:ln>
        </p:spPr>
        <p:txBody>
          <a:bodyPr/>
          <a:lstStyle/>
          <a:p>
            <a:endParaRPr lang="tr-TR"/>
          </a:p>
        </p:txBody>
      </p:sp>
      <p:sp>
        <p:nvSpPr>
          <p:cNvPr id="4" name="Text 2"/>
          <p:cNvSpPr/>
          <p:nvPr/>
        </p:nvSpPr>
        <p:spPr>
          <a:xfrm>
            <a:off x="457200" y="914400"/>
            <a:ext cx="8229600" cy="2560320"/>
          </a:xfrm>
          <a:prstGeom prst="rect">
            <a:avLst/>
          </a:prstGeom>
          <a:noFill/>
        </p:spPr>
        <p:txBody>
          <a:bodyPr wrap="square" rtlCol="0" anchor="ctr"/>
          <a:lstStyle/>
          <a:p>
            <a:pPr marL="0" indent="0" algn="ctr">
              <a:buNone/>
            </a:pPr>
            <a:r>
              <a:rPr lang="en-US" sz="3600" b="1" dirty="0">
                <a:solidFill>
                  <a:srgbClr val="FFFFFF"/>
                </a:solidFill>
                <a:latin typeface="Calibri" panose="020F0502020204030204" pitchFamily="34" charset="0"/>
                <a:ea typeface="Calibri" panose="020F0502020204030204" pitchFamily="34" charset="-122"/>
                <a:cs typeface="Calibri" panose="020F0502020204030204" pitchFamily="34" charset="-120"/>
              </a:rPr>
              <a:t>Güneş Enerjisi</a:t>
            </a:r>
            <a:endParaRPr lang="en-US" sz="3600" dirty="0"/>
          </a:p>
          <a:p>
            <a:pPr marL="0" indent="0" algn="ctr">
              <a:buNone/>
            </a:pPr>
            <a:r>
              <a:rPr lang="en-US" sz="3600" b="1" dirty="0">
                <a:solidFill>
                  <a:srgbClr val="FFFFFF"/>
                </a:solidFill>
                <a:latin typeface="Calibri" panose="020F0502020204030204" pitchFamily="34" charset="0"/>
                <a:ea typeface="Calibri" panose="020F0502020204030204" pitchFamily="34" charset="-122"/>
                <a:cs typeface="Calibri" panose="020F0502020204030204" pitchFamily="34" charset="-120"/>
              </a:rPr>
              <a:t>(GES)</a:t>
            </a:r>
            <a:endParaRPr lang="en-US" sz="3600" dirty="0"/>
          </a:p>
        </p:txBody>
      </p:sp>
      <p:sp>
        <p:nvSpPr>
          <p:cNvPr id="5" name="Text 3"/>
          <p:cNvSpPr/>
          <p:nvPr/>
        </p:nvSpPr>
        <p:spPr>
          <a:xfrm>
            <a:off x="274320" y="4206240"/>
            <a:ext cx="8595360" cy="731520"/>
          </a:xfrm>
          <a:prstGeom prst="rect">
            <a:avLst/>
          </a:prstGeom>
          <a:noFill/>
        </p:spPr>
        <p:txBody>
          <a:bodyPr wrap="square" rtlCol="0" anchor="ctr"/>
          <a:lstStyle/>
          <a:p>
            <a:pPr marL="0" indent="0" algn="ctr">
              <a:buNone/>
            </a:pPr>
            <a:r>
              <a:rPr lang="en-US" sz="900" dirty="0">
                <a:solidFill>
                  <a:srgbClr val="E0E6ED"/>
                </a:solidFill>
                <a:latin typeface="Calibri" panose="020F0502020204030204" pitchFamily="34" charset="0"/>
                <a:ea typeface="Calibri" panose="020F0502020204030204" pitchFamily="34" charset="-122"/>
                <a:cs typeface="Calibri" panose="020F0502020204030204" pitchFamily="34" charset="-120"/>
              </a:rPr>
              <a:t>SAÜ EEM  |  Yenilenebilir ve Sürdürülebilir Enerji</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8F9FA"/>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E67E22"/>
          </a:solidFill>
          <a:ln w="12700">
            <a:solidFill>
              <a:srgbClr val="E67E22"/>
            </a:solidFill>
            <a:prstDash val="solid"/>
          </a:ln>
        </p:spPr>
        <p:txBody>
          <a:bodyPr/>
          <a:lstStyle/>
          <a:p>
            <a:endParaRPr lang="tr-TR"/>
          </a:p>
        </p:txBody>
      </p:sp>
      <p:sp>
        <p:nvSpPr>
          <p:cNvPr id="3" name="Shape 1"/>
          <p:cNvSpPr/>
          <p:nvPr/>
        </p:nvSpPr>
        <p:spPr>
          <a:xfrm>
            <a:off x="0" y="685800"/>
            <a:ext cx="9144000" cy="45720"/>
          </a:xfrm>
          <a:prstGeom prst="rect">
            <a:avLst/>
          </a:prstGeom>
          <a:solidFill>
            <a:srgbClr val="C8901A"/>
          </a:solidFill>
          <a:ln w="12700">
            <a:solidFill>
              <a:srgbClr val="C8901A"/>
            </a:solidFill>
            <a:prstDash val="solid"/>
          </a:ln>
        </p:spPr>
        <p:txBody>
          <a:bodyPr/>
          <a:lstStyle/>
          <a:p>
            <a:endParaRPr lang="tr-TR"/>
          </a:p>
        </p:txBody>
      </p:sp>
      <p:sp>
        <p:nvSpPr>
          <p:cNvPr id="4" name="Shape 2"/>
          <p:cNvSpPr/>
          <p:nvPr/>
        </p:nvSpPr>
        <p:spPr>
          <a:xfrm>
            <a:off x="0" y="4892040"/>
            <a:ext cx="9144000" cy="251460"/>
          </a:xfrm>
          <a:prstGeom prst="rect">
            <a:avLst/>
          </a:prstGeom>
          <a:solidFill>
            <a:srgbClr val="1B3A6B"/>
          </a:solidFill>
          <a:ln w="12700">
            <a:solidFill>
              <a:srgbClr val="1B3A6B"/>
            </a:solidFill>
            <a:prstDash val="solid"/>
          </a:ln>
        </p:spPr>
        <p:txBody>
          <a:bodyPr/>
          <a:lstStyle/>
          <a:p>
            <a:endParaRPr lang="tr-TR"/>
          </a:p>
        </p:txBody>
      </p:sp>
      <p:sp>
        <p:nvSpPr>
          <p:cNvPr id="5" name="Text 3"/>
          <p:cNvSpPr/>
          <p:nvPr/>
        </p:nvSpPr>
        <p:spPr>
          <a:xfrm>
            <a:off x="274320" y="4892040"/>
            <a:ext cx="8595360" cy="251460"/>
          </a:xfrm>
          <a:prstGeom prst="rect">
            <a:avLst/>
          </a:prstGeom>
          <a:noFill/>
        </p:spPr>
        <p:txBody>
          <a:bodyPr wrap="square" rtlCol="0" anchor="ctr"/>
          <a:lstStyle/>
          <a:p>
            <a:pPr marL="0" indent="0" algn="ctr">
              <a:buNone/>
            </a:pPr>
            <a:r>
              <a:rPr lang="en-US" sz="800" dirty="0">
                <a:solidFill>
                  <a:srgbClr val="E0E6ED"/>
                </a:solidFill>
                <a:latin typeface="Calibri" panose="020F0502020204030204" pitchFamily="34" charset="0"/>
                <a:ea typeface="Calibri" panose="020F0502020204030204" pitchFamily="34" charset="-122"/>
                <a:cs typeface="Calibri" panose="020F0502020204030204" pitchFamily="34" charset="-120"/>
              </a:rPr>
              <a:t>SAÜ EEM  |  İzmir Yenilenebilir Enerji Analizi</a:t>
            </a:r>
            <a:endParaRPr lang="en-US" sz="800" dirty="0"/>
          </a:p>
        </p:txBody>
      </p:sp>
      <p:sp>
        <p:nvSpPr>
          <p:cNvPr id="6" name="Text 4"/>
          <p:cNvSpPr/>
          <p:nvPr/>
        </p:nvSpPr>
        <p:spPr>
          <a:xfrm>
            <a:off x="274320" y="45720"/>
            <a:ext cx="8595360" cy="594360"/>
          </a:xfrm>
          <a:prstGeom prst="rect">
            <a:avLst/>
          </a:prstGeom>
          <a:noFill/>
        </p:spPr>
        <p:txBody>
          <a:bodyPr wrap="square" lIns="0" tIns="0" rIns="0" bIns="0" rtlCol="0" anchor="ctr"/>
          <a:lstStyle/>
          <a:p>
            <a:pPr marL="0" indent="0" algn="l">
              <a:buNone/>
            </a:pPr>
            <a:r>
              <a:rPr lang="en-US" sz="1800" b="1" dirty="0">
                <a:solidFill>
                  <a:srgbClr val="FFFFFF"/>
                </a:solidFill>
                <a:latin typeface="Calibri" panose="020F0502020204030204" pitchFamily="34" charset="0"/>
                <a:ea typeface="Calibri" panose="020F0502020204030204" pitchFamily="34" charset="-122"/>
                <a:cs typeface="Calibri" panose="020F0502020204030204" pitchFamily="34" charset="-120"/>
              </a:rPr>
              <a:t>Güneş Enerjisi — Nedir? Türleri? Avantaj / Dezavantaj</a:t>
            </a:r>
            <a:endParaRPr lang="en-US" sz="1800" dirty="0"/>
          </a:p>
        </p:txBody>
      </p:sp>
      <p:sp>
        <p:nvSpPr>
          <p:cNvPr id="7" name="Text 5"/>
          <p:cNvSpPr/>
          <p:nvPr/>
        </p:nvSpPr>
        <p:spPr>
          <a:xfrm>
            <a:off x="320040" y="777240"/>
            <a:ext cx="8503920" cy="320040"/>
          </a:xfrm>
          <a:prstGeom prst="rect">
            <a:avLst/>
          </a:prstGeom>
          <a:noFill/>
        </p:spPr>
        <p:txBody>
          <a:bodyPr wrap="square" rtlCol="0" anchor="ctr"/>
          <a:lstStyle/>
          <a:p>
            <a:pPr marL="0" indent="0">
              <a:buNone/>
            </a:pPr>
            <a:r>
              <a:rPr lang="en-US" sz="1200" b="1" dirty="0">
                <a:solidFill>
                  <a:srgbClr val="E67E22"/>
                </a:solidFill>
                <a:latin typeface="Calibri" panose="020F0502020204030204" pitchFamily="34" charset="0"/>
                <a:ea typeface="Calibri" panose="020F0502020204030204" pitchFamily="34" charset="-122"/>
                <a:cs typeface="Calibri" panose="020F0502020204030204" pitchFamily="34" charset="-120"/>
              </a:rPr>
              <a:t>Güneş Enerjisi Nedir?</a:t>
            </a:r>
            <a:endParaRPr lang="en-US" sz="1200" dirty="0"/>
          </a:p>
        </p:txBody>
      </p:sp>
      <p:sp>
        <p:nvSpPr>
          <p:cNvPr id="8" name="Text 6"/>
          <p:cNvSpPr/>
          <p:nvPr/>
        </p:nvSpPr>
        <p:spPr>
          <a:xfrm>
            <a:off x="320040" y="1097280"/>
            <a:ext cx="8503920" cy="411480"/>
          </a:xfrm>
          <a:prstGeom prst="rect">
            <a:avLst/>
          </a:prstGeom>
          <a:noFill/>
        </p:spPr>
        <p:txBody>
          <a:bodyPr wrap="square" rtlCol="0" anchor="ctr"/>
          <a:lstStyle/>
          <a:p>
            <a:pPr marL="0" indent="0" algn="just">
              <a:buNone/>
            </a:pPr>
            <a:r>
              <a:rPr lang="en-US" sz="1000" dirty="0">
                <a:solidFill>
                  <a:srgbClr val="212121"/>
                </a:solidFill>
                <a:latin typeface="Calibri" panose="020F0502020204030204" pitchFamily="34" charset="0"/>
                <a:ea typeface="Calibri" panose="020F0502020204030204" pitchFamily="34" charset="-122"/>
                <a:cs typeface="Calibri" panose="020F0502020204030204" pitchFamily="34" charset="-120"/>
              </a:rPr>
              <a:t>Güneş ışınımının fotovoltaik (PV) hücreler ya da ısıl toplayıcılar aracılığıyla elektrik veya ısı enerjisine dönüştürülmesidir. Temel prensip, foton enerjisinin yarı iletken malzemedeki elektronu uyararak akım oluşturmasıdır.</a:t>
            </a:r>
            <a:endParaRPr lang="en-US" sz="1000" dirty="0"/>
          </a:p>
        </p:txBody>
      </p:sp>
      <p:sp>
        <p:nvSpPr>
          <p:cNvPr id="9" name="Shape 7"/>
          <p:cNvSpPr/>
          <p:nvPr>
            <p:custDataLst>
              <p:tags r:id="rId1"/>
            </p:custDataLst>
          </p:nvPr>
        </p:nvSpPr>
        <p:spPr>
          <a:xfrm>
            <a:off x="320040" y="1600200"/>
            <a:ext cx="2011680" cy="1417320"/>
          </a:xfrm>
          <a:prstGeom prst="rect">
            <a:avLst/>
          </a:prstGeom>
          <a:solidFill>
            <a:srgbClr val="E67E22">
              <a:alpha val="15000"/>
            </a:srgbClr>
          </a:solidFill>
          <a:ln w="12700">
            <a:solidFill>
              <a:srgbClr val="E67E22"/>
            </a:solidFill>
            <a:prstDash val="solid"/>
          </a:ln>
        </p:spPr>
        <p:txBody>
          <a:bodyPr/>
          <a:lstStyle/>
          <a:p>
            <a:endParaRPr lang="tr-TR"/>
          </a:p>
        </p:txBody>
      </p:sp>
      <p:sp>
        <p:nvSpPr>
          <p:cNvPr id="10" name="Shape 8"/>
          <p:cNvSpPr/>
          <p:nvPr>
            <p:custDataLst>
              <p:tags r:id="rId2"/>
            </p:custDataLst>
          </p:nvPr>
        </p:nvSpPr>
        <p:spPr>
          <a:xfrm>
            <a:off x="320040" y="1600200"/>
            <a:ext cx="2011680" cy="301752"/>
          </a:xfrm>
          <a:prstGeom prst="rect">
            <a:avLst/>
          </a:prstGeom>
          <a:solidFill>
            <a:srgbClr val="E67E22"/>
          </a:solidFill>
          <a:ln w="12700">
            <a:solidFill>
              <a:srgbClr val="E67E22"/>
            </a:solidFill>
            <a:prstDash val="solid"/>
          </a:ln>
        </p:spPr>
        <p:txBody>
          <a:bodyPr/>
          <a:lstStyle/>
          <a:p>
            <a:endParaRPr lang="tr-TR"/>
          </a:p>
        </p:txBody>
      </p:sp>
      <p:sp>
        <p:nvSpPr>
          <p:cNvPr id="11" name="Text 9"/>
          <p:cNvSpPr/>
          <p:nvPr>
            <p:custDataLst>
              <p:tags r:id="rId3"/>
            </p:custDataLst>
          </p:nvPr>
        </p:nvSpPr>
        <p:spPr>
          <a:xfrm>
            <a:off x="356616" y="1600200"/>
            <a:ext cx="1938528" cy="301752"/>
          </a:xfrm>
          <a:prstGeom prst="rect">
            <a:avLst/>
          </a:prstGeom>
          <a:noFill/>
        </p:spPr>
        <p:txBody>
          <a:bodyPr wrap="square" rtlCol="0" anchor="ctr"/>
          <a:lstStyle/>
          <a:p>
            <a:pPr marL="0" indent="0" algn="ctr">
              <a:buNone/>
            </a:pPr>
            <a:r>
              <a:rPr lang="en-US" sz="950" b="1" dirty="0">
                <a:solidFill>
                  <a:srgbClr val="FFFFFF"/>
                </a:solidFill>
                <a:latin typeface="Calibri" panose="020F0502020204030204" pitchFamily="34" charset="0"/>
                <a:ea typeface="Calibri" panose="020F0502020204030204" pitchFamily="34" charset="-122"/>
                <a:cs typeface="Calibri" panose="020F0502020204030204" pitchFamily="34" charset="-120"/>
              </a:rPr>
              <a:t>Monokristal Si</a:t>
            </a:r>
            <a:endParaRPr lang="en-US" sz="950" dirty="0"/>
          </a:p>
        </p:txBody>
      </p:sp>
      <p:sp>
        <p:nvSpPr>
          <p:cNvPr id="12" name="Text 10"/>
          <p:cNvSpPr/>
          <p:nvPr>
            <p:custDataLst>
              <p:tags r:id="rId4"/>
            </p:custDataLst>
          </p:nvPr>
        </p:nvSpPr>
        <p:spPr>
          <a:xfrm>
            <a:off x="411480" y="1920240"/>
            <a:ext cx="1828800" cy="1051560"/>
          </a:xfrm>
          <a:prstGeom prst="rect">
            <a:avLst/>
          </a:prstGeom>
          <a:noFill/>
        </p:spPr>
        <p:txBody>
          <a:bodyPr wrap="square" rtlCol="0" anchor="t"/>
          <a:lstStyle/>
          <a:p>
            <a:pPr marL="171450" indent="-171450" algn="l">
              <a:spcAft>
                <a:spcPts val="200"/>
              </a:spcAft>
              <a:buFont typeface="Arial" panose="020B0604020202020204" pitchFamily="34" charset="0"/>
              <a:buChar char="•"/>
            </a:pPr>
            <a:r>
              <a:rPr lang="en-US" sz="900" dirty="0">
                <a:solidFill>
                  <a:srgbClr val="212121"/>
                </a:solidFill>
                <a:latin typeface="Calibri" panose="020F0502020204030204" pitchFamily="34" charset="0"/>
                <a:ea typeface="Calibri" panose="020F0502020204030204" pitchFamily="34" charset="-122"/>
                <a:cs typeface="Calibri" panose="020F0502020204030204" pitchFamily="34" charset="-120"/>
              </a:rPr>
              <a:t>Verim: %20–23</a:t>
            </a:r>
            <a:endParaRPr lang="en-US" sz="900" dirty="0"/>
          </a:p>
          <a:p>
            <a:pPr marL="171450" indent="-171450" algn="l">
              <a:spcAft>
                <a:spcPts val="200"/>
              </a:spcAft>
              <a:buFont typeface="Arial" panose="020B0604020202020204" pitchFamily="34" charset="0"/>
              <a:buChar char="•"/>
            </a:pPr>
            <a:r>
              <a:rPr lang="en-US" sz="900" dirty="0">
                <a:solidFill>
                  <a:srgbClr val="212121"/>
                </a:solidFill>
                <a:latin typeface="Calibri" panose="020F0502020204030204" pitchFamily="34" charset="0"/>
                <a:ea typeface="Calibri" panose="020F0502020204030204" pitchFamily="34" charset="-122"/>
                <a:cs typeface="Calibri" panose="020F0502020204030204" pitchFamily="34" charset="-120"/>
              </a:rPr>
              <a:t>En yüksek verimlilik</a:t>
            </a:r>
            <a:endParaRPr lang="en-US" sz="900" dirty="0"/>
          </a:p>
          <a:p>
            <a:pPr marL="171450" indent="-171450" algn="l">
              <a:spcAft>
                <a:spcPts val="200"/>
              </a:spcAft>
              <a:buFont typeface="Arial" panose="020B0604020202020204" pitchFamily="34" charset="0"/>
              <a:buChar char="•"/>
            </a:pPr>
            <a:r>
              <a:rPr lang="en-US" sz="900" dirty="0">
                <a:solidFill>
                  <a:srgbClr val="212121"/>
                </a:solidFill>
                <a:latin typeface="Calibri" panose="020F0502020204030204" pitchFamily="34" charset="0"/>
                <a:ea typeface="Calibri" panose="020F0502020204030204" pitchFamily="34" charset="-122"/>
                <a:cs typeface="Calibri" panose="020F0502020204030204" pitchFamily="34" charset="-120"/>
              </a:rPr>
              <a:t>Pahalı üretim</a:t>
            </a:r>
            <a:endParaRPr lang="en-US" sz="900" dirty="0"/>
          </a:p>
          <a:p>
            <a:pPr marL="171450" indent="-171450" algn="l">
              <a:spcAft>
                <a:spcPts val="200"/>
              </a:spcAft>
              <a:buFont typeface="Arial" panose="020B0604020202020204" pitchFamily="34" charset="0"/>
              <a:buChar char="•"/>
            </a:pPr>
            <a:r>
              <a:rPr lang="en-US" sz="900" dirty="0">
                <a:solidFill>
                  <a:srgbClr val="212121"/>
                </a:solidFill>
                <a:latin typeface="Calibri" panose="020F0502020204030204" pitchFamily="34" charset="0"/>
                <a:ea typeface="Calibri" panose="020F0502020204030204" pitchFamily="34" charset="-122"/>
                <a:cs typeface="Calibri" panose="020F0502020204030204" pitchFamily="34" charset="-120"/>
              </a:rPr>
              <a:t>Uzun ömür (30+ yıl)</a:t>
            </a:r>
            <a:endParaRPr lang="en-US" sz="900" dirty="0"/>
          </a:p>
        </p:txBody>
      </p:sp>
      <p:sp>
        <p:nvSpPr>
          <p:cNvPr id="13" name="Shape 11"/>
          <p:cNvSpPr/>
          <p:nvPr>
            <p:custDataLst>
              <p:tags r:id="rId5"/>
            </p:custDataLst>
          </p:nvPr>
        </p:nvSpPr>
        <p:spPr>
          <a:xfrm>
            <a:off x="2514600" y="1600200"/>
            <a:ext cx="2011680" cy="1417320"/>
          </a:xfrm>
          <a:prstGeom prst="rect">
            <a:avLst/>
          </a:prstGeom>
          <a:solidFill>
            <a:srgbClr val="2E86C1">
              <a:alpha val="15000"/>
            </a:srgbClr>
          </a:solidFill>
          <a:ln w="12700">
            <a:solidFill>
              <a:srgbClr val="2E86C1"/>
            </a:solidFill>
            <a:prstDash val="solid"/>
          </a:ln>
        </p:spPr>
        <p:txBody>
          <a:bodyPr/>
          <a:lstStyle/>
          <a:p>
            <a:endParaRPr lang="tr-TR"/>
          </a:p>
        </p:txBody>
      </p:sp>
      <p:sp>
        <p:nvSpPr>
          <p:cNvPr id="14" name="Shape 12"/>
          <p:cNvSpPr/>
          <p:nvPr>
            <p:custDataLst>
              <p:tags r:id="rId6"/>
            </p:custDataLst>
          </p:nvPr>
        </p:nvSpPr>
        <p:spPr>
          <a:xfrm>
            <a:off x="2514600" y="1600200"/>
            <a:ext cx="2011680" cy="301752"/>
          </a:xfrm>
          <a:prstGeom prst="rect">
            <a:avLst/>
          </a:prstGeom>
          <a:solidFill>
            <a:srgbClr val="2E86C1"/>
          </a:solidFill>
          <a:ln w="12700">
            <a:solidFill>
              <a:srgbClr val="2E86C1"/>
            </a:solidFill>
            <a:prstDash val="solid"/>
          </a:ln>
        </p:spPr>
        <p:txBody>
          <a:bodyPr/>
          <a:lstStyle/>
          <a:p>
            <a:endParaRPr lang="tr-TR"/>
          </a:p>
        </p:txBody>
      </p:sp>
      <p:sp>
        <p:nvSpPr>
          <p:cNvPr id="15" name="Text 13"/>
          <p:cNvSpPr/>
          <p:nvPr>
            <p:custDataLst>
              <p:tags r:id="rId7"/>
            </p:custDataLst>
          </p:nvPr>
        </p:nvSpPr>
        <p:spPr>
          <a:xfrm>
            <a:off x="2551176" y="1600200"/>
            <a:ext cx="1938528" cy="301752"/>
          </a:xfrm>
          <a:prstGeom prst="rect">
            <a:avLst/>
          </a:prstGeom>
          <a:noFill/>
        </p:spPr>
        <p:txBody>
          <a:bodyPr wrap="square" rtlCol="0" anchor="ctr"/>
          <a:lstStyle/>
          <a:p>
            <a:pPr marL="0" indent="0" algn="ctr">
              <a:buNone/>
            </a:pPr>
            <a:r>
              <a:rPr lang="en-US" sz="950" b="1" dirty="0">
                <a:solidFill>
                  <a:srgbClr val="FFFFFF"/>
                </a:solidFill>
                <a:latin typeface="Calibri" panose="020F0502020204030204" pitchFamily="34" charset="0"/>
                <a:ea typeface="Calibri" panose="020F0502020204030204" pitchFamily="34" charset="-122"/>
                <a:cs typeface="Calibri" panose="020F0502020204030204" pitchFamily="34" charset="-120"/>
              </a:rPr>
              <a:t>Polikristal Si</a:t>
            </a:r>
            <a:endParaRPr lang="en-US" sz="950" dirty="0"/>
          </a:p>
        </p:txBody>
      </p:sp>
      <p:sp>
        <p:nvSpPr>
          <p:cNvPr id="16" name="Text 14"/>
          <p:cNvSpPr/>
          <p:nvPr>
            <p:custDataLst>
              <p:tags r:id="rId8"/>
            </p:custDataLst>
          </p:nvPr>
        </p:nvSpPr>
        <p:spPr>
          <a:xfrm>
            <a:off x="2606040" y="1920240"/>
            <a:ext cx="1828800" cy="1051560"/>
          </a:xfrm>
          <a:prstGeom prst="rect">
            <a:avLst/>
          </a:prstGeom>
          <a:noFill/>
        </p:spPr>
        <p:txBody>
          <a:bodyPr wrap="square" rtlCol="0" anchor="t"/>
          <a:lstStyle/>
          <a:p>
            <a:pPr marL="171450" indent="-171450" algn="l">
              <a:spcAft>
                <a:spcPts val="200"/>
              </a:spcAft>
              <a:buFont typeface="Arial" panose="020B0604020202020204" pitchFamily="34" charset="0"/>
              <a:buChar char="•"/>
            </a:pPr>
            <a:r>
              <a:rPr lang="en-US" sz="900" dirty="0">
                <a:solidFill>
                  <a:srgbClr val="212121"/>
                </a:solidFill>
                <a:latin typeface="Calibri" panose="020F0502020204030204" pitchFamily="34" charset="0"/>
                <a:ea typeface="Calibri" panose="020F0502020204030204" pitchFamily="34" charset="-122"/>
                <a:cs typeface="Calibri" panose="020F0502020204030204" pitchFamily="34" charset="-120"/>
              </a:rPr>
              <a:t>Verim: %15–18</a:t>
            </a:r>
            <a:endParaRPr lang="en-US" sz="900" dirty="0"/>
          </a:p>
          <a:p>
            <a:pPr marL="171450" indent="-171450" algn="l">
              <a:spcAft>
                <a:spcPts val="200"/>
              </a:spcAft>
              <a:buFont typeface="Arial" panose="020B0604020202020204" pitchFamily="34" charset="0"/>
              <a:buChar char="•"/>
            </a:pPr>
            <a:r>
              <a:rPr lang="en-US" sz="900" dirty="0">
                <a:solidFill>
                  <a:srgbClr val="212121"/>
                </a:solidFill>
                <a:latin typeface="Calibri" panose="020F0502020204030204" pitchFamily="34" charset="0"/>
                <a:ea typeface="Calibri" panose="020F0502020204030204" pitchFamily="34" charset="-122"/>
                <a:cs typeface="Calibri" panose="020F0502020204030204" pitchFamily="34" charset="-120"/>
              </a:rPr>
              <a:t>Daha uygun maliyet</a:t>
            </a:r>
            <a:endParaRPr lang="en-US" sz="900" dirty="0"/>
          </a:p>
          <a:p>
            <a:pPr marL="171450" indent="-171450" algn="l">
              <a:spcAft>
                <a:spcPts val="200"/>
              </a:spcAft>
              <a:buFont typeface="Arial" panose="020B0604020202020204" pitchFamily="34" charset="0"/>
              <a:buChar char="•"/>
            </a:pPr>
            <a:r>
              <a:rPr lang="en-US" sz="900" dirty="0">
                <a:solidFill>
                  <a:srgbClr val="212121"/>
                </a:solidFill>
                <a:latin typeface="Calibri" panose="020F0502020204030204" pitchFamily="34" charset="0"/>
                <a:ea typeface="Calibri" panose="020F0502020204030204" pitchFamily="34" charset="-122"/>
                <a:cs typeface="Calibri" panose="020F0502020204030204" pitchFamily="34" charset="-120"/>
              </a:rPr>
              <a:t>Daha az verimli</a:t>
            </a:r>
            <a:endParaRPr lang="en-US" sz="900" dirty="0"/>
          </a:p>
          <a:p>
            <a:pPr marL="171450" indent="-171450" algn="l">
              <a:spcAft>
                <a:spcPts val="200"/>
              </a:spcAft>
              <a:buFont typeface="Arial" panose="020B0604020202020204" pitchFamily="34" charset="0"/>
              <a:buChar char="•"/>
            </a:pPr>
            <a:r>
              <a:rPr lang="en-US" sz="900" dirty="0">
                <a:solidFill>
                  <a:srgbClr val="212121"/>
                </a:solidFill>
                <a:latin typeface="Calibri" panose="020F0502020204030204" pitchFamily="34" charset="0"/>
                <a:ea typeface="Calibri" panose="020F0502020204030204" pitchFamily="34" charset="-122"/>
                <a:cs typeface="Calibri" panose="020F0502020204030204" pitchFamily="34" charset="-120"/>
              </a:rPr>
              <a:t>Yaygın kullanım</a:t>
            </a:r>
            <a:endParaRPr lang="en-US" sz="900" dirty="0"/>
          </a:p>
        </p:txBody>
      </p:sp>
      <p:sp>
        <p:nvSpPr>
          <p:cNvPr id="17" name="Shape 15"/>
          <p:cNvSpPr/>
          <p:nvPr>
            <p:custDataLst>
              <p:tags r:id="rId9"/>
            </p:custDataLst>
          </p:nvPr>
        </p:nvSpPr>
        <p:spPr>
          <a:xfrm>
            <a:off x="4709160" y="1600200"/>
            <a:ext cx="2011680" cy="1417320"/>
          </a:xfrm>
          <a:prstGeom prst="rect">
            <a:avLst/>
          </a:prstGeom>
          <a:solidFill>
            <a:srgbClr val="1D6A72">
              <a:alpha val="15000"/>
            </a:srgbClr>
          </a:solidFill>
          <a:ln w="12700">
            <a:solidFill>
              <a:srgbClr val="1D6A72"/>
            </a:solidFill>
            <a:prstDash val="solid"/>
          </a:ln>
        </p:spPr>
        <p:txBody>
          <a:bodyPr/>
          <a:lstStyle/>
          <a:p>
            <a:endParaRPr lang="tr-TR"/>
          </a:p>
        </p:txBody>
      </p:sp>
      <p:sp>
        <p:nvSpPr>
          <p:cNvPr id="18" name="Shape 16"/>
          <p:cNvSpPr/>
          <p:nvPr>
            <p:custDataLst>
              <p:tags r:id="rId10"/>
            </p:custDataLst>
          </p:nvPr>
        </p:nvSpPr>
        <p:spPr>
          <a:xfrm>
            <a:off x="4709160" y="1600200"/>
            <a:ext cx="2011680" cy="301752"/>
          </a:xfrm>
          <a:prstGeom prst="rect">
            <a:avLst/>
          </a:prstGeom>
          <a:solidFill>
            <a:srgbClr val="1D6A72"/>
          </a:solidFill>
          <a:ln w="12700">
            <a:solidFill>
              <a:srgbClr val="1D6A72"/>
            </a:solidFill>
            <a:prstDash val="solid"/>
          </a:ln>
        </p:spPr>
        <p:txBody>
          <a:bodyPr/>
          <a:lstStyle/>
          <a:p>
            <a:endParaRPr lang="tr-TR"/>
          </a:p>
        </p:txBody>
      </p:sp>
      <p:sp>
        <p:nvSpPr>
          <p:cNvPr id="19" name="Text 17"/>
          <p:cNvSpPr/>
          <p:nvPr>
            <p:custDataLst>
              <p:tags r:id="rId11"/>
            </p:custDataLst>
          </p:nvPr>
        </p:nvSpPr>
        <p:spPr>
          <a:xfrm>
            <a:off x="4745736" y="1600200"/>
            <a:ext cx="1938528" cy="301752"/>
          </a:xfrm>
          <a:prstGeom prst="rect">
            <a:avLst/>
          </a:prstGeom>
          <a:noFill/>
        </p:spPr>
        <p:txBody>
          <a:bodyPr wrap="square" rtlCol="0" anchor="ctr"/>
          <a:lstStyle/>
          <a:p>
            <a:pPr marL="0" indent="0" algn="ctr">
              <a:buNone/>
            </a:pPr>
            <a:r>
              <a:rPr lang="en-US" sz="950" b="1" dirty="0">
                <a:solidFill>
                  <a:srgbClr val="FFFFFF"/>
                </a:solidFill>
                <a:latin typeface="Calibri" panose="020F0502020204030204" pitchFamily="34" charset="0"/>
                <a:ea typeface="Calibri" panose="020F0502020204030204" pitchFamily="34" charset="-122"/>
                <a:cs typeface="Calibri" panose="020F0502020204030204" pitchFamily="34" charset="-120"/>
              </a:rPr>
              <a:t>İnce Film (CdTe)</a:t>
            </a:r>
            <a:endParaRPr lang="en-US" sz="950" dirty="0"/>
          </a:p>
        </p:txBody>
      </p:sp>
      <p:sp>
        <p:nvSpPr>
          <p:cNvPr id="20" name="Text 18"/>
          <p:cNvSpPr/>
          <p:nvPr>
            <p:custDataLst>
              <p:tags r:id="rId12"/>
            </p:custDataLst>
          </p:nvPr>
        </p:nvSpPr>
        <p:spPr>
          <a:xfrm>
            <a:off x="4800600" y="1920240"/>
            <a:ext cx="1828800" cy="1051560"/>
          </a:xfrm>
          <a:prstGeom prst="rect">
            <a:avLst/>
          </a:prstGeom>
          <a:noFill/>
        </p:spPr>
        <p:txBody>
          <a:bodyPr wrap="square" rtlCol="0" anchor="t"/>
          <a:lstStyle/>
          <a:p>
            <a:pPr marL="171450" indent="-171450" algn="l">
              <a:spcAft>
                <a:spcPts val="200"/>
              </a:spcAft>
              <a:buFont typeface="Arial" panose="020B0604020202020204" pitchFamily="34" charset="0"/>
              <a:buChar char="•"/>
            </a:pPr>
            <a:r>
              <a:rPr lang="en-US" sz="900" dirty="0">
                <a:solidFill>
                  <a:srgbClr val="212121"/>
                </a:solidFill>
                <a:latin typeface="Calibri" panose="020F0502020204030204" pitchFamily="34" charset="0"/>
                <a:ea typeface="Calibri" panose="020F0502020204030204" pitchFamily="34" charset="-122"/>
                <a:cs typeface="Calibri" panose="020F0502020204030204" pitchFamily="34" charset="-120"/>
              </a:rPr>
              <a:t>Verim: %10–13</a:t>
            </a:r>
            <a:endParaRPr lang="en-US" sz="900" dirty="0"/>
          </a:p>
          <a:p>
            <a:pPr marL="171450" indent="-171450" algn="l">
              <a:spcAft>
                <a:spcPts val="200"/>
              </a:spcAft>
              <a:buFont typeface="Arial" panose="020B0604020202020204" pitchFamily="34" charset="0"/>
              <a:buChar char="•"/>
            </a:pPr>
            <a:r>
              <a:rPr lang="en-US" sz="900" dirty="0">
                <a:solidFill>
                  <a:srgbClr val="212121"/>
                </a:solidFill>
                <a:latin typeface="Calibri" panose="020F0502020204030204" pitchFamily="34" charset="0"/>
                <a:ea typeface="Calibri" panose="020F0502020204030204" pitchFamily="34" charset="-122"/>
                <a:cs typeface="Calibri" panose="020F0502020204030204" pitchFamily="34" charset="-120"/>
              </a:rPr>
              <a:t>Esnek yüzeylere uygun</a:t>
            </a:r>
            <a:endParaRPr lang="en-US" sz="900" dirty="0"/>
          </a:p>
          <a:p>
            <a:pPr marL="171450" indent="-171450" algn="l">
              <a:spcAft>
                <a:spcPts val="200"/>
              </a:spcAft>
              <a:buFont typeface="Arial" panose="020B0604020202020204" pitchFamily="34" charset="0"/>
              <a:buChar char="•"/>
            </a:pPr>
            <a:r>
              <a:rPr lang="en-US" sz="900" dirty="0">
                <a:solidFill>
                  <a:srgbClr val="212121"/>
                </a:solidFill>
                <a:latin typeface="Calibri" panose="020F0502020204030204" pitchFamily="34" charset="0"/>
                <a:ea typeface="Calibri" panose="020F0502020204030204" pitchFamily="34" charset="-122"/>
                <a:cs typeface="Calibri" panose="020F0502020204030204" pitchFamily="34" charset="-120"/>
              </a:rPr>
              <a:t>Düşük maliyet</a:t>
            </a:r>
            <a:endParaRPr lang="en-US" sz="900" dirty="0"/>
          </a:p>
          <a:p>
            <a:pPr marL="171450" indent="-171450" algn="l">
              <a:spcAft>
                <a:spcPts val="200"/>
              </a:spcAft>
              <a:buFont typeface="Arial" panose="020B0604020202020204" pitchFamily="34" charset="0"/>
              <a:buChar char="•"/>
            </a:pPr>
            <a:r>
              <a:rPr lang="en-US" sz="900" dirty="0">
                <a:solidFill>
                  <a:srgbClr val="212121"/>
                </a:solidFill>
                <a:latin typeface="Calibri" panose="020F0502020204030204" pitchFamily="34" charset="0"/>
                <a:ea typeface="Calibri" panose="020F0502020204030204" pitchFamily="34" charset="-122"/>
                <a:cs typeface="Calibri" panose="020F0502020204030204" pitchFamily="34" charset="-120"/>
              </a:rPr>
              <a:t>Düşük performans</a:t>
            </a:r>
            <a:endParaRPr lang="en-US" sz="900" dirty="0"/>
          </a:p>
        </p:txBody>
      </p:sp>
      <p:sp>
        <p:nvSpPr>
          <p:cNvPr id="21" name="Shape 19"/>
          <p:cNvSpPr/>
          <p:nvPr>
            <p:custDataLst>
              <p:tags r:id="rId13"/>
            </p:custDataLst>
          </p:nvPr>
        </p:nvSpPr>
        <p:spPr>
          <a:xfrm>
            <a:off x="6903720" y="1600200"/>
            <a:ext cx="2011680" cy="1417320"/>
          </a:xfrm>
          <a:prstGeom prst="rect">
            <a:avLst/>
          </a:prstGeom>
          <a:solidFill>
            <a:srgbClr val="6C3483">
              <a:alpha val="15000"/>
            </a:srgbClr>
          </a:solidFill>
          <a:ln w="12700">
            <a:solidFill>
              <a:srgbClr val="6C3483"/>
            </a:solidFill>
            <a:prstDash val="solid"/>
          </a:ln>
        </p:spPr>
        <p:txBody>
          <a:bodyPr/>
          <a:lstStyle/>
          <a:p>
            <a:endParaRPr lang="tr-TR"/>
          </a:p>
        </p:txBody>
      </p:sp>
      <p:sp>
        <p:nvSpPr>
          <p:cNvPr id="22" name="Shape 20"/>
          <p:cNvSpPr/>
          <p:nvPr>
            <p:custDataLst>
              <p:tags r:id="rId14"/>
            </p:custDataLst>
          </p:nvPr>
        </p:nvSpPr>
        <p:spPr>
          <a:xfrm>
            <a:off x="6903720" y="1600200"/>
            <a:ext cx="2011680" cy="301752"/>
          </a:xfrm>
          <a:prstGeom prst="rect">
            <a:avLst/>
          </a:prstGeom>
          <a:solidFill>
            <a:srgbClr val="6C3483"/>
          </a:solidFill>
          <a:ln w="12700">
            <a:solidFill>
              <a:srgbClr val="6C3483"/>
            </a:solidFill>
            <a:prstDash val="solid"/>
          </a:ln>
        </p:spPr>
        <p:txBody>
          <a:bodyPr/>
          <a:lstStyle/>
          <a:p>
            <a:endParaRPr lang="tr-TR"/>
          </a:p>
        </p:txBody>
      </p:sp>
      <p:sp>
        <p:nvSpPr>
          <p:cNvPr id="23" name="Text 21"/>
          <p:cNvSpPr/>
          <p:nvPr>
            <p:custDataLst>
              <p:tags r:id="rId15"/>
            </p:custDataLst>
          </p:nvPr>
        </p:nvSpPr>
        <p:spPr>
          <a:xfrm>
            <a:off x="6940296" y="1600200"/>
            <a:ext cx="1938528" cy="301752"/>
          </a:xfrm>
          <a:prstGeom prst="rect">
            <a:avLst/>
          </a:prstGeom>
          <a:noFill/>
        </p:spPr>
        <p:txBody>
          <a:bodyPr wrap="square" rtlCol="0" anchor="ctr"/>
          <a:lstStyle/>
          <a:p>
            <a:pPr marL="0" indent="0" algn="ctr">
              <a:buNone/>
            </a:pPr>
            <a:r>
              <a:rPr lang="en-US" sz="950" b="1" dirty="0">
                <a:solidFill>
                  <a:srgbClr val="FFFFFF"/>
                </a:solidFill>
                <a:latin typeface="Calibri" panose="020F0502020204030204" pitchFamily="34" charset="0"/>
                <a:ea typeface="Calibri" panose="020F0502020204030204" pitchFamily="34" charset="-122"/>
                <a:cs typeface="Calibri" panose="020F0502020204030204" pitchFamily="34" charset="-120"/>
              </a:rPr>
              <a:t>Konsantre PV</a:t>
            </a:r>
            <a:endParaRPr lang="en-US" sz="950" dirty="0"/>
          </a:p>
        </p:txBody>
      </p:sp>
      <p:sp>
        <p:nvSpPr>
          <p:cNvPr id="24" name="Text 22"/>
          <p:cNvSpPr/>
          <p:nvPr>
            <p:custDataLst>
              <p:tags r:id="rId16"/>
            </p:custDataLst>
          </p:nvPr>
        </p:nvSpPr>
        <p:spPr>
          <a:xfrm>
            <a:off x="6995160" y="1920240"/>
            <a:ext cx="1828800" cy="1051560"/>
          </a:xfrm>
          <a:prstGeom prst="rect">
            <a:avLst/>
          </a:prstGeom>
          <a:noFill/>
        </p:spPr>
        <p:txBody>
          <a:bodyPr wrap="square" rtlCol="0" anchor="t"/>
          <a:lstStyle/>
          <a:p>
            <a:pPr marL="171450" indent="-171450" algn="l">
              <a:spcAft>
                <a:spcPts val="200"/>
              </a:spcAft>
              <a:buFont typeface="Arial" panose="020B0604020202020204" pitchFamily="34" charset="0"/>
              <a:buChar char="•"/>
            </a:pPr>
            <a:r>
              <a:rPr lang="en-US" sz="900" dirty="0">
                <a:solidFill>
                  <a:srgbClr val="212121"/>
                </a:solidFill>
                <a:latin typeface="Calibri" panose="020F0502020204030204" pitchFamily="34" charset="0"/>
                <a:ea typeface="Calibri" panose="020F0502020204030204" pitchFamily="34" charset="-122"/>
                <a:cs typeface="Calibri" panose="020F0502020204030204" pitchFamily="34" charset="-120"/>
              </a:rPr>
              <a:t>Verim: %40+</a:t>
            </a:r>
            <a:endParaRPr lang="en-US" sz="900" dirty="0"/>
          </a:p>
          <a:p>
            <a:pPr marL="171450" indent="-171450" algn="l">
              <a:spcAft>
                <a:spcPts val="200"/>
              </a:spcAft>
              <a:buFont typeface="Arial" panose="020B0604020202020204" pitchFamily="34" charset="0"/>
              <a:buChar char="•"/>
            </a:pPr>
            <a:r>
              <a:rPr lang="en-US" sz="900" dirty="0">
                <a:solidFill>
                  <a:srgbClr val="212121"/>
                </a:solidFill>
                <a:latin typeface="Calibri" panose="020F0502020204030204" pitchFamily="34" charset="0"/>
                <a:ea typeface="Calibri" panose="020F0502020204030204" pitchFamily="34" charset="-122"/>
                <a:cs typeface="Calibri" panose="020F0502020204030204" pitchFamily="34" charset="-120"/>
              </a:rPr>
              <a:t>Yüksek doğrudan isin.</a:t>
            </a:r>
            <a:endParaRPr lang="en-US" sz="900" dirty="0"/>
          </a:p>
          <a:p>
            <a:pPr marL="171450" indent="-171450" algn="l">
              <a:spcAft>
                <a:spcPts val="200"/>
              </a:spcAft>
              <a:buFont typeface="Arial" panose="020B0604020202020204" pitchFamily="34" charset="0"/>
              <a:buChar char="•"/>
            </a:pPr>
            <a:r>
              <a:rPr lang="en-US" sz="900" dirty="0">
                <a:solidFill>
                  <a:srgbClr val="212121"/>
                </a:solidFill>
                <a:latin typeface="Calibri" panose="020F0502020204030204" pitchFamily="34" charset="0"/>
                <a:ea typeface="Calibri" panose="020F0502020204030204" pitchFamily="34" charset="-122"/>
                <a:cs typeface="Calibri" panose="020F0502020204030204" pitchFamily="34" charset="-120"/>
              </a:rPr>
              <a:t>Karmaşık sistem</a:t>
            </a:r>
            <a:endParaRPr lang="en-US" sz="900" dirty="0"/>
          </a:p>
          <a:p>
            <a:pPr marL="171450" indent="-171450" algn="l">
              <a:spcAft>
                <a:spcPts val="200"/>
              </a:spcAft>
              <a:buFont typeface="Arial" panose="020B0604020202020204" pitchFamily="34" charset="0"/>
              <a:buChar char="•"/>
            </a:pPr>
            <a:r>
              <a:rPr lang="en-US" sz="900" dirty="0">
                <a:solidFill>
                  <a:srgbClr val="212121"/>
                </a:solidFill>
                <a:latin typeface="Calibri" panose="020F0502020204030204" pitchFamily="34" charset="0"/>
                <a:ea typeface="Calibri" panose="020F0502020204030204" pitchFamily="34" charset="-122"/>
                <a:cs typeface="Calibri" panose="020F0502020204030204" pitchFamily="34" charset="-120"/>
              </a:rPr>
              <a:t>Sınırlı kullanım</a:t>
            </a:r>
            <a:endParaRPr lang="en-US" sz="900" dirty="0"/>
          </a:p>
        </p:txBody>
      </p:sp>
      <p:sp>
        <p:nvSpPr>
          <p:cNvPr id="25" name="Shape 23"/>
          <p:cNvSpPr/>
          <p:nvPr/>
        </p:nvSpPr>
        <p:spPr>
          <a:xfrm>
            <a:off x="320040" y="3108960"/>
            <a:ext cx="4183380" cy="1554480"/>
          </a:xfrm>
          <a:prstGeom prst="rect">
            <a:avLst/>
          </a:prstGeom>
          <a:solidFill>
            <a:srgbClr val="D5F5E3"/>
          </a:solidFill>
          <a:ln w="6350">
            <a:solidFill>
              <a:srgbClr val="E0E6ED"/>
            </a:solidFill>
            <a:prstDash val="solid"/>
          </a:ln>
        </p:spPr>
        <p:txBody>
          <a:bodyPr/>
          <a:lstStyle/>
          <a:p>
            <a:endParaRPr lang="tr-TR"/>
          </a:p>
        </p:txBody>
      </p:sp>
      <p:sp>
        <p:nvSpPr>
          <p:cNvPr id="26" name="Shape 24"/>
          <p:cNvSpPr/>
          <p:nvPr/>
        </p:nvSpPr>
        <p:spPr>
          <a:xfrm>
            <a:off x="320040" y="3108960"/>
            <a:ext cx="4183380" cy="292608"/>
          </a:xfrm>
          <a:prstGeom prst="rect">
            <a:avLst/>
          </a:prstGeom>
          <a:solidFill>
            <a:srgbClr val="1E8449"/>
          </a:solidFill>
          <a:ln w="12700">
            <a:solidFill>
              <a:srgbClr val="1E8449"/>
            </a:solidFill>
            <a:prstDash val="solid"/>
          </a:ln>
        </p:spPr>
        <p:txBody>
          <a:bodyPr/>
          <a:lstStyle/>
          <a:p>
            <a:endParaRPr lang="tr-TR"/>
          </a:p>
        </p:txBody>
      </p:sp>
      <p:sp>
        <p:nvSpPr>
          <p:cNvPr id="27" name="Text 25"/>
          <p:cNvSpPr/>
          <p:nvPr/>
        </p:nvSpPr>
        <p:spPr>
          <a:xfrm>
            <a:off x="365760" y="3127248"/>
            <a:ext cx="4091940" cy="274320"/>
          </a:xfrm>
          <a:prstGeom prst="rect">
            <a:avLst/>
          </a:prstGeom>
          <a:noFill/>
        </p:spPr>
        <p:txBody>
          <a:bodyPr wrap="square" rtlCol="0" anchor="ctr"/>
          <a:lstStyle/>
          <a:p>
            <a:pPr marL="0" indent="0" algn="ctr">
              <a:buNone/>
            </a:pPr>
            <a:r>
              <a:rPr lang="en-US" sz="1000" b="1" dirty="0">
                <a:solidFill>
                  <a:srgbClr val="FFFFFF"/>
                </a:solidFill>
                <a:latin typeface="Calibri" panose="020F0502020204030204" pitchFamily="34" charset="0"/>
                <a:ea typeface="Calibri" panose="020F0502020204030204" pitchFamily="34" charset="-122"/>
                <a:cs typeface="Calibri" panose="020F0502020204030204" pitchFamily="34" charset="-120"/>
              </a:rPr>
              <a:t>✅  Avantajlar</a:t>
            </a:r>
            <a:endParaRPr lang="en-US" sz="1000" dirty="0"/>
          </a:p>
        </p:txBody>
      </p:sp>
      <p:sp>
        <p:nvSpPr>
          <p:cNvPr id="28" name="Text 26"/>
          <p:cNvSpPr/>
          <p:nvPr/>
        </p:nvSpPr>
        <p:spPr>
          <a:xfrm>
            <a:off x="411480" y="3438144"/>
            <a:ext cx="4000500" cy="1152144"/>
          </a:xfrm>
          <a:prstGeom prst="rect">
            <a:avLst/>
          </a:prstGeom>
          <a:noFill/>
        </p:spPr>
        <p:txBody>
          <a:bodyPr wrap="square" rtlCol="0" anchor="t"/>
          <a:lstStyle/>
          <a:p>
            <a:pPr marL="0" indent="0" algn="l">
              <a:spcAft>
                <a:spcPts val="300"/>
              </a:spcAft>
              <a:buNone/>
            </a:pPr>
            <a:r>
              <a:rPr lang="en-US" sz="950" dirty="0">
                <a:solidFill>
                  <a:srgbClr val="212121"/>
                </a:solidFill>
                <a:latin typeface="Calibri" panose="020F0502020204030204" pitchFamily="34" charset="0"/>
                <a:ea typeface="Calibri" panose="020F0502020204030204" pitchFamily="34" charset="-122"/>
                <a:cs typeface="Calibri" panose="020F0502020204030204" pitchFamily="34" charset="-120"/>
              </a:rPr>
              <a:t>• Sonsuz ve temiz kaynak — CO₂ sıfır (işletmede)
• Düşük işletme ve bakım maliyeti
• Modüler; küçük-büyük her ölçekte uygulanabilir
• Şebeke bağlantısız (off-grid) kullanım imkânı
• 30+ yıl ömür; YEKDEM garantili gelir</a:t>
            </a:r>
            <a:endParaRPr lang="en-US" sz="950" dirty="0"/>
          </a:p>
        </p:txBody>
      </p:sp>
      <p:sp>
        <p:nvSpPr>
          <p:cNvPr id="29" name="Shape 27"/>
          <p:cNvSpPr/>
          <p:nvPr/>
        </p:nvSpPr>
        <p:spPr>
          <a:xfrm>
            <a:off x="4640580" y="3108960"/>
            <a:ext cx="4183380" cy="1554480"/>
          </a:xfrm>
          <a:prstGeom prst="rect">
            <a:avLst/>
          </a:prstGeom>
          <a:solidFill>
            <a:srgbClr val="FDEDEC"/>
          </a:solidFill>
          <a:ln w="6350">
            <a:solidFill>
              <a:srgbClr val="E0E6ED"/>
            </a:solidFill>
            <a:prstDash val="solid"/>
          </a:ln>
        </p:spPr>
        <p:txBody>
          <a:bodyPr/>
          <a:lstStyle/>
          <a:p>
            <a:endParaRPr lang="tr-TR"/>
          </a:p>
        </p:txBody>
      </p:sp>
      <p:sp>
        <p:nvSpPr>
          <p:cNvPr id="30" name="Shape 28"/>
          <p:cNvSpPr/>
          <p:nvPr/>
        </p:nvSpPr>
        <p:spPr>
          <a:xfrm>
            <a:off x="4640580" y="3108960"/>
            <a:ext cx="4183380" cy="292608"/>
          </a:xfrm>
          <a:prstGeom prst="rect">
            <a:avLst/>
          </a:prstGeom>
          <a:solidFill>
            <a:srgbClr val="922B21"/>
          </a:solidFill>
          <a:ln w="12700">
            <a:solidFill>
              <a:srgbClr val="922B21"/>
            </a:solidFill>
            <a:prstDash val="solid"/>
          </a:ln>
        </p:spPr>
        <p:txBody>
          <a:bodyPr/>
          <a:lstStyle/>
          <a:p>
            <a:endParaRPr lang="tr-TR"/>
          </a:p>
        </p:txBody>
      </p:sp>
      <p:sp>
        <p:nvSpPr>
          <p:cNvPr id="31" name="Text 29"/>
          <p:cNvSpPr/>
          <p:nvPr/>
        </p:nvSpPr>
        <p:spPr>
          <a:xfrm>
            <a:off x="4686300" y="3127248"/>
            <a:ext cx="4091940" cy="274320"/>
          </a:xfrm>
          <a:prstGeom prst="rect">
            <a:avLst/>
          </a:prstGeom>
          <a:noFill/>
        </p:spPr>
        <p:txBody>
          <a:bodyPr wrap="square" rtlCol="0" anchor="ctr"/>
          <a:lstStyle/>
          <a:p>
            <a:pPr marL="0" indent="0" algn="ctr">
              <a:buNone/>
            </a:pPr>
            <a:r>
              <a:rPr lang="en-US" sz="1000" b="1" dirty="0">
                <a:solidFill>
                  <a:srgbClr val="FFFFFF"/>
                </a:solidFill>
                <a:latin typeface="Calibri" panose="020F0502020204030204" pitchFamily="34" charset="0"/>
                <a:ea typeface="Calibri" panose="020F0502020204030204" pitchFamily="34" charset="-122"/>
                <a:cs typeface="Calibri" panose="020F0502020204030204" pitchFamily="34" charset="-120"/>
              </a:rPr>
              <a:t>❌  Dezavantajlar</a:t>
            </a:r>
            <a:endParaRPr lang="en-US" sz="1000" dirty="0"/>
          </a:p>
        </p:txBody>
      </p:sp>
      <p:sp>
        <p:nvSpPr>
          <p:cNvPr id="32" name="Text 30"/>
          <p:cNvSpPr/>
          <p:nvPr/>
        </p:nvSpPr>
        <p:spPr>
          <a:xfrm>
            <a:off x="4732020" y="3438144"/>
            <a:ext cx="4000500" cy="1152144"/>
          </a:xfrm>
          <a:prstGeom prst="rect">
            <a:avLst/>
          </a:prstGeom>
          <a:noFill/>
        </p:spPr>
        <p:txBody>
          <a:bodyPr wrap="square" rtlCol="0" anchor="t"/>
          <a:lstStyle/>
          <a:p>
            <a:pPr marL="0" indent="0" algn="l">
              <a:spcAft>
                <a:spcPts val="300"/>
              </a:spcAft>
              <a:buNone/>
            </a:pPr>
            <a:r>
              <a:rPr lang="en-US" sz="950" dirty="0">
                <a:solidFill>
                  <a:srgbClr val="212121"/>
                </a:solidFill>
                <a:latin typeface="Calibri" panose="020F0502020204030204" pitchFamily="34" charset="0"/>
                <a:ea typeface="Calibri" panose="020F0502020204030204" pitchFamily="34" charset="-122"/>
                <a:cs typeface="Calibri" panose="020F0502020204030204" pitchFamily="34" charset="-120"/>
              </a:rPr>
              <a:t>• Gece üretim yok; bulutlu havada düşük verim
• Kapasite faktörü düşük (%15–22)
• Büyük alan gereksinimi (50 MWp ≈ 100+ ha)
• Depolama maliyeti yüksek (batarya)
• Panel üretiminde kimyasal ve enerji tüketimi</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8F9FA"/>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486000"/>
          </a:xfrm>
          <a:prstGeom prst="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86000"/>
            <a:ext cx="9144000" cy="32400"/>
          </a:xfrm>
          <a:prstGeom prst="rect">
            <a:avLst/>
          </a:prstGeom>
          <a:solidFill>
            <a:srgbClr val="C890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4860000"/>
            <a:ext cx="9144000" cy="2844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80000" y="4860000"/>
            <a:ext cx="8784000" cy="284400"/>
          </a:xfrm>
          <a:prstGeom prst="rect">
            <a:avLst/>
          </a:prstGeom>
          <a:noFill/>
        </p:spPr>
        <p:txBody>
          <a:bodyPr wrap="square">
            <a:spAutoFit/>
          </a:bodyPr>
          <a:lstStyle/>
          <a:p>
            <a:pPr algn="ctr"/>
            <a:r>
              <a:rPr sz="850" b="0" i="0">
                <a:solidFill>
                  <a:srgbClr val="FFFFFF"/>
                </a:solidFill>
                <a:latin typeface="Calibri" panose="020F0502020204030204"/>
              </a:rPr>
              <a:t>SAÜ EEM  |  İzmir Yenilenebilir Enerji Analizi</a:t>
            </a:r>
            <a:endParaRPr sz="850" b="0" i="0">
              <a:solidFill>
                <a:srgbClr val="FFFFFF"/>
              </a:solidFill>
              <a:latin typeface="Calibri" panose="020F0502020204030204"/>
            </a:endParaRPr>
          </a:p>
        </p:txBody>
      </p:sp>
      <p:sp>
        <p:nvSpPr>
          <p:cNvPr id="6" name="TextBox 5"/>
          <p:cNvSpPr txBox="1"/>
          <p:nvPr/>
        </p:nvSpPr>
        <p:spPr>
          <a:xfrm>
            <a:off x="216000" y="18000"/>
            <a:ext cx="8640000" cy="450000"/>
          </a:xfrm>
          <a:prstGeom prst="rect">
            <a:avLst/>
          </a:prstGeom>
          <a:noFill/>
        </p:spPr>
        <p:txBody>
          <a:bodyPr wrap="square">
            <a:spAutoFit/>
          </a:bodyPr>
          <a:lstStyle/>
          <a:p>
            <a:pPr algn="l"/>
            <a:r>
              <a:rPr sz="1600" b="1" i="0">
                <a:solidFill>
                  <a:srgbClr val="FFFFFF"/>
                </a:solidFill>
                <a:latin typeface="Calibri" panose="020F0502020204030204"/>
              </a:rPr>
              <a:t>Güneş Enerjisi (GES) — Güncel Fotovoltaik Teknolojileri ve Verimlilik Karşılaştırması</a:t>
            </a:r>
            <a:endParaRPr sz="1600" b="1" i="0">
              <a:solidFill>
                <a:srgbClr val="FFFFFF"/>
              </a:solidFill>
              <a:latin typeface="Calibri" panose="020F0502020204030204"/>
            </a:endParaRPr>
          </a:p>
        </p:txBody>
      </p:sp>
      <p:sp>
        <p:nvSpPr>
          <p:cNvPr id="7" name="Rectangle 6"/>
          <p:cNvSpPr/>
          <p:nvPr/>
        </p:nvSpPr>
        <p:spPr>
          <a:xfrm>
            <a:off x="125999" y="547200"/>
            <a:ext cx="1396800" cy="1440000"/>
          </a:xfrm>
          <a:prstGeom prst="rect">
            <a:avLst/>
          </a:prstGeom>
          <a:solidFill>
            <a:srgbClr val="FEF9E7"/>
          </a:solidFill>
          <a:ln w="12700">
            <a:solidFill>
              <a:srgbClr val="E67E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25999" y="547200"/>
            <a:ext cx="1396800" cy="251999"/>
          </a:xfrm>
          <a:prstGeom prst="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54800" y="558000"/>
            <a:ext cx="1339200" cy="138600"/>
          </a:xfrm>
          <a:prstGeom prst="rect">
            <a:avLst/>
          </a:prstGeom>
          <a:noFill/>
        </p:spPr>
        <p:txBody>
          <a:bodyPr wrap="square">
            <a:spAutoFit/>
          </a:bodyPr>
          <a:lstStyle/>
          <a:p>
            <a:pPr algn="ctr"/>
            <a:r>
              <a:rPr sz="1000" b="1" i="0">
                <a:solidFill>
                  <a:srgbClr val="FFFFFF"/>
                </a:solidFill>
                <a:latin typeface="Calibri" panose="020F0502020204030204"/>
              </a:rPr>
              <a:t>Monokristal PERC</a:t>
            </a:r>
            <a:endParaRPr sz="1000" b="1" i="0">
              <a:solidFill>
                <a:srgbClr val="FFFFFF"/>
              </a:solidFill>
              <a:latin typeface="Calibri" panose="020F0502020204030204"/>
            </a:endParaRPr>
          </a:p>
        </p:txBody>
      </p:sp>
      <p:sp>
        <p:nvSpPr>
          <p:cNvPr id="10" name="TextBox 9"/>
          <p:cNvSpPr txBox="1"/>
          <p:nvPr/>
        </p:nvSpPr>
        <p:spPr>
          <a:xfrm>
            <a:off x="154800" y="1750695"/>
            <a:ext cx="1339200" cy="110880"/>
          </a:xfrm>
          <a:prstGeom prst="rect">
            <a:avLst/>
          </a:prstGeom>
          <a:noFill/>
        </p:spPr>
        <p:txBody>
          <a:bodyPr wrap="square">
            <a:spAutoFit/>
          </a:bodyPr>
          <a:lstStyle/>
          <a:p>
            <a:pPr algn="ctr"/>
            <a:r>
              <a:rPr sz="800" b="0" i="1">
                <a:solidFill>
                  <a:schemeClr val="tx1"/>
                </a:solidFill>
                <a:latin typeface="Calibri" panose="020F0502020204030204"/>
              </a:rPr>
              <a:t>En Yaygın Ticari</a:t>
            </a:r>
            <a:endParaRPr sz="800" b="0" i="1">
              <a:solidFill>
                <a:schemeClr val="tx1"/>
              </a:solidFill>
              <a:latin typeface="Calibri" panose="020F0502020204030204"/>
            </a:endParaRPr>
          </a:p>
        </p:txBody>
      </p:sp>
      <p:sp>
        <p:nvSpPr>
          <p:cNvPr id="11" name="TextBox 10"/>
          <p:cNvSpPr txBox="1"/>
          <p:nvPr/>
        </p:nvSpPr>
        <p:spPr>
          <a:xfrm>
            <a:off x="169200" y="817199"/>
            <a:ext cx="1310400" cy="1152000"/>
          </a:xfrm>
          <a:prstGeom prst="rect">
            <a:avLst/>
          </a:prstGeom>
          <a:noFill/>
        </p:spPr>
        <p:txBody>
          <a:bodyPr wrap="square">
            <a:spAutoFit/>
          </a:bodyPr>
          <a:lstStyle/>
          <a:p>
            <a:pPr algn="l"/>
            <a:r>
              <a:rPr sz="950" b="0" i="0">
                <a:solidFill>
                  <a:srgbClr val="212121"/>
                </a:solidFill>
                <a:latin typeface="Calibri" panose="020F0502020204030204"/>
              </a:rPr>
              <a:t>Verimlilik: %21–23
30+ yıl ömür garantisi
Türkiye: %55 pazar payı
Düşük sıcaklık kayıpları
En olgun teknoloji</a:t>
            </a:r>
            <a:endParaRPr sz="950" b="0" i="0">
              <a:solidFill>
                <a:srgbClr val="212121"/>
              </a:solidFill>
              <a:latin typeface="Calibri" panose="020F0502020204030204"/>
            </a:endParaRPr>
          </a:p>
        </p:txBody>
      </p:sp>
      <p:sp>
        <p:nvSpPr>
          <p:cNvPr id="14" name="Rectangle 13"/>
          <p:cNvSpPr/>
          <p:nvPr/>
        </p:nvSpPr>
        <p:spPr>
          <a:xfrm>
            <a:off x="1601999" y="547200"/>
            <a:ext cx="1396800" cy="1440000"/>
          </a:xfrm>
          <a:prstGeom prst="rect">
            <a:avLst/>
          </a:prstGeom>
          <a:solidFill>
            <a:srgbClr val="FDEBD0"/>
          </a:solidFill>
          <a:ln w="12700">
            <a:solidFill>
              <a:srgbClr val="D35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601999" y="547200"/>
            <a:ext cx="1396800" cy="251999"/>
          </a:xfrm>
          <a:prstGeom prst="rect">
            <a:avLst/>
          </a:prstGeom>
          <a:solidFill>
            <a:srgbClr val="D35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630799" y="558000"/>
            <a:ext cx="1339200" cy="138600"/>
          </a:xfrm>
          <a:prstGeom prst="rect">
            <a:avLst/>
          </a:prstGeom>
          <a:noFill/>
        </p:spPr>
        <p:txBody>
          <a:bodyPr wrap="square">
            <a:spAutoFit/>
          </a:bodyPr>
          <a:lstStyle/>
          <a:p>
            <a:pPr algn="ctr"/>
            <a:r>
              <a:rPr sz="1000" b="1" i="0">
                <a:solidFill>
                  <a:srgbClr val="FFFFFF"/>
                </a:solidFill>
                <a:latin typeface="Calibri" panose="020F0502020204030204"/>
              </a:rPr>
              <a:t>TOPCon</a:t>
            </a:r>
            <a:endParaRPr sz="1000" b="1" i="0">
              <a:solidFill>
                <a:srgbClr val="FFFFFF"/>
              </a:solidFill>
              <a:latin typeface="Calibri" panose="020F0502020204030204"/>
            </a:endParaRPr>
          </a:p>
        </p:txBody>
      </p:sp>
      <p:sp>
        <p:nvSpPr>
          <p:cNvPr id="17" name="TextBox 16"/>
          <p:cNvSpPr txBox="1"/>
          <p:nvPr/>
        </p:nvSpPr>
        <p:spPr>
          <a:xfrm>
            <a:off x="1645404" y="1799590"/>
            <a:ext cx="1339200" cy="110880"/>
          </a:xfrm>
          <a:prstGeom prst="rect">
            <a:avLst/>
          </a:prstGeom>
          <a:noFill/>
        </p:spPr>
        <p:txBody>
          <a:bodyPr wrap="square">
            <a:spAutoFit/>
          </a:bodyPr>
          <a:lstStyle/>
          <a:p>
            <a:pPr algn="ctr"/>
            <a:r>
              <a:rPr sz="800" b="0" i="1">
                <a:solidFill>
                  <a:schemeClr val="tx1"/>
                </a:solidFill>
                <a:latin typeface="Calibri" panose="020F0502020204030204"/>
              </a:rPr>
              <a:t>2024 Yeni Standart</a:t>
            </a:r>
            <a:endParaRPr sz="800" b="0" i="1">
              <a:solidFill>
                <a:schemeClr val="tx1"/>
              </a:solidFill>
              <a:latin typeface="Calibri" panose="020F0502020204030204"/>
            </a:endParaRPr>
          </a:p>
        </p:txBody>
      </p:sp>
      <p:sp>
        <p:nvSpPr>
          <p:cNvPr id="18" name="TextBox 17"/>
          <p:cNvSpPr txBox="1"/>
          <p:nvPr/>
        </p:nvSpPr>
        <p:spPr>
          <a:xfrm>
            <a:off x="1645199" y="817199"/>
            <a:ext cx="1310400" cy="1152000"/>
          </a:xfrm>
          <a:prstGeom prst="rect">
            <a:avLst/>
          </a:prstGeom>
          <a:noFill/>
        </p:spPr>
        <p:txBody>
          <a:bodyPr wrap="square">
            <a:spAutoFit/>
          </a:bodyPr>
          <a:lstStyle/>
          <a:p>
            <a:pPr algn="l"/>
            <a:r>
              <a:rPr sz="950" b="0" i="0">
                <a:solidFill>
                  <a:srgbClr val="212121"/>
                </a:solidFill>
                <a:latin typeface="Calibri" panose="020F0502020204030204"/>
              </a:rPr>
              <a:t>Verimlilik: %23–25
Tünel oksit pasivasyonu
PERC'e göre %7+ üstün
Hızla yaygınlaşıyor
Maliyet: PERC+%8</a:t>
            </a:r>
            <a:endParaRPr sz="950" b="0" i="0">
              <a:solidFill>
                <a:srgbClr val="212121"/>
              </a:solidFill>
              <a:latin typeface="Calibri" panose="020F0502020204030204"/>
            </a:endParaRPr>
          </a:p>
        </p:txBody>
      </p:sp>
      <p:sp>
        <p:nvSpPr>
          <p:cNvPr id="21" name="Rectangle 20"/>
          <p:cNvSpPr/>
          <p:nvPr/>
        </p:nvSpPr>
        <p:spPr>
          <a:xfrm>
            <a:off x="3077999" y="547200"/>
            <a:ext cx="1396800" cy="1440000"/>
          </a:xfrm>
          <a:prstGeom prst="rect">
            <a:avLst/>
          </a:prstGeom>
          <a:solidFill>
            <a:srgbClr val="FDEDEC"/>
          </a:solidFill>
          <a:ln w="12700">
            <a:solidFill>
              <a:srgbClr val="C039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3077999" y="547200"/>
            <a:ext cx="1396800" cy="251999"/>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092194" y="485610"/>
            <a:ext cx="1339200" cy="337185"/>
          </a:xfrm>
          <a:prstGeom prst="rect">
            <a:avLst/>
          </a:prstGeom>
          <a:noFill/>
        </p:spPr>
        <p:txBody>
          <a:bodyPr wrap="square">
            <a:spAutoFit/>
          </a:bodyPr>
          <a:lstStyle/>
          <a:p>
            <a:pPr algn="ctr"/>
            <a:r>
              <a:rPr sz="800" b="1" i="0">
                <a:solidFill>
                  <a:srgbClr val="FFFFFF"/>
                </a:solidFill>
                <a:latin typeface="Calibri" panose="020F0502020204030204"/>
              </a:rPr>
              <a:t>HJT
(Heterojunction)</a:t>
            </a:r>
            <a:endParaRPr sz="800" b="1" i="0">
              <a:solidFill>
                <a:srgbClr val="FFFFFF"/>
              </a:solidFill>
              <a:latin typeface="Calibri" panose="020F0502020204030204"/>
            </a:endParaRPr>
          </a:p>
        </p:txBody>
      </p:sp>
      <p:sp>
        <p:nvSpPr>
          <p:cNvPr id="24" name="TextBox 23"/>
          <p:cNvSpPr txBox="1"/>
          <p:nvPr/>
        </p:nvSpPr>
        <p:spPr>
          <a:xfrm>
            <a:off x="3106799" y="1688465"/>
            <a:ext cx="1339200" cy="110880"/>
          </a:xfrm>
          <a:prstGeom prst="rect">
            <a:avLst/>
          </a:prstGeom>
          <a:noFill/>
        </p:spPr>
        <p:txBody>
          <a:bodyPr wrap="square">
            <a:spAutoFit/>
          </a:bodyPr>
          <a:lstStyle/>
          <a:p>
            <a:pPr algn="ctr"/>
            <a:r>
              <a:rPr sz="800" b="0" i="1">
                <a:solidFill>
                  <a:schemeClr val="tx1"/>
                </a:solidFill>
                <a:latin typeface="Calibri" panose="020F0502020204030204"/>
              </a:rPr>
              <a:t>Yüksek Verimli Sınıf</a:t>
            </a:r>
            <a:endParaRPr sz="800" b="0" i="1">
              <a:solidFill>
                <a:schemeClr val="tx1"/>
              </a:solidFill>
              <a:latin typeface="Calibri" panose="020F0502020204030204"/>
            </a:endParaRPr>
          </a:p>
        </p:txBody>
      </p:sp>
      <p:sp>
        <p:nvSpPr>
          <p:cNvPr id="25" name="TextBox 24"/>
          <p:cNvSpPr txBox="1"/>
          <p:nvPr/>
        </p:nvSpPr>
        <p:spPr>
          <a:xfrm>
            <a:off x="3121199" y="817199"/>
            <a:ext cx="1310400" cy="706755"/>
          </a:xfrm>
          <a:prstGeom prst="rect">
            <a:avLst/>
          </a:prstGeom>
          <a:noFill/>
        </p:spPr>
        <p:txBody>
          <a:bodyPr wrap="square">
            <a:spAutoFit/>
          </a:bodyPr>
          <a:lstStyle/>
          <a:p>
            <a:pPr algn="l"/>
            <a:r>
              <a:rPr sz="800" b="0" i="0">
                <a:solidFill>
                  <a:srgbClr val="212121"/>
                </a:solidFill>
                <a:latin typeface="Calibri" panose="020F0502020204030204"/>
              </a:rPr>
              <a:t>Verimlilik: %24–26,5
En düşük sıcaklık katsayısı
Çift yüzlü üretim uyumlu
Sıcak iklimde avantaj
Maliyet: PERC+%20</a:t>
            </a:r>
            <a:endParaRPr sz="800" b="0" i="0">
              <a:solidFill>
                <a:srgbClr val="212121"/>
              </a:solidFill>
              <a:latin typeface="Calibri" panose="020F0502020204030204"/>
            </a:endParaRPr>
          </a:p>
        </p:txBody>
      </p:sp>
      <p:sp>
        <p:nvSpPr>
          <p:cNvPr id="28" name="Rectangle 27"/>
          <p:cNvSpPr/>
          <p:nvPr/>
        </p:nvSpPr>
        <p:spPr>
          <a:xfrm>
            <a:off x="4553999" y="547200"/>
            <a:ext cx="1396800" cy="1440000"/>
          </a:xfrm>
          <a:prstGeom prst="rect">
            <a:avLst/>
          </a:prstGeom>
          <a:solidFill>
            <a:srgbClr val="F5EEF8"/>
          </a:solidFill>
          <a:ln w="12700">
            <a:solidFill>
              <a:srgbClr val="8E44A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553999" y="547200"/>
            <a:ext cx="1396800" cy="251999"/>
          </a:xfrm>
          <a:prstGeom prst="rect">
            <a:avLst/>
          </a:prstGeom>
          <a:solidFill>
            <a:srgbClr val="8E44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582799" y="485610"/>
            <a:ext cx="1339200" cy="337185"/>
          </a:xfrm>
          <a:prstGeom prst="rect">
            <a:avLst/>
          </a:prstGeom>
          <a:noFill/>
        </p:spPr>
        <p:txBody>
          <a:bodyPr wrap="square">
            <a:spAutoFit/>
          </a:bodyPr>
          <a:lstStyle/>
          <a:p>
            <a:pPr algn="ctr"/>
            <a:r>
              <a:rPr sz="800" b="1" i="0">
                <a:solidFill>
                  <a:srgbClr val="FFFFFF"/>
                </a:solidFill>
                <a:latin typeface="Calibri" panose="020F0502020204030204"/>
              </a:rPr>
              <a:t>Bifacial
(Çift Yüzlü)</a:t>
            </a:r>
            <a:endParaRPr sz="800" b="1" i="0">
              <a:solidFill>
                <a:srgbClr val="FFFFFF"/>
              </a:solidFill>
              <a:latin typeface="Calibri" panose="020F0502020204030204"/>
            </a:endParaRPr>
          </a:p>
        </p:txBody>
      </p:sp>
      <p:sp>
        <p:nvSpPr>
          <p:cNvPr id="31" name="TextBox 30"/>
          <p:cNvSpPr txBox="1"/>
          <p:nvPr/>
        </p:nvSpPr>
        <p:spPr>
          <a:xfrm>
            <a:off x="4568194" y="1639570"/>
            <a:ext cx="1339200" cy="110880"/>
          </a:xfrm>
          <a:prstGeom prst="rect">
            <a:avLst/>
          </a:prstGeom>
          <a:noFill/>
        </p:spPr>
        <p:txBody>
          <a:bodyPr wrap="square">
            <a:spAutoFit/>
          </a:bodyPr>
          <a:lstStyle/>
          <a:p>
            <a:pPr algn="ctr"/>
            <a:r>
              <a:rPr sz="800" b="0" i="1">
                <a:solidFill>
                  <a:schemeClr val="tx1"/>
                </a:solidFill>
                <a:latin typeface="Calibri" panose="020F0502020204030204"/>
              </a:rPr>
              <a:t>Ek Üretim Kazanımı</a:t>
            </a:r>
            <a:endParaRPr sz="800" b="0" i="1">
              <a:solidFill>
                <a:schemeClr val="tx1"/>
              </a:solidFill>
              <a:latin typeface="Calibri" panose="020F0502020204030204"/>
            </a:endParaRPr>
          </a:p>
        </p:txBody>
      </p:sp>
      <p:sp>
        <p:nvSpPr>
          <p:cNvPr id="32" name="TextBox 31"/>
          <p:cNvSpPr txBox="1"/>
          <p:nvPr/>
        </p:nvSpPr>
        <p:spPr>
          <a:xfrm>
            <a:off x="4597199" y="817199"/>
            <a:ext cx="1310400" cy="737235"/>
          </a:xfrm>
          <a:prstGeom prst="rect">
            <a:avLst/>
          </a:prstGeom>
          <a:noFill/>
        </p:spPr>
        <p:txBody>
          <a:bodyPr wrap="square">
            <a:spAutoFit/>
          </a:bodyPr>
          <a:lstStyle/>
          <a:p>
            <a:pPr algn="l"/>
            <a:r>
              <a:rPr sz="700" b="0" i="0">
                <a:solidFill>
                  <a:srgbClr val="212121"/>
                </a:solidFill>
                <a:latin typeface="Calibri" panose="020F0502020204030204"/>
              </a:rPr>
              <a:t>Arka yüzden +%10–30 ek üretim
PERC/TOPCon/HJT ile entegre
Zemin yansıması kritik (ρ≥0,3)
Tracker ile sinerjik
İzmir açık arazileri için ideal</a:t>
            </a:r>
            <a:endParaRPr sz="700" b="0" i="0">
              <a:solidFill>
                <a:srgbClr val="212121"/>
              </a:solidFill>
              <a:latin typeface="Calibri" panose="020F0502020204030204"/>
            </a:endParaRPr>
          </a:p>
        </p:txBody>
      </p:sp>
      <p:sp>
        <p:nvSpPr>
          <p:cNvPr id="35" name="Rectangle 34"/>
          <p:cNvSpPr/>
          <p:nvPr/>
        </p:nvSpPr>
        <p:spPr>
          <a:xfrm>
            <a:off x="6030000" y="547200"/>
            <a:ext cx="1396800" cy="1440000"/>
          </a:xfrm>
          <a:prstGeom prst="rect">
            <a:avLst/>
          </a:prstGeom>
          <a:solidFill>
            <a:srgbClr val="D6EAF8"/>
          </a:solidFill>
          <a:ln w="12700">
            <a:solidFill>
              <a:srgbClr val="1A527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030000" y="547200"/>
            <a:ext cx="1396800" cy="251999"/>
          </a:xfrm>
          <a:prstGeom prst="rect">
            <a:avLst/>
          </a:prstGeom>
          <a:solidFill>
            <a:srgbClr val="1A52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073404" y="485610"/>
            <a:ext cx="1339200" cy="337185"/>
          </a:xfrm>
          <a:prstGeom prst="rect">
            <a:avLst/>
          </a:prstGeom>
          <a:noFill/>
        </p:spPr>
        <p:txBody>
          <a:bodyPr wrap="square">
            <a:spAutoFit/>
          </a:bodyPr>
          <a:lstStyle/>
          <a:p>
            <a:pPr algn="ctr"/>
            <a:r>
              <a:rPr sz="800" b="1" i="0">
                <a:solidFill>
                  <a:srgbClr val="FFFFFF"/>
                </a:solidFill>
                <a:latin typeface="Calibri" panose="020F0502020204030204"/>
              </a:rPr>
              <a:t>Perovskite
Tandem</a:t>
            </a:r>
            <a:endParaRPr sz="800" b="1" i="0">
              <a:solidFill>
                <a:srgbClr val="FFFFFF"/>
              </a:solidFill>
              <a:latin typeface="Calibri" panose="020F0502020204030204"/>
            </a:endParaRPr>
          </a:p>
        </p:txBody>
      </p:sp>
      <p:sp>
        <p:nvSpPr>
          <p:cNvPr id="38" name="TextBox 37"/>
          <p:cNvSpPr txBox="1"/>
          <p:nvPr/>
        </p:nvSpPr>
        <p:spPr>
          <a:xfrm>
            <a:off x="6044829" y="1799590"/>
            <a:ext cx="1339200" cy="110880"/>
          </a:xfrm>
          <a:prstGeom prst="rect">
            <a:avLst/>
          </a:prstGeom>
          <a:noFill/>
        </p:spPr>
        <p:txBody>
          <a:bodyPr wrap="square">
            <a:spAutoFit/>
          </a:bodyPr>
          <a:lstStyle/>
          <a:p>
            <a:pPr algn="ctr"/>
            <a:r>
              <a:rPr sz="800" b="0" i="1">
                <a:solidFill>
                  <a:schemeClr val="tx1"/>
                </a:solidFill>
                <a:latin typeface="Calibri" panose="020F0502020204030204"/>
              </a:rPr>
              <a:t>2026–2028 Ticari Hedef</a:t>
            </a:r>
            <a:endParaRPr sz="800" b="0" i="1">
              <a:solidFill>
                <a:schemeClr val="tx1"/>
              </a:solidFill>
              <a:latin typeface="Calibri" panose="020F0502020204030204"/>
            </a:endParaRPr>
          </a:p>
        </p:txBody>
      </p:sp>
      <p:sp>
        <p:nvSpPr>
          <p:cNvPr id="39" name="TextBox 38"/>
          <p:cNvSpPr txBox="1"/>
          <p:nvPr/>
        </p:nvSpPr>
        <p:spPr>
          <a:xfrm>
            <a:off x="6073200" y="817199"/>
            <a:ext cx="1310400" cy="1076325"/>
          </a:xfrm>
          <a:prstGeom prst="rect">
            <a:avLst/>
          </a:prstGeom>
          <a:noFill/>
        </p:spPr>
        <p:txBody>
          <a:bodyPr wrap="square">
            <a:spAutoFit/>
          </a:bodyPr>
          <a:lstStyle/>
          <a:p>
            <a:pPr algn="l"/>
            <a:r>
              <a:rPr sz="800" b="0" i="0">
                <a:solidFill>
                  <a:srgbClr val="212121"/>
                </a:solidFill>
                <a:latin typeface="Calibri" panose="020F0502020204030204"/>
              </a:rPr>
              <a:t>Lab verimi: %33,9 (rekor)
Düşük üretim maliyeti potansiyeli
Dayanıklılık sorunu çözülüyor
Si tandem: %30+ ticari hedef
Türkiye TAEK araştırıyor</a:t>
            </a:r>
            <a:endParaRPr sz="800" b="0" i="0">
              <a:solidFill>
                <a:srgbClr val="212121"/>
              </a:solidFill>
              <a:latin typeface="Calibri" panose="020F0502020204030204"/>
            </a:endParaRPr>
          </a:p>
        </p:txBody>
      </p:sp>
      <p:sp>
        <p:nvSpPr>
          <p:cNvPr id="42" name="Rectangle 41"/>
          <p:cNvSpPr/>
          <p:nvPr/>
        </p:nvSpPr>
        <p:spPr>
          <a:xfrm>
            <a:off x="7506000" y="547200"/>
            <a:ext cx="1396800" cy="1440000"/>
          </a:xfrm>
          <a:prstGeom prst="rect">
            <a:avLst/>
          </a:prstGeom>
          <a:solidFill>
            <a:srgbClr val="D5F5E3"/>
          </a:solidFill>
          <a:ln w="12700">
            <a:solidFill>
              <a:srgbClr val="1E844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7506000" y="547200"/>
            <a:ext cx="1396800" cy="251999"/>
          </a:xfrm>
          <a:prstGeom prst="rect">
            <a:avLst/>
          </a:prstGeom>
          <a:solidFill>
            <a:srgbClr val="1E84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534800" y="485610"/>
            <a:ext cx="1339200" cy="337185"/>
          </a:xfrm>
          <a:prstGeom prst="rect">
            <a:avLst/>
          </a:prstGeom>
          <a:noFill/>
        </p:spPr>
        <p:txBody>
          <a:bodyPr wrap="square">
            <a:spAutoFit/>
          </a:bodyPr>
          <a:lstStyle/>
          <a:p>
            <a:pPr algn="ctr"/>
            <a:r>
              <a:rPr sz="800" b="1" i="0">
                <a:solidFill>
                  <a:srgbClr val="FFFFFF"/>
                </a:solidFill>
                <a:latin typeface="Calibri" panose="020F0502020204030204"/>
              </a:rPr>
              <a:t>CIGS / CdTe
İnce Film</a:t>
            </a:r>
            <a:endParaRPr sz="800" b="1" i="0">
              <a:solidFill>
                <a:srgbClr val="FFFFFF"/>
              </a:solidFill>
              <a:latin typeface="Calibri" panose="020F0502020204030204"/>
            </a:endParaRPr>
          </a:p>
        </p:txBody>
      </p:sp>
      <p:sp>
        <p:nvSpPr>
          <p:cNvPr id="45" name="TextBox 44"/>
          <p:cNvSpPr txBox="1"/>
          <p:nvPr/>
        </p:nvSpPr>
        <p:spPr>
          <a:xfrm>
            <a:off x="7520195" y="1688465"/>
            <a:ext cx="1339200" cy="110880"/>
          </a:xfrm>
          <a:prstGeom prst="rect">
            <a:avLst/>
          </a:prstGeom>
          <a:noFill/>
        </p:spPr>
        <p:txBody>
          <a:bodyPr wrap="square">
            <a:spAutoFit/>
          </a:bodyPr>
          <a:lstStyle/>
          <a:p>
            <a:pPr algn="ctr"/>
            <a:r>
              <a:rPr sz="800" b="0" i="1">
                <a:solidFill>
                  <a:schemeClr val="tx1"/>
                </a:solidFill>
                <a:latin typeface="Calibri" panose="020F0502020204030204"/>
              </a:rPr>
              <a:t>Esnek &amp; BIPV</a:t>
            </a:r>
            <a:endParaRPr sz="800" b="0" i="1">
              <a:solidFill>
                <a:schemeClr val="tx1"/>
              </a:solidFill>
              <a:latin typeface="Calibri" panose="020F0502020204030204"/>
            </a:endParaRPr>
          </a:p>
        </p:txBody>
      </p:sp>
      <p:sp>
        <p:nvSpPr>
          <p:cNvPr id="46" name="TextBox 45"/>
          <p:cNvSpPr txBox="1"/>
          <p:nvPr/>
        </p:nvSpPr>
        <p:spPr>
          <a:xfrm>
            <a:off x="7549200" y="817199"/>
            <a:ext cx="1310400" cy="829945"/>
          </a:xfrm>
          <a:prstGeom prst="rect">
            <a:avLst/>
          </a:prstGeom>
          <a:noFill/>
        </p:spPr>
        <p:txBody>
          <a:bodyPr wrap="square">
            <a:spAutoFit/>
          </a:bodyPr>
          <a:lstStyle/>
          <a:p>
            <a:pPr algn="l"/>
            <a:r>
              <a:rPr sz="800" b="0" i="0">
                <a:solidFill>
                  <a:srgbClr val="212121"/>
                </a:solidFill>
                <a:latin typeface="Calibri" panose="020F0502020204030204"/>
              </a:rPr>
              <a:t>Verimlilik: %13–16
Esnek yüzeylere uygulanabilir
Düşük ışık performansı iyi
Çatı &amp; cephe (BIPV) için
Çelik/cam substrat</a:t>
            </a:r>
            <a:endParaRPr sz="800" b="0" i="0">
              <a:solidFill>
                <a:srgbClr val="212121"/>
              </a:solidFill>
              <a:latin typeface="Calibri" panose="020F0502020204030204"/>
            </a:endParaRPr>
          </a:p>
        </p:txBody>
      </p:sp>
      <p:sp>
        <p:nvSpPr>
          <p:cNvPr id="51" name="Rectangle 50"/>
          <p:cNvSpPr/>
          <p:nvPr/>
        </p:nvSpPr>
        <p:spPr>
          <a:xfrm>
            <a:off x="125730" y="2203450"/>
            <a:ext cx="1418590" cy="319405"/>
          </a:xfrm>
          <a:prstGeom prst="rect">
            <a:avLst/>
          </a:prstGeom>
          <a:solidFill>
            <a:srgbClr val="1D6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154940" y="2260600"/>
            <a:ext cx="1367790" cy="205105"/>
          </a:xfrm>
          <a:prstGeom prst="rect">
            <a:avLst/>
          </a:prstGeom>
          <a:noFill/>
        </p:spPr>
        <p:txBody>
          <a:bodyPr wrap="square">
            <a:noAutofit/>
          </a:bodyPr>
          <a:lstStyle/>
          <a:p>
            <a:pPr algn="ctr"/>
            <a:r>
              <a:rPr sz="950" b="1" i="0">
                <a:solidFill>
                  <a:schemeClr val="tx1"/>
                </a:solidFill>
                <a:latin typeface="Calibri" panose="020F0502020204030204"/>
              </a:rPr>
              <a:t>Teknoloji</a:t>
            </a:r>
            <a:endParaRPr sz="950" b="1" i="0">
              <a:solidFill>
                <a:schemeClr val="tx1"/>
              </a:solidFill>
              <a:latin typeface="Calibri" panose="020F0502020204030204"/>
            </a:endParaRPr>
          </a:p>
        </p:txBody>
      </p:sp>
      <p:sp>
        <p:nvSpPr>
          <p:cNvPr id="53" name="Rectangle 52"/>
          <p:cNvSpPr/>
          <p:nvPr/>
        </p:nvSpPr>
        <p:spPr>
          <a:xfrm>
            <a:off x="1565910" y="2203450"/>
            <a:ext cx="842645" cy="306705"/>
          </a:xfrm>
          <a:prstGeom prst="rect">
            <a:avLst/>
          </a:prstGeom>
          <a:solidFill>
            <a:srgbClr val="1D6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1602420" y="2260565"/>
            <a:ext cx="791999" cy="136800"/>
          </a:xfrm>
          <a:prstGeom prst="rect">
            <a:avLst/>
          </a:prstGeom>
          <a:noFill/>
        </p:spPr>
        <p:txBody>
          <a:bodyPr wrap="square">
            <a:spAutoFit/>
          </a:bodyPr>
          <a:lstStyle/>
          <a:p>
            <a:pPr algn="ctr"/>
            <a:r>
              <a:rPr sz="950" b="1" i="0">
                <a:solidFill>
                  <a:schemeClr val="tx1"/>
                </a:solidFill>
                <a:latin typeface="Calibri" panose="020F0502020204030204"/>
              </a:rPr>
              <a:t>Ticari Verim</a:t>
            </a:r>
            <a:endParaRPr sz="950" b="1" i="0">
              <a:solidFill>
                <a:schemeClr val="tx1"/>
              </a:solidFill>
              <a:latin typeface="Calibri" panose="020F0502020204030204"/>
            </a:endParaRPr>
          </a:p>
        </p:txBody>
      </p:sp>
      <p:sp>
        <p:nvSpPr>
          <p:cNvPr id="55" name="Rectangle 54"/>
          <p:cNvSpPr/>
          <p:nvPr/>
        </p:nvSpPr>
        <p:spPr>
          <a:xfrm>
            <a:off x="2430145" y="2203450"/>
            <a:ext cx="842645" cy="306705"/>
          </a:xfrm>
          <a:prstGeom prst="rect">
            <a:avLst/>
          </a:prstGeom>
          <a:solidFill>
            <a:srgbClr val="1D6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2430225" y="2260565"/>
            <a:ext cx="791999" cy="136800"/>
          </a:xfrm>
          <a:prstGeom prst="rect">
            <a:avLst/>
          </a:prstGeom>
          <a:noFill/>
        </p:spPr>
        <p:txBody>
          <a:bodyPr wrap="square">
            <a:spAutoFit/>
          </a:bodyPr>
          <a:lstStyle/>
          <a:p>
            <a:pPr algn="ctr"/>
            <a:r>
              <a:rPr sz="950" b="1" i="0">
                <a:solidFill>
                  <a:schemeClr val="tx1"/>
                </a:solidFill>
                <a:latin typeface="Calibri" panose="020F0502020204030204"/>
              </a:rPr>
              <a:t>Lab Rekoru</a:t>
            </a:r>
            <a:endParaRPr sz="950" b="1" i="0">
              <a:solidFill>
                <a:schemeClr val="tx1"/>
              </a:solidFill>
              <a:latin typeface="Calibri" panose="020F0502020204030204"/>
            </a:endParaRPr>
          </a:p>
        </p:txBody>
      </p:sp>
      <p:sp>
        <p:nvSpPr>
          <p:cNvPr id="57" name="Rectangle 56"/>
          <p:cNvSpPr/>
          <p:nvPr/>
        </p:nvSpPr>
        <p:spPr>
          <a:xfrm>
            <a:off x="3293745" y="2203450"/>
            <a:ext cx="1346200" cy="306705"/>
          </a:xfrm>
          <a:prstGeom prst="rect">
            <a:avLst/>
          </a:prstGeom>
          <a:solidFill>
            <a:srgbClr val="1D6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3322800" y="2178015"/>
            <a:ext cx="1295999" cy="136800"/>
          </a:xfrm>
          <a:prstGeom prst="rect">
            <a:avLst/>
          </a:prstGeom>
          <a:noFill/>
        </p:spPr>
        <p:txBody>
          <a:bodyPr wrap="square">
            <a:spAutoFit/>
          </a:bodyPr>
          <a:lstStyle/>
          <a:p>
            <a:pPr algn="ctr"/>
            <a:r>
              <a:rPr sz="950" b="1" i="0">
                <a:solidFill>
                  <a:schemeClr val="tx1"/>
                </a:solidFill>
                <a:latin typeface="Calibri" panose="020F0502020204030204"/>
              </a:rPr>
              <a:t>Üretim Maliyeti ($/Wp)</a:t>
            </a:r>
            <a:endParaRPr sz="950" b="1" i="0">
              <a:solidFill>
                <a:schemeClr val="tx1"/>
              </a:solidFill>
              <a:latin typeface="Calibri" panose="020F0502020204030204"/>
            </a:endParaRPr>
          </a:p>
        </p:txBody>
      </p:sp>
      <p:sp>
        <p:nvSpPr>
          <p:cNvPr id="59" name="Rectangle 58"/>
          <p:cNvSpPr/>
          <p:nvPr/>
        </p:nvSpPr>
        <p:spPr>
          <a:xfrm>
            <a:off x="4662170" y="2203450"/>
            <a:ext cx="1346200" cy="299720"/>
          </a:xfrm>
          <a:prstGeom prst="rect">
            <a:avLst/>
          </a:prstGeom>
          <a:solidFill>
            <a:srgbClr val="1D6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4712390" y="2260565"/>
            <a:ext cx="1295999" cy="136800"/>
          </a:xfrm>
          <a:prstGeom prst="rect">
            <a:avLst/>
          </a:prstGeom>
          <a:noFill/>
        </p:spPr>
        <p:txBody>
          <a:bodyPr wrap="square">
            <a:spAutoFit/>
          </a:bodyPr>
          <a:lstStyle/>
          <a:p>
            <a:pPr algn="ctr"/>
            <a:r>
              <a:rPr sz="950" b="1" i="0">
                <a:solidFill>
                  <a:schemeClr val="tx1"/>
                </a:solidFill>
                <a:latin typeface="Calibri" panose="020F0502020204030204"/>
              </a:rPr>
              <a:t>Sıcaklık Kats. (%/°C)</a:t>
            </a:r>
            <a:endParaRPr sz="950" b="1" i="0">
              <a:solidFill>
                <a:schemeClr val="tx1"/>
              </a:solidFill>
              <a:latin typeface="Calibri" panose="020F0502020204030204"/>
            </a:endParaRPr>
          </a:p>
        </p:txBody>
      </p:sp>
      <p:sp>
        <p:nvSpPr>
          <p:cNvPr id="61" name="Rectangle 60"/>
          <p:cNvSpPr/>
          <p:nvPr/>
        </p:nvSpPr>
        <p:spPr>
          <a:xfrm>
            <a:off x="6029960" y="2203450"/>
            <a:ext cx="770255" cy="306705"/>
          </a:xfrm>
          <a:prstGeom prst="rect">
            <a:avLst/>
          </a:prstGeom>
          <a:solidFill>
            <a:srgbClr val="1D6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6044829" y="2203415"/>
            <a:ext cx="720000" cy="136800"/>
          </a:xfrm>
          <a:prstGeom prst="rect">
            <a:avLst/>
          </a:prstGeom>
          <a:noFill/>
        </p:spPr>
        <p:txBody>
          <a:bodyPr wrap="square">
            <a:spAutoFit/>
          </a:bodyPr>
          <a:lstStyle/>
          <a:p>
            <a:pPr algn="ctr"/>
            <a:r>
              <a:rPr sz="950" b="1" i="0">
                <a:solidFill>
                  <a:schemeClr val="tx1"/>
                </a:solidFill>
                <a:latin typeface="Calibri" panose="020F0502020204030204"/>
              </a:rPr>
              <a:t>Pazar Payı (2024)</a:t>
            </a:r>
            <a:endParaRPr sz="950" b="1" i="0">
              <a:solidFill>
                <a:schemeClr val="tx1"/>
              </a:solidFill>
              <a:latin typeface="Calibri" panose="020F0502020204030204"/>
            </a:endParaRPr>
          </a:p>
        </p:txBody>
      </p:sp>
      <p:sp>
        <p:nvSpPr>
          <p:cNvPr id="65" name="Rectangle 64"/>
          <p:cNvSpPr/>
          <p:nvPr/>
        </p:nvSpPr>
        <p:spPr>
          <a:xfrm>
            <a:off x="1565999" y="2570515"/>
            <a:ext cx="842400" cy="201600"/>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1594800" y="2577715"/>
            <a:ext cx="791999" cy="187200"/>
          </a:xfrm>
          <a:prstGeom prst="rect">
            <a:avLst/>
          </a:prstGeom>
          <a:noFill/>
        </p:spPr>
        <p:txBody>
          <a:bodyPr wrap="square">
            <a:spAutoFit/>
          </a:bodyPr>
          <a:lstStyle/>
          <a:p>
            <a:pPr algn="ctr"/>
            <a:r>
              <a:rPr sz="950" b="0" i="0">
                <a:solidFill>
                  <a:srgbClr val="212121"/>
                </a:solidFill>
                <a:latin typeface="Calibri" panose="020F0502020204030204"/>
              </a:rPr>
              <a:t>%21–23</a:t>
            </a:r>
            <a:endParaRPr sz="950" b="0" i="0">
              <a:solidFill>
                <a:srgbClr val="212121"/>
              </a:solidFill>
              <a:latin typeface="Calibri" panose="020F0502020204030204"/>
            </a:endParaRPr>
          </a:p>
        </p:txBody>
      </p:sp>
      <p:sp>
        <p:nvSpPr>
          <p:cNvPr id="67" name="Rectangle 66"/>
          <p:cNvSpPr/>
          <p:nvPr/>
        </p:nvSpPr>
        <p:spPr>
          <a:xfrm>
            <a:off x="2430000" y="2570515"/>
            <a:ext cx="842400" cy="201600"/>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2458800" y="2577715"/>
            <a:ext cx="791999" cy="187200"/>
          </a:xfrm>
          <a:prstGeom prst="rect">
            <a:avLst/>
          </a:prstGeom>
          <a:noFill/>
        </p:spPr>
        <p:txBody>
          <a:bodyPr wrap="square">
            <a:spAutoFit/>
          </a:bodyPr>
          <a:lstStyle/>
          <a:p>
            <a:pPr algn="ctr"/>
            <a:r>
              <a:rPr sz="950" b="0" i="0">
                <a:solidFill>
                  <a:srgbClr val="212121"/>
                </a:solidFill>
                <a:latin typeface="Calibri" panose="020F0502020204030204"/>
              </a:rPr>
              <a:t>%26,7</a:t>
            </a:r>
            <a:endParaRPr sz="950" b="0" i="0">
              <a:solidFill>
                <a:srgbClr val="212121"/>
              </a:solidFill>
              <a:latin typeface="Calibri" panose="020F0502020204030204"/>
            </a:endParaRPr>
          </a:p>
        </p:txBody>
      </p:sp>
      <p:sp>
        <p:nvSpPr>
          <p:cNvPr id="69" name="Rectangle 68"/>
          <p:cNvSpPr/>
          <p:nvPr/>
        </p:nvSpPr>
        <p:spPr>
          <a:xfrm>
            <a:off x="3294000" y="2570515"/>
            <a:ext cx="1346400" cy="201600"/>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3322800" y="2577715"/>
            <a:ext cx="1295999" cy="187200"/>
          </a:xfrm>
          <a:prstGeom prst="rect">
            <a:avLst/>
          </a:prstGeom>
          <a:noFill/>
        </p:spPr>
        <p:txBody>
          <a:bodyPr wrap="square">
            <a:spAutoFit/>
          </a:bodyPr>
          <a:lstStyle/>
          <a:p>
            <a:pPr algn="ctr"/>
            <a:r>
              <a:rPr sz="950" b="0" i="0">
                <a:solidFill>
                  <a:srgbClr val="212121"/>
                </a:solidFill>
                <a:latin typeface="Calibri" panose="020F0502020204030204"/>
              </a:rPr>
              <a:t>0,20–0,25</a:t>
            </a:r>
            <a:endParaRPr sz="950" b="0" i="0">
              <a:solidFill>
                <a:srgbClr val="212121"/>
              </a:solidFill>
              <a:latin typeface="Calibri" panose="020F0502020204030204"/>
            </a:endParaRPr>
          </a:p>
        </p:txBody>
      </p:sp>
      <p:sp>
        <p:nvSpPr>
          <p:cNvPr id="71" name="Rectangle 70"/>
          <p:cNvSpPr/>
          <p:nvPr/>
        </p:nvSpPr>
        <p:spPr>
          <a:xfrm>
            <a:off x="4662000" y="2570515"/>
            <a:ext cx="1346400" cy="201600"/>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4690800" y="2577715"/>
            <a:ext cx="1295999" cy="187200"/>
          </a:xfrm>
          <a:prstGeom prst="rect">
            <a:avLst/>
          </a:prstGeom>
          <a:noFill/>
        </p:spPr>
        <p:txBody>
          <a:bodyPr wrap="square">
            <a:spAutoFit/>
          </a:bodyPr>
          <a:lstStyle/>
          <a:p>
            <a:pPr algn="ctr"/>
            <a:r>
              <a:rPr sz="950" b="0" i="0">
                <a:solidFill>
                  <a:srgbClr val="212121"/>
                </a:solidFill>
                <a:latin typeface="Calibri" panose="020F0502020204030204"/>
              </a:rPr>
              <a:t>−0,36</a:t>
            </a:r>
            <a:endParaRPr sz="950" b="0" i="0">
              <a:solidFill>
                <a:srgbClr val="212121"/>
              </a:solidFill>
              <a:latin typeface="Calibri" panose="020F0502020204030204"/>
            </a:endParaRPr>
          </a:p>
        </p:txBody>
      </p:sp>
      <p:sp>
        <p:nvSpPr>
          <p:cNvPr id="73" name="Rectangle 72"/>
          <p:cNvSpPr/>
          <p:nvPr/>
        </p:nvSpPr>
        <p:spPr>
          <a:xfrm>
            <a:off x="6030000" y="2570515"/>
            <a:ext cx="770400" cy="201600"/>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6058799" y="2577715"/>
            <a:ext cx="720000" cy="187200"/>
          </a:xfrm>
          <a:prstGeom prst="rect">
            <a:avLst/>
          </a:prstGeom>
          <a:noFill/>
        </p:spPr>
        <p:txBody>
          <a:bodyPr wrap="square">
            <a:spAutoFit/>
          </a:bodyPr>
          <a:lstStyle/>
          <a:p>
            <a:pPr algn="ctr"/>
            <a:r>
              <a:rPr sz="950" b="0" i="0">
                <a:solidFill>
                  <a:srgbClr val="212121"/>
                </a:solidFill>
                <a:latin typeface="Calibri" panose="020F0502020204030204"/>
              </a:rPr>
              <a:t>~%55</a:t>
            </a:r>
            <a:endParaRPr sz="950" b="0" i="0">
              <a:solidFill>
                <a:srgbClr val="212121"/>
              </a:solidFill>
              <a:latin typeface="Calibri" panose="020F0502020204030204"/>
            </a:endParaRPr>
          </a:p>
        </p:txBody>
      </p:sp>
      <p:sp>
        <p:nvSpPr>
          <p:cNvPr id="75" name="Rectangle 74"/>
          <p:cNvSpPr/>
          <p:nvPr/>
        </p:nvSpPr>
        <p:spPr>
          <a:xfrm>
            <a:off x="125999" y="2570400"/>
            <a:ext cx="1418400" cy="201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ectangle 76"/>
          <p:cNvSpPr/>
          <p:nvPr/>
        </p:nvSpPr>
        <p:spPr>
          <a:xfrm>
            <a:off x="1565999" y="2779315"/>
            <a:ext cx="842400" cy="201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1594800" y="2786515"/>
            <a:ext cx="791999" cy="187200"/>
          </a:xfrm>
          <a:prstGeom prst="rect">
            <a:avLst/>
          </a:prstGeom>
          <a:noFill/>
        </p:spPr>
        <p:txBody>
          <a:bodyPr wrap="square">
            <a:spAutoFit/>
          </a:bodyPr>
          <a:lstStyle/>
          <a:p>
            <a:pPr algn="ctr"/>
            <a:r>
              <a:rPr sz="950" b="0" i="0">
                <a:solidFill>
                  <a:srgbClr val="212121"/>
                </a:solidFill>
                <a:latin typeface="Calibri" panose="020F0502020204030204"/>
              </a:rPr>
              <a:t>%23–25</a:t>
            </a:r>
            <a:endParaRPr sz="950" b="0" i="0">
              <a:solidFill>
                <a:srgbClr val="212121"/>
              </a:solidFill>
              <a:latin typeface="Calibri" panose="020F0502020204030204"/>
            </a:endParaRPr>
          </a:p>
        </p:txBody>
      </p:sp>
      <p:sp>
        <p:nvSpPr>
          <p:cNvPr id="79" name="Rectangle 78"/>
          <p:cNvSpPr/>
          <p:nvPr/>
        </p:nvSpPr>
        <p:spPr>
          <a:xfrm>
            <a:off x="2430000" y="2779315"/>
            <a:ext cx="842400" cy="201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2458800" y="2786515"/>
            <a:ext cx="791999" cy="187200"/>
          </a:xfrm>
          <a:prstGeom prst="rect">
            <a:avLst/>
          </a:prstGeom>
          <a:noFill/>
        </p:spPr>
        <p:txBody>
          <a:bodyPr wrap="square">
            <a:spAutoFit/>
          </a:bodyPr>
          <a:lstStyle/>
          <a:p>
            <a:pPr algn="ctr"/>
            <a:r>
              <a:rPr sz="950" b="0" i="0">
                <a:solidFill>
                  <a:srgbClr val="212121"/>
                </a:solidFill>
                <a:latin typeface="Calibri" panose="020F0502020204030204"/>
              </a:rPr>
              <a:t>%28,6</a:t>
            </a:r>
            <a:endParaRPr sz="950" b="0" i="0">
              <a:solidFill>
                <a:srgbClr val="212121"/>
              </a:solidFill>
              <a:latin typeface="Calibri" panose="020F0502020204030204"/>
            </a:endParaRPr>
          </a:p>
        </p:txBody>
      </p:sp>
      <p:sp>
        <p:nvSpPr>
          <p:cNvPr id="81" name="Rectangle 80"/>
          <p:cNvSpPr/>
          <p:nvPr/>
        </p:nvSpPr>
        <p:spPr>
          <a:xfrm>
            <a:off x="3294000" y="2779315"/>
            <a:ext cx="1346400" cy="201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3322800" y="2786515"/>
            <a:ext cx="1295999" cy="187200"/>
          </a:xfrm>
          <a:prstGeom prst="rect">
            <a:avLst/>
          </a:prstGeom>
          <a:noFill/>
        </p:spPr>
        <p:txBody>
          <a:bodyPr wrap="square">
            <a:spAutoFit/>
          </a:bodyPr>
          <a:lstStyle/>
          <a:p>
            <a:pPr algn="ctr"/>
            <a:r>
              <a:rPr sz="950" b="0" i="0">
                <a:solidFill>
                  <a:srgbClr val="212121"/>
                </a:solidFill>
                <a:latin typeface="Calibri" panose="020F0502020204030204"/>
              </a:rPr>
              <a:t>0,22–0,28</a:t>
            </a:r>
            <a:endParaRPr sz="950" b="0" i="0">
              <a:solidFill>
                <a:srgbClr val="212121"/>
              </a:solidFill>
              <a:latin typeface="Calibri" panose="020F0502020204030204"/>
            </a:endParaRPr>
          </a:p>
        </p:txBody>
      </p:sp>
      <p:sp>
        <p:nvSpPr>
          <p:cNvPr id="83" name="Rectangle 82"/>
          <p:cNvSpPr/>
          <p:nvPr/>
        </p:nvSpPr>
        <p:spPr>
          <a:xfrm>
            <a:off x="4662000" y="2779315"/>
            <a:ext cx="1346400" cy="201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4690800" y="2786515"/>
            <a:ext cx="1295999" cy="187200"/>
          </a:xfrm>
          <a:prstGeom prst="rect">
            <a:avLst/>
          </a:prstGeom>
          <a:noFill/>
        </p:spPr>
        <p:txBody>
          <a:bodyPr wrap="square">
            <a:spAutoFit/>
          </a:bodyPr>
          <a:lstStyle/>
          <a:p>
            <a:pPr algn="ctr"/>
            <a:r>
              <a:rPr sz="950" b="0" i="0">
                <a:solidFill>
                  <a:srgbClr val="212121"/>
                </a:solidFill>
                <a:latin typeface="Calibri" panose="020F0502020204030204"/>
              </a:rPr>
              <a:t>−0,30</a:t>
            </a:r>
            <a:endParaRPr sz="950" b="0" i="0">
              <a:solidFill>
                <a:srgbClr val="212121"/>
              </a:solidFill>
              <a:latin typeface="Calibri" panose="020F0502020204030204"/>
            </a:endParaRPr>
          </a:p>
        </p:txBody>
      </p:sp>
      <p:sp>
        <p:nvSpPr>
          <p:cNvPr id="85" name="Rectangle 84"/>
          <p:cNvSpPr/>
          <p:nvPr/>
        </p:nvSpPr>
        <p:spPr>
          <a:xfrm>
            <a:off x="6030000" y="2779315"/>
            <a:ext cx="770400" cy="201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6058799" y="2786515"/>
            <a:ext cx="720000" cy="187200"/>
          </a:xfrm>
          <a:prstGeom prst="rect">
            <a:avLst/>
          </a:prstGeom>
          <a:noFill/>
        </p:spPr>
        <p:txBody>
          <a:bodyPr wrap="square">
            <a:spAutoFit/>
          </a:bodyPr>
          <a:lstStyle/>
          <a:p>
            <a:pPr algn="ctr"/>
            <a:r>
              <a:rPr sz="950" b="0" i="0">
                <a:solidFill>
                  <a:srgbClr val="212121"/>
                </a:solidFill>
                <a:latin typeface="Calibri" panose="020F0502020204030204"/>
              </a:rPr>
              <a:t>~%25</a:t>
            </a:r>
            <a:endParaRPr sz="950" b="0" i="0">
              <a:solidFill>
                <a:srgbClr val="212121"/>
              </a:solidFill>
              <a:latin typeface="Calibri" panose="020F0502020204030204"/>
            </a:endParaRPr>
          </a:p>
        </p:txBody>
      </p:sp>
      <p:sp>
        <p:nvSpPr>
          <p:cNvPr id="87" name="Rectangle 86"/>
          <p:cNvSpPr/>
          <p:nvPr/>
        </p:nvSpPr>
        <p:spPr>
          <a:xfrm>
            <a:off x="125999" y="2779200"/>
            <a:ext cx="1418400" cy="201600"/>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Rectangle 88"/>
          <p:cNvSpPr/>
          <p:nvPr/>
        </p:nvSpPr>
        <p:spPr>
          <a:xfrm>
            <a:off x="1565999" y="2988115"/>
            <a:ext cx="842400" cy="201600"/>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1594800" y="2995315"/>
            <a:ext cx="791999" cy="187200"/>
          </a:xfrm>
          <a:prstGeom prst="rect">
            <a:avLst/>
          </a:prstGeom>
          <a:noFill/>
        </p:spPr>
        <p:txBody>
          <a:bodyPr wrap="square">
            <a:spAutoFit/>
          </a:bodyPr>
          <a:lstStyle/>
          <a:p>
            <a:pPr algn="ctr"/>
            <a:r>
              <a:rPr sz="950" b="0" i="0">
                <a:solidFill>
                  <a:srgbClr val="212121"/>
                </a:solidFill>
                <a:latin typeface="Calibri" panose="020F0502020204030204"/>
              </a:rPr>
              <a:t>%24–26</a:t>
            </a:r>
            <a:endParaRPr sz="950" b="0" i="0">
              <a:solidFill>
                <a:srgbClr val="212121"/>
              </a:solidFill>
              <a:latin typeface="Calibri" panose="020F0502020204030204"/>
            </a:endParaRPr>
          </a:p>
        </p:txBody>
      </p:sp>
      <p:sp>
        <p:nvSpPr>
          <p:cNvPr id="91" name="Rectangle 90"/>
          <p:cNvSpPr/>
          <p:nvPr/>
        </p:nvSpPr>
        <p:spPr>
          <a:xfrm>
            <a:off x="2430000" y="2988115"/>
            <a:ext cx="842400" cy="201600"/>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TextBox 91"/>
          <p:cNvSpPr txBox="1"/>
          <p:nvPr/>
        </p:nvSpPr>
        <p:spPr>
          <a:xfrm>
            <a:off x="2458800" y="2995315"/>
            <a:ext cx="791999" cy="187200"/>
          </a:xfrm>
          <a:prstGeom prst="rect">
            <a:avLst/>
          </a:prstGeom>
          <a:noFill/>
        </p:spPr>
        <p:txBody>
          <a:bodyPr wrap="square">
            <a:spAutoFit/>
          </a:bodyPr>
          <a:lstStyle/>
          <a:p>
            <a:pPr algn="ctr"/>
            <a:r>
              <a:rPr sz="950" b="0" i="0">
                <a:solidFill>
                  <a:srgbClr val="212121"/>
                </a:solidFill>
                <a:latin typeface="Calibri" panose="020F0502020204030204"/>
              </a:rPr>
              <a:t>%26,6</a:t>
            </a:r>
            <a:endParaRPr sz="950" b="0" i="0">
              <a:solidFill>
                <a:srgbClr val="212121"/>
              </a:solidFill>
              <a:latin typeface="Calibri" panose="020F0502020204030204"/>
            </a:endParaRPr>
          </a:p>
        </p:txBody>
      </p:sp>
      <p:sp>
        <p:nvSpPr>
          <p:cNvPr id="93" name="Rectangle 92"/>
          <p:cNvSpPr/>
          <p:nvPr/>
        </p:nvSpPr>
        <p:spPr>
          <a:xfrm>
            <a:off x="3294000" y="2988115"/>
            <a:ext cx="1346400" cy="201600"/>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TextBox 93"/>
          <p:cNvSpPr txBox="1"/>
          <p:nvPr/>
        </p:nvSpPr>
        <p:spPr>
          <a:xfrm>
            <a:off x="3322800" y="2995315"/>
            <a:ext cx="1295999" cy="187200"/>
          </a:xfrm>
          <a:prstGeom prst="rect">
            <a:avLst/>
          </a:prstGeom>
          <a:noFill/>
        </p:spPr>
        <p:txBody>
          <a:bodyPr wrap="square">
            <a:spAutoFit/>
          </a:bodyPr>
          <a:lstStyle/>
          <a:p>
            <a:pPr algn="ctr"/>
            <a:r>
              <a:rPr sz="950" b="0" i="0">
                <a:solidFill>
                  <a:srgbClr val="212121"/>
                </a:solidFill>
                <a:latin typeface="Calibri" panose="020F0502020204030204"/>
              </a:rPr>
              <a:t>0,28–0,35</a:t>
            </a:r>
            <a:endParaRPr sz="950" b="0" i="0">
              <a:solidFill>
                <a:srgbClr val="212121"/>
              </a:solidFill>
              <a:latin typeface="Calibri" panose="020F0502020204030204"/>
            </a:endParaRPr>
          </a:p>
        </p:txBody>
      </p:sp>
      <p:sp>
        <p:nvSpPr>
          <p:cNvPr id="95" name="Rectangle 94"/>
          <p:cNvSpPr/>
          <p:nvPr/>
        </p:nvSpPr>
        <p:spPr>
          <a:xfrm>
            <a:off x="4662000" y="2988115"/>
            <a:ext cx="1346400" cy="201600"/>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extBox 95"/>
          <p:cNvSpPr txBox="1"/>
          <p:nvPr/>
        </p:nvSpPr>
        <p:spPr>
          <a:xfrm>
            <a:off x="4690800" y="2995315"/>
            <a:ext cx="1295999" cy="187200"/>
          </a:xfrm>
          <a:prstGeom prst="rect">
            <a:avLst/>
          </a:prstGeom>
          <a:noFill/>
        </p:spPr>
        <p:txBody>
          <a:bodyPr wrap="square">
            <a:spAutoFit/>
          </a:bodyPr>
          <a:lstStyle/>
          <a:p>
            <a:pPr algn="ctr"/>
            <a:r>
              <a:rPr sz="950" b="0" i="0">
                <a:solidFill>
                  <a:srgbClr val="212121"/>
                </a:solidFill>
                <a:latin typeface="Calibri" panose="020F0502020204030204"/>
              </a:rPr>
              <a:t>−0,25</a:t>
            </a:r>
            <a:endParaRPr sz="950" b="0" i="0">
              <a:solidFill>
                <a:srgbClr val="212121"/>
              </a:solidFill>
              <a:latin typeface="Calibri" panose="020F0502020204030204"/>
            </a:endParaRPr>
          </a:p>
        </p:txBody>
      </p:sp>
      <p:sp>
        <p:nvSpPr>
          <p:cNvPr id="97" name="Rectangle 96"/>
          <p:cNvSpPr/>
          <p:nvPr/>
        </p:nvSpPr>
        <p:spPr>
          <a:xfrm>
            <a:off x="6030000" y="2988115"/>
            <a:ext cx="770400" cy="201600"/>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TextBox 97"/>
          <p:cNvSpPr txBox="1"/>
          <p:nvPr/>
        </p:nvSpPr>
        <p:spPr>
          <a:xfrm>
            <a:off x="6058799" y="2995315"/>
            <a:ext cx="720000" cy="187200"/>
          </a:xfrm>
          <a:prstGeom prst="rect">
            <a:avLst/>
          </a:prstGeom>
          <a:noFill/>
        </p:spPr>
        <p:txBody>
          <a:bodyPr wrap="square">
            <a:spAutoFit/>
          </a:bodyPr>
          <a:lstStyle/>
          <a:p>
            <a:pPr algn="ctr"/>
            <a:r>
              <a:rPr sz="950" b="0" i="0">
                <a:solidFill>
                  <a:srgbClr val="212121"/>
                </a:solidFill>
                <a:latin typeface="Calibri" panose="020F0502020204030204"/>
              </a:rPr>
              <a:t>~%8</a:t>
            </a:r>
            <a:endParaRPr sz="950" b="0" i="0">
              <a:solidFill>
                <a:srgbClr val="212121"/>
              </a:solidFill>
              <a:latin typeface="Calibri" panose="020F0502020204030204"/>
            </a:endParaRPr>
          </a:p>
        </p:txBody>
      </p:sp>
      <p:sp>
        <p:nvSpPr>
          <p:cNvPr id="99" name="Rectangle 98"/>
          <p:cNvSpPr/>
          <p:nvPr/>
        </p:nvSpPr>
        <p:spPr>
          <a:xfrm>
            <a:off x="125999" y="2987999"/>
            <a:ext cx="1418400" cy="201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Rectangle 100"/>
          <p:cNvSpPr/>
          <p:nvPr/>
        </p:nvSpPr>
        <p:spPr>
          <a:xfrm>
            <a:off x="1565999" y="3196914"/>
            <a:ext cx="842400" cy="201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TextBox 101"/>
          <p:cNvSpPr txBox="1"/>
          <p:nvPr/>
        </p:nvSpPr>
        <p:spPr>
          <a:xfrm>
            <a:off x="1594800" y="3204115"/>
            <a:ext cx="791999" cy="187200"/>
          </a:xfrm>
          <a:prstGeom prst="rect">
            <a:avLst/>
          </a:prstGeom>
          <a:noFill/>
        </p:spPr>
        <p:txBody>
          <a:bodyPr wrap="square">
            <a:spAutoFit/>
          </a:bodyPr>
          <a:lstStyle/>
          <a:p>
            <a:pPr algn="ctr"/>
            <a:r>
              <a:rPr sz="950" b="0" i="0">
                <a:solidFill>
                  <a:srgbClr val="212121"/>
                </a:solidFill>
                <a:latin typeface="Calibri" panose="020F0502020204030204"/>
              </a:rPr>
              <a:t>Hücre+%10–30</a:t>
            </a:r>
            <a:endParaRPr sz="950" b="0" i="0">
              <a:solidFill>
                <a:srgbClr val="212121"/>
              </a:solidFill>
              <a:latin typeface="Calibri" panose="020F0502020204030204"/>
            </a:endParaRPr>
          </a:p>
        </p:txBody>
      </p:sp>
      <p:sp>
        <p:nvSpPr>
          <p:cNvPr id="103" name="Rectangle 102"/>
          <p:cNvSpPr/>
          <p:nvPr/>
        </p:nvSpPr>
        <p:spPr>
          <a:xfrm>
            <a:off x="2430000" y="3196914"/>
            <a:ext cx="842400" cy="201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2458800" y="3204115"/>
            <a:ext cx="791999" cy="187200"/>
          </a:xfrm>
          <a:prstGeom prst="rect">
            <a:avLst/>
          </a:prstGeom>
          <a:noFill/>
        </p:spPr>
        <p:txBody>
          <a:bodyPr wrap="square">
            <a:spAutoFit/>
          </a:bodyPr>
          <a:lstStyle/>
          <a:p>
            <a:pPr algn="ctr"/>
            <a:r>
              <a:rPr sz="950" b="0" i="0">
                <a:solidFill>
                  <a:srgbClr val="212121"/>
                </a:solidFill>
                <a:latin typeface="Calibri" panose="020F0502020204030204"/>
              </a:rPr>
              <a:t>—</a:t>
            </a:r>
            <a:endParaRPr sz="950" b="0" i="0">
              <a:solidFill>
                <a:srgbClr val="212121"/>
              </a:solidFill>
              <a:latin typeface="Calibri" panose="020F0502020204030204"/>
            </a:endParaRPr>
          </a:p>
        </p:txBody>
      </p:sp>
      <p:sp>
        <p:nvSpPr>
          <p:cNvPr id="105" name="Rectangle 104"/>
          <p:cNvSpPr/>
          <p:nvPr/>
        </p:nvSpPr>
        <p:spPr>
          <a:xfrm>
            <a:off x="3294000" y="3196914"/>
            <a:ext cx="1346400" cy="201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TextBox 105"/>
          <p:cNvSpPr txBox="1"/>
          <p:nvPr/>
        </p:nvSpPr>
        <p:spPr>
          <a:xfrm>
            <a:off x="3322800" y="3204115"/>
            <a:ext cx="1295999" cy="187200"/>
          </a:xfrm>
          <a:prstGeom prst="rect">
            <a:avLst/>
          </a:prstGeom>
          <a:noFill/>
        </p:spPr>
        <p:txBody>
          <a:bodyPr wrap="square">
            <a:spAutoFit/>
          </a:bodyPr>
          <a:lstStyle/>
          <a:p>
            <a:pPr algn="ctr"/>
            <a:r>
              <a:rPr sz="950" b="0" i="0">
                <a:solidFill>
                  <a:srgbClr val="212121"/>
                </a:solidFill>
                <a:latin typeface="Calibri" panose="020F0502020204030204"/>
              </a:rPr>
              <a:t>Hücre mly + kira</a:t>
            </a:r>
            <a:endParaRPr sz="950" b="0" i="0">
              <a:solidFill>
                <a:srgbClr val="212121"/>
              </a:solidFill>
              <a:latin typeface="Calibri" panose="020F0502020204030204"/>
            </a:endParaRPr>
          </a:p>
        </p:txBody>
      </p:sp>
      <p:sp>
        <p:nvSpPr>
          <p:cNvPr id="107" name="Rectangle 106"/>
          <p:cNvSpPr/>
          <p:nvPr/>
        </p:nvSpPr>
        <p:spPr>
          <a:xfrm>
            <a:off x="4662000" y="3196914"/>
            <a:ext cx="1346400" cy="201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TextBox 107"/>
          <p:cNvSpPr txBox="1"/>
          <p:nvPr/>
        </p:nvSpPr>
        <p:spPr>
          <a:xfrm>
            <a:off x="4690800" y="3204115"/>
            <a:ext cx="1295999" cy="187200"/>
          </a:xfrm>
          <a:prstGeom prst="rect">
            <a:avLst/>
          </a:prstGeom>
          <a:noFill/>
        </p:spPr>
        <p:txBody>
          <a:bodyPr wrap="square">
            <a:spAutoFit/>
          </a:bodyPr>
          <a:lstStyle/>
          <a:p>
            <a:pPr algn="ctr"/>
            <a:r>
              <a:rPr sz="950" b="0" i="0">
                <a:solidFill>
                  <a:srgbClr val="212121"/>
                </a:solidFill>
                <a:latin typeface="Calibri" panose="020F0502020204030204"/>
              </a:rPr>
              <a:t>—</a:t>
            </a:r>
            <a:endParaRPr sz="950" b="0" i="0">
              <a:solidFill>
                <a:srgbClr val="212121"/>
              </a:solidFill>
              <a:latin typeface="Calibri" panose="020F0502020204030204"/>
            </a:endParaRPr>
          </a:p>
        </p:txBody>
      </p:sp>
      <p:sp>
        <p:nvSpPr>
          <p:cNvPr id="109" name="Rectangle 108"/>
          <p:cNvSpPr/>
          <p:nvPr/>
        </p:nvSpPr>
        <p:spPr>
          <a:xfrm>
            <a:off x="6030000" y="3196914"/>
            <a:ext cx="770400" cy="201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TextBox 109"/>
          <p:cNvSpPr txBox="1"/>
          <p:nvPr/>
        </p:nvSpPr>
        <p:spPr>
          <a:xfrm>
            <a:off x="6058799" y="3204115"/>
            <a:ext cx="720000" cy="187200"/>
          </a:xfrm>
          <a:prstGeom prst="rect">
            <a:avLst/>
          </a:prstGeom>
          <a:noFill/>
        </p:spPr>
        <p:txBody>
          <a:bodyPr wrap="square">
            <a:spAutoFit/>
          </a:bodyPr>
          <a:lstStyle/>
          <a:p>
            <a:pPr algn="ctr"/>
            <a:r>
              <a:rPr sz="950" b="0" i="0">
                <a:solidFill>
                  <a:srgbClr val="212121"/>
                </a:solidFill>
                <a:latin typeface="Calibri" panose="020F0502020204030204"/>
              </a:rPr>
              <a:t>%40+ kurulum</a:t>
            </a:r>
            <a:endParaRPr sz="950" b="0" i="0">
              <a:solidFill>
                <a:srgbClr val="212121"/>
              </a:solidFill>
              <a:latin typeface="Calibri" panose="020F0502020204030204"/>
            </a:endParaRPr>
          </a:p>
        </p:txBody>
      </p:sp>
      <p:sp>
        <p:nvSpPr>
          <p:cNvPr id="111" name="Rectangle 110"/>
          <p:cNvSpPr/>
          <p:nvPr/>
        </p:nvSpPr>
        <p:spPr>
          <a:xfrm>
            <a:off x="125999" y="3196799"/>
            <a:ext cx="1418400" cy="201600"/>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TextBox 111"/>
          <p:cNvSpPr txBox="1"/>
          <p:nvPr/>
        </p:nvSpPr>
        <p:spPr>
          <a:xfrm>
            <a:off x="154800" y="3405295"/>
            <a:ext cx="1368000" cy="187200"/>
          </a:xfrm>
          <a:prstGeom prst="rect">
            <a:avLst/>
          </a:prstGeom>
          <a:noFill/>
        </p:spPr>
        <p:txBody>
          <a:bodyPr wrap="square">
            <a:spAutoFit/>
          </a:bodyPr>
          <a:lstStyle/>
          <a:p>
            <a:pPr algn="l"/>
            <a:r>
              <a:rPr sz="950" b="1" i="0">
                <a:solidFill>
                  <a:srgbClr val="212121"/>
                </a:solidFill>
                <a:latin typeface="Calibri" panose="020F0502020204030204"/>
              </a:rPr>
              <a:t>Perovskite Tandem</a:t>
            </a:r>
            <a:endParaRPr sz="950" b="1" i="0">
              <a:solidFill>
                <a:srgbClr val="212121"/>
              </a:solidFill>
              <a:latin typeface="Calibri" panose="020F0502020204030204"/>
            </a:endParaRPr>
          </a:p>
        </p:txBody>
      </p:sp>
      <p:sp>
        <p:nvSpPr>
          <p:cNvPr id="113" name="Rectangle 112"/>
          <p:cNvSpPr/>
          <p:nvPr/>
        </p:nvSpPr>
        <p:spPr>
          <a:xfrm>
            <a:off x="1565999" y="3405714"/>
            <a:ext cx="842400" cy="201600"/>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TextBox 113"/>
          <p:cNvSpPr txBox="1"/>
          <p:nvPr/>
        </p:nvSpPr>
        <p:spPr>
          <a:xfrm>
            <a:off x="1594800" y="3412915"/>
            <a:ext cx="791999" cy="187200"/>
          </a:xfrm>
          <a:prstGeom prst="rect">
            <a:avLst/>
          </a:prstGeom>
          <a:noFill/>
        </p:spPr>
        <p:txBody>
          <a:bodyPr wrap="square">
            <a:spAutoFit/>
          </a:bodyPr>
          <a:lstStyle/>
          <a:p>
            <a:pPr algn="ctr"/>
            <a:r>
              <a:rPr sz="950" b="0" i="0">
                <a:solidFill>
                  <a:srgbClr val="212121"/>
                </a:solidFill>
                <a:latin typeface="Calibri" panose="020F0502020204030204"/>
              </a:rPr>
              <a:t>—(geliştirme)</a:t>
            </a:r>
            <a:endParaRPr sz="950" b="0" i="0">
              <a:solidFill>
                <a:srgbClr val="212121"/>
              </a:solidFill>
              <a:latin typeface="Calibri" panose="020F0502020204030204"/>
            </a:endParaRPr>
          </a:p>
        </p:txBody>
      </p:sp>
      <p:sp>
        <p:nvSpPr>
          <p:cNvPr id="115" name="Rectangle 114"/>
          <p:cNvSpPr/>
          <p:nvPr/>
        </p:nvSpPr>
        <p:spPr>
          <a:xfrm>
            <a:off x="2430000" y="3405714"/>
            <a:ext cx="842400" cy="201600"/>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TextBox 115"/>
          <p:cNvSpPr txBox="1"/>
          <p:nvPr/>
        </p:nvSpPr>
        <p:spPr>
          <a:xfrm>
            <a:off x="2458800" y="3412915"/>
            <a:ext cx="791999" cy="187200"/>
          </a:xfrm>
          <a:prstGeom prst="rect">
            <a:avLst/>
          </a:prstGeom>
          <a:noFill/>
        </p:spPr>
        <p:txBody>
          <a:bodyPr wrap="square">
            <a:spAutoFit/>
          </a:bodyPr>
          <a:lstStyle/>
          <a:p>
            <a:pPr algn="ctr"/>
            <a:r>
              <a:rPr sz="950" b="0" i="0">
                <a:solidFill>
                  <a:srgbClr val="212121"/>
                </a:solidFill>
                <a:latin typeface="Calibri" panose="020F0502020204030204"/>
              </a:rPr>
              <a:t>%33,9</a:t>
            </a:r>
            <a:endParaRPr sz="950" b="0" i="0">
              <a:solidFill>
                <a:srgbClr val="212121"/>
              </a:solidFill>
              <a:latin typeface="Calibri" panose="020F0502020204030204"/>
            </a:endParaRPr>
          </a:p>
        </p:txBody>
      </p:sp>
      <p:sp>
        <p:nvSpPr>
          <p:cNvPr id="117" name="Rectangle 116"/>
          <p:cNvSpPr/>
          <p:nvPr/>
        </p:nvSpPr>
        <p:spPr>
          <a:xfrm>
            <a:off x="3294000" y="3405714"/>
            <a:ext cx="1346400" cy="201600"/>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TextBox 117"/>
          <p:cNvSpPr txBox="1"/>
          <p:nvPr/>
        </p:nvSpPr>
        <p:spPr>
          <a:xfrm>
            <a:off x="3322800" y="3412915"/>
            <a:ext cx="1295999" cy="187200"/>
          </a:xfrm>
          <a:prstGeom prst="rect">
            <a:avLst/>
          </a:prstGeom>
          <a:noFill/>
        </p:spPr>
        <p:txBody>
          <a:bodyPr wrap="square">
            <a:spAutoFit/>
          </a:bodyPr>
          <a:lstStyle/>
          <a:p>
            <a:pPr algn="ctr"/>
            <a:r>
              <a:rPr sz="950" b="0" i="0">
                <a:solidFill>
                  <a:srgbClr val="212121"/>
                </a:solidFill>
                <a:latin typeface="Calibri" panose="020F0502020204030204"/>
              </a:rPr>
              <a:t>0,10 (hedef)</a:t>
            </a:r>
            <a:endParaRPr sz="950" b="0" i="0">
              <a:solidFill>
                <a:srgbClr val="212121"/>
              </a:solidFill>
              <a:latin typeface="Calibri" panose="020F0502020204030204"/>
            </a:endParaRPr>
          </a:p>
        </p:txBody>
      </p:sp>
      <p:sp>
        <p:nvSpPr>
          <p:cNvPr id="119" name="Rectangle 118"/>
          <p:cNvSpPr/>
          <p:nvPr/>
        </p:nvSpPr>
        <p:spPr>
          <a:xfrm>
            <a:off x="4662000" y="3405714"/>
            <a:ext cx="1346400" cy="201600"/>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TextBox 119"/>
          <p:cNvSpPr txBox="1"/>
          <p:nvPr/>
        </p:nvSpPr>
        <p:spPr>
          <a:xfrm>
            <a:off x="4690800" y="3412915"/>
            <a:ext cx="1295999" cy="187200"/>
          </a:xfrm>
          <a:prstGeom prst="rect">
            <a:avLst/>
          </a:prstGeom>
          <a:noFill/>
        </p:spPr>
        <p:txBody>
          <a:bodyPr wrap="square">
            <a:spAutoFit/>
          </a:bodyPr>
          <a:lstStyle/>
          <a:p>
            <a:pPr algn="ctr"/>
            <a:r>
              <a:rPr sz="950" b="0" i="0">
                <a:solidFill>
                  <a:srgbClr val="212121"/>
                </a:solidFill>
                <a:latin typeface="Calibri" panose="020F0502020204030204"/>
              </a:rPr>
              <a:t>−0,20</a:t>
            </a:r>
            <a:endParaRPr sz="950" b="0" i="0">
              <a:solidFill>
                <a:srgbClr val="212121"/>
              </a:solidFill>
              <a:latin typeface="Calibri" panose="020F0502020204030204"/>
            </a:endParaRPr>
          </a:p>
        </p:txBody>
      </p:sp>
      <p:sp>
        <p:nvSpPr>
          <p:cNvPr id="121" name="Rectangle 120"/>
          <p:cNvSpPr/>
          <p:nvPr/>
        </p:nvSpPr>
        <p:spPr>
          <a:xfrm>
            <a:off x="6030000" y="3405714"/>
            <a:ext cx="770400" cy="201600"/>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TextBox 121"/>
          <p:cNvSpPr txBox="1"/>
          <p:nvPr/>
        </p:nvSpPr>
        <p:spPr>
          <a:xfrm>
            <a:off x="6058535" y="3413125"/>
            <a:ext cx="720090" cy="350520"/>
          </a:xfrm>
          <a:prstGeom prst="rect">
            <a:avLst/>
          </a:prstGeom>
          <a:noFill/>
        </p:spPr>
        <p:txBody>
          <a:bodyPr wrap="square">
            <a:noAutofit/>
          </a:bodyPr>
          <a:lstStyle/>
          <a:p>
            <a:pPr algn="ctr"/>
            <a:r>
              <a:rPr sz="950" b="0" i="0">
                <a:solidFill>
                  <a:srgbClr val="212121"/>
                </a:solidFill>
                <a:latin typeface="Calibri" panose="020F0502020204030204"/>
              </a:rPr>
              <a:t>Pilot aşama</a:t>
            </a:r>
            <a:endParaRPr sz="950" b="0" i="0">
              <a:solidFill>
                <a:srgbClr val="212121"/>
              </a:solidFill>
              <a:latin typeface="Calibri" panose="020F0502020204030204"/>
            </a:endParaRPr>
          </a:p>
        </p:txBody>
      </p:sp>
      <p:sp>
        <p:nvSpPr>
          <p:cNvPr id="123" name="Rectangle 122"/>
          <p:cNvSpPr/>
          <p:nvPr/>
        </p:nvSpPr>
        <p:spPr>
          <a:xfrm>
            <a:off x="125730" y="4021455"/>
            <a:ext cx="8891905" cy="443865"/>
          </a:xfrm>
          <a:prstGeom prst="rect">
            <a:avLst/>
          </a:prstGeom>
          <a:solidFill>
            <a:srgbClr val="FEF9E7"/>
          </a:solidFill>
          <a:ln w="19050">
            <a:solidFill>
              <a:srgbClr val="E67E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TextBox 123"/>
          <p:cNvSpPr txBox="1"/>
          <p:nvPr/>
        </p:nvSpPr>
        <p:spPr>
          <a:xfrm>
            <a:off x="215780" y="4021240"/>
            <a:ext cx="8676000" cy="392430"/>
          </a:xfrm>
          <a:prstGeom prst="rect">
            <a:avLst/>
          </a:prstGeom>
          <a:noFill/>
        </p:spPr>
        <p:txBody>
          <a:bodyPr wrap="square">
            <a:spAutoFit/>
          </a:bodyPr>
          <a:lstStyle/>
          <a:p>
            <a:pPr algn="l"/>
            <a:r>
              <a:rPr sz="980" b="0" i="0">
                <a:solidFill>
                  <a:srgbClr val="1B3A6B"/>
                </a:solidFill>
                <a:latin typeface="Calibri" panose="020F0502020204030204"/>
              </a:rPr>
              <a:t>✅  İzmir Güncel Teknoloji </a:t>
            </a:r>
            <a:r>
              <a:rPr lang="tr-TR" sz="980" b="0" i="0">
                <a:solidFill>
                  <a:srgbClr val="1B3A6B"/>
                </a:solidFill>
                <a:latin typeface="Calibri" panose="020F0502020204030204"/>
              </a:rPr>
              <a:t>için </a:t>
            </a:r>
            <a:r>
              <a:rPr sz="980" b="0" i="0">
                <a:solidFill>
                  <a:srgbClr val="1B3A6B"/>
                </a:solidFill>
                <a:latin typeface="Calibri" panose="020F0502020204030204"/>
              </a:rPr>
              <a:t>Öneri:  İzmir yaz sıcaklığı (~33°C) nedeniyle düşük sıcaklık katsayısına sahip HJT veya TOPCon bifacial paneller yıllık %8–12 daha fazla enerji üretir. Torbalı/Selçuk açık arazileri için TOPCon bifacial + sabit β=32° kombinasyonu 2024 maliyet-verim optimumudur.</a:t>
            </a:r>
            <a:endParaRPr sz="980" b="0" i="0">
              <a:solidFill>
                <a:srgbClr val="1B3A6B"/>
              </a:solidFill>
              <a:latin typeface="Calibri" panose="020F0502020204030204"/>
            </a:endParaRPr>
          </a:p>
        </p:txBody>
      </p:sp>
      <p:sp>
        <p:nvSpPr>
          <p:cNvPr id="100" name="TextBox 99"/>
          <p:cNvSpPr txBox="1"/>
          <p:nvPr/>
        </p:nvSpPr>
        <p:spPr>
          <a:xfrm>
            <a:off x="168770" y="3189510"/>
            <a:ext cx="1368000" cy="187200"/>
          </a:xfrm>
          <a:prstGeom prst="rect">
            <a:avLst/>
          </a:prstGeom>
          <a:noFill/>
        </p:spPr>
        <p:txBody>
          <a:bodyPr wrap="square">
            <a:spAutoFit/>
          </a:bodyPr>
          <a:lstStyle/>
          <a:p>
            <a:pPr algn="l"/>
            <a:r>
              <a:rPr sz="950" b="1" i="0">
                <a:solidFill>
                  <a:srgbClr val="212121"/>
                </a:solidFill>
                <a:latin typeface="Calibri" panose="020F0502020204030204"/>
              </a:rPr>
              <a:t>Bifacial (ek)</a:t>
            </a:r>
            <a:endParaRPr sz="950" b="1" i="0">
              <a:solidFill>
                <a:srgbClr val="212121"/>
              </a:solidFill>
              <a:latin typeface="Calibri" panose="020F0502020204030204"/>
            </a:endParaRPr>
          </a:p>
        </p:txBody>
      </p:sp>
      <p:sp>
        <p:nvSpPr>
          <p:cNvPr id="88" name="TextBox 87"/>
          <p:cNvSpPr txBox="1"/>
          <p:nvPr/>
        </p:nvSpPr>
        <p:spPr>
          <a:xfrm>
            <a:off x="154800" y="2988330"/>
            <a:ext cx="1368000" cy="187200"/>
          </a:xfrm>
          <a:prstGeom prst="rect">
            <a:avLst/>
          </a:prstGeom>
          <a:noFill/>
        </p:spPr>
        <p:txBody>
          <a:bodyPr wrap="square">
            <a:spAutoFit/>
          </a:bodyPr>
          <a:lstStyle/>
          <a:p>
            <a:pPr algn="l"/>
            <a:r>
              <a:rPr sz="950" b="1" i="0">
                <a:solidFill>
                  <a:srgbClr val="212121"/>
                </a:solidFill>
                <a:latin typeface="Calibri" panose="020F0502020204030204"/>
              </a:rPr>
              <a:t>HJT</a:t>
            </a:r>
            <a:endParaRPr sz="950" b="1" i="0">
              <a:solidFill>
                <a:srgbClr val="212121"/>
              </a:solidFill>
              <a:latin typeface="Calibri" panose="020F0502020204030204"/>
            </a:endParaRPr>
          </a:p>
        </p:txBody>
      </p:sp>
      <p:sp>
        <p:nvSpPr>
          <p:cNvPr id="76" name="TextBox 75"/>
          <p:cNvSpPr txBox="1"/>
          <p:nvPr/>
        </p:nvSpPr>
        <p:spPr>
          <a:xfrm>
            <a:off x="179565" y="2764925"/>
            <a:ext cx="1368000" cy="187200"/>
          </a:xfrm>
          <a:prstGeom prst="rect">
            <a:avLst/>
          </a:prstGeom>
          <a:noFill/>
        </p:spPr>
        <p:txBody>
          <a:bodyPr wrap="square">
            <a:spAutoFit/>
          </a:bodyPr>
          <a:lstStyle/>
          <a:p>
            <a:pPr algn="l"/>
            <a:r>
              <a:rPr sz="950" b="1" i="0">
                <a:solidFill>
                  <a:srgbClr val="212121"/>
                </a:solidFill>
                <a:latin typeface="Calibri" panose="020F0502020204030204"/>
              </a:rPr>
              <a:t>TOPCon</a:t>
            </a:r>
            <a:endParaRPr sz="950" b="1" i="0">
              <a:solidFill>
                <a:srgbClr val="212121"/>
              </a:solidFill>
              <a:latin typeface="Calibri" panose="020F0502020204030204"/>
            </a:endParaRPr>
          </a:p>
        </p:txBody>
      </p:sp>
      <p:sp>
        <p:nvSpPr>
          <p:cNvPr id="64" name="TextBox 63"/>
          <p:cNvSpPr txBox="1"/>
          <p:nvPr/>
        </p:nvSpPr>
        <p:spPr>
          <a:xfrm>
            <a:off x="154800" y="2563745"/>
            <a:ext cx="1368000" cy="187200"/>
          </a:xfrm>
          <a:prstGeom prst="rect">
            <a:avLst/>
          </a:prstGeom>
          <a:noFill/>
        </p:spPr>
        <p:txBody>
          <a:bodyPr wrap="square">
            <a:spAutoFit/>
          </a:bodyPr>
          <a:lstStyle/>
          <a:p>
            <a:pPr algn="l"/>
            <a:r>
              <a:rPr sz="950" b="1" i="0">
                <a:solidFill>
                  <a:srgbClr val="212121"/>
                </a:solidFill>
                <a:latin typeface="Calibri" panose="020F0502020204030204"/>
              </a:rPr>
              <a:t>Mono PERC</a:t>
            </a:r>
            <a:endParaRPr sz="950" b="1" i="0">
              <a:solidFill>
                <a:srgbClr val="212121"/>
              </a:solidFill>
              <a:latin typeface="Calibri" panose="020F0502020204030204"/>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8F9FA"/>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486000"/>
          </a:xfrm>
          <a:prstGeom prst="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86000"/>
            <a:ext cx="9144000" cy="32400"/>
          </a:xfrm>
          <a:prstGeom prst="rect">
            <a:avLst/>
          </a:prstGeom>
          <a:solidFill>
            <a:srgbClr val="C890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4860000"/>
            <a:ext cx="9144000" cy="2844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80000" y="4860000"/>
            <a:ext cx="8784000" cy="284400"/>
          </a:xfrm>
          <a:prstGeom prst="rect">
            <a:avLst/>
          </a:prstGeom>
          <a:noFill/>
        </p:spPr>
        <p:txBody>
          <a:bodyPr wrap="square">
            <a:spAutoFit/>
          </a:bodyPr>
          <a:lstStyle/>
          <a:p>
            <a:pPr algn="ctr"/>
            <a:r>
              <a:rPr sz="850" b="0" i="0">
                <a:solidFill>
                  <a:srgbClr val="FFFFFF"/>
                </a:solidFill>
                <a:latin typeface="Calibri" panose="020F0502020204030204"/>
              </a:rPr>
              <a:t>SAÜ EEM  |  İzmir Yenilenebilir Enerji Analizi</a:t>
            </a:r>
            <a:endParaRPr sz="850" b="0" i="0">
              <a:solidFill>
                <a:srgbClr val="FFFFFF"/>
              </a:solidFill>
              <a:latin typeface="Calibri" panose="020F0502020204030204"/>
            </a:endParaRPr>
          </a:p>
        </p:txBody>
      </p:sp>
      <p:sp>
        <p:nvSpPr>
          <p:cNvPr id="6" name="TextBox 5"/>
          <p:cNvSpPr txBox="1"/>
          <p:nvPr/>
        </p:nvSpPr>
        <p:spPr>
          <a:xfrm>
            <a:off x="216000" y="18000"/>
            <a:ext cx="8640000" cy="450000"/>
          </a:xfrm>
          <a:prstGeom prst="rect">
            <a:avLst/>
          </a:prstGeom>
          <a:noFill/>
        </p:spPr>
        <p:txBody>
          <a:bodyPr wrap="square">
            <a:spAutoFit/>
          </a:bodyPr>
          <a:lstStyle/>
          <a:p>
            <a:pPr algn="l"/>
            <a:r>
              <a:rPr sz="1700" b="1" i="0">
                <a:solidFill>
                  <a:srgbClr val="FFFFFF"/>
                </a:solidFill>
                <a:latin typeface="Calibri" panose="020F0502020204030204"/>
              </a:rPr>
              <a:t>Güneş Enerjisi (GES) — Kurulum Tipleri ve İzmir İçin En Uygun Seçenek</a:t>
            </a:r>
            <a:endParaRPr sz="1700" b="1" i="0">
              <a:solidFill>
                <a:srgbClr val="FFFFFF"/>
              </a:solidFill>
              <a:latin typeface="Calibri" panose="020F0502020204030204"/>
            </a:endParaRPr>
          </a:p>
        </p:txBody>
      </p:sp>
      <p:sp>
        <p:nvSpPr>
          <p:cNvPr id="7" name="Rectangle 6"/>
          <p:cNvSpPr/>
          <p:nvPr/>
        </p:nvSpPr>
        <p:spPr>
          <a:xfrm>
            <a:off x="125999" y="558000"/>
            <a:ext cx="1565999" cy="1015200"/>
          </a:xfrm>
          <a:prstGeom prst="rect">
            <a:avLst/>
          </a:prstGeom>
          <a:solidFill>
            <a:srgbClr val="FEF9E7"/>
          </a:solidFill>
          <a:ln w="12700">
            <a:solidFill>
              <a:srgbClr val="E67E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25730" y="558165"/>
            <a:ext cx="1565910" cy="354965"/>
          </a:xfrm>
          <a:prstGeom prst="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79705" y="565150"/>
            <a:ext cx="1494155" cy="347980"/>
          </a:xfrm>
          <a:prstGeom prst="rect">
            <a:avLst/>
          </a:prstGeom>
          <a:noFill/>
        </p:spPr>
        <p:txBody>
          <a:bodyPr wrap="square">
            <a:noAutofit/>
          </a:bodyPr>
          <a:lstStyle/>
          <a:p>
            <a:pPr algn="ctr"/>
            <a:r>
              <a:rPr sz="1000" b="1" i="0">
                <a:solidFill>
                  <a:schemeClr val="tx1"/>
                </a:solidFill>
                <a:latin typeface="Calibri" panose="020F0502020204030204"/>
              </a:rPr>
              <a:t>Sabit Eğimli
(Fixed Tilt)</a:t>
            </a:r>
            <a:endParaRPr sz="1000" b="1" i="0">
              <a:solidFill>
                <a:schemeClr val="tx1"/>
              </a:solidFill>
              <a:latin typeface="Calibri" panose="020F0502020204030204"/>
            </a:endParaRPr>
          </a:p>
        </p:txBody>
      </p:sp>
      <p:sp>
        <p:nvSpPr>
          <p:cNvPr id="10" name="TextBox 9"/>
          <p:cNvSpPr txBox="1"/>
          <p:nvPr/>
        </p:nvSpPr>
        <p:spPr>
          <a:xfrm>
            <a:off x="198415" y="913060"/>
            <a:ext cx="1458000" cy="791999"/>
          </a:xfrm>
          <a:prstGeom prst="rect">
            <a:avLst/>
          </a:prstGeom>
          <a:noFill/>
        </p:spPr>
        <p:txBody>
          <a:bodyPr wrap="square">
            <a:spAutoFit/>
          </a:bodyPr>
          <a:lstStyle/>
          <a:p>
            <a:pPr algn="l"/>
            <a:r>
              <a:rPr sz="950" b="0" i="0">
                <a:solidFill>
                  <a:srgbClr val="212121"/>
                </a:solidFill>
                <a:latin typeface="Calibri" panose="020F0502020204030204"/>
              </a:rPr>
              <a:t>• En basit, düşük maliyet
• β = 32° (İzmir için opt.)
• Mevsimsel verim kaybı
• Bakım: çok kolay</a:t>
            </a:r>
            <a:endParaRPr sz="950" b="0" i="0">
              <a:solidFill>
                <a:srgbClr val="212121"/>
              </a:solidFill>
              <a:latin typeface="Calibri" panose="020F0502020204030204"/>
            </a:endParaRPr>
          </a:p>
        </p:txBody>
      </p:sp>
      <p:sp>
        <p:nvSpPr>
          <p:cNvPr id="11" name="Rectangle 10"/>
          <p:cNvSpPr/>
          <p:nvPr/>
        </p:nvSpPr>
        <p:spPr>
          <a:xfrm>
            <a:off x="1799999" y="558000"/>
            <a:ext cx="1565999" cy="1015200"/>
          </a:xfrm>
          <a:prstGeom prst="rect">
            <a:avLst/>
          </a:prstGeom>
          <a:solidFill>
            <a:srgbClr val="EBF5FB"/>
          </a:solidFill>
          <a:ln w="12700">
            <a:solidFill>
              <a:srgbClr val="2E8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800225" y="558165"/>
            <a:ext cx="1565910" cy="3505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835999" y="565200"/>
            <a:ext cx="1493999" cy="172800"/>
          </a:xfrm>
          <a:prstGeom prst="rect">
            <a:avLst/>
          </a:prstGeom>
          <a:noFill/>
        </p:spPr>
        <p:txBody>
          <a:bodyPr wrap="square">
            <a:spAutoFit/>
          </a:bodyPr>
          <a:lstStyle/>
          <a:p>
            <a:pPr algn="ctr"/>
            <a:r>
              <a:rPr sz="1000" b="1" i="0">
                <a:solidFill>
                  <a:schemeClr val="tx1"/>
                </a:solidFill>
                <a:latin typeface="Calibri" panose="020F0502020204030204"/>
              </a:rPr>
              <a:t>Tek Eksenli
Tracker</a:t>
            </a:r>
            <a:endParaRPr sz="1000" b="1" i="0">
              <a:solidFill>
                <a:schemeClr val="tx1"/>
              </a:solidFill>
              <a:latin typeface="Calibri" panose="020F0502020204030204"/>
            </a:endParaRPr>
          </a:p>
        </p:txBody>
      </p:sp>
      <p:sp>
        <p:nvSpPr>
          <p:cNvPr id="14" name="TextBox 13"/>
          <p:cNvSpPr txBox="1"/>
          <p:nvPr/>
        </p:nvSpPr>
        <p:spPr>
          <a:xfrm>
            <a:off x="1871779" y="857180"/>
            <a:ext cx="1458000" cy="791999"/>
          </a:xfrm>
          <a:prstGeom prst="rect">
            <a:avLst/>
          </a:prstGeom>
          <a:noFill/>
        </p:spPr>
        <p:txBody>
          <a:bodyPr wrap="square">
            <a:spAutoFit/>
          </a:bodyPr>
          <a:lstStyle/>
          <a:p>
            <a:pPr algn="l"/>
            <a:r>
              <a:rPr sz="950" b="0" i="0">
                <a:solidFill>
                  <a:srgbClr val="212121"/>
                </a:solidFill>
                <a:latin typeface="Calibri" panose="020F0502020204030204"/>
              </a:rPr>
              <a:t>• Yatay eksen E→B takip
• +%15–25 enerji artışı
• Orta maliyet (+%20)
• Mekanik bakım gerekir</a:t>
            </a:r>
            <a:endParaRPr sz="950" b="0" i="0">
              <a:solidFill>
                <a:srgbClr val="212121"/>
              </a:solidFill>
              <a:latin typeface="Calibri" panose="020F0502020204030204"/>
            </a:endParaRPr>
          </a:p>
        </p:txBody>
      </p:sp>
      <p:sp>
        <p:nvSpPr>
          <p:cNvPr id="15" name="Rectangle 14"/>
          <p:cNvSpPr/>
          <p:nvPr/>
        </p:nvSpPr>
        <p:spPr>
          <a:xfrm>
            <a:off x="3473999" y="558000"/>
            <a:ext cx="1565999" cy="1015200"/>
          </a:xfrm>
          <a:prstGeom prst="rect">
            <a:avLst/>
          </a:prstGeom>
          <a:solidFill>
            <a:srgbClr val="E8F8F5"/>
          </a:solidFill>
          <a:ln w="12700">
            <a:solidFill>
              <a:srgbClr val="1D6A7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474085" y="558165"/>
            <a:ext cx="1565910" cy="354330"/>
          </a:xfrm>
          <a:prstGeom prst="rect">
            <a:avLst/>
          </a:prstGeom>
          <a:solidFill>
            <a:srgbClr val="1D6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527779" y="518210"/>
            <a:ext cx="1493999" cy="172800"/>
          </a:xfrm>
          <a:prstGeom prst="rect">
            <a:avLst/>
          </a:prstGeom>
          <a:noFill/>
        </p:spPr>
        <p:txBody>
          <a:bodyPr wrap="square">
            <a:spAutoFit/>
          </a:bodyPr>
          <a:lstStyle/>
          <a:p>
            <a:pPr algn="ctr"/>
            <a:r>
              <a:rPr sz="1000" b="1" i="0">
                <a:solidFill>
                  <a:schemeClr val="tx1"/>
                </a:solidFill>
                <a:latin typeface="Calibri" panose="020F0502020204030204"/>
              </a:rPr>
              <a:t>Çift Eksenli
Tracker</a:t>
            </a:r>
            <a:endParaRPr sz="1000" b="1" i="0">
              <a:solidFill>
                <a:schemeClr val="tx1"/>
              </a:solidFill>
              <a:latin typeface="Calibri" panose="020F0502020204030204"/>
            </a:endParaRPr>
          </a:p>
        </p:txBody>
      </p:sp>
      <p:sp>
        <p:nvSpPr>
          <p:cNvPr id="18" name="TextBox 17"/>
          <p:cNvSpPr txBox="1"/>
          <p:nvPr/>
        </p:nvSpPr>
        <p:spPr>
          <a:xfrm>
            <a:off x="3527999" y="913060"/>
            <a:ext cx="1458000" cy="791999"/>
          </a:xfrm>
          <a:prstGeom prst="rect">
            <a:avLst/>
          </a:prstGeom>
          <a:noFill/>
        </p:spPr>
        <p:txBody>
          <a:bodyPr wrap="square">
            <a:spAutoFit/>
          </a:bodyPr>
          <a:lstStyle/>
          <a:p>
            <a:pPr algn="l"/>
            <a:r>
              <a:rPr sz="950" b="0" i="0">
                <a:solidFill>
                  <a:srgbClr val="212121"/>
                </a:solidFill>
                <a:latin typeface="Calibri" panose="020F0502020204030204"/>
              </a:rPr>
              <a:t>• Tam güneş takibi
• +%30–40 enerji artışı
• Yüksek maliyet (+%40)
• Karmaşık bakım</a:t>
            </a:r>
            <a:endParaRPr sz="950" b="0" i="0">
              <a:solidFill>
                <a:srgbClr val="212121"/>
              </a:solidFill>
              <a:latin typeface="Calibri" panose="020F0502020204030204"/>
            </a:endParaRPr>
          </a:p>
        </p:txBody>
      </p:sp>
      <p:sp>
        <p:nvSpPr>
          <p:cNvPr id="19" name="Rectangle 18"/>
          <p:cNvSpPr/>
          <p:nvPr/>
        </p:nvSpPr>
        <p:spPr>
          <a:xfrm>
            <a:off x="5148000" y="558000"/>
            <a:ext cx="1565999" cy="1015200"/>
          </a:xfrm>
          <a:prstGeom prst="rect">
            <a:avLst/>
          </a:prstGeom>
          <a:solidFill>
            <a:srgbClr val="D5F5E3"/>
          </a:solidFill>
          <a:ln w="12700">
            <a:solidFill>
              <a:srgbClr val="1E844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47945" y="558165"/>
            <a:ext cx="1565910" cy="354330"/>
          </a:xfrm>
          <a:prstGeom prst="rect">
            <a:avLst/>
          </a:prstGeom>
          <a:solidFill>
            <a:srgbClr val="1E84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183999" y="518210"/>
            <a:ext cx="1493999" cy="172800"/>
          </a:xfrm>
          <a:prstGeom prst="rect">
            <a:avLst/>
          </a:prstGeom>
          <a:noFill/>
        </p:spPr>
        <p:txBody>
          <a:bodyPr wrap="square">
            <a:spAutoFit/>
          </a:bodyPr>
          <a:lstStyle/>
          <a:p>
            <a:pPr algn="ctr"/>
            <a:r>
              <a:rPr sz="1000" b="1" i="0">
                <a:solidFill>
                  <a:schemeClr val="tx1"/>
                </a:solidFill>
                <a:latin typeface="Calibri" panose="020F0502020204030204"/>
              </a:rPr>
              <a:t>Çatı Üstü
(Rooftop PV)</a:t>
            </a:r>
            <a:endParaRPr sz="1000" b="1" i="0">
              <a:solidFill>
                <a:schemeClr val="tx1"/>
              </a:solidFill>
              <a:latin typeface="Calibri" panose="020F0502020204030204"/>
            </a:endParaRPr>
          </a:p>
        </p:txBody>
      </p:sp>
      <p:sp>
        <p:nvSpPr>
          <p:cNvPr id="22" name="TextBox 21"/>
          <p:cNvSpPr txBox="1"/>
          <p:nvPr/>
        </p:nvSpPr>
        <p:spPr>
          <a:xfrm>
            <a:off x="5184220" y="912425"/>
            <a:ext cx="1458000" cy="791999"/>
          </a:xfrm>
          <a:prstGeom prst="rect">
            <a:avLst/>
          </a:prstGeom>
          <a:noFill/>
        </p:spPr>
        <p:txBody>
          <a:bodyPr wrap="square">
            <a:spAutoFit/>
          </a:bodyPr>
          <a:lstStyle/>
          <a:p>
            <a:pPr algn="l"/>
            <a:r>
              <a:rPr sz="950" b="0" i="0">
                <a:solidFill>
                  <a:srgbClr val="212121"/>
                </a:solidFill>
                <a:latin typeface="Calibri" panose="020F0502020204030204"/>
              </a:rPr>
              <a:t>• Kentsel kullanım
• Arazi maliyeti yok
• Daha düşük ölçek
• Yapı güçl. gerekir</a:t>
            </a:r>
            <a:endParaRPr sz="950" b="0" i="0">
              <a:solidFill>
                <a:srgbClr val="212121"/>
              </a:solidFill>
              <a:latin typeface="Calibri" panose="020F0502020204030204"/>
            </a:endParaRPr>
          </a:p>
        </p:txBody>
      </p:sp>
      <p:sp>
        <p:nvSpPr>
          <p:cNvPr id="23" name="Rectangle 22"/>
          <p:cNvSpPr/>
          <p:nvPr/>
        </p:nvSpPr>
        <p:spPr>
          <a:xfrm>
            <a:off x="6822000" y="558000"/>
            <a:ext cx="1565999" cy="1015200"/>
          </a:xfrm>
          <a:prstGeom prst="rect">
            <a:avLst/>
          </a:prstGeom>
          <a:solidFill>
            <a:srgbClr val="F5EEF8"/>
          </a:solidFill>
          <a:ln w="12700">
            <a:solidFill>
              <a:srgbClr val="6C348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821805" y="558165"/>
            <a:ext cx="1565910" cy="354965"/>
          </a:xfrm>
          <a:prstGeom prst="rect">
            <a:avLst/>
          </a:prstGeom>
          <a:solidFill>
            <a:srgbClr val="6C34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93560" y="558165"/>
            <a:ext cx="1494155" cy="198120"/>
          </a:xfrm>
          <a:prstGeom prst="rect">
            <a:avLst/>
          </a:prstGeom>
          <a:noFill/>
        </p:spPr>
        <p:txBody>
          <a:bodyPr wrap="square">
            <a:noAutofit/>
          </a:bodyPr>
          <a:lstStyle/>
          <a:p>
            <a:pPr algn="ctr"/>
            <a:r>
              <a:rPr sz="1000" b="1" i="0">
                <a:solidFill>
                  <a:schemeClr val="tx1"/>
                </a:solidFill>
                <a:latin typeface="Calibri" panose="020F0502020204030204"/>
              </a:rPr>
              <a:t>Tarım-PV
(Agri-PV)</a:t>
            </a:r>
            <a:endParaRPr sz="1000" b="1" i="0">
              <a:solidFill>
                <a:schemeClr val="tx1"/>
              </a:solidFill>
              <a:latin typeface="Calibri" panose="020F0502020204030204"/>
            </a:endParaRPr>
          </a:p>
        </p:txBody>
      </p:sp>
      <p:sp>
        <p:nvSpPr>
          <p:cNvPr id="26" name="TextBox 25"/>
          <p:cNvSpPr txBox="1"/>
          <p:nvPr/>
        </p:nvSpPr>
        <p:spPr>
          <a:xfrm>
            <a:off x="6822024" y="912425"/>
            <a:ext cx="1458000" cy="791999"/>
          </a:xfrm>
          <a:prstGeom prst="rect">
            <a:avLst/>
          </a:prstGeom>
          <a:noFill/>
        </p:spPr>
        <p:txBody>
          <a:bodyPr wrap="square">
            <a:spAutoFit/>
          </a:bodyPr>
          <a:lstStyle/>
          <a:p>
            <a:pPr algn="l"/>
            <a:r>
              <a:rPr sz="950" b="0" i="0">
                <a:solidFill>
                  <a:srgbClr val="212121"/>
                </a:solidFill>
                <a:latin typeface="Calibri" panose="020F0502020204030204"/>
              </a:rPr>
              <a:t>• Panel + tarım bir arada
• Gölge → su tasarrufu
• Çifte gelir imkânı
• Seçili bitkilerle uyumlu</a:t>
            </a:r>
            <a:endParaRPr sz="950" b="0" i="0">
              <a:solidFill>
                <a:srgbClr val="212121"/>
              </a:solidFill>
              <a:latin typeface="Calibri" panose="020F0502020204030204"/>
            </a:endParaRPr>
          </a:p>
        </p:txBody>
      </p:sp>
      <p:sp>
        <p:nvSpPr>
          <p:cNvPr id="27" name="Rectangle 26"/>
          <p:cNvSpPr/>
          <p:nvPr/>
        </p:nvSpPr>
        <p:spPr>
          <a:xfrm>
            <a:off x="125730" y="1638300"/>
            <a:ext cx="8891905" cy="32385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80000" y="1648800"/>
            <a:ext cx="1224000" cy="129600"/>
          </a:xfrm>
          <a:prstGeom prst="rect">
            <a:avLst/>
          </a:prstGeom>
          <a:noFill/>
        </p:spPr>
        <p:txBody>
          <a:bodyPr wrap="square">
            <a:spAutoFit/>
          </a:bodyPr>
          <a:lstStyle/>
          <a:p>
            <a:pPr algn="ctr"/>
            <a:r>
              <a:rPr sz="950" b="1" i="0">
                <a:solidFill>
                  <a:srgbClr val="FFFFFF"/>
                </a:solidFill>
                <a:latin typeface="Calibri" panose="020F0502020204030204"/>
              </a:rPr>
              <a:t>Kriter</a:t>
            </a:r>
            <a:endParaRPr sz="950" b="1" i="0">
              <a:solidFill>
                <a:srgbClr val="FFFFFF"/>
              </a:solidFill>
              <a:latin typeface="Calibri" panose="020F0502020204030204"/>
            </a:endParaRPr>
          </a:p>
        </p:txBody>
      </p:sp>
      <p:sp>
        <p:nvSpPr>
          <p:cNvPr id="29" name="TextBox 28"/>
          <p:cNvSpPr txBox="1"/>
          <p:nvPr/>
        </p:nvSpPr>
        <p:spPr>
          <a:xfrm>
            <a:off x="1440000" y="1648800"/>
            <a:ext cx="1332000" cy="129600"/>
          </a:xfrm>
          <a:prstGeom prst="rect">
            <a:avLst/>
          </a:prstGeom>
          <a:noFill/>
        </p:spPr>
        <p:txBody>
          <a:bodyPr wrap="square">
            <a:spAutoFit/>
          </a:bodyPr>
          <a:lstStyle/>
          <a:p>
            <a:pPr algn="ctr"/>
            <a:r>
              <a:rPr sz="950" b="1" i="0">
                <a:solidFill>
                  <a:srgbClr val="FFFFFF"/>
                </a:solidFill>
                <a:latin typeface="Calibri" panose="020F0502020204030204"/>
              </a:rPr>
              <a:t>Sabit Eğim</a:t>
            </a:r>
            <a:endParaRPr sz="950" b="1" i="0">
              <a:solidFill>
                <a:srgbClr val="FFFFFF"/>
              </a:solidFill>
              <a:latin typeface="Calibri" panose="020F0502020204030204"/>
            </a:endParaRPr>
          </a:p>
        </p:txBody>
      </p:sp>
      <p:sp>
        <p:nvSpPr>
          <p:cNvPr id="30" name="TextBox 29"/>
          <p:cNvSpPr txBox="1"/>
          <p:nvPr/>
        </p:nvSpPr>
        <p:spPr>
          <a:xfrm>
            <a:off x="2808000" y="1648800"/>
            <a:ext cx="1332000" cy="129600"/>
          </a:xfrm>
          <a:prstGeom prst="rect">
            <a:avLst/>
          </a:prstGeom>
          <a:noFill/>
        </p:spPr>
        <p:txBody>
          <a:bodyPr wrap="square">
            <a:spAutoFit/>
          </a:bodyPr>
          <a:lstStyle/>
          <a:p>
            <a:pPr algn="ctr"/>
            <a:r>
              <a:rPr sz="950" b="1" i="0">
                <a:solidFill>
                  <a:srgbClr val="FFFFFF"/>
                </a:solidFill>
                <a:latin typeface="Calibri" panose="020F0502020204030204"/>
              </a:rPr>
              <a:t>Tek Eksen</a:t>
            </a:r>
            <a:endParaRPr sz="950" b="1" i="0">
              <a:solidFill>
                <a:srgbClr val="FFFFFF"/>
              </a:solidFill>
              <a:latin typeface="Calibri" panose="020F0502020204030204"/>
            </a:endParaRPr>
          </a:p>
        </p:txBody>
      </p:sp>
      <p:sp>
        <p:nvSpPr>
          <p:cNvPr id="31" name="TextBox 30"/>
          <p:cNvSpPr txBox="1"/>
          <p:nvPr/>
        </p:nvSpPr>
        <p:spPr>
          <a:xfrm>
            <a:off x="4176000" y="1648800"/>
            <a:ext cx="1332000" cy="129600"/>
          </a:xfrm>
          <a:prstGeom prst="rect">
            <a:avLst/>
          </a:prstGeom>
          <a:noFill/>
        </p:spPr>
        <p:txBody>
          <a:bodyPr wrap="square">
            <a:spAutoFit/>
          </a:bodyPr>
          <a:lstStyle/>
          <a:p>
            <a:pPr algn="ctr"/>
            <a:r>
              <a:rPr sz="950" b="1" i="0">
                <a:solidFill>
                  <a:srgbClr val="FFFFFF"/>
                </a:solidFill>
                <a:latin typeface="Calibri" panose="020F0502020204030204"/>
              </a:rPr>
              <a:t>Çift Eksen</a:t>
            </a:r>
            <a:endParaRPr sz="950" b="1" i="0">
              <a:solidFill>
                <a:srgbClr val="FFFFFF"/>
              </a:solidFill>
              <a:latin typeface="Calibri" panose="020F0502020204030204"/>
            </a:endParaRPr>
          </a:p>
        </p:txBody>
      </p:sp>
      <p:sp>
        <p:nvSpPr>
          <p:cNvPr id="32" name="TextBox 31"/>
          <p:cNvSpPr txBox="1"/>
          <p:nvPr/>
        </p:nvSpPr>
        <p:spPr>
          <a:xfrm>
            <a:off x="5543999" y="1648800"/>
            <a:ext cx="1080000" cy="129600"/>
          </a:xfrm>
          <a:prstGeom prst="rect">
            <a:avLst/>
          </a:prstGeom>
          <a:noFill/>
        </p:spPr>
        <p:txBody>
          <a:bodyPr wrap="square">
            <a:spAutoFit/>
          </a:bodyPr>
          <a:lstStyle/>
          <a:p>
            <a:pPr algn="ctr"/>
            <a:r>
              <a:rPr sz="950" b="1" i="0">
                <a:solidFill>
                  <a:srgbClr val="FFFFFF"/>
                </a:solidFill>
                <a:latin typeface="Calibri" panose="020F0502020204030204"/>
              </a:rPr>
              <a:t>Çatı</a:t>
            </a:r>
            <a:endParaRPr sz="950" b="1" i="0">
              <a:solidFill>
                <a:srgbClr val="FFFFFF"/>
              </a:solidFill>
              <a:latin typeface="Calibri" panose="020F0502020204030204"/>
            </a:endParaRPr>
          </a:p>
        </p:txBody>
      </p:sp>
      <p:sp>
        <p:nvSpPr>
          <p:cNvPr id="33" name="TextBox 32"/>
          <p:cNvSpPr txBox="1"/>
          <p:nvPr/>
        </p:nvSpPr>
        <p:spPr>
          <a:xfrm>
            <a:off x="6660000" y="1648800"/>
            <a:ext cx="1080000" cy="129600"/>
          </a:xfrm>
          <a:prstGeom prst="rect">
            <a:avLst/>
          </a:prstGeom>
          <a:noFill/>
        </p:spPr>
        <p:txBody>
          <a:bodyPr wrap="square">
            <a:spAutoFit/>
          </a:bodyPr>
          <a:lstStyle/>
          <a:p>
            <a:pPr algn="ctr"/>
            <a:r>
              <a:rPr sz="950" b="1" i="0">
                <a:solidFill>
                  <a:srgbClr val="FFFFFF"/>
                </a:solidFill>
                <a:latin typeface="Calibri" panose="020F0502020204030204"/>
              </a:rPr>
              <a:t>Agri-PV</a:t>
            </a:r>
            <a:endParaRPr sz="950" b="1" i="0">
              <a:solidFill>
                <a:srgbClr val="FFFFFF"/>
              </a:solidFill>
              <a:latin typeface="Calibri" panose="020F0502020204030204"/>
            </a:endParaRPr>
          </a:p>
        </p:txBody>
      </p:sp>
      <p:sp>
        <p:nvSpPr>
          <p:cNvPr id="35" name="TextBox 34"/>
          <p:cNvSpPr txBox="1"/>
          <p:nvPr/>
        </p:nvSpPr>
        <p:spPr>
          <a:xfrm>
            <a:off x="180000" y="1961715"/>
            <a:ext cx="1224000" cy="158400"/>
          </a:xfrm>
          <a:prstGeom prst="rect">
            <a:avLst/>
          </a:prstGeom>
          <a:noFill/>
        </p:spPr>
        <p:txBody>
          <a:bodyPr wrap="square">
            <a:spAutoFit/>
          </a:bodyPr>
          <a:lstStyle/>
          <a:p>
            <a:pPr algn="l"/>
            <a:r>
              <a:rPr sz="900" b="1" i="0">
                <a:solidFill>
                  <a:srgbClr val="1B3A6B"/>
                </a:solidFill>
                <a:latin typeface="Calibri" panose="020F0502020204030204"/>
              </a:rPr>
              <a:t>Kurulum Maliyeti</a:t>
            </a:r>
            <a:endParaRPr sz="900" b="1" i="0">
              <a:solidFill>
                <a:srgbClr val="1B3A6B"/>
              </a:solidFill>
              <a:latin typeface="Calibri" panose="020F0502020204030204"/>
            </a:endParaRPr>
          </a:p>
        </p:txBody>
      </p:sp>
      <p:sp>
        <p:nvSpPr>
          <p:cNvPr id="36" name="TextBox 35"/>
          <p:cNvSpPr txBox="1"/>
          <p:nvPr/>
        </p:nvSpPr>
        <p:spPr>
          <a:xfrm>
            <a:off x="1440000" y="1961715"/>
            <a:ext cx="1332000" cy="158400"/>
          </a:xfrm>
          <a:prstGeom prst="rect">
            <a:avLst/>
          </a:prstGeom>
          <a:noFill/>
        </p:spPr>
        <p:txBody>
          <a:bodyPr wrap="square">
            <a:spAutoFit/>
          </a:bodyPr>
          <a:lstStyle/>
          <a:p>
            <a:pPr algn="ctr"/>
            <a:r>
              <a:rPr sz="900" b="0" i="0">
                <a:solidFill>
                  <a:srgbClr val="212121"/>
                </a:solidFill>
                <a:latin typeface="Calibri" panose="020F0502020204030204"/>
              </a:rPr>
              <a:t>⭐ Düşük</a:t>
            </a:r>
            <a:endParaRPr sz="900" b="0" i="0">
              <a:solidFill>
                <a:srgbClr val="212121"/>
              </a:solidFill>
              <a:latin typeface="Calibri" panose="020F0502020204030204"/>
            </a:endParaRPr>
          </a:p>
        </p:txBody>
      </p:sp>
      <p:sp>
        <p:nvSpPr>
          <p:cNvPr id="37" name="TextBox 36"/>
          <p:cNvSpPr txBox="1"/>
          <p:nvPr/>
        </p:nvSpPr>
        <p:spPr>
          <a:xfrm>
            <a:off x="2808000" y="1961715"/>
            <a:ext cx="1332000" cy="158400"/>
          </a:xfrm>
          <a:prstGeom prst="rect">
            <a:avLst/>
          </a:prstGeom>
          <a:noFill/>
        </p:spPr>
        <p:txBody>
          <a:bodyPr wrap="square">
            <a:spAutoFit/>
          </a:bodyPr>
          <a:lstStyle/>
          <a:p>
            <a:pPr algn="ctr"/>
            <a:r>
              <a:rPr sz="900" b="0" i="0">
                <a:solidFill>
                  <a:srgbClr val="212121"/>
                </a:solidFill>
                <a:latin typeface="Calibri" panose="020F0502020204030204"/>
              </a:rPr>
              <a:t>Orta</a:t>
            </a:r>
            <a:endParaRPr sz="900" b="0" i="0">
              <a:solidFill>
                <a:srgbClr val="212121"/>
              </a:solidFill>
              <a:latin typeface="Calibri" panose="020F0502020204030204"/>
            </a:endParaRPr>
          </a:p>
        </p:txBody>
      </p:sp>
      <p:sp>
        <p:nvSpPr>
          <p:cNvPr id="38" name="TextBox 37"/>
          <p:cNvSpPr txBox="1"/>
          <p:nvPr/>
        </p:nvSpPr>
        <p:spPr>
          <a:xfrm>
            <a:off x="4176000" y="1961715"/>
            <a:ext cx="1332000" cy="158400"/>
          </a:xfrm>
          <a:prstGeom prst="rect">
            <a:avLst/>
          </a:prstGeom>
          <a:noFill/>
        </p:spPr>
        <p:txBody>
          <a:bodyPr wrap="square">
            <a:spAutoFit/>
          </a:bodyPr>
          <a:lstStyle/>
          <a:p>
            <a:pPr algn="ctr"/>
            <a:r>
              <a:rPr sz="900" b="0" i="0">
                <a:solidFill>
                  <a:srgbClr val="212121"/>
                </a:solidFill>
                <a:latin typeface="Calibri" panose="020F0502020204030204"/>
              </a:rPr>
              <a:t>Yüksek</a:t>
            </a:r>
            <a:endParaRPr sz="900" b="0" i="0">
              <a:solidFill>
                <a:srgbClr val="212121"/>
              </a:solidFill>
              <a:latin typeface="Calibri" panose="020F0502020204030204"/>
            </a:endParaRPr>
          </a:p>
        </p:txBody>
      </p:sp>
      <p:sp>
        <p:nvSpPr>
          <p:cNvPr id="39" name="TextBox 38"/>
          <p:cNvSpPr txBox="1"/>
          <p:nvPr/>
        </p:nvSpPr>
        <p:spPr>
          <a:xfrm>
            <a:off x="5543999" y="1961715"/>
            <a:ext cx="1080000" cy="158400"/>
          </a:xfrm>
          <a:prstGeom prst="rect">
            <a:avLst/>
          </a:prstGeom>
          <a:noFill/>
        </p:spPr>
        <p:txBody>
          <a:bodyPr wrap="square">
            <a:spAutoFit/>
          </a:bodyPr>
          <a:lstStyle/>
          <a:p>
            <a:pPr algn="ctr"/>
            <a:r>
              <a:rPr sz="900" b="0" i="0">
                <a:solidFill>
                  <a:srgbClr val="212121"/>
                </a:solidFill>
                <a:latin typeface="Calibri" panose="020F0502020204030204"/>
              </a:rPr>
              <a:t>Orta</a:t>
            </a:r>
            <a:endParaRPr sz="900" b="0" i="0">
              <a:solidFill>
                <a:srgbClr val="212121"/>
              </a:solidFill>
              <a:latin typeface="Calibri" panose="020F0502020204030204"/>
            </a:endParaRPr>
          </a:p>
        </p:txBody>
      </p:sp>
      <p:sp>
        <p:nvSpPr>
          <p:cNvPr id="40" name="TextBox 39"/>
          <p:cNvSpPr txBox="1"/>
          <p:nvPr/>
        </p:nvSpPr>
        <p:spPr>
          <a:xfrm>
            <a:off x="6660000" y="1961715"/>
            <a:ext cx="1080000" cy="158400"/>
          </a:xfrm>
          <a:prstGeom prst="rect">
            <a:avLst/>
          </a:prstGeom>
          <a:noFill/>
        </p:spPr>
        <p:txBody>
          <a:bodyPr wrap="square">
            <a:spAutoFit/>
          </a:bodyPr>
          <a:lstStyle/>
          <a:p>
            <a:pPr algn="ctr"/>
            <a:r>
              <a:rPr sz="900" b="0" i="0">
                <a:solidFill>
                  <a:srgbClr val="212121"/>
                </a:solidFill>
                <a:latin typeface="Calibri" panose="020F0502020204030204"/>
              </a:rPr>
              <a:t>Orta-Yük.</a:t>
            </a:r>
            <a:endParaRPr sz="900" b="0" i="0">
              <a:solidFill>
                <a:srgbClr val="212121"/>
              </a:solidFill>
              <a:latin typeface="Calibri" panose="020F0502020204030204"/>
            </a:endParaRPr>
          </a:p>
        </p:txBody>
      </p:sp>
      <p:sp>
        <p:nvSpPr>
          <p:cNvPr id="42" name="TextBox 41"/>
          <p:cNvSpPr txBox="1"/>
          <p:nvPr/>
        </p:nvSpPr>
        <p:spPr>
          <a:xfrm>
            <a:off x="180000" y="2148915"/>
            <a:ext cx="1224000" cy="158400"/>
          </a:xfrm>
          <a:prstGeom prst="rect">
            <a:avLst/>
          </a:prstGeom>
          <a:noFill/>
        </p:spPr>
        <p:txBody>
          <a:bodyPr wrap="square">
            <a:spAutoFit/>
          </a:bodyPr>
          <a:lstStyle/>
          <a:p>
            <a:pPr algn="l"/>
            <a:r>
              <a:rPr sz="900" b="1" i="0">
                <a:solidFill>
                  <a:srgbClr val="1B3A6B"/>
                </a:solidFill>
                <a:latin typeface="Calibri" panose="020F0502020204030204"/>
              </a:rPr>
              <a:t>Yıllık Verim</a:t>
            </a:r>
            <a:endParaRPr sz="900" b="1" i="0">
              <a:solidFill>
                <a:srgbClr val="1B3A6B"/>
              </a:solidFill>
              <a:latin typeface="Calibri" panose="020F0502020204030204"/>
            </a:endParaRPr>
          </a:p>
        </p:txBody>
      </p:sp>
      <p:sp>
        <p:nvSpPr>
          <p:cNvPr id="43" name="TextBox 42"/>
          <p:cNvSpPr txBox="1"/>
          <p:nvPr/>
        </p:nvSpPr>
        <p:spPr>
          <a:xfrm>
            <a:off x="1440000" y="2148915"/>
            <a:ext cx="1332000" cy="158400"/>
          </a:xfrm>
          <a:prstGeom prst="rect">
            <a:avLst/>
          </a:prstGeom>
          <a:noFill/>
        </p:spPr>
        <p:txBody>
          <a:bodyPr wrap="square">
            <a:spAutoFit/>
          </a:bodyPr>
          <a:lstStyle/>
          <a:p>
            <a:pPr algn="ctr"/>
            <a:r>
              <a:rPr sz="900" b="0" i="0">
                <a:solidFill>
                  <a:srgbClr val="212121"/>
                </a:solidFill>
                <a:latin typeface="Calibri" panose="020F0502020204030204"/>
              </a:rPr>
              <a:t>Baz</a:t>
            </a:r>
            <a:endParaRPr sz="900" b="0" i="0">
              <a:solidFill>
                <a:srgbClr val="212121"/>
              </a:solidFill>
              <a:latin typeface="Calibri" panose="020F0502020204030204"/>
            </a:endParaRPr>
          </a:p>
        </p:txBody>
      </p:sp>
      <p:sp>
        <p:nvSpPr>
          <p:cNvPr id="44" name="TextBox 43"/>
          <p:cNvSpPr txBox="1"/>
          <p:nvPr/>
        </p:nvSpPr>
        <p:spPr>
          <a:xfrm>
            <a:off x="2808000" y="2148915"/>
            <a:ext cx="1332000" cy="158400"/>
          </a:xfrm>
          <a:prstGeom prst="rect">
            <a:avLst/>
          </a:prstGeom>
          <a:noFill/>
        </p:spPr>
        <p:txBody>
          <a:bodyPr wrap="square">
            <a:spAutoFit/>
          </a:bodyPr>
          <a:lstStyle/>
          <a:p>
            <a:pPr algn="ctr"/>
            <a:r>
              <a:rPr sz="900" b="0" i="0">
                <a:solidFill>
                  <a:srgbClr val="212121"/>
                </a:solidFill>
                <a:latin typeface="Calibri" panose="020F0502020204030204"/>
              </a:rPr>
              <a:t>+%15-25</a:t>
            </a:r>
            <a:endParaRPr sz="900" b="0" i="0">
              <a:solidFill>
                <a:srgbClr val="212121"/>
              </a:solidFill>
              <a:latin typeface="Calibri" panose="020F0502020204030204"/>
            </a:endParaRPr>
          </a:p>
        </p:txBody>
      </p:sp>
      <p:sp>
        <p:nvSpPr>
          <p:cNvPr id="45" name="TextBox 44"/>
          <p:cNvSpPr txBox="1"/>
          <p:nvPr/>
        </p:nvSpPr>
        <p:spPr>
          <a:xfrm>
            <a:off x="4176000" y="2148915"/>
            <a:ext cx="1332000" cy="158400"/>
          </a:xfrm>
          <a:prstGeom prst="rect">
            <a:avLst/>
          </a:prstGeom>
          <a:noFill/>
        </p:spPr>
        <p:txBody>
          <a:bodyPr wrap="square">
            <a:spAutoFit/>
          </a:bodyPr>
          <a:lstStyle/>
          <a:p>
            <a:pPr algn="ctr"/>
            <a:r>
              <a:rPr sz="900" b="0" i="0">
                <a:solidFill>
                  <a:srgbClr val="212121"/>
                </a:solidFill>
                <a:latin typeface="Calibri" panose="020F0502020204030204"/>
              </a:rPr>
              <a:t>+%30-40</a:t>
            </a:r>
            <a:endParaRPr sz="900" b="0" i="0">
              <a:solidFill>
                <a:srgbClr val="212121"/>
              </a:solidFill>
              <a:latin typeface="Calibri" panose="020F0502020204030204"/>
            </a:endParaRPr>
          </a:p>
        </p:txBody>
      </p:sp>
      <p:sp>
        <p:nvSpPr>
          <p:cNvPr id="46" name="TextBox 45"/>
          <p:cNvSpPr txBox="1"/>
          <p:nvPr/>
        </p:nvSpPr>
        <p:spPr>
          <a:xfrm>
            <a:off x="5543999" y="2148915"/>
            <a:ext cx="1080000" cy="158400"/>
          </a:xfrm>
          <a:prstGeom prst="rect">
            <a:avLst/>
          </a:prstGeom>
          <a:noFill/>
        </p:spPr>
        <p:txBody>
          <a:bodyPr wrap="square">
            <a:spAutoFit/>
          </a:bodyPr>
          <a:lstStyle/>
          <a:p>
            <a:pPr algn="ctr"/>
            <a:r>
              <a:rPr sz="900" b="0" i="0">
                <a:solidFill>
                  <a:srgbClr val="212121"/>
                </a:solidFill>
                <a:latin typeface="Calibri" panose="020F0502020204030204"/>
              </a:rPr>
              <a:t>Düşük</a:t>
            </a:r>
            <a:endParaRPr sz="900" b="0" i="0">
              <a:solidFill>
                <a:srgbClr val="212121"/>
              </a:solidFill>
              <a:latin typeface="Calibri" panose="020F0502020204030204"/>
            </a:endParaRPr>
          </a:p>
        </p:txBody>
      </p:sp>
      <p:sp>
        <p:nvSpPr>
          <p:cNvPr id="47" name="TextBox 46"/>
          <p:cNvSpPr txBox="1"/>
          <p:nvPr/>
        </p:nvSpPr>
        <p:spPr>
          <a:xfrm>
            <a:off x="6660000" y="2148915"/>
            <a:ext cx="1080000" cy="158400"/>
          </a:xfrm>
          <a:prstGeom prst="rect">
            <a:avLst/>
          </a:prstGeom>
          <a:noFill/>
        </p:spPr>
        <p:txBody>
          <a:bodyPr wrap="square">
            <a:spAutoFit/>
          </a:bodyPr>
          <a:lstStyle/>
          <a:p>
            <a:pPr algn="ctr"/>
            <a:r>
              <a:rPr sz="900" b="0" i="0">
                <a:solidFill>
                  <a:srgbClr val="212121"/>
                </a:solidFill>
                <a:latin typeface="Calibri" panose="020F0502020204030204"/>
              </a:rPr>
              <a:t>+%20</a:t>
            </a:r>
            <a:endParaRPr sz="900" b="0" i="0">
              <a:solidFill>
                <a:srgbClr val="212121"/>
              </a:solidFill>
              <a:latin typeface="Calibri" panose="020F0502020204030204"/>
            </a:endParaRPr>
          </a:p>
        </p:txBody>
      </p:sp>
      <p:sp>
        <p:nvSpPr>
          <p:cNvPr id="49" name="TextBox 48"/>
          <p:cNvSpPr txBox="1"/>
          <p:nvPr/>
        </p:nvSpPr>
        <p:spPr>
          <a:xfrm>
            <a:off x="180000" y="2336115"/>
            <a:ext cx="1224000" cy="158400"/>
          </a:xfrm>
          <a:prstGeom prst="rect">
            <a:avLst/>
          </a:prstGeom>
          <a:noFill/>
        </p:spPr>
        <p:txBody>
          <a:bodyPr wrap="square">
            <a:spAutoFit/>
          </a:bodyPr>
          <a:lstStyle/>
          <a:p>
            <a:pPr algn="l"/>
            <a:r>
              <a:rPr sz="900" b="1" i="0">
                <a:solidFill>
                  <a:srgbClr val="1B3A6B"/>
                </a:solidFill>
                <a:latin typeface="Calibri" panose="020F0502020204030204"/>
              </a:rPr>
              <a:t>Bakım Kolaylığı</a:t>
            </a:r>
            <a:endParaRPr sz="900" b="1" i="0">
              <a:solidFill>
                <a:srgbClr val="1B3A6B"/>
              </a:solidFill>
              <a:latin typeface="Calibri" panose="020F0502020204030204"/>
            </a:endParaRPr>
          </a:p>
        </p:txBody>
      </p:sp>
      <p:sp>
        <p:nvSpPr>
          <p:cNvPr id="50" name="TextBox 49"/>
          <p:cNvSpPr txBox="1"/>
          <p:nvPr/>
        </p:nvSpPr>
        <p:spPr>
          <a:xfrm>
            <a:off x="1440000" y="2336115"/>
            <a:ext cx="1332000" cy="158400"/>
          </a:xfrm>
          <a:prstGeom prst="rect">
            <a:avLst/>
          </a:prstGeom>
          <a:noFill/>
        </p:spPr>
        <p:txBody>
          <a:bodyPr wrap="square">
            <a:spAutoFit/>
          </a:bodyPr>
          <a:lstStyle/>
          <a:p>
            <a:pPr algn="ctr"/>
            <a:r>
              <a:rPr sz="900" b="0" i="0">
                <a:solidFill>
                  <a:srgbClr val="212121"/>
                </a:solidFill>
                <a:latin typeface="Calibri" panose="020F0502020204030204"/>
              </a:rPr>
              <a:t>⭐ Çok kolay</a:t>
            </a:r>
            <a:endParaRPr sz="900" b="0" i="0">
              <a:solidFill>
                <a:srgbClr val="212121"/>
              </a:solidFill>
              <a:latin typeface="Calibri" panose="020F0502020204030204"/>
            </a:endParaRPr>
          </a:p>
        </p:txBody>
      </p:sp>
      <p:sp>
        <p:nvSpPr>
          <p:cNvPr id="51" name="TextBox 50"/>
          <p:cNvSpPr txBox="1"/>
          <p:nvPr/>
        </p:nvSpPr>
        <p:spPr>
          <a:xfrm>
            <a:off x="2808000" y="2336115"/>
            <a:ext cx="1332000" cy="158400"/>
          </a:xfrm>
          <a:prstGeom prst="rect">
            <a:avLst/>
          </a:prstGeom>
          <a:noFill/>
        </p:spPr>
        <p:txBody>
          <a:bodyPr wrap="square">
            <a:spAutoFit/>
          </a:bodyPr>
          <a:lstStyle/>
          <a:p>
            <a:pPr algn="ctr"/>
            <a:r>
              <a:rPr sz="900" b="0" i="0">
                <a:solidFill>
                  <a:srgbClr val="212121"/>
                </a:solidFill>
                <a:latin typeface="Calibri" panose="020F0502020204030204"/>
              </a:rPr>
              <a:t>Orta</a:t>
            </a:r>
            <a:endParaRPr sz="900" b="0" i="0">
              <a:solidFill>
                <a:srgbClr val="212121"/>
              </a:solidFill>
              <a:latin typeface="Calibri" panose="020F0502020204030204"/>
            </a:endParaRPr>
          </a:p>
        </p:txBody>
      </p:sp>
      <p:sp>
        <p:nvSpPr>
          <p:cNvPr id="52" name="TextBox 51"/>
          <p:cNvSpPr txBox="1"/>
          <p:nvPr/>
        </p:nvSpPr>
        <p:spPr>
          <a:xfrm>
            <a:off x="4176000" y="2336115"/>
            <a:ext cx="1332000" cy="158400"/>
          </a:xfrm>
          <a:prstGeom prst="rect">
            <a:avLst/>
          </a:prstGeom>
          <a:noFill/>
        </p:spPr>
        <p:txBody>
          <a:bodyPr wrap="square">
            <a:spAutoFit/>
          </a:bodyPr>
          <a:lstStyle/>
          <a:p>
            <a:pPr algn="ctr"/>
            <a:r>
              <a:rPr sz="900" b="0" i="0">
                <a:solidFill>
                  <a:srgbClr val="212121"/>
                </a:solidFill>
                <a:latin typeface="Calibri" panose="020F0502020204030204"/>
              </a:rPr>
              <a:t>Karmaşık</a:t>
            </a:r>
            <a:endParaRPr sz="900" b="0" i="0">
              <a:solidFill>
                <a:srgbClr val="212121"/>
              </a:solidFill>
              <a:latin typeface="Calibri" panose="020F0502020204030204"/>
            </a:endParaRPr>
          </a:p>
        </p:txBody>
      </p:sp>
      <p:sp>
        <p:nvSpPr>
          <p:cNvPr id="53" name="TextBox 52"/>
          <p:cNvSpPr txBox="1"/>
          <p:nvPr/>
        </p:nvSpPr>
        <p:spPr>
          <a:xfrm>
            <a:off x="5543999" y="2336115"/>
            <a:ext cx="1080000" cy="158400"/>
          </a:xfrm>
          <a:prstGeom prst="rect">
            <a:avLst/>
          </a:prstGeom>
          <a:noFill/>
        </p:spPr>
        <p:txBody>
          <a:bodyPr wrap="square">
            <a:spAutoFit/>
          </a:bodyPr>
          <a:lstStyle/>
          <a:p>
            <a:pPr algn="ctr"/>
            <a:r>
              <a:rPr sz="900" b="0" i="0">
                <a:solidFill>
                  <a:srgbClr val="212121"/>
                </a:solidFill>
                <a:latin typeface="Calibri" panose="020F0502020204030204"/>
              </a:rPr>
              <a:t>Kolay</a:t>
            </a:r>
            <a:endParaRPr sz="900" b="0" i="0">
              <a:solidFill>
                <a:srgbClr val="212121"/>
              </a:solidFill>
              <a:latin typeface="Calibri" panose="020F0502020204030204"/>
            </a:endParaRPr>
          </a:p>
        </p:txBody>
      </p:sp>
      <p:sp>
        <p:nvSpPr>
          <p:cNvPr id="54" name="TextBox 53"/>
          <p:cNvSpPr txBox="1"/>
          <p:nvPr/>
        </p:nvSpPr>
        <p:spPr>
          <a:xfrm>
            <a:off x="6660000" y="2336115"/>
            <a:ext cx="1080000" cy="158400"/>
          </a:xfrm>
          <a:prstGeom prst="rect">
            <a:avLst/>
          </a:prstGeom>
          <a:noFill/>
        </p:spPr>
        <p:txBody>
          <a:bodyPr wrap="square">
            <a:spAutoFit/>
          </a:bodyPr>
          <a:lstStyle/>
          <a:p>
            <a:pPr algn="ctr"/>
            <a:r>
              <a:rPr sz="900" b="0" i="0">
                <a:solidFill>
                  <a:srgbClr val="212121"/>
                </a:solidFill>
                <a:latin typeface="Calibri" panose="020F0502020204030204"/>
              </a:rPr>
              <a:t>Orta</a:t>
            </a:r>
            <a:endParaRPr sz="900" b="0" i="0">
              <a:solidFill>
                <a:srgbClr val="212121"/>
              </a:solidFill>
              <a:latin typeface="Calibri" panose="020F0502020204030204"/>
            </a:endParaRPr>
          </a:p>
        </p:txBody>
      </p:sp>
      <p:sp>
        <p:nvSpPr>
          <p:cNvPr id="56" name="TextBox 55"/>
          <p:cNvSpPr txBox="1"/>
          <p:nvPr/>
        </p:nvSpPr>
        <p:spPr>
          <a:xfrm>
            <a:off x="180000" y="2523315"/>
            <a:ext cx="1224000" cy="158400"/>
          </a:xfrm>
          <a:prstGeom prst="rect">
            <a:avLst/>
          </a:prstGeom>
          <a:noFill/>
        </p:spPr>
        <p:txBody>
          <a:bodyPr wrap="square">
            <a:spAutoFit/>
          </a:bodyPr>
          <a:lstStyle/>
          <a:p>
            <a:pPr algn="l"/>
            <a:r>
              <a:rPr sz="900" b="1" i="0">
                <a:solidFill>
                  <a:srgbClr val="1B3A6B"/>
                </a:solidFill>
                <a:latin typeface="Calibri" panose="020F0502020204030204"/>
              </a:rPr>
              <a:t>İzmir Uygunluğu</a:t>
            </a:r>
            <a:endParaRPr sz="900" b="1" i="0">
              <a:solidFill>
                <a:srgbClr val="1B3A6B"/>
              </a:solidFill>
              <a:latin typeface="Calibri" panose="020F0502020204030204"/>
            </a:endParaRPr>
          </a:p>
        </p:txBody>
      </p:sp>
      <p:sp>
        <p:nvSpPr>
          <p:cNvPr id="57" name="TextBox 56"/>
          <p:cNvSpPr txBox="1"/>
          <p:nvPr/>
        </p:nvSpPr>
        <p:spPr>
          <a:xfrm>
            <a:off x="1440000" y="2523315"/>
            <a:ext cx="1332000" cy="158400"/>
          </a:xfrm>
          <a:prstGeom prst="rect">
            <a:avLst/>
          </a:prstGeom>
          <a:noFill/>
        </p:spPr>
        <p:txBody>
          <a:bodyPr wrap="square">
            <a:spAutoFit/>
          </a:bodyPr>
          <a:lstStyle/>
          <a:p>
            <a:pPr algn="ctr"/>
            <a:r>
              <a:rPr sz="900" b="0" i="0">
                <a:solidFill>
                  <a:srgbClr val="212121"/>
                </a:solidFill>
                <a:latin typeface="Calibri" panose="020F0502020204030204"/>
              </a:rPr>
              <a:t>⭐ Çok uygun</a:t>
            </a:r>
            <a:endParaRPr sz="900" b="0" i="0">
              <a:solidFill>
                <a:srgbClr val="212121"/>
              </a:solidFill>
              <a:latin typeface="Calibri" panose="020F0502020204030204"/>
            </a:endParaRPr>
          </a:p>
        </p:txBody>
      </p:sp>
      <p:sp>
        <p:nvSpPr>
          <p:cNvPr id="58" name="TextBox 57"/>
          <p:cNvSpPr txBox="1"/>
          <p:nvPr/>
        </p:nvSpPr>
        <p:spPr>
          <a:xfrm>
            <a:off x="2808000" y="2523315"/>
            <a:ext cx="1332000" cy="158400"/>
          </a:xfrm>
          <a:prstGeom prst="rect">
            <a:avLst/>
          </a:prstGeom>
          <a:noFill/>
        </p:spPr>
        <p:txBody>
          <a:bodyPr wrap="square">
            <a:spAutoFit/>
          </a:bodyPr>
          <a:lstStyle/>
          <a:p>
            <a:pPr algn="ctr"/>
            <a:r>
              <a:rPr sz="900" b="0" i="0">
                <a:solidFill>
                  <a:srgbClr val="212121"/>
                </a:solidFill>
                <a:latin typeface="Calibri" panose="020F0502020204030204"/>
              </a:rPr>
              <a:t>Uygun</a:t>
            </a:r>
            <a:endParaRPr sz="900" b="0" i="0">
              <a:solidFill>
                <a:srgbClr val="212121"/>
              </a:solidFill>
              <a:latin typeface="Calibri" panose="020F0502020204030204"/>
            </a:endParaRPr>
          </a:p>
        </p:txBody>
      </p:sp>
      <p:sp>
        <p:nvSpPr>
          <p:cNvPr id="59" name="TextBox 58"/>
          <p:cNvSpPr txBox="1"/>
          <p:nvPr/>
        </p:nvSpPr>
        <p:spPr>
          <a:xfrm>
            <a:off x="4176000" y="2523315"/>
            <a:ext cx="1332000" cy="158400"/>
          </a:xfrm>
          <a:prstGeom prst="rect">
            <a:avLst/>
          </a:prstGeom>
          <a:noFill/>
        </p:spPr>
        <p:txBody>
          <a:bodyPr wrap="square">
            <a:spAutoFit/>
          </a:bodyPr>
          <a:lstStyle/>
          <a:p>
            <a:pPr algn="ctr"/>
            <a:r>
              <a:rPr sz="900" b="0" i="0">
                <a:solidFill>
                  <a:srgbClr val="212121"/>
                </a:solidFill>
                <a:latin typeface="Calibri" panose="020F0502020204030204"/>
              </a:rPr>
              <a:t>Maliyet↑</a:t>
            </a:r>
            <a:endParaRPr sz="900" b="0" i="0">
              <a:solidFill>
                <a:srgbClr val="212121"/>
              </a:solidFill>
              <a:latin typeface="Calibri" panose="020F0502020204030204"/>
            </a:endParaRPr>
          </a:p>
        </p:txBody>
      </p:sp>
      <p:sp>
        <p:nvSpPr>
          <p:cNvPr id="60" name="TextBox 59"/>
          <p:cNvSpPr txBox="1"/>
          <p:nvPr/>
        </p:nvSpPr>
        <p:spPr>
          <a:xfrm>
            <a:off x="5543999" y="2523315"/>
            <a:ext cx="1080000" cy="158400"/>
          </a:xfrm>
          <a:prstGeom prst="rect">
            <a:avLst/>
          </a:prstGeom>
          <a:noFill/>
        </p:spPr>
        <p:txBody>
          <a:bodyPr wrap="square">
            <a:spAutoFit/>
          </a:bodyPr>
          <a:lstStyle/>
          <a:p>
            <a:pPr algn="ctr"/>
            <a:r>
              <a:rPr sz="900" b="0" i="0">
                <a:solidFill>
                  <a:srgbClr val="212121"/>
                </a:solidFill>
                <a:latin typeface="Calibri" panose="020F0502020204030204"/>
              </a:rPr>
              <a:t>Kentsel</a:t>
            </a:r>
            <a:endParaRPr sz="900" b="0" i="0">
              <a:solidFill>
                <a:srgbClr val="212121"/>
              </a:solidFill>
              <a:latin typeface="Calibri" panose="020F0502020204030204"/>
            </a:endParaRPr>
          </a:p>
        </p:txBody>
      </p:sp>
      <p:sp>
        <p:nvSpPr>
          <p:cNvPr id="61" name="TextBox 60"/>
          <p:cNvSpPr txBox="1"/>
          <p:nvPr/>
        </p:nvSpPr>
        <p:spPr>
          <a:xfrm>
            <a:off x="6660000" y="2523315"/>
            <a:ext cx="1080000" cy="158400"/>
          </a:xfrm>
          <a:prstGeom prst="rect">
            <a:avLst/>
          </a:prstGeom>
          <a:noFill/>
        </p:spPr>
        <p:txBody>
          <a:bodyPr wrap="square">
            <a:spAutoFit/>
          </a:bodyPr>
          <a:lstStyle/>
          <a:p>
            <a:pPr algn="ctr"/>
            <a:r>
              <a:rPr sz="900" b="0" i="0">
                <a:solidFill>
                  <a:srgbClr val="212121"/>
                </a:solidFill>
                <a:latin typeface="Calibri" panose="020F0502020204030204"/>
              </a:rPr>
              <a:t>Menderes havzası</a:t>
            </a:r>
            <a:endParaRPr sz="900" b="0" i="0">
              <a:solidFill>
                <a:srgbClr val="212121"/>
              </a:solidFill>
              <a:latin typeface="Calibri" panose="020F0502020204030204"/>
            </a:endParaRPr>
          </a:p>
        </p:txBody>
      </p:sp>
      <p:sp>
        <p:nvSpPr>
          <p:cNvPr id="62" name="Rectangle 61"/>
          <p:cNvSpPr/>
          <p:nvPr/>
        </p:nvSpPr>
        <p:spPr>
          <a:xfrm>
            <a:off x="126365" y="2826385"/>
            <a:ext cx="8891905" cy="503555"/>
          </a:xfrm>
          <a:prstGeom prst="rect">
            <a:avLst/>
          </a:prstGeom>
          <a:solidFill>
            <a:srgbClr val="FEF9E7"/>
          </a:solidFill>
          <a:ln w="19050">
            <a:solidFill>
              <a:srgbClr val="C8901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216000" y="2862095"/>
            <a:ext cx="8676000" cy="398780"/>
          </a:xfrm>
          <a:prstGeom prst="rect">
            <a:avLst/>
          </a:prstGeom>
          <a:noFill/>
        </p:spPr>
        <p:txBody>
          <a:bodyPr wrap="square">
            <a:spAutoFit/>
          </a:bodyPr>
          <a:lstStyle/>
          <a:p>
            <a:pPr algn="l"/>
            <a:r>
              <a:rPr sz="1000" b="0" i="0">
                <a:solidFill>
                  <a:srgbClr val="1B3A6B"/>
                </a:solidFill>
                <a:latin typeface="Calibri" panose="020F0502020204030204"/>
              </a:rPr>
              <a:t>✅  İzmir İçin Öneri: Sabit eğimli (β=32°) sistem büyük çiftlikler için en ekonomik seçen</a:t>
            </a:r>
            <a:r>
              <a:rPr lang="tr-TR" sz="1000" b="0" i="0">
                <a:solidFill>
                  <a:srgbClr val="1B3A6B"/>
                </a:solidFill>
                <a:latin typeface="Calibri" panose="020F0502020204030204"/>
              </a:rPr>
              <a:t>ek olacağına inanıyoruz</a:t>
            </a:r>
            <a:r>
              <a:rPr sz="1000" b="0" i="0">
                <a:solidFill>
                  <a:srgbClr val="1B3A6B"/>
                </a:solidFill>
                <a:latin typeface="Calibri" panose="020F0502020204030204"/>
              </a:rPr>
              <a:t>. Tek eksenli tracker, Torbalı/Menderes havzasındaki büyük açık alanlarda maliyet-verim dengesi açısından tercih edilebilir. Agri-PV ise Menderes deltası meyve bahçeleri ile entegrasyon için idealdir.</a:t>
            </a:r>
            <a:endParaRPr sz="1000" b="0" i="0">
              <a:solidFill>
                <a:srgbClr val="1B3A6B"/>
              </a:solidFill>
              <a:latin typeface="Calibri" panose="020F0502020204030204"/>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8F9FA"/>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486000"/>
          </a:xfrm>
          <a:prstGeom prst="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86000"/>
            <a:ext cx="9144000" cy="32400"/>
          </a:xfrm>
          <a:prstGeom prst="rect">
            <a:avLst/>
          </a:prstGeom>
          <a:solidFill>
            <a:srgbClr val="C890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4860000"/>
            <a:ext cx="9144000" cy="2844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80000" y="4860000"/>
            <a:ext cx="8784000" cy="284400"/>
          </a:xfrm>
          <a:prstGeom prst="rect">
            <a:avLst/>
          </a:prstGeom>
          <a:noFill/>
        </p:spPr>
        <p:txBody>
          <a:bodyPr wrap="square">
            <a:spAutoFit/>
          </a:bodyPr>
          <a:lstStyle/>
          <a:p>
            <a:pPr algn="ctr"/>
            <a:r>
              <a:rPr sz="850" b="0" i="0">
                <a:solidFill>
                  <a:srgbClr val="FFFFFF"/>
                </a:solidFill>
                <a:latin typeface="Calibri" panose="020F0502020204030204"/>
              </a:rPr>
              <a:t>SAÜ EEM  |  İzmir Yenilenebilir Enerji Analizi</a:t>
            </a:r>
            <a:endParaRPr sz="850" b="0" i="0">
              <a:solidFill>
                <a:srgbClr val="FFFFFF"/>
              </a:solidFill>
              <a:latin typeface="Calibri" panose="020F0502020204030204"/>
            </a:endParaRPr>
          </a:p>
        </p:txBody>
      </p:sp>
      <p:sp>
        <p:nvSpPr>
          <p:cNvPr id="6" name="TextBox 5"/>
          <p:cNvSpPr txBox="1"/>
          <p:nvPr/>
        </p:nvSpPr>
        <p:spPr>
          <a:xfrm>
            <a:off x="216000" y="18000"/>
            <a:ext cx="8640000" cy="450000"/>
          </a:xfrm>
          <a:prstGeom prst="rect">
            <a:avLst/>
          </a:prstGeom>
          <a:noFill/>
        </p:spPr>
        <p:txBody>
          <a:bodyPr wrap="square">
            <a:spAutoFit/>
          </a:bodyPr>
          <a:lstStyle/>
          <a:p>
            <a:pPr algn="l"/>
            <a:r>
              <a:rPr sz="1700" b="1" i="0">
                <a:solidFill>
                  <a:srgbClr val="FFFFFF"/>
                </a:solidFill>
                <a:latin typeface="Calibri" panose="020F0502020204030204"/>
              </a:rPr>
              <a:t>Güneş Enerjisi — İzmir Güneş Radyasyonu Haritası ve Aylık Analiz</a:t>
            </a:r>
            <a:endParaRPr sz="1700" b="1" i="0">
              <a:solidFill>
                <a:srgbClr val="FFFFFF"/>
              </a:solidFill>
              <a:latin typeface="Calibri" panose="020F0502020204030204"/>
            </a:endParaRPr>
          </a:p>
        </p:txBody>
      </p:sp>
      <p:pic>
        <p:nvPicPr>
          <p:cNvPr id="7" name="Picture 6" descr="image.png"/>
          <p:cNvPicPr>
            <a:picLocks noChangeAspect="1"/>
          </p:cNvPicPr>
          <p:nvPr/>
        </p:nvPicPr>
        <p:blipFill>
          <a:blip r:embed="rId1"/>
          <a:stretch>
            <a:fillRect/>
          </a:stretch>
        </p:blipFill>
        <p:spPr>
          <a:xfrm>
            <a:off x="125999" y="558000"/>
            <a:ext cx="8892000" cy="2358000"/>
          </a:xfrm>
          <a:prstGeom prst="rect">
            <a:avLst/>
          </a:prstGeom>
        </p:spPr>
      </p:pic>
      <p:sp>
        <p:nvSpPr>
          <p:cNvPr id="8" name="Rectangle 7"/>
          <p:cNvSpPr/>
          <p:nvPr/>
        </p:nvSpPr>
        <p:spPr>
          <a:xfrm>
            <a:off x="125730" y="2944495"/>
            <a:ext cx="8891905" cy="349885"/>
          </a:xfrm>
          <a:prstGeom prst="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79705" y="3006090"/>
            <a:ext cx="8639810" cy="273050"/>
          </a:xfrm>
          <a:prstGeom prst="rect">
            <a:avLst/>
          </a:prstGeom>
          <a:noFill/>
        </p:spPr>
        <p:txBody>
          <a:bodyPr wrap="square">
            <a:noAutofit/>
          </a:bodyPr>
          <a:lstStyle/>
          <a:p>
            <a:pPr algn="l"/>
            <a:r>
              <a:rPr sz="1100" b="1" i="0">
                <a:solidFill>
                  <a:srgbClr val="FFFFFF"/>
                </a:solidFill>
                <a:latin typeface="Calibri" panose="020F0502020204030204"/>
              </a:rPr>
              <a:t>Harita Yorumu ve İzmir İçin Çıkarımlar</a:t>
            </a:r>
            <a:endParaRPr sz="1100" b="1" i="0">
              <a:solidFill>
                <a:srgbClr val="FFFFFF"/>
              </a:solidFill>
              <a:latin typeface="Calibri" panose="020F0502020204030204"/>
            </a:endParaRPr>
          </a:p>
        </p:txBody>
      </p:sp>
      <p:sp>
        <p:nvSpPr>
          <p:cNvPr id="10" name="Rectangle 9"/>
          <p:cNvSpPr/>
          <p:nvPr/>
        </p:nvSpPr>
        <p:spPr>
          <a:xfrm>
            <a:off x="126365" y="3298825"/>
            <a:ext cx="8891905" cy="62357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15145" y="3369264"/>
            <a:ext cx="8712000" cy="542925"/>
          </a:xfrm>
          <a:prstGeom prst="rect">
            <a:avLst/>
          </a:prstGeom>
          <a:noFill/>
        </p:spPr>
        <p:txBody>
          <a:bodyPr wrap="square">
            <a:spAutoFit/>
          </a:bodyPr>
          <a:lstStyle/>
          <a:p>
            <a:pPr algn="l"/>
            <a:r>
              <a:rPr sz="980" b="0" i="0">
                <a:solidFill>
                  <a:srgbClr val="1B3A6B"/>
                </a:solidFill>
                <a:latin typeface="Calibri" panose="020F0502020204030204"/>
              </a:rPr>
              <a:t>Çeşme (5,7) ve Karaburun (5,6 kWh/m²/g) en yüksek GHI değerler</a:t>
            </a:r>
            <a:r>
              <a:rPr lang="tr-TR" sz="980" b="0" i="0">
                <a:solidFill>
                  <a:srgbClr val="1B3A6B"/>
                </a:solidFill>
                <a:latin typeface="Calibri" panose="020F0502020204030204"/>
              </a:rPr>
              <a:t>ine sahip olduğu için </a:t>
            </a:r>
            <a:r>
              <a:rPr sz="980" b="0" i="0">
                <a:solidFill>
                  <a:srgbClr val="1B3A6B"/>
                </a:solidFill>
                <a:latin typeface="Calibri" panose="020F0502020204030204"/>
              </a:rPr>
              <a:t>GES lokasyon</a:t>
            </a:r>
            <a:r>
              <a:rPr lang="tr-TR" sz="980" b="0" i="0">
                <a:solidFill>
                  <a:srgbClr val="1B3A6B"/>
                </a:solidFill>
                <a:latin typeface="Calibri" panose="020F0502020204030204"/>
              </a:rPr>
              <a:t>u açısından önceliklidir.</a:t>
            </a:r>
            <a:r>
              <a:rPr sz="980" b="0" i="0">
                <a:solidFill>
                  <a:srgbClr val="1B3A6B"/>
                </a:solidFill>
                <a:latin typeface="Calibri" panose="020F0502020204030204"/>
              </a:rPr>
              <a:t> Yıllık ort. HT = 4,78 kWh/m²/g (β=32°) Türkiye ort</a:t>
            </a:r>
            <a:r>
              <a:rPr lang="tr-TR" sz="980" b="0" i="0">
                <a:solidFill>
                  <a:srgbClr val="1B3A6B"/>
                </a:solidFill>
                <a:latin typeface="Calibri" panose="020F0502020204030204"/>
              </a:rPr>
              <a:t>alamasının </a:t>
            </a:r>
            <a:r>
              <a:rPr sz="980" b="0" i="0">
                <a:solidFill>
                  <a:srgbClr val="1B3A6B"/>
                </a:solidFill>
                <a:latin typeface="Calibri" panose="020F0502020204030204"/>
              </a:rPr>
              <a:t> 3,6'nın %33 üzeri</a:t>
            </a:r>
            <a:r>
              <a:rPr lang="tr-TR" sz="980" b="0" i="0">
                <a:solidFill>
                  <a:srgbClr val="1B3A6B"/>
                </a:solidFill>
                <a:latin typeface="Calibri" panose="020F0502020204030204"/>
              </a:rPr>
              <a:t>ndedir.</a:t>
            </a:r>
            <a:r>
              <a:rPr sz="980" b="0" i="0">
                <a:solidFill>
                  <a:srgbClr val="1B3A6B"/>
                </a:solidFill>
                <a:latin typeface="Calibri" panose="020F0502020204030204"/>
              </a:rPr>
              <a:t>  Yaz zirvesi (Haziran) 6,72 kWh/m²/g</a:t>
            </a:r>
            <a:r>
              <a:rPr lang="tr-TR" sz="980" b="0" i="0">
                <a:solidFill>
                  <a:srgbClr val="1B3A6B"/>
                </a:solidFill>
                <a:latin typeface="Calibri" panose="020F0502020204030204"/>
              </a:rPr>
              <a:t>,</a:t>
            </a:r>
            <a:r>
              <a:rPr sz="980" b="0" i="0">
                <a:solidFill>
                  <a:srgbClr val="1B3A6B"/>
                </a:solidFill>
                <a:latin typeface="Calibri" panose="020F0502020204030204"/>
              </a:rPr>
              <a:t> Kış tabanı (Aralık) 2,46 kWh/m²/g </a:t>
            </a:r>
            <a:r>
              <a:rPr lang="tr-TR" sz="980" b="0" i="0">
                <a:solidFill>
                  <a:srgbClr val="1B3A6B"/>
                </a:solidFill>
                <a:latin typeface="Calibri" panose="020F0502020204030204"/>
              </a:rPr>
              <a:t>ve</a:t>
            </a:r>
            <a:r>
              <a:rPr sz="980" b="0" i="0">
                <a:solidFill>
                  <a:srgbClr val="1B3A6B"/>
                </a:solidFill>
                <a:latin typeface="Calibri" panose="020F0502020204030204"/>
              </a:rPr>
              <a:t>  Kapasite faktörü: CF %15,9 </a:t>
            </a:r>
            <a:r>
              <a:rPr lang="tr-TR" sz="980" b="0" i="0">
                <a:solidFill>
                  <a:srgbClr val="1B3A6B"/>
                </a:solidFill>
                <a:latin typeface="Calibri" panose="020F0502020204030204"/>
              </a:rPr>
              <a:t>için</a:t>
            </a:r>
            <a:r>
              <a:rPr sz="980" b="0" i="0">
                <a:solidFill>
                  <a:srgbClr val="1B3A6B"/>
                </a:solidFill>
                <a:latin typeface="Calibri" panose="020F0502020204030204"/>
              </a:rPr>
              <a:t> 50 MWp çiftlik 69.800 MWh/yıl üretir</a:t>
            </a:r>
            <a:endParaRPr sz="980" b="0" i="0">
              <a:solidFill>
                <a:srgbClr val="1B3A6B"/>
              </a:solidFill>
              <a:latin typeface="Calibri" panose="020F0502020204030204"/>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8F9FA"/>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E67E22"/>
          </a:solidFill>
          <a:ln w="12700">
            <a:solidFill>
              <a:srgbClr val="E67E22"/>
            </a:solidFill>
            <a:prstDash val="solid"/>
          </a:ln>
        </p:spPr>
        <p:txBody>
          <a:bodyPr/>
          <a:lstStyle/>
          <a:p>
            <a:endParaRPr lang="tr-TR"/>
          </a:p>
        </p:txBody>
      </p:sp>
      <p:sp>
        <p:nvSpPr>
          <p:cNvPr id="3" name="Shape 1"/>
          <p:cNvSpPr/>
          <p:nvPr/>
        </p:nvSpPr>
        <p:spPr>
          <a:xfrm>
            <a:off x="0" y="685800"/>
            <a:ext cx="9144000" cy="45720"/>
          </a:xfrm>
          <a:prstGeom prst="rect">
            <a:avLst/>
          </a:prstGeom>
          <a:solidFill>
            <a:srgbClr val="C8901A"/>
          </a:solidFill>
          <a:ln w="12700">
            <a:solidFill>
              <a:srgbClr val="C8901A"/>
            </a:solidFill>
            <a:prstDash val="solid"/>
          </a:ln>
        </p:spPr>
        <p:txBody>
          <a:bodyPr/>
          <a:lstStyle/>
          <a:p>
            <a:endParaRPr lang="tr-TR"/>
          </a:p>
        </p:txBody>
      </p:sp>
      <p:sp>
        <p:nvSpPr>
          <p:cNvPr id="4" name="Shape 2"/>
          <p:cNvSpPr/>
          <p:nvPr/>
        </p:nvSpPr>
        <p:spPr>
          <a:xfrm>
            <a:off x="0" y="4892040"/>
            <a:ext cx="9144000" cy="251460"/>
          </a:xfrm>
          <a:prstGeom prst="rect">
            <a:avLst/>
          </a:prstGeom>
          <a:solidFill>
            <a:srgbClr val="1B3A6B"/>
          </a:solidFill>
          <a:ln w="12700">
            <a:solidFill>
              <a:srgbClr val="1B3A6B"/>
            </a:solidFill>
            <a:prstDash val="solid"/>
          </a:ln>
        </p:spPr>
        <p:txBody>
          <a:bodyPr/>
          <a:lstStyle/>
          <a:p>
            <a:endParaRPr lang="tr-TR"/>
          </a:p>
        </p:txBody>
      </p:sp>
      <p:sp>
        <p:nvSpPr>
          <p:cNvPr id="5" name="Text 3"/>
          <p:cNvSpPr/>
          <p:nvPr/>
        </p:nvSpPr>
        <p:spPr>
          <a:xfrm>
            <a:off x="274320" y="4892040"/>
            <a:ext cx="8595360" cy="251460"/>
          </a:xfrm>
          <a:prstGeom prst="rect">
            <a:avLst/>
          </a:prstGeom>
          <a:noFill/>
        </p:spPr>
        <p:txBody>
          <a:bodyPr wrap="square" rtlCol="0" anchor="ctr"/>
          <a:lstStyle/>
          <a:p>
            <a:pPr marL="0" indent="0" algn="ctr">
              <a:buNone/>
            </a:pPr>
            <a:r>
              <a:rPr lang="en-US" sz="800" dirty="0">
                <a:solidFill>
                  <a:srgbClr val="E0E6ED"/>
                </a:solidFill>
                <a:latin typeface="Calibri" panose="020F0502020204030204" pitchFamily="34" charset="0"/>
                <a:ea typeface="Calibri" panose="020F0502020204030204" pitchFamily="34" charset="-122"/>
                <a:cs typeface="Calibri" panose="020F0502020204030204" pitchFamily="34" charset="-120"/>
              </a:rPr>
              <a:t>SAÜ EEM  |  İzmir Yenilenebilir Enerji Analizi</a:t>
            </a:r>
            <a:endParaRPr lang="en-US" sz="800" dirty="0"/>
          </a:p>
        </p:txBody>
      </p:sp>
      <p:sp>
        <p:nvSpPr>
          <p:cNvPr id="6" name="Text 4"/>
          <p:cNvSpPr/>
          <p:nvPr/>
        </p:nvSpPr>
        <p:spPr>
          <a:xfrm>
            <a:off x="274320" y="45720"/>
            <a:ext cx="8595360" cy="594360"/>
          </a:xfrm>
          <a:prstGeom prst="rect">
            <a:avLst/>
          </a:prstGeom>
          <a:noFill/>
        </p:spPr>
        <p:txBody>
          <a:bodyPr wrap="square" lIns="0" tIns="0" rIns="0" bIns="0" rtlCol="0" anchor="ctr"/>
          <a:lstStyle/>
          <a:p>
            <a:pPr marL="0" indent="0" algn="l">
              <a:buNone/>
            </a:pPr>
            <a:r>
              <a:rPr lang="en-US" sz="1800" b="1" dirty="0">
                <a:solidFill>
                  <a:srgbClr val="FFFFFF"/>
                </a:solidFill>
                <a:latin typeface="Calibri" panose="020F0502020204030204" pitchFamily="34" charset="0"/>
                <a:ea typeface="Calibri" panose="020F0502020204030204" pitchFamily="34" charset="-122"/>
                <a:cs typeface="Calibri" panose="020F0502020204030204" pitchFamily="34" charset="-120"/>
              </a:rPr>
              <a:t>Güneş Enerjisi (GES) — Hesaplamalarımız &amp; Temel Göstergeler</a:t>
            </a:r>
            <a:endParaRPr lang="en-US" sz="1800" dirty="0"/>
          </a:p>
        </p:txBody>
      </p:sp>
      <p:sp>
        <p:nvSpPr>
          <p:cNvPr id="7" name="Shape 5"/>
          <p:cNvSpPr/>
          <p:nvPr/>
        </p:nvSpPr>
        <p:spPr>
          <a:xfrm>
            <a:off x="320040" y="777240"/>
            <a:ext cx="1920240" cy="914400"/>
          </a:xfrm>
          <a:prstGeom prst="rect">
            <a:avLst/>
          </a:prstGeom>
          <a:solidFill>
            <a:srgbClr val="E67E22"/>
          </a:solidFill>
          <a:ln w="12700">
            <a:solidFill>
              <a:srgbClr val="E67E22"/>
            </a:solidFill>
            <a:prstDash val="solid"/>
          </a:ln>
          <a:effectLst>
            <a:outerShdw blurRad="76200" dist="38100" dir="8100000" algn="bl" rotWithShape="0">
              <a:srgbClr val="000000">
                <a:alpha val="15000"/>
              </a:srgbClr>
            </a:outerShdw>
          </a:effectLst>
        </p:spPr>
        <p:txBody>
          <a:bodyPr/>
          <a:lstStyle/>
          <a:p>
            <a:endParaRPr lang="tr-TR"/>
          </a:p>
        </p:txBody>
      </p:sp>
      <p:sp>
        <p:nvSpPr>
          <p:cNvPr id="8" name="Text 6"/>
          <p:cNvSpPr/>
          <p:nvPr/>
        </p:nvSpPr>
        <p:spPr>
          <a:xfrm>
            <a:off x="320040" y="822960"/>
            <a:ext cx="1920240" cy="530352"/>
          </a:xfrm>
          <a:prstGeom prst="rect">
            <a:avLst/>
          </a:prstGeom>
          <a:noFill/>
        </p:spPr>
        <p:txBody>
          <a:bodyPr wrap="square" rtlCol="0" anchor="ctr"/>
          <a:lstStyle/>
          <a:p>
            <a:pPr marL="0" indent="0" algn="ctr">
              <a:buNone/>
            </a:pPr>
            <a:r>
              <a:rPr lang="en-US" sz="2800" b="1" dirty="0">
                <a:solidFill>
                  <a:srgbClr val="FFFFFF"/>
                </a:solidFill>
                <a:latin typeface="Calibri" panose="020F0502020204030204" pitchFamily="34" charset="0"/>
                <a:ea typeface="Calibri" panose="020F0502020204030204" pitchFamily="34" charset="-122"/>
                <a:cs typeface="Calibri" panose="020F0502020204030204" pitchFamily="34" charset="-120"/>
              </a:rPr>
              <a:t>%15,9</a:t>
            </a:r>
            <a:endParaRPr lang="en-US" sz="2800" dirty="0"/>
          </a:p>
        </p:txBody>
      </p:sp>
      <p:sp>
        <p:nvSpPr>
          <p:cNvPr id="9" name="Text 7"/>
          <p:cNvSpPr/>
          <p:nvPr/>
        </p:nvSpPr>
        <p:spPr>
          <a:xfrm>
            <a:off x="320040" y="1325880"/>
            <a:ext cx="1920240" cy="347472"/>
          </a:xfrm>
          <a:prstGeom prst="rect">
            <a:avLst/>
          </a:prstGeom>
          <a:noFill/>
        </p:spPr>
        <p:txBody>
          <a:bodyPr wrap="square" rtlCol="0" anchor="ctr"/>
          <a:lstStyle/>
          <a:p>
            <a:pPr marL="0" indent="0" algn="ctr">
              <a:buNone/>
            </a:pPr>
            <a:r>
              <a:rPr lang="en-US" sz="1000" dirty="0">
                <a:solidFill>
                  <a:srgbClr val="D6EAF8"/>
                </a:solidFill>
                <a:latin typeface="Calibri" panose="020F0502020204030204" pitchFamily="34" charset="0"/>
                <a:ea typeface="Calibri" panose="020F0502020204030204" pitchFamily="34" charset="-122"/>
                <a:cs typeface="Calibri" panose="020F0502020204030204" pitchFamily="34" charset="-120"/>
              </a:rPr>
              <a:t>Kapasite Faktörü (CF)</a:t>
            </a:r>
            <a:endParaRPr lang="en-US" sz="1000" dirty="0"/>
          </a:p>
          <a:p>
            <a:pPr marL="0" indent="0" algn="ctr">
              <a:buNone/>
            </a:pPr>
            <a:r>
              <a:rPr lang="en-US" sz="1000" dirty="0">
                <a:solidFill>
                  <a:srgbClr val="D6EAF8"/>
                </a:solidFill>
                <a:latin typeface="Calibri" panose="020F0502020204030204" pitchFamily="34" charset="0"/>
                <a:ea typeface="Calibri" panose="020F0502020204030204" pitchFamily="34" charset="-122"/>
                <a:cs typeface="Calibri" panose="020F0502020204030204" pitchFamily="34" charset="-120"/>
              </a:rPr>
              <a:t>İzmir 50 MWp</a:t>
            </a:r>
            <a:endParaRPr lang="en-US" sz="1000" dirty="0"/>
          </a:p>
        </p:txBody>
      </p:sp>
      <p:sp>
        <p:nvSpPr>
          <p:cNvPr id="10" name="Shape 8"/>
          <p:cNvSpPr/>
          <p:nvPr/>
        </p:nvSpPr>
        <p:spPr>
          <a:xfrm>
            <a:off x="2377440" y="777240"/>
            <a:ext cx="1920240" cy="914400"/>
          </a:xfrm>
          <a:prstGeom prst="rect">
            <a:avLst/>
          </a:prstGeom>
          <a:solidFill>
            <a:srgbClr val="2E86C1"/>
          </a:solidFill>
          <a:ln w="12700">
            <a:solidFill>
              <a:srgbClr val="2E86C1"/>
            </a:solidFill>
            <a:prstDash val="solid"/>
          </a:ln>
          <a:effectLst>
            <a:outerShdw blurRad="76200" dist="38100" dir="8100000" algn="bl" rotWithShape="0">
              <a:srgbClr val="000000">
                <a:alpha val="15000"/>
              </a:srgbClr>
            </a:outerShdw>
          </a:effectLst>
        </p:spPr>
        <p:txBody>
          <a:bodyPr/>
          <a:lstStyle/>
          <a:p>
            <a:endParaRPr lang="tr-TR"/>
          </a:p>
        </p:txBody>
      </p:sp>
      <p:sp>
        <p:nvSpPr>
          <p:cNvPr id="11" name="Text 9"/>
          <p:cNvSpPr/>
          <p:nvPr/>
        </p:nvSpPr>
        <p:spPr>
          <a:xfrm>
            <a:off x="2377440" y="822960"/>
            <a:ext cx="1920240" cy="530352"/>
          </a:xfrm>
          <a:prstGeom prst="rect">
            <a:avLst/>
          </a:prstGeom>
          <a:noFill/>
        </p:spPr>
        <p:txBody>
          <a:bodyPr wrap="square" rtlCol="0" anchor="ctr"/>
          <a:lstStyle/>
          <a:p>
            <a:pPr marL="0" indent="0" algn="ctr">
              <a:buNone/>
            </a:pPr>
            <a:r>
              <a:rPr lang="en-US" sz="2800" b="1" dirty="0">
                <a:solidFill>
                  <a:srgbClr val="FFFFFF"/>
                </a:solidFill>
                <a:latin typeface="Calibri" panose="020F0502020204030204" pitchFamily="34" charset="0"/>
                <a:ea typeface="Calibri" panose="020F0502020204030204" pitchFamily="34" charset="-122"/>
                <a:cs typeface="Calibri" panose="020F0502020204030204" pitchFamily="34" charset="-120"/>
              </a:rPr>
              <a:t>1,5–2,5</a:t>
            </a:r>
            <a:endParaRPr lang="en-US" sz="2800" dirty="0"/>
          </a:p>
        </p:txBody>
      </p:sp>
      <p:sp>
        <p:nvSpPr>
          <p:cNvPr id="12" name="Text 10"/>
          <p:cNvSpPr/>
          <p:nvPr/>
        </p:nvSpPr>
        <p:spPr>
          <a:xfrm>
            <a:off x="2377440" y="1325880"/>
            <a:ext cx="1920240" cy="347472"/>
          </a:xfrm>
          <a:prstGeom prst="rect">
            <a:avLst/>
          </a:prstGeom>
          <a:noFill/>
        </p:spPr>
        <p:txBody>
          <a:bodyPr wrap="square" rtlCol="0" anchor="ctr"/>
          <a:lstStyle/>
          <a:p>
            <a:pPr marL="0" indent="0" algn="ctr">
              <a:buNone/>
            </a:pPr>
            <a:r>
              <a:rPr lang="en-US" sz="1000" dirty="0">
                <a:solidFill>
                  <a:srgbClr val="D6EAF8"/>
                </a:solidFill>
                <a:latin typeface="Calibri" panose="020F0502020204030204" pitchFamily="34" charset="0"/>
                <a:ea typeface="Calibri" panose="020F0502020204030204" pitchFamily="34" charset="-122"/>
                <a:cs typeface="Calibri" panose="020F0502020204030204" pitchFamily="34" charset="-120"/>
              </a:rPr>
              <a:t>EPBT (Yıl)</a:t>
            </a:r>
            <a:endParaRPr lang="en-US" sz="1000" dirty="0"/>
          </a:p>
          <a:p>
            <a:pPr marL="0" indent="0" algn="ctr">
              <a:buNone/>
            </a:pPr>
            <a:r>
              <a:rPr lang="en-US" sz="1000" dirty="0">
                <a:solidFill>
                  <a:srgbClr val="D6EAF8"/>
                </a:solidFill>
                <a:latin typeface="Calibri" panose="020F0502020204030204" pitchFamily="34" charset="0"/>
                <a:ea typeface="Calibri" panose="020F0502020204030204" pitchFamily="34" charset="-122"/>
                <a:cs typeface="Calibri" panose="020F0502020204030204" pitchFamily="34" charset="-120"/>
              </a:rPr>
              <a:t>Enerji Geri Ödeme</a:t>
            </a:r>
            <a:endParaRPr lang="en-US" sz="1000" dirty="0"/>
          </a:p>
        </p:txBody>
      </p:sp>
      <p:sp>
        <p:nvSpPr>
          <p:cNvPr id="13" name="Shape 11"/>
          <p:cNvSpPr/>
          <p:nvPr/>
        </p:nvSpPr>
        <p:spPr>
          <a:xfrm>
            <a:off x="4434840" y="777240"/>
            <a:ext cx="1920240" cy="914400"/>
          </a:xfrm>
          <a:prstGeom prst="rect">
            <a:avLst/>
          </a:prstGeom>
          <a:solidFill>
            <a:srgbClr val="1D6A72"/>
          </a:solidFill>
          <a:ln w="12700">
            <a:solidFill>
              <a:srgbClr val="1D6A72"/>
            </a:solidFill>
            <a:prstDash val="solid"/>
          </a:ln>
          <a:effectLst>
            <a:outerShdw blurRad="76200" dist="38100" dir="8100000" algn="bl" rotWithShape="0">
              <a:srgbClr val="000000">
                <a:alpha val="15000"/>
              </a:srgbClr>
            </a:outerShdw>
          </a:effectLst>
        </p:spPr>
        <p:txBody>
          <a:bodyPr/>
          <a:lstStyle/>
          <a:p>
            <a:endParaRPr lang="tr-TR"/>
          </a:p>
        </p:txBody>
      </p:sp>
      <p:sp>
        <p:nvSpPr>
          <p:cNvPr id="14" name="Text 12"/>
          <p:cNvSpPr/>
          <p:nvPr/>
        </p:nvSpPr>
        <p:spPr>
          <a:xfrm>
            <a:off x="4434840" y="822960"/>
            <a:ext cx="1920240" cy="530352"/>
          </a:xfrm>
          <a:prstGeom prst="rect">
            <a:avLst/>
          </a:prstGeom>
          <a:noFill/>
        </p:spPr>
        <p:txBody>
          <a:bodyPr wrap="square" rtlCol="0" anchor="ctr"/>
          <a:lstStyle/>
          <a:p>
            <a:pPr marL="0" indent="0" algn="ctr">
              <a:buNone/>
            </a:pPr>
            <a:r>
              <a:rPr lang="en-US" sz="2800" b="1" dirty="0">
                <a:solidFill>
                  <a:srgbClr val="FFFFFF"/>
                </a:solidFill>
                <a:latin typeface="Calibri" panose="020F0502020204030204" pitchFamily="34" charset="0"/>
                <a:ea typeface="Calibri" panose="020F0502020204030204" pitchFamily="34" charset="-122"/>
                <a:cs typeface="Calibri" panose="020F0502020204030204" pitchFamily="34" charset="-120"/>
              </a:rPr>
              <a:t>8–12</a:t>
            </a:r>
            <a:endParaRPr lang="en-US" sz="2800" dirty="0"/>
          </a:p>
        </p:txBody>
      </p:sp>
      <p:sp>
        <p:nvSpPr>
          <p:cNvPr id="15" name="Text 13"/>
          <p:cNvSpPr/>
          <p:nvPr/>
        </p:nvSpPr>
        <p:spPr>
          <a:xfrm>
            <a:off x="4434840" y="1325880"/>
            <a:ext cx="1920240" cy="347472"/>
          </a:xfrm>
          <a:prstGeom prst="rect">
            <a:avLst/>
          </a:prstGeom>
          <a:noFill/>
        </p:spPr>
        <p:txBody>
          <a:bodyPr wrap="square" rtlCol="0" anchor="ctr"/>
          <a:lstStyle/>
          <a:p>
            <a:pPr marL="0" indent="0" algn="ctr">
              <a:buNone/>
            </a:pPr>
            <a:r>
              <a:rPr lang="en-US" sz="1000" dirty="0">
                <a:solidFill>
                  <a:srgbClr val="D6EAF8"/>
                </a:solidFill>
                <a:latin typeface="Calibri" panose="020F0502020204030204" pitchFamily="34" charset="0"/>
                <a:ea typeface="Calibri" panose="020F0502020204030204" pitchFamily="34" charset="-122"/>
                <a:cs typeface="Calibri" panose="020F0502020204030204" pitchFamily="34" charset="-120"/>
              </a:rPr>
              <a:t>GPBT (Yıl)</a:t>
            </a:r>
            <a:endParaRPr lang="en-US" sz="1000" dirty="0"/>
          </a:p>
          <a:p>
            <a:pPr marL="0" indent="0" algn="ctr">
              <a:buNone/>
            </a:pPr>
            <a:r>
              <a:rPr lang="en-US" sz="1000" dirty="0">
                <a:solidFill>
                  <a:srgbClr val="D6EAF8"/>
                </a:solidFill>
                <a:latin typeface="Calibri" panose="020F0502020204030204" pitchFamily="34" charset="0"/>
                <a:ea typeface="Calibri" panose="020F0502020204030204" pitchFamily="34" charset="-122"/>
                <a:cs typeface="Calibri" panose="020F0502020204030204" pitchFamily="34" charset="-120"/>
              </a:rPr>
              <a:t>Finansal Geri Ödeme</a:t>
            </a:r>
            <a:endParaRPr lang="en-US" sz="1000" dirty="0"/>
          </a:p>
        </p:txBody>
      </p:sp>
      <p:sp>
        <p:nvSpPr>
          <p:cNvPr id="16" name="Shape 14"/>
          <p:cNvSpPr/>
          <p:nvPr/>
        </p:nvSpPr>
        <p:spPr>
          <a:xfrm>
            <a:off x="6492240" y="777240"/>
            <a:ext cx="1920240" cy="914400"/>
          </a:xfrm>
          <a:prstGeom prst="rect">
            <a:avLst/>
          </a:prstGeom>
          <a:solidFill>
            <a:srgbClr val="1E8449"/>
          </a:solidFill>
          <a:ln w="12700">
            <a:solidFill>
              <a:srgbClr val="1E8449"/>
            </a:solidFill>
            <a:prstDash val="solid"/>
          </a:ln>
          <a:effectLst>
            <a:outerShdw blurRad="76200" dist="38100" dir="8100000" algn="bl" rotWithShape="0">
              <a:srgbClr val="000000">
                <a:alpha val="15000"/>
              </a:srgbClr>
            </a:outerShdw>
          </a:effectLst>
        </p:spPr>
        <p:txBody>
          <a:bodyPr/>
          <a:lstStyle/>
          <a:p>
            <a:endParaRPr lang="tr-TR"/>
          </a:p>
        </p:txBody>
      </p:sp>
      <p:sp>
        <p:nvSpPr>
          <p:cNvPr id="17" name="Text 15"/>
          <p:cNvSpPr/>
          <p:nvPr/>
        </p:nvSpPr>
        <p:spPr>
          <a:xfrm>
            <a:off x="6492240" y="822960"/>
            <a:ext cx="1920240" cy="530352"/>
          </a:xfrm>
          <a:prstGeom prst="rect">
            <a:avLst/>
          </a:prstGeom>
          <a:noFill/>
        </p:spPr>
        <p:txBody>
          <a:bodyPr wrap="square" rtlCol="0" anchor="ctr"/>
          <a:lstStyle/>
          <a:p>
            <a:pPr marL="0" indent="0" algn="ctr">
              <a:buNone/>
            </a:pPr>
            <a:r>
              <a:rPr lang="en-US" sz="2800" b="1" dirty="0">
                <a:solidFill>
                  <a:srgbClr val="FFFFFF"/>
                </a:solidFill>
                <a:latin typeface="Calibri" panose="020F0502020204030204" pitchFamily="34" charset="0"/>
                <a:ea typeface="Calibri" panose="020F0502020204030204" pitchFamily="34" charset="-122"/>
                <a:cs typeface="Calibri" panose="020F0502020204030204" pitchFamily="34" charset="-120"/>
              </a:rPr>
              <a:t>69.800</a:t>
            </a:r>
            <a:endParaRPr lang="en-US" sz="2800" dirty="0"/>
          </a:p>
        </p:txBody>
      </p:sp>
      <p:sp>
        <p:nvSpPr>
          <p:cNvPr id="18" name="Text 16"/>
          <p:cNvSpPr/>
          <p:nvPr/>
        </p:nvSpPr>
        <p:spPr>
          <a:xfrm>
            <a:off x="6492240" y="1325880"/>
            <a:ext cx="1920240" cy="347472"/>
          </a:xfrm>
          <a:prstGeom prst="rect">
            <a:avLst/>
          </a:prstGeom>
          <a:noFill/>
        </p:spPr>
        <p:txBody>
          <a:bodyPr wrap="square" rtlCol="0" anchor="ctr"/>
          <a:lstStyle/>
          <a:p>
            <a:pPr marL="0" indent="0" algn="ctr">
              <a:buNone/>
            </a:pPr>
            <a:r>
              <a:rPr lang="en-US" sz="1000" dirty="0">
                <a:solidFill>
                  <a:srgbClr val="D6EAF8"/>
                </a:solidFill>
                <a:latin typeface="Calibri" panose="020F0502020204030204" pitchFamily="34" charset="0"/>
                <a:ea typeface="Calibri" panose="020F0502020204030204" pitchFamily="34" charset="-122"/>
                <a:cs typeface="Calibri" panose="020F0502020204030204" pitchFamily="34" charset="-120"/>
              </a:rPr>
              <a:t>MWh / Yıl</a:t>
            </a:r>
            <a:endParaRPr lang="en-US" sz="1000" dirty="0"/>
          </a:p>
          <a:p>
            <a:pPr marL="0" indent="0" algn="ctr">
              <a:buNone/>
            </a:pPr>
            <a:r>
              <a:rPr lang="en-US" sz="1000" dirty="0">
                <a:solidFill>
                  <a:srgbClr val="D6EAF8"/>
                </a:solidFill>
                <a:latin typeface="Calibri" panose="020F0502020204030204" pitchFamily="34" charset="0"/>
                <a:ea typeface="Calibri" panose="020F0502020204030204" pitchFamily="34" charset="-122"/>
                <a:cs typeface="Calibri" panose="020F0502020204030204" pitchFamily="34" charset="-120"/>
              </a:rPr>
              <a:t>50 MWp Üretim</a:t>
            </a:r>
            <a:endParaRPr lang="en-US" sz="1000" dirty="0"/>
          </a:p>
        </p:txBody>
      </p:sp>
      <p:graphicFrame>
        <p:nvGraphicFramePr>
          <p:cNvPr id="19" name="Table 0"/>
          <p:cNvGraphicFramePr>
            <a:graphicFrameLocks noGrp="1"/>
          </p:cNvGraphicFramePr>
          <p:nvPr/>
        </p:nvGraphicFramePr>
        <p:xfrm>
          <a:off x="320040" y="1828800"/>
          <a:ext cx="8503920" cy="1661160"/>
        </p:xfrm>
        <a:graphic>
          <a:graphicData uri="http://schemas.openxmlformats.org/drawingml/2006/table">
            <a:tbl>
              <a:tblPr/>
              <a:tblGrid>
                <a:gridCol w="1645920"/>
                <a:gridCol w="2011680"/>
                <a:gridCol w="1554480"/>
                <a:gridCol w="2011680"/>
                <a:gridCol w="1280160"/>
              </a:tblGrid>
              <a:tr h="228600">
                <a:tc>
                  <a:txBody>
                    <a:bodyPr/>
                    <a:lstStyle/>
                    <a:p>
                      <a:pPr marL="0" indent="0" algn="ctr">
                        <a:buNone/>
                      </a:pPr>
                      <a:r>
                        <a:rPr lang="en-US" sz="1000" b="1" dirty="0">
                          <a:solidFill>
                            <a:srgbClr val="FFFFFF"/>
                          </a:solidFill>
                          <a:latin typeface="Calibri" panose="020F0502020204030204" pitchFamily="34" charset="0"/>
                          <a:ea typeface="Calibri" panose="020F0502020204030204" pitchFamily="34" charset="-122"/>
                          <a:cs typeface="Calibri" panose="020F0502020204030204" pitchFamily="34" charset="-120"/>
                        </a:rPr>
                        <a:t>Ay</a:t>
                      </a:r>
                      <a:endParaRPr lang="en-US" sz="1000" dirty="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E0E6ED"/>
                      </a:solidFill>
                      <a:prstDash val="solid"/>
                      <a:round/>
                      <a:headEnd type="none" w="med" len="med"/>
                      <a:tailEnd type="none" w="med" len="med"/>
                    </a:lnL>
                    <a:lnR w="6350" cap="flat" cmpd="sng" algn="ctr">
                      <a:solidFill>
                        <a:srgbClr val="E0E6ED"/>
                      </a:solidFill>
                      <a:prstDash val="solid"/>
                      <a:round/>
                      <a:headEnd type="none" w="med" len="med"/>
                      <a:tailEnd type="none" w="med" len="med"/>
                    </a:lnR>
                    <a:lnT w="6350" cap="flat" cmpd="sng" algn="ctr">
                      <a:solidFill>
                        <a:srgbClr val="E0E6ED"/>
                      </a:solidFill>
                      <a:prstDash val="solid"/>
                      <a:round/>
                      <a:headEnd type="none" w="med" len="med"/>
                      <a:tailEnd type="none" w="med" len="med"/>
                    </a:lnT>
                    <a:lnB w="6350" cap="flat" cmpd="sng" algn="ctr">
                      <a:solidFill>
                        <a:srgbClr val="E0E6ED"/>
                      </a:solidFill>
                      <a:prstDash val="solid"/>
                      <a:round/>
                      <a:headEnd type="none" w="med" len="med"/>
                      <a:tailEnd type="none" w="med" len="med"/>
                    </a:lnB>
                    <a:solidFill>
                      <a:srgbClr val="E67E22"/>
                    </a:solidFill>
                  </a:tcPr>
                </a:tc>
                <a:tc>
                  <a:txBody>
                    <a:bodyPr/>
                    <a:lstStyle/>
                    <a:p>
                      <a:pPr marL="0" indent="0" algn="ctr">
                        <a:buNone/>
                      </a:pPr>
                      <a:r>
                        <a:rPr lang="en-US" sz="1000" b="1" dirty="0">
                          <a:solidFill>
                            <a:srgbClr val="FFFFFF"/>
                          </a:solidFill>
                          <a:latin typeface="Calibri" panose="020F0502020204030204" pitchFamily="34" charset="0"/>
                          <a:ea typeface="Calibri" panose="020F0502020204030204" pitchFamily="34" charset="-122"/>
                          <a:cs typeface="Calibri" panose="020F0502020204030204" pitchFamily="34" charset="-120"/>
                        </a:rPr>
                        <a:t>Ha (kWh/m²/g)</a:t>
                      </a:r>
                      <a:endParaRPr lang="en-US" sz="1000" dirty="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E0E6ED"/>
                      </a:solidFill>
                      <a:prstDash val="solid"/>
                      <a:round/>
                      <a:headEnd type="none" w="med" len="med"/>
                      <a:tailEnd type="none" w="med" len="med"/>
                    </a:lnL>
                    <a:lnR w="6350" cap="flat" cmpd="sng" algn="ctr">
                      <a:solidFill>
                        <a:srgbClr val="E0E6ED"/>
                      </a:solidFill>
                      <a:prstDash val="solid"/>
                      <a:round/>
                      <a:headEnd type="none" w="med" len="med"/>
                      <a:tailEnd type="none" w="med" len="med"/>
                    </a:lnR>
                    <a:lnT w="6350" cap="flat" cmpd="sng" algn="ctr">
                      <a:solidFill>
                        <a:srgbClr val="E0E6ED"/>
                      </a:solidFill>
                      <a:prstDash val="solid"/>
                      <a:round/>
                      <a:headEnd type="none" w="med" len="med"/>
                      <a:tailEnd type="none" w="med" len="med"/>
                    </a:lnT>
                    <a:lnB w="6350" cap="flat" cmpd="sng" algn="ctr">
                      <a:solidFill>
                        <a:srgbClr val="E0E6ED"/>
                      </a:solidFill>
                      <a:prstDash val="solid"/>
                      <a:round/>
                      <a:headEnd type="none" w="med" len="med"/>
                      <a:tailEnd type="none" w="med" len="med"/>
                    </a:lnB>
                    <a:solidFill>
                      <a:srgbClr val="E67E22"/>
                    </a:solidFill>
                  </a:tcPr>
                </a:tc>
                <a:tc>
                  <a:txBody>
                    <a:bodyPr/>
                    <a:lstStyle/>
                    <a:p>
                      <a:pPr marL="0" indent="0" algn="ctr">
                        <a:buNone/>
                      </a:pPr>
                      <a:r>
                        <a:rPr lang="en-US" sz="1000" b="1" dirty="0">
                          <a:solidFill>
                            <a:srgbClr val="FFFFFF"/>
                          </a:solidFill>
                          <a:latin typeface="Calibri" panose="020F0502020204030204" pitchFamily="34" charset="0"/>
                          <a:ea typeface="Calibri" panose="020F0502020204030204" pitchFamily="34" charset="-122"/>
                          <a:cs typeface="Calibri" panose="020F0502020204030204" pitchFamily="34" charset="-120"/>
                        </a:rPr>
                        <a:t>n (saat)</a:t>
                      </a:r>
                      <a:endParaRPr lang="en-US" sz="1000" dirty="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E0E6ED"/>
                      </a:solidFill>
                      <a:prstDash val="solid"/>
                      <a:round/>
                      <a:headEnd type="none" w="med" len="med"/>
                      <a:tailEnd type="none" w="med" len="med"/>
                    </a:lnL>
                    <a:lnR w="6350" cap="flat" cmpd="sng" algn="ctr">
                      <a:solidFill>
                        <a:srgbClr val="E0E6ED"/>
                      </a:solidFill>
                      <a:prstDash val="solid"/>
                      <a:round/>
                      <a:headEnd type="none" w="med" len="med"/>
                      <a:tailEnd type="none" w="med" len="med"/>
                    </a:lnR>
                    <a:lnT w="6350" cap="flat" cmpd="sng" algn="ctr">
                      <a:solidFill>
                        <a:srgbClr val="E0E6ED"/>
                      </a:solidFill>
                      <a:prstDash val="solid"/>
                      <a:round/>
                      <a:headEnd type="none" w="med" len="med"/>
                      <a:tailEnd type="none" w="med" len="med"/>
                    </a:lnT>
                    <a:lnB w="6350" cap="flat" cmpd="sng" algn="ctr">
                      <a:solidFill>
                        <a:srgbClr val="E0E6ED"/>
                      </a:solidFill>
                      <a:prstDash val="solid"/>
                      <a:round/>
                      <a:headEnd type="none" w="med" len="med"/>
                      <a:tailEnd type="none" w="med" len="med"/>
                    </a:lnB>
                    <a:solidFill>
                      <a:srgbClr val="E67E22"/>
                    </a:solidFill>
                  </a:tcPr>
                </a:tc>
                <a:tc>
                  <a:txBody>
                    <a:bodyPr/>
                    <a:lstStyle/>
                    <a:p>
                      <a:pPr marL="0" indent="0" algn="ctr">
                        <a:buNone/>
                      </a:pPr>
                      <a:r>
                        <a:rPr lang="en-US" sz="1000" b="1" dirty="0">
                          <a:solidFill>
                            <a:srgbClr val="FFFFFF"/>
                          </a:solidFill>
                          <a:latin typeface="Calibri" panose="020F0502020204030204" pitchFamily="34" charset="0"/>
                          <a:ea typeface="Calibri" panose="020F0502020204030204" pitchFamily="34" charset="-122"/>
                          <a:cs typeface="Calibri" panose="020F0502020204030204" pitchFamily="34" charset="-120"/>
                        </a:rPr>
                        <a:t>HT (kWh/m²/g)</a:t>
                      </a:r>
                      <a:endParaRPr lang="en-US" sz="1000" dirty="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E0E6ED"/>
                      </a:solidFill>
                      <a:prstDash val="solid"/>
                      <a:round/>
                      <a:headEnd type="none" w="med" len="med"/>
                      <a:tailEnd type="none" w="med" len="med"/>
                    </a:lnL>
                    <a:lnR w="6350" cap="flat" cmpd="sng" algn="ctr">
                      <a:solidFill>
                        <a:srgbClr val="E0E6ED"/>
                      </a:solidFill>
                      <a:prstDash val="solid"/>
                      <a:round/>
                      <a:headEnd type="none" w="med" len="med"/>
                      <a:tailEnd type="none" w="med" len="med"/>
                    </a:lnR>
                    <a:lnT w="6350" cap="flat" cmpd="sng" algn="ctr">
                      <a:solidFill>
                        <a:srgbClr val="E0E6ED"/>
                      </a:solidFill>
                      <a:prstDash val="solid"/>
                      <a:round/>
                      <a:headEnd type="none" w="med" len="med"/>
                      <a:tailEnd type="none" w="med" len="med"/>
                    </a:lnT>
                    <a:lnB w="6350" cap="flat" cmpd="sng" algn="ctr">
                      <a:solidFill>
                        <a:srgbClr val="E0E6ED"/>
                      </a:solidFill>
                      <a:prstDash val="solid"/>
                      <a:round/>
                      <a:headEnd type="none" w="med" len="med"/>
                      <a:tailEnd type="none" w="med" len="med"/>
                    </a:lnB>
                    <a:solidFill>
                      <a:srgbClr val="E67E22"/>
                    </a:solidFill>
                  </a:tcPr>
                </a:tc>
                <a:tc>
                  <a:txBody>
                    <a:bodyPr/>
                    <a:lstStyle/>
                    <a:p>
                      <a:pPr marL="0" indent="0" algn="ctr">
                        <a:buNone/>
                      </a:pPr>
                      <a:r>
                        <a:rPr lang="en-US" sz="1000" b="1" dirty="0">
                          <a:solidFill>
                            <a:srgbClr val="FFFFFF"/>
                          </a:solidFill>
                          <a:latin typeface="Calibri" panose="020F0502020204030204" pitchFamily="34" charset="0"/>
                          <a:ea typeface="Calibri" panose="020F0502020204030204" pitchFamily="34" charset="-122"/>
                          <a:cs typeface="Calibri" panose="020F0502020204030204" pitchFamily="34" charset="-120"/>
                        </a:rPr>
                        <a:t>Kt</a:t>
                      </a:r>
                      <a:endParaRPr lang="en-US" sz="1000" dirty="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E0E6ED"/>
                      </a:solidFill>
                      <a:prstDash val="solid"/>
                      <a:round/>
                      <a:headEnd type="none" w="med" len="med"/>
                      <a:tailEnd type="none" w="med" len="med"/>
                    </a:lnL>
                    <a:lnR w="6350" cap="flat" cmpd="sng" algn="ctr">
                      <a:solidFill>
                        <a:srgbClr val="E0E6ED"/>
                      </a:solidFill>
                      <a:prstDash val="solid"/>
                      <a:round/>
                      <a:headEnd type="none" w="med" len="med"/>
                      <a:tailEnd type="none" w="med" len="med"/>
                    </a:lnR>
                    <a:lnT w="6350" cap="flat" cmpd="sng" algn="ctr">
                      <a:solidFill>
                        <a:srgbClr val="E0E6ED"/>
                      </a:solidFill>
                      <a:prstDash val="solid"/>
                      <a:round/>
                      <a:headEnd type="none" w="med" len="med"/>
                      <a:tailEnd type="none" w="med" len="med"/>
                    </a:lnT>
                    <a:lnB w="6350" cap="flat" cmpd="sng" algn="ctr">
                      <a:solidFill>
                        <a:srgbClr val="E0E6ED"/>
                      </a:solidFill>
                      <a:prstDash val="solid"/>
                      <a:round/>
                      <a:headEnd type="none" w="med" len="med"/>
                      <a:tailEnd type="none" w="med" len="med"/>
                    </a:lnB>
                    <a:solidFill>
                      <a:srgbClr val="E67E22"/>
                    </a:solidFill>
                  </a:tcPr>
                </a:tc>
              </a:tr>
              <a:tr h="228600">
                <a:tc>
                  <a:txBody>
                    <a:bodyPr/>
                    <a:lstStyle/>
                    <a:p>
                      <a:pPr marL="0" indent="0" algn="l">
                        <a:buNone/>
                      </a:pPr>
                      <a:r>
                        <a:rPr lang="en-US" sz="950" dirty="0">
                          <a:solidFill>
                            <a:srgbClr val="212121"/>
                          </a:solidFill>
                          <a:latin typeface="Calibri" panose="020F0502020204030204" pitchFamily="34" charset="0"/>
                          <a:ea typeface="Calibri" panose="020F0502020204030204" pitchFamily="34" charset="-122"/>
                          <a:cs typeface="Calibri" panose="020F0502020204030204" pitchFamily="34" charset="-120"/>
                        </a:rPr>
                        <a:t>Ocak</a:t>
                      </a:r>
                      <a:endParaRPr lang="en-US" sz="950" dirty="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E0E6ED"/>
                      </a:solidFill>
                      <a:prstDash val="solid"/>
                      <a:round/>
                      <a:headEnd type="none" w="med" len="med"/>
                      <a:tailEnd type="none" w="med" len="med"/>
                    </a:lnL>
                    <a:lnR w="6350" cap="flat" cmpd="sng" algn="ctr">
                      <a:solidFill>
                        <a:srgbClr val="E0E6ED"/>
                      </a:solidFill>
                      <a:prstDash val="solid"/>
                      <a:round/>
                      <a:headEnd type="none" w="med" len="med"/>
                      <a:tailEnd type="none" w="med" len="med"/>
                    </a:lnR>
                    <a:lnT w="6350" cap="flat" cmpd="sng" algn="ctr">
                      <a:solidFill>
                        <a:srgbClr val="E0E6ED"/>
                      </a:solidFill>
                      <a:prstDash val="solid"/>
                      <a:round/>
                      <a:headEnd type="none" w="med" len="med"/>
                      <a:tailEnd type="none" w="med" len="med"/>
                    </a:lnT>
                    <a:lnB w="6350" cap="flat" cmpd="sng" algn="ctr">
                      <a:solidFill>
                        <a:srgbClr val="E0E6ED"/>
                      </a:solidFill>
                      <a:prstDash val="solid"/>
                      <a:round/>
                      <a:headEnd type="none" w="med" len="med"/>
                      <a:tailEnd type="none" w="med" len="med"/>
                    </a:lnB>
                    <a:solidFill>
                      <a:srgbClr val="F4F6F8"/>
                    </a:solidFill>
                  </a:tcPr>
                </a:tc>
                <a:tc>
                  <a:txBody>
                    <a:bodyPr/>
                    <a:lstStyle/>
                    <a:p>
                      <a:pPr marL="0" indent="0" algn="ctr">
                        <a:buNone/>
                      </a:pPr>
                      <a:r>
                        <a:rPr lang="en-US" sz="950" dirty="0">
                          <a:solidFill>
                            <a:srgbClr val="212121"/>
                          </a:solidFill>
                          <a:latin typeface="Calibri" panose="020F0502020204030204" pitchFamily="34" charset="0"/>
                          <a:ea typeface="Calibri" panose="020F0502020204030204" pitchFamily="34" charset="-122"/>
                          <a:cs typeface="Calibri" panose="020F0502020204030204" pitchFamily="34" charset="-120"/>
                        </a:rPr>
                        <a:t>2,12</a:t>
                      </a:r>
                      <a:endParaRPr lang="en-US" sz="950" dirty="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E0E6ED"/>
                      </a:solidFill>
                      <a:prstDash val="solid"/>
                      <a:round/>
                      <a:headEnd type="none" w="med" len="med"/>
                      <a:tailEnd type="none" w="med" len="med"/>
                    </a:lnL>
                    <a:lnR w="6350" cap="flat" cmpd="sng" algn="ctr">
                      <a:solidFill>
                        <a:srgbClr val="E0E6ED"/>
                      </a:solidFill>
                      <a:prstDash val="solid"/>
                      <a:round/>
                      <a:headEnd type="none" w="med" len="med"/>
                      <a:tailEnd type="none" w="med" len="med"/>
                    </a:lnR>
                    <a:lnT w="6350" cap="flat" cmpd="sng" algn="ctr">
                      <a:solidFill>
                        <a:srgbClr val="E0E6ED"/>
                      </a:solidFill>
                      <a:prstDash val="solid"/>
                      <a:round/>
                      <a:headEnd type="none" w="med" len="med"/>
                      <a:tailEnd type="none" w="med" len="med"/>
                    </a:lnT>
                    <a:lnB w="6350" cap="flat" cmpd="sng" algn="ctr">
                      <a:solidFill>
                        <a:srgbClr val="E0E6ED"/>
                      </a:solidFill>
                      <a:prstDash val="solid"/>
                      <a:round/>
                      <a:headEnd type="none" w="med" len="med"/>
                      <a:tailEnd type="none" w="med" len="med"/>
                    </a:lnB>
                    <a:solidFill>
                      <a:srgbClr val="F4F6F8"/>
                    </a:solidFill>
                  </a:tcPr>
                </a:tc>
                <a:tc>
                  <a:txBody>
                    <a:bodyPr/>
                    <a:lstStyle/>
                    <a:p>
                      <a:pPr marL="0" indent="0" algn="ctr">
                        <a:buNone/>
                      </a:pPr>
                      <a:r>
                        <a:rPr lang="en-US" sz="950" dirty="0">
                          <a:solidFill>
                            <a:srgbClr val="212121"/>
                          </a:solidFill>
                          <a:latin typeface="Calibri" panose="020F0502020204030204" pitchFamily="34" charset="0"/>
                          <a:ea typeface="Calibri" panose="020F0502020204030204" pitchFamily="34" charset="-122"/>
                          <a:cs typeface="Calibri" panose="020F0502020204030204" pitchFamily="34" charset="-120"/>
                        </a:rPr>
                        <a:t>4,95</a:t>
                      </a:r>
                      <a:endParaRPr lang="en-US" sz="950" dirty="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E0E6ED"/>
                      </a:solidFill>
                      <a:prstDash val="solid"/>
                      <a:round/>
                      <a:headEnd type="none" w="med" len="med"/>
                      <a:tailEnd type="none" w="med" len="med"/>
                    </a:lnL>
                    <a:lnR w="6350" cap="flat" cmpd="sng" algn="ctr">
                      <a:solidFill>
                        <a:srgbClr val="E0E6ED"/>
                      </a:solidFill>
                      <a:prstDash val="solid"/>
                      <a:round/>
                      <a:headEnd type="none" w="med" len="med"/>
                      <a:tailEnd type="none" w="med" len="med"/>
                    </a:lnR>
                    <a:lnT w="6350" cap="flat" cmpd="sng" algn="ctr">
                      <a:solidFill>
                        <a:srgbClr val="E0E6ED"/>
                      </a:solidFill>
                      <a:prstDash val="solid"/>
                      <a:round/>
                      <a:headEnd type="none" w="med" len="med"/>
                      <a:tailEnd type="none" w="med" len="med"/>
                    </a:lnT>
                    <a:lnB w="6350" cap="flat" cmpd="sng" algn="ctr">
                      <a:solidFill>
                        <a:srgbClr val="E0E6ED"/>
                      </a:solidFill>
                      <a:prstDash val="solid"/>
                      <a:round/>
                      <a:headEnd type="none" w="med" len="med"/>
                      <a:tailEnd type="none" w="med" len="med"/>
                    </a:lnB>
                    <a:solidFill>
                      <a:srgbClr val="F4F6F8"/>
                    </a:solidFill>
                  </a:tcPr>
                </a:tc>
                <a:tc>
                  <a:txBody>
                    <a:bodyPr/>
                    <a:lstStyle/>
                    <a:p>
                      <a:pPr marL="0" indent="0" algn="ctr">
                        <a:buNone/>
                      </a:pPr>
                      <a:r>
                        <a:rPr lang="en-US" sz="950" dirty="0">
                          <a:solidFill>
                            <a:srgbClr val="212121"/>
                          </a:solidFill>
                          <a:latin typeface="Calibri" panose="020F0502020204030204" pitchFamily="34" charset="0"/>
                          <a:ea typeface="Calibri" panose="020F0502020204030204" pitchFamily="34" charset="-122"/>
                          <a:cs typeface="Calibri" panose="020F0502020204030204" pitchFamily="34" charset="-120"/>
                        </a:rPr>
                        <a:t>2,64</a:t>
                      </a:r>
                      <a:endParaRPr lang="en-US" sz="950" dirty="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E0E6ED"/>
                      </a:solidFill>
                      <a:prstDash val="solid"/>
                      <a:round/>
                      <a:headEnd type="none" w="med" len="med"/>
                      <a:tailEnd type="none" w="med" len="med"/>
                    </a:lnL>
                    <a:lnR w="6350" cap="flat" cmpd="sng" algn="ctr">
                      <a:solidFill>
                        <a:srgbClr val="E0E6ED"/>
                      </a:solidFill>
                      <a:prstDash val="solid"/>
                      <a:round/>
                      <a:headEnd type="none" w="med" len="med"/>
                      <a:tailEnd type="none" w="med" len="med"/>
                    </a:lnR>
                    <a:lnT w="6350" cap="flat" cmpd="sng" algn="ctr">
                      <a:solidFill>
                        <a:srgbClr val="E0E6ED"/>
                      </a:solidFill>
                      <a:prstDash val="solid"/>
                      <a:round/>
                      <a:headEnd type="none" w="med" len="med"/>
                      <a:tailEnd type="none" w="med" len="med"/>
                    </a:lnT>
                    <a:lnB w="6350" cap="flat" cmpd="sng" algn="ctr">
                      <a:solidFill>
                        <a:srgbClr val="E0E6ED"/>
                      </a:solidFill>
                      <a:prstDash val="solid"/>
                      <a:round/>
                      <a:headEnd type="none" w="med" len="med"/>
                      <a:tailEnd type="none" w="med" len="med"/>
                    </a:lnB>
                    <a:solidFill>
                      <a:srgbClr val="F4F6F8"/>
                    </a:solidFill>
                  </a:tcPr>
                </a:tc>
                <a:tc>
                  <a:txBody>
                    <a:bodyPr/>
                    <a:lstStyle/>
                    <a:p>
                      <a:pPr marL="0" indent="0" algn="ctr">
                        <a:buNone/>
                      </a:pPr>
                      <a:r>
                        <a:rPr lang="en-US" sz="950" dirty="0">
                          <a:solidFill>
                            <a:srgbClr val="212121"/>
                          </a:solidFill>
                          <a:latin typeface="Calibri" panose="020F0502020204030204" pitchFamily="34" charset="0"/>
                          <a:ea typeface="Calibri" panose="020F0502020204030204" pitchFamily="34" charset="-122"/>
                          <a:cs typeface="Calibri" panose="020F0502020204030204" pitchFamily="34" charset="-120"/>
                        </a:rPr>
                        <a:t>0,413</a:t>
                      </a:r>
                      <a:endParaRPr lang="en-US" sz="950" dirty="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E0E6ED"/>
                      </a:solidFill>
                      <a:prstDash val="solid"/>
                      <a:round/>
                      <a:headEnd type="none" w="med" len="med"/>
                      <a:tailEnd type="none" w="med" len="med"/>
                    </a:lnL>
                    <a:lnR w="6350" cap="flat" cmpd="sng" algn="ctr">
                      <a:solidFill>
                        <a:srgbClr val="E0E6ED"/>
                      </a:solidFill>
                      <a:prstDash val="solid"/>
                      <a:round/>
                      <a:headEnd type="none" w="med" len="med"/>
                      <a:tailEnd type="none" w="med" len="med"/>
                    </a:lnR>
                    <a:lnT w="6350" cap="flat" cmpd="sng" algn="ctr">
                      <a:solidFill>
                        <a:srgbClr val="E0E6ED"/>
                      </a:solidFill>
                      <a:prstDash val="solid"/>
                      <a:round/>
                      <a:headEnd type="none" w="med" len="med"/>
                      <a:tailEnd type="none" w="med" len="med"/>
                    </a:lnT>
                    <a:lnB w="6350" cap="flat" cmpd="sng" algn="ctr">
                      <a:solidFill>
                        <a:srgbClr val="E0E6ED"/>
                      </a:solidFill>
                      <a:prstDash val="solid"/>
                      <a:round/>
                      <a:headEnd type="none" w="med" len="med"/>
                      <a:tailEnd type="none" w="med" len="med"/>
                    </a:lnB>
                    <a:solidFill>
                      <a:srgbClr val="F4F6F8"/>
                    </a:solidFill>
                  </a:tcPr>
                </a:tc>
              </a:tr>
              <a:tr h="228600">
                <a:tc>
                  <a:txBody>
                    <a:bodyPr/>
                    <a:lstStyle/>
                    <a:p>
                      <a:pPr marL="0" indent="0" algn="l">
                        <a:buNone/>
                      </a:pPr>
                      <a:r>
                        <a:rPr lang="en-US" sz="950" dirty="0">
                          <a:solidFill>
                            <a:srgbClr val="212121"/>
                          </a:solidFill>
                          <a:latin typeface="Calibri" panose="020F0502020204030204" pitchFamily="34" charset="0"/>
                          <a:ea typeface="Calibri" panose="020F0502020204030204" pitchFamily="34" charset="-122"/>
                          <a:cs typeface="Calibri" panose="020F0502020204030204" pitchFamily="34" charset="-120"/>
                        </a:rPr>
                        <a:t>Mart</a:t>
                      </a:r>
                      <a:endParaRPr lang="en-US" sz="950" dirty="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E0E6ED"/>
                      </a:solidFill>
                      <a:prstDash val="solid"/>
                      <a:round/>
                      <a:headEnd type="none" w="med" len="med"/>
                      <a:tailEnd type="none" w="med" len="med"/>
                    </a:lnL>
                    <a:lnR w="6350" cap="flat" cmpd="sng" algn="ctr">
                      <a:solidFill>
                        <a:srgbClr val="E0E6ED"/>
                      </a:solidFill>
                      <a:prstDash val="solid"/>
                      <a:round/>
                      <a:headEnd type="none" w="med" len="med"/>
                      <a:tailEnd type="none" w="med" len="med"/>
                    </a:lnR>
                    <a:lnT w="6350" cap="flat" cmpd="sng" algn="ctr">
                      <a:solidFill>
                        <a:srgbClr val="E0E6ED"/>
                      </a:solidFill>
                      <a:prstDash val="solid"/>
                      <a:round/>
                      <a:headEnd type="none" w="med" len="med"/>
                      <a:tailEnd type="none" w="med" len="med"/>
                    </a:lnT>
                    <a:lnB w="6350" cap="flat" cmpd="sng" algn="ctr">
                      <a:solidFill>
                        <a:srgbClr val="E0E6ED"/>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212121"/>
                          </a:solidFill>
                          <a:latin typeface="Calibri" panose="020F0502020204030204" pitchFamily="34" charset="0"/>
                          <a:ea typeface="Calibri" panose="020F0502020204030204" pitchFamily="34" charset="-122"/>
                          <a:cs typeface="Calibri" panose="020F0502020204030204" pitchFamily="34" charset="-120"/>
                        </a:rPr>
                        <a:t>4,37</a:t>
                      </a:r>
                      <a:endParaRPr lang="en-US" sz="950" dirty="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E0E6ED"/>
                      </a:solidFill>
                      <a:prstDash val="solid"/>
                      <a:round/>
                      <a:headEnd type="none" w="med" len="med"/>
                      <a:tailEnd type="none" w="med" len="med"/>
                    </a:lnL>
                    <a:lnR w="6350" cap="flat" cmpd="sng" algn="ctr">
                      <a:solidFill>
                        <a:srgbClr val="E0E6ED"/>
                      </a:solidFill>
                      <a:prstDash val="solid"/>
                      <a:round/>
                      <a:headEnd type="none" w="med" len="med"/>
                      <a:tailEnd type="none" w="med" len="med"/>
                    </a:lnR>
                    <a:lnT w="6350" cap="flat" cmpd="sng" algn="ctr">
                      <a:solidFill>
                        <a:srgbClr val="E0E6ED"/>
                      </a:solidFill>
                      <a:prstDash val="solid"/>
                      <a:round/>
                      <a:headEnd type="none" w="med" len="med"/>
                      <a:tailEnd type="none" w="med" len="med"/>
                    </a:lnT>
                    <a:lnB w="6350" cap="flat" cmpd="sng" algn="ctr">
                      <a:solidFill>
                        <a:srgbClr val="E0E6ED"/>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212121"/>
                          </a:solidFill>
                          <a:latin typeface="Calibri" panose="020F0502020204030204" pitchFamily="34" charset="0"/>
                          <a:ea typeface="Calibri" panose="020F0502020204030204" pitchFamily="34" charset="-122"/>
                          <a:cs typeface="Calibri" panose="020F0502020204030204" pitchFamily="34" charset="-120"/>
                        </a:rPr>
                        <a:t>7,24</a:t>
                      </a:r>
                      <a:endParaRPr lang="en-US" sz="950" dirty="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E0E6ED"/>
                      </a:solidFill>
                      <a:prstDash val="solid"/>
                      <a:round/>
                      <a:headEnd type="none" w="med" len="med"/>
                      <a:tailEnd type="none" w="med" len="med"/>
                    </a:lnL>
                    <a:lnR w="6350" cap="flat" cmpd="sng" algn="ctr">
                      <a:solidFill>
                        <a:srgbClr val="E0E6ED"/>
                      </a:solidFill>
                      <a:prstDash val="solid"/>
                      <a:round/>
                      <a:headEnd type="none" w="med" len="med"/>
                      <a:tailEnd type="none" w="med" len="med"/>
                    </a:lnR>
                    <a:lnT w="6350" cap="flat" cmpd="sng" algn="ctr">
                      <a:solidFill>
                        <a:srgbClr val="E0E6ED"/>
                      </a:solidFill>
                      <a:prstDash val="solid"/>
                      <a:round/>
                      <a:headEnd type="none" w="med" len="med"/>
                      <a:tailEnd type="none" w="med" len="med"/>
                    </a:lnT>
                    <a:lnB w="6350" cap="flat" cmpd="sng" algn="ctr">
                      <a:solidFill>
                        <a:srgbClr val="E0E6ED"/>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212121"/>
                          </a:solidFill>
                          <a:latin typeface="Calibri" panose="020F0502020204030204" pitchFamily="34" charset="0"/>
                          <a:ea typeface="Calibri" panose="020F0502020204030204" pitchFamily="34" charset="-122"/>
                          <a:cs typeface="Calibri" panose="020F0502020204030204" pitchFamily="34" charset="-120"/>
                        </a:rPr>
                        <a:t>4,92</a:t>
                      </a:r>
                      <a:endParaRPr lang="en-US" sz="950" dirty="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E0E6ED"/>
                      </a:solidFill>
                      <a:prstDash val="solid"/>
                      <a:round/>
                      <a:headEnd type="none" w="med" len="med"/>
                      <a:tailEnd type="none" w="med" len="med"/>
                    </a:lnL>
                    <a:lnR w="6350" cap="flat" cmpd="sng" algn="ctr">
                      <a:solidFill>
                        <a:srgbClr val="E0E6ED"/>
                      </a:solidFill>
                      <a:prstDash val="solid"/>
                      <a:round/>
                      <a:headEnd type="none" w="med" len="med"/>
                      <a:tailEnd type="none" w="med" len="med"/>
                    </a:lnR>
                    <a:lnT w="6350" cap="flat" cmpd="sng" algn="ctr">
                      <a:solidFill>
                        <a:srgbClr val="E0E6ED"/>
                      </a:solidFill>
                      <a:prstDash val="solid"/>
                      <a:round/>
                      <a:headEnd type="none" w="med" len="med"/>
                      <a:tailEnd type="none" w="med" len="med"/>
                    </a:lnT>
                    <a:lnB w="6350" cap="flat" cmpd="sng" algn="ctr">
                      <a:solidFill>
                        <a:srgbClr val="E0E6ED"/>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212121"/>
                          </a:solidFill>
                          <a:latin typeface="Calibri" panose="020F0502020204030204" pitchFamily="34" charset="0"/>
                          <a:ea typeface="Calibri" panose="020F0502020204030204" pitchFamily="34" charset="-122"/>
                          <a:cs typeface="Calibri" panose="020F0502020204030204" pitchFamily="34" charset="-120"/>
                        </a:rPr>
                        <a:t>0,464</a:t>
                      </a:r>
                      <a:endParaRPr lang="en-US" sz="950" dirty="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E0E6ED"/>
                      </a:solidFill>
                      <a:prstDash val="solid"/>
                      <a:round/>
                      <a:headEnd type="none" w="med" len="med"/>
                      <a:tailEnd type="none" w="med" len="med"/>
                    </a:lnL>
                    <a:lnR w="6350" cap="flat" cmpd="sng" algn="ctr">
                      <a:solidFill>
                        <a:srgbClr val="E0E6ED"/>
                      </a:solidFill>
                      <a:prstDash val="solid"/>
                      <a:round/>
                      <a:headEnd type="none" w="med" len="med"/>
                      <a:tailEnd type="none" w="med" len="med"/>
                    </a:lnR>
                    <a:lnT w="6350" cap="flat" cmpd="sng" algn="ctr">
                      <a:solidFill>
                        <a:srgbClr val="E0E6ED"/>
                      </a:solidFill>
                      <a:prstDash val="solid"/>
                      <a:round/>
                      <a:headEnd type="none" w="med" len="med"/>
                      <a:tailEnd type="none" w="med" len="med"/>
                    </a:lnT>
                    <a:lnB w="6350" cap="flat" cmpd="sng" algn="ctr">
                      <a:solidFill>
                        <a:srgbClr val="E0E6ED"/>
                      </a:solidFill>
                      <a:prstDash val="solid"/>
                      <a:round/>
                      <a:headEnd type="none" w="med" len="med"/>
                      <a:tailEnd type="none" w="med" len="med"/>
                    </a:lnB>
                    <a:solidFill>
                      <a:srgbClr val="FFFFFF"/>
                    </a:solidFill>
                  </a:tcPr>
                </a:tc>
              </a:tr>
              <a:tr h="228600">
                <a:tc>
                  <a:txBody>
                    <a:bodyPr/>
                    <a:lstStyle/>
                    <a:p>
                      <a:pPr marL="0" indent="0" algn="l">
                        <a:buNone/>
                      </a:pPr>
                      <a:r>
                        <a:rPr lang="en-US" sz="950" dirty="0">
                          <a:solidFill>
                            <a:srgbClr val="212121"/>
                          </a:solidFill>
                          <a:latin typeface="Calibri" panose="020F0502020204030204" pitchFamily="34" charset="0"/>
                          <a:ea typeface="Calibri" panose="020F0502020204030204" pitchFamily="34" charset="-122"/>
                          <a:cs typeface="Calibri" panose="020F0502020204030204" pitchFamily="34" charset="-120"/>
                        </a:rPr>
                        <a:t>Haziran</a:t>
                      </a:r>
                      <a:endParaRPr lang="en-US" sz="950" dirty="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E0E6ED"/>
                      </a:solidFill>
                      <a:prstDash val="solid"/>
                      <a:round/>
                      <a:headEnd type="none" w="med" len="med"/>
                      <a:tailEnd type="none" w="med" len="med"/>
                    </a:lnL>
                    <a:lnR w="6350" cap="flat" cmpd="sng" algn="ctr">
                      <a:solidFill>
                        <a:srgbClr val="E0E6ED"/>
                      </a:solidFill>
                      <a:prstDash val="solid"/>
                      <a:round/>
                      <a:headEnd type="none" w="med" len="med"/>
                      <a:tailEnd type="none" w="med" len="med"/>
                    </a:lnR>
                    <a:lnT w="6350" cap="flat" cmpd="sng" algn="ctr">
                      <a:solidFill>
                        <a:srgbClr val="E0E6ED"/>
                      </a:solidFill>
                      <a:prstDash val="solid"/>
                      <a:round/>
                      <a:headEnd type="none" w="med" len="med"/>
                      <a:tailEnd type="none" w="med" len="med"/>
                    </a:lnT>
                    <a:lnB w="6350" cap="flat" cmpd="sng" algn="ctr">
                      <a:solidFill>
                        <a:srgbClr val="E0E6ED"/>
                      </a:solidFill>
                      <a:prstDash val="solid"/>
                      <a:round/>
                      <a:headEnd type="none" w="med" len="med"/>
                      <a:tailEnd type="none" w="med" len="med"/>
                    </a:lnB>
                    <a:solidFill>
                      <a:srgbClr val="F4F6F8"/>
                    </a:solidFill>
                  </a:tcPr>
                </a:tc>
                <a:tc>
                  <a:txBody>
                    <a:bodyPr/>
                    <a:lstStyle/>
                    <a:p>
                      <a:pPr marL="0" indent="0" algn="ctr">
                        <a:buNone/>
                      </a:pPr>
                      <a:r>
                        <a:rPr lang="en-US" sz="950" dirty="0">
                          <a:solidFill>
                            <a:srgbClr val="212121"/>
                          </a:solidFill>
                          <a:latin typeface="Calibri" panose="020F0502020204030204" pitchFamily="34" charset="0"/>
                          <a:ea typeface="Calibri" panose="020F0502020204030204" pitchFamily="34" charset="-122"/>
                          <a:cs typeface="Calibri" panose="020F0502020204030204" pitchFamily="34" charset="-120"/>
                        </a:rPr>
                        <a:t>6,93</a:t>
                      </a:r>
                      <a:endParaRPr lang="en-US" sz="950" dirty="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E0E6ED"/>
                      </a:solidFill>
                      <a:prstDash val="solid"/>
                      <a:round/>
                      <a:headEnd type="none" w="med" len="med"/>
                      <a:tailEnd type="none" w="med" len="med"/>
                    </a:lnL>
                    <a:lnR w="6350" cap="flat" cmpd="sng" algn="ctr">
                      <a:solidFill>
                        <a:srgbClr val="E0E6ED"/>
                      </a:solidFill>
                      <a:prstDash val="solid"/>
                      <a:round/>
                      <a:headEnd type="none" w="med" len="med"/>
                      <a:tailEnd type="none" w="med" len="med"/>
                    </a:lnR>
                    <a:lnT w="6350" cap="flat" cmpd="sng" algn="ctr">
                      <a:solidFill>
                        <a:srgbClr val="E0E6ED"/>
                      </a:solidFill>
                      <a:prstDash val="solid"/>
                      <a:round/>
                      <a:headEnd type="none" w="med" len="med"/>
                      <a:tailEnd type="none" w="med" len="med"/>
                    </a:lnT>
                    <a:lnB w="6350" cap="flat" cmpd="sng" algn="ctr">
                      <a:solidFill>
                        <a:srgbClr val="E0E6ED"/>
                      </a:solidFill>
                      <a:prstDash val="solid"/>
                      <a:round/>
                      <a:headEnd type="none" w="med" len="med"/>
                      <a:tailEnd type="none" w="med" len="med"/>
                    </a:lnB>
                    <a:solidFill>
                      <a:srgbClr val="F4F6F8"/>
                    </a:solidFill>
                  </a:tcPr>
                </a:tc>
                <a:tc>
                  <a:txBody>
                    <a:bodyPr/>
                    <a:lstStyle/>
                    <a:p>
                      <a:pPr marL="0" indent="0" algn="ctr">
                        <a:buNone/>
                      </a:pPr>
                      <a:r>
                        <a:rPr lang="en-US" sz="950" dirty="0">
                          <a:solidFill>
                            <a:srgbClr val="212121"/>
                          </a:solidFill>
                          <a:latin typeface="Calibri" panose="020F0502020204030204" pitchFamily="34" charset="0"/>
                          <a:ea typeface="Calibri" panose="020F0502020204030204" pitchFamily="34" charset="-122"/>
                          <a:cs typeface="Calibri" panose="020F0502020204030204" pitchFamily="34" charset="-120"/>
                        </a:rPr>
                        <a:t>11,55</a:t>
                      </a:r>
                      <a:endParaRPr lang="en-US" sz="950" dirty="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E0E6ED"/>
                      </a:solidFill>
                      <a:prstDash val="solid"/>
                      <a:round/>
                      <a:headEnd type="none" w="med" len="med"/>
                      <a:tailEnd type="none" w="med" len="med"/>
                    </a:lnL>
                    <a:lnR w="6350" cap="flat" cmpd="sng" algn="ctr">
                      <a:solidFill>
                        <a:srgbClr val="E0E6ED"/>
                      </a:solidFill>
                      <a:prstDash val="solid"/>
                      <a:round/>
                      <a:headEnd type="none" w="med" len="med"/>
                      <a:tailEnd type="none" w="med" len="med"/>
                    </a:lnR>
                    <a:lnT w="6350" cap="flat" cmpd="sng" algn="ctr">
                      <a:solidFill>
                        <a:srgbClr val="E0E6ED"/>
                      </a:solidFill>
                      <a:prstDash val="solid"/>
                      <a:round/>
                      <a:headEnd type="none" w="med" len="med"/>
                      <a:tailEnd type="none" w="med" len="med"/>
                    </a:lnT>
                    <a:lnB w="6350" cap="flat" cmpd="sng" algn="ctr">
                      <a:solidFill>
                        <a:srgbClr val="E0E6ED"/>
                      </a:solidFill>
                      <a:prstDash val="solid"/>
                      <a:round/>
                      <a:headEnd type="none" w="med" len="med"/>
                      <a:tailEnd type="none" w="med" len="med"/>
                    </a:lnB>
                    <a:solidFill>
                      <a:srgbClr val="F4F6F8"/>
                    </a:solidFill>
                  </a:tcPr>
                </a:tc>
                <a:tc>
                  <a:txBody>
                    <a:bodyPr/>
                    <a:lstStyle/>
                    <a:p>
                      <a:pPr marL="0" indent="0" algn="ctr">
                        <a:buNone/>
                      </a:pPr>
                      <a:r>
                        <a:rPr lang="en-US" sz="950" dirty="0">
                          <a:solidFill>
                            <a:srgbClr val="212121"/>
                          </a:solidFill>
                          <a:latin typeface="Calibri" panose="020F0502020204030204" pitchFamily="34" charset="0"/>
                          <a:ea typeface="Calibri" panose="020F0502020204030204" pitchFamily="34" charset="-122"/>
                          <a:cs typeface="Calibri" panose="020F0502020204030204" pitchFamily="34" charset="-120"/>
                        </a:rPr>
                        <a:t>6,72</a:t>
                      </a:r>
                      <a:endParaRPr lang="en-US" sz="950" dirty="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E0E6ED"/>
                      </a:solidFill>
                      <a:prstDash val="solid"/>
                      <a:round/>
                      <a:headEnd type="none" w="med" len="med"/>
                      <a:tailEnd type="none" w="med" len="med"/>
                    </a:lnL>
                    <a:lnR w="6350" cap="flat" cmpd="sng" algn="ctr">
                      <a:solidFill>
                        <a:srgbClr val="E0E6ED"/>
                      </a:solidFill>
                      <a:prstDash val="solid"/>
                      <a:round/>
                      <a:headEnd type="none" w="med" len="med"/>
                      <a:tailEnd type="none" w="med" len="med"/>
                    </a:lnR>
                    <a:lnT w="6350" cap="flat" cmpd="sng" algn="ctr">
                      <a:solidFill>
                        <a:srgbClr val="E0E6ED"/>
                      </a:solidFill>
                      <a:prstDash val="solid"/>
                      <a:round/>
                      <a:headEnd type="none" w="med" len="med"/>
                      <a:tailEnd type="none" w="med" len="med"/>
                    </a:lnT>
                    <a:lnB w="6350" cap="flat" cmpd="sng" algn="ctr">
                      <a:solidFill>
                        <a:srgbClr val="E0E6ED"/>
                      </a:solidFill>
                      <a:prstDash val="solid"/>
                      <a:round/>
                      <a:headEnd type="none" w="med" len="med"/>
                      <a:tailEnd type="none" w="med" len="med"/>
                    </a:lnB>
                    <a:solidFill>
                      <a:srgbClr val="F4F6F8"/>
                    </a:solidFill>
                  </a:tcPr>
                </a:tc>
                <a:tc>
                  <a:txBody>
                    <a:bodyPr/>
                    <a:lstStyle/>
                    <a:p>
                      <a:pPr marL="0" indent="0" algn="ctr">
                        <a:buNone/>
                      </a:pPr>
                      <a:r>
                        <a:rPr lang="en-US" sz="950" dirty="0">
                          <a:solidFill>
                            <a:srgbClr val="212121"/>
                          </a:solidFill>
                          <a:latin typeface="Calibri" panose="020F0502020204030204" pitchFamily="34" charset="0"/>
                          <a:ea typeface="Calibri" panose="020F0502020204030204" pitchFamily="34" charset="-122"/>
                          <a:cs typeface="Calibri" panose="020F0502020204030204" pitchFamily="34" charset="-120"/>
                        </a:rPr>
                        <a:t>0,458</a:t>
                      </a:r>
                      <a:endParaRPr lang="en-US" sz="950" dirty="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E0E6ED"/>
                      </a:solidFill>
                      <a:prstDash val="solid"/>
                      <a:round/>
                      <a:headEnd type="none" w="med" len="med"/>
                      <a:tailEnd type="none" w="med" len="med"/>
                    </a:lnL>
                    <a:lnR w="6350" cap="flat" cmpd="sng" algn="ctr">
                      <a:solidFill>
                        <a:srgbClr val="E0E6ED"/>
                      </a:solidFill>
                      <a:prstDash val="solid"/>
                      <a:round/>
                      <a:headEnd type="none" w="med" len="med"/>
                      <a:tailEnd type="none" w="med" len="med"/>
                    </a:lnR>
                    <a:lnT w="6350" cap="flat" cmpd="sng" algn="ctr">
                      <a:solidFill>
                        <a:srgbClr val="E0E6ED"/>
                      </a:solidFill>
                      <a:prstDash val="solid"/>
                      <a:round/>
                      <a:headEnd type="none" w="med" len="med"/>
                      <a:tailEnd type="none" w="med" len="med"/>
                    </a:lnT>
                    <a:lnB w="6350" cap="flat" cmpd="sng" algn="ctr">
                      <a:solidFill>
                        <a:srgbClr val="E0E6ED"/>
                      </a:solidFill>
                      <a:prstDash val="solid"/>
                      <a:round/>
                      <a:headEnd type="none" w="med" len="med"/>
                      <a:tailEnd type="none" w="med" len="med"/>
                    </a:lnB>
                    <a:solidFill>
                      <a:srgbClr val="F4F6F8"/>
                    </a:solidFill>
                  </a:tcPr>
                </a:tc>
              </a:tr>
              <a:tr h="228600">
                <a:tc>
                  <a:txBody>
                    <a:bodyPr/>
                    <a:lstStyle/>
                    <a:p>
                      <a:pPr marL="0" indent="0" algn="l">
                        <a:buNone/>
                      </a:pPr>
                      <a:r>
                        <a:rPr lang="en-US" sz="950" dirty="0">
                          <a:solidFill>
                            <a:srgbClr val="212121"/>
                          </a:solidFill>
                          <a:latin typeface="Calibri" panose="020F0502020204030204" pitchFamily="34" charset="0"/>
                          <a:ea typeface="Calibri" panose="020F0502020204030204" pitchFamily="34" charset="-122"/>
                          <a:cs typeface="Calibri" panose="020F0502020204030204" pitchFamily="34" charset="-120"/>
                        </a:rPr>
                        <a:t>Eylül</a:t>
                      </a:r>
                      <a:endParaRPr lang="en-US" sz="950" dirty="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E0E6ED"/>
                      </a:solidFill>
                      <a:prstDash val="solid"/>
                      <a:round/>
                      <a:headEnd type="none" w="med" len="med"/>
                      <a:tailEnd type="none" w="med" len="med"/>
                    </a:lnL>
                    <a:lnR w="6350" cap="flat" cmpd="sng" algn="ctr">
                      <a:solidFill>
                        <a:srgbClr val="E0E6ED"/>
                      </a:solidFill>
                      <a:prstDash val="solid"/>
                      <a:round/>
                      <a:headEnd type="none" w="med" len="med"/>
                      <a:tailEnd type="none" w="med" len="med"/>
                    </a:lnR>
                    <a:lnT w="6350" cap="flat" cmpd="sng" algn="ctr">
                      <a:solidFill>
                        <a:srgbClr val="E0E6ED"/>
                      </a:solidFill>
                      <a:prstDash val="solid"/>
                      <a:round/>
                      <a:headEnd type="none" w="med" len="med"/>
                      <a:tailEnd type="none" w="med" len="med"/>
                    </a:lnT>
                    <a:lnB w="6350" cap="flat" cmpd="sng" algn="ctr">
                      <a:solidFill>
                        <a:srgbClr val="E0E6ED"/>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212121"/>
                          </a:solidFill>
                          <a:latin typeface="Calibri" panose="020F0502020204030204" pitchFamily="34" charset="0"/>
                          <a:ea typeface="Calibri" panose="020F0502020204030204" pitchFamily="34" charset="-122"/>
                          <a:cs typeface="Calibri" panose="020F0502020204030204" pitchFamily="34" charset="-120"/>
                        </a:rPr>
                        <a:t>5,16</a:t>
                      </a:r>
                      <a:endParaRPr lang="en-US" sz="950" dirty="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E0E6ED"/>
                      </a:solidFill>
                      <a:prstDash val="solid"/>
                      <a:round/>
                      <a:headEnd type="none" w="med" len="med"/>
                      <a:tailEnd type="none" w="med" len="med"/>
                    </a:lnL>
                    <a:lnR w="6350" cap="flat" cmpd="sng" algn="ctr">
                      <a:solidFill>
                        <a:srgbClr val="E0E6ED"/>
                      </a:solidFill>
                      <a:prstDash val="solid"/>
                      <a:round/>
                      <a:headEnd type="none" w="med" len="med"/>
                      <a:tailEnd type="none" w="med" len="med"/>
                    </a:lnR>
                    <a:lnT w="6350" cap="flat" cmpd="sng" algn="ctr">
                      <a:solidFill>
                        <a:srgbClr val="E0E6ED"/>
                      </a:solidFill>
                      <a:prstDash val="solid"/>
                      <a:round/>
                      <a:headEnd type="none" w="med" len="med"/>
                      <a:tailEnd type="none" w="med" len="med"/>
                    </a:lnT>
                    <a:lnB w="6350" cap="flat" cmpd="sng" algn="ctr">
                      <a:solidFill>
                        <a:srgbClr val="E0E6ED"/>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212121"/>
                          </a:solidFill>
                          <a:latin typeface="Calibri" panose="020F0502020204030204" pitchFamily="34" charset="0"/>
                          <a:ea typeface="Calibri" panose="020F0502020204030204" pitchFamily="34" charset="-122"/>
                          <a:cs typeface="Calibri" panose="020F0502020204030204" pitchFamily="34" charset="-120"/>
                        </a:rPr>
                        <a:t>9,80</a:t>
                      </a:r>
                      <a:endParaRPr lang="en-US" sz="950" dirty="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E0E6ED"/>
                      </a:solidFill>
                      <a:prstDash val="solid"/>
                      <a:round/>
                      <a:headEnd type="none" w="med" len="med"/>
                      <a:tailEnd type="none" w="med" len="med"/>
                    </a:lnL>
                    <a:lnR w="6350" cap="flat" cmpd="sng" algn="ctr">
                      <a:solidFill>
                        <a:srgbClr val="E0E6ED"/>
                      </a:solidFill>
                      <a:prstDash val="solid"/>
                      <a:round/>
                      <a:headEnd type="none" w="med" len="med"/>
                      <a:tailEnd type="none" w="med" len="med"/>
                    </a:lnR>
                    <a:lnT w="6350" cap="flat" cmpd="sng" algn="ctr">
                      <a:solidFill>
                        <a:srgbClr val="E0E6ED"/>
                      </a:solidFill>
                      <a:prstDash val="solid"/>
                      <a:round/>
                      <a:headEnd type="none" w="med" len="med"/>
                      <a:tailEnd type="none" w="med" len="med"/>
                    </a:lnT>
                    <a:lnB w="6350" cap="flat" cmpd="sng" algn="ctr">
                      <a:solidFill>
                        <a:srgbClr val="E0E6ED"/>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212121"/>
                          </a:solidFill>
                          <a:latin typeface="Calibri" panose="020F0502020204030204" pitchFamily="34" charset="0"/>
                          <a:ea typeface="Calibri" panose="020F0502020204030204" pitchFamily="34" charset="-122"/>
                          <a:cs typeface="Calibri" panose="020F0502020204030204" pitchFamily="34" charset="-120"/>
                        </a:rPr>
                        <a:t>5,42</a:t>
                      </a:r>
                      <a:endParaRPr lang="en-US" sz="950" dirty="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E0E6ED"/>
                      </a:solidFill>
                      <a:prstDash val="solid"/>
                      <a:round/>
                      <a:headEnd type="none" w="med" len="med"/>
                      <a:tailEnd type="none" w="med" len="med"/>
                    </a:lnL>
                    <a:lnR w="6350" cap="flat" cmpd="sng" algn="ctr">
                      <a:solidFill>
                        <a:srgbClr val="E0E6ED"/>
                      </a:solidFill>
                      <a:prstDash val="solid"/>
                      <a:round/>
                      <a:headEnd type="none" w="med" len="med"/>
                      <a:tailEnd type="none" w="med" len="med"/>
                    </a:lnR>
                    <a:lnT w="6350" cap="flat" cmpd="sng" algn="ctr">
                      <a:solidFill>
                        <a:srgbClr val="E0E6ED"/>
                      </a:solidFill>
                      <a:prstDash val="solid"/>
                      <a:round/>
                      <a:headEnd type="none" w="med" len="med"/>
                      <a:tailEnd type="none" w="med" len="med"/>
                    </a:lnT>
                    <a:lnB w="6350" cap="flat" cmpd="sng" algn="ctr">
                      <a:solidFill>
                        <a:srgbClr val="E0E6ED"/>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212121"/>
                          </a:solidFill>
                          <a:latin typeface="Calibri" panose="020F0502020204030204" pitchFamily="34" charset="0"/>
                          <a:ea typeface="Calibri" panose="020F0502020204030204" pitchFamily="34" charset="-122"/>
                          <a:cs typeface="Calibri" panose="020F0502020204030204" pitchFamily="34" charset="-120"/>
                        </a:rPr>
                        <a:t>0,476</a:t>
                      </a:r>
                      <a:endParaRPr lang="en-US" sz="950" dirty="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E0E6ED"/>
                      </a:solidFill>
                      <a:prstDash val="solid"/>
                      <a:round/>
                      <a:headEnd type="none" w="med" len="med"/>
                      <a:tailEnd type="none" w="med" len="med"/>
                    </a:lnL>
                    <a:lnR w="6350" cap="flat" cmpd="sng" algn="ctr">
                      <a:solidFill>
                        <a:srgbClr val="E0E6ED"/>
                      </a:solidFill>
                      <a:prstDash val="solid"/>
                      <a:round/>
                      <a:headEnd type="none" w="med" len="med"/>
                      <a:tailEnd type="none" w="med" len="med"/>
                    </a:lnR>
                    <a:lnT w="6350" cap="flat" cmpd="sng" algn="ctr">
                      <a:solidFill>
                        <a:srgbClr val="E0E6ED"/>
                      </a:solidFill>
                      <a:prstDash val="solid"/>
                      <a:round/>
                      <a:headEnd type="none" w="med" len="med"/>
                      <a:tailEnd type="none" w="med" len="med"/>
                    </a:lnT>
                    <a:lnB w="6350" cap="flat" cmpd="sng" algn="ctr">
                      <a:solidFill>
                        <a:srgbClr val="E0E6ED"/>
                      </a:solidFill>
                      <a:prstDash val="solid"/>
                      <a:round/>
                      <a:headEnd type="none" w="med" len="med"/>
                      <a:tailEnd type="none" w="med" len="med"/>
                    </a:lnB>
                    <a:solidFill>
                      <a:srgbClr val="FFFFFF"/>
                    </a:solidFill>
                  </a:tcPr>
                </a:tc>
              </a:tr>
              <a:tr h="228600">
                <a:tc>
                  <a:txBody>
                    <a:bodyPr/>
                    <a:lstStyle/>
                    <a:p>
                      <a:pPr marL="0" indent="0" algn="l">
                        <a:buNone/>
                      </a:pPr>
                      <a:r>
                        <a:rPr lang="en-US" sz="950" dirty="0">
                          <a:solidFill>
                            <a:srgbClr val="212121"/>
                          </a:solidFill>
                          <a:latin typeface="Calibri" panose="020F0502020204030204" pitchFamily="34" charset="0"/>
                          <a:ea typeface="Calibri" panose="020F0502020204030204" pitchFamily="34" charset="-122"/>
                          <a:cs typeface="Calibri" panose="020F0502020204030204" pitchFamily="34" charset="-120"/>
                        </a:rPr>
                        <a:t>Aralık</a:t>
                      </a:r>
                      <a:endParaRPr lang="en-US" sz="950" dirty="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E0E6ED"/>
                      </a:solidFill>
                      <a:prstDash val="solid"/>
                      <a:round/>
                      <a:headEnd type="none" w="med" len="med"/>
                      <a:tailEnd type="none" w="med" len="med"/>
                    </a:lnL>
                    <a:lnR w="6350" cap="flat" cmpd="sng" algn="ctr">
                      <a:solidFill>
                        <a:srgbClr val="E0E6ED"/>
                      </a:solidFill>
                      <a:prstDash val="solid"/>
                      <a:round/>
                      <a:headEnd type="none" w="med" len="med"/>
                      <a:tailEnd type="none" w="med" len="med"/>
                    </a:lnR>
                    <a:lnT w="6350" cap="flat" cmpd="sng" algn="ctr">
                      <a:solidFill>
                        <a:srgbClr val="E0E6ED"/>
                      </a:solidFill>
                      <a:prstDash val="solid"/>
                      <a:round/>
                      <a:headEnd type="none" w="med" len="med"/>
                      <a:tailEnd type="none" w="med" len="med"/>
                    </a:lnT>
                    <a:lnB w="6350" cap="flat" cmpd="sng" algn="ctr">
                      <a:solidFill>
                        <a:srgbClr val="E0E6ED"/>
                      </a:solidFill>
                      <a:prstDash val="solid"/>
                      <a:round/>
                      <a:headEnd type="none" w="med" len="med"/>
                      <a:tailEnd type="none" w="med" len="med"/>
                    </a:lnB>
                    <a:solidFill>
                      <a:srgbClr val="F4F6F8"/>
                    </a:solidFill>
                  </a:tcPr>
                </a:tc>
                <a:tc>
                  <a:txBody>
                    <a:bodyPr/>
                    <a:lstStyle/>
                    <a:p>
                      <a:pPr marL="0" indent="0" algn="ctr">
                        <a:buNone/>
                      </a:pPr>
                      <a:r>
                        <a:rPr lang="en-US" sz="950" dirty="0">
                          <a:solidFill>
                            <a:srgbClr val="212121"/>
                          </a:solidFill>
                          <a:latin typeface="Calibri" panose="020F0502020204030204" pitchFamily="34" charset="0"/>
                          <a:ea typeface="Calibri" panose="020F0502020204030204" pitchFamily="34" charset="-122"/>
                          <a:cs typeface="Calibri" panose="020F0502020204030204" pitchFamily="34" charset="-120"/>
                        </a:rPr>
                        <a:t>1,92</a:t>
                      </a:r>
                      <a:endParaRPr lang="en-US" sz="950" dirty="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E0E6ED"/>
                      </a:solidFill>
                      <a:prstDash val="solid"/>
                      <a:round/>
                      <a:headEnd type="none" w="med" len="med"/>
                      <a:tailEnd type="none" w="med" len="med"/>
                    </a:lnL>
                    <a:lnR w="6350" cap="flat" cmpd="sng" algn="ctr">
                      <a:solidFill>
                        <a:srgbClr val="E0E6ED"/>
                      </a:solidFill>
                      <a:prstDash val="solid"/>
                      <a:round/>
                      <a:headEnd type="none" w="med" len="med"/>
                      <a:tailEnd type="none" w="med" len="med"/>
                    </a:lnR>
                    <a:lnT w="6350" cap="flat" cmpd="sng" algn="ctr">
                      <a:solidFill>
                        <a:srgbClr val="E0E6ED"/>
                      </a:solidFill>
                      <a:prstDash val="solid"/>
                      <a:round/>
                      <a:headEnd type="none" w="med" len="med"/>
                      <a:tailEnd type="none" w="med" len="med"/>
                    </a:lnT>
                    <a:lnB w="6350" cap="flat" cmpd="sng" algn="ctr">
                      <a:solidFill>
                        <a:srgbClr val="E0E6ED"/>
                      </a:solidFill>
                      <a:prstDash val="solid"/>
                      <a:round/>
                      <a:headEnd type="none" w="med" len="med"/>
                      <a:tailEnd type="none" w="med" len="med"/>
                    </a:lnB>
                    <a:solidFill>
                      <a:srgbClr val="F4F6F8"/>
                    </a:solidFill>
                  </a:tcPr>
                </a:tc>
                <a:tc>
                  <a:txBody>
                    <a:bodyPr/>
                    <a:lstStyle/>
                    <a:p>
                      <a:pPr marL="0" indent="0" algn="ctr">
                        <a:buNone/>
                      </a:pPr>
                      <a:r>
                        <a:rPr lang="en-US" sz="950" dirty="0">
                          <a:solidFill>
                            <a:srgbClr val="212121"/>
                          </a:solidFill>
                          <a:latin typeface="Calibri" panose="020F0502020204030204" pitchFamily="34" charset="0"/>
                          <a:ea typeface="Calibri" panose="020F0502020204030204" pitchFamily="34" charset="-122"/>
                          <a:cs typeface="Calibri" panose="020F0502020204030204" pitchFamily="34" charset="-120"/>
                        </a:rPr>
                        <a:t>4,55</a:t>
                      </a:r>
                      <a:endParaRPr lang="en-US" sz="950" dirty="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E0E6ED"/>
                      </a:solidFill>
                      <a:prstDash val="solid"/>
                      <a:round/>
                      <a:headEnd type="none" w="med" len="med"/>
                      <a:tailEnd type="none" w="med" len="med"/>
                    </a:lnL>
                    <a:lnR w="6350" cap="flat" cmpd="sng" algn="ctr">
                      <a:solidFill>
                        <a:srgbClr val="E0E6ED"/>
                      </a:solidFill>
                      <a:prstDash val="solid"/>
                      <a:round/>
                      <a:headEnd type="none" w="med" len="med"/>
                      <a:tailEnd type="none" w="med" len="med"/>
                    </a:lnR>
                    <a:lnT w="6350" cap="flat" cmpd="sng" algn="ctr">
                      <a:solidFill>
                        <a:srgbClr val="E0E6ED"/>
                      </a:solidFill>
                      <a:prstDash val="solid"/>
                      <a:round/>
                      <a:headEnd type="none" w="med" len="med"/>
                      <a:tailEnd type="none" w="med" len="med"/>
                    </a:lnT>
                    <a:lnB w="6350" cap="flat" cmpd="sng" algn="ctr">
                      <a:solidFill>
                        <a:srgbClr val="E0E6ED"/>
                      </a:solidFill>
                      <a:prstDash val="solid"/>
                      <a:round/>
                      <a:headEnd type="none" w="med" len="med"/>
                      <a:tailEnd type="none" w="med" len="med"/>
                    </a:lnB>
                    <a:solidFill>
                      <a:srgbClr val="F4F6F8"/>
                    </a:solidFill>
                  </a:tcPr>
                </a:tc>
                <a:tc>
                  <a:txBody>
                    <a:bodyPr/>
                    <a:lstStyle/>
                    <a:p>
                      <a:pPr marL="0" indent="0" algn="ctr">
                        <a:buNone/>
                      </a:pPr>
                      <a:r>
                        <a:rPr lang="en-US" sz="950" dirty="0">
                          <a:solidFill>
                            <a:srgbClr val="212121"/>
                          </a:solidFill>
                          <a:latin typeface="Calibri" panose="020F0502020204030204" pitchFamily="34" charset="0"/>
                          <a:ea typeface="Calibri" panose="020F0502020204030204" pitchFamily="34" charset="-122"/>
                          <a:cs typeface="Calibri" panose="020F0502020204030204" pitchFamily="34" charset="-120"/>
                        </a:rPr>
                        <a:t>2,46</a:t>
                      </a:r>
                      <a:endParaRPr lang="en-US" sz="950" dirty="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E0E6ED"/>
                      </a:solidFill>
                      <a:prstDash val="solid"/>
                      <a:round/>
                      <a:headEnd type="none" w="med" len="med"/>
                      <a:tailEnd type="none" w="med" len="med"/>
                    </a:lnL>
                    <a:lnR w="6350" cap="flat" cmpd="sng" algn="ctr">
                      <a:solidFill>
                        <a:srgbClr val="E0E6ED"/>
                      </a:solidFill>
                      <a:prstDash val="solid"/>
                      <a:round/>
                      <a:headEnd type="none" w="med" len="med"/>
                      <a:tailEnd type="none" w="med" len="med"/>
                    </a:lnR>
                    <a:lnT w="6350" cap="flat" cmpd="sng" algn="ctr">
                      <a:solidFill>
                        <a:srgbClr val="E0E6ED"/>
                      </a:solidFill>
                      <a:prstDash val="solid"/>
                      <a:round/>
                      <a:headEnd type="none" w="med" len="med"/>
                      <a:tailEnd type="none" w="med" len="med"/>
                    </a:lnT>
                    <a:lnB w="6350" cap="flat" cmpd="sng" algn="ctr">
                      <a:solidFill>
                        <a:srgbClr val="E0E6ED"/>
                      </a:solidFill>
                      <a:prstDash val="solid"/>
                      <a:round/>
                      <a:headEnd type="none" w="med" len="med"/>
                      <a:tailEnd type="none" w="med" len="med"/>
                    </a:lnB>
                    <a:solidFill>
                      <a:srgbClr val="F4F6F8"/>
                    </a:solidFill>
                  </a:tcPr>
                </a:tc>
                <a:tc>
                  <a:txBody>
                    <a:bodyPr/>
                    <a:lstStyle/>
                    <a:p>
                      <a:pPr marL="0" indent="0" algn="ctr">
                        <a:buNone/>
                      </a:pPr>
                      <a:r>
                        <a:rPr lang="en-US" sz="950" dirty="0">
                          <a:solidFill>
                            <a:srgbClr val="212121"/>
                          </a:solidFill>
                          <a:latin typeface="Calibri" panose="020F0502020204030204" pitchFamily="34" charset="0"/>
                          <a:ea typeface="Calibri" panose="020F0502020204030204" pitchFamily="34" charset="-122"/>
                          <a:cs typeface="Calibri" panose="020F0502020204030204" pitchFamily="34" charset="-120"/>
                        </a:rPr>
                        <a:t>0,421</a:t>
                      </a:r>
                      <a:endParaRPr lang="en-US" sz="950" dirty="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E0E6ED"/>
                      </a:solidFill>
                      <a:prstDash val="solid"/>
                      <a:round/>
                      <a:headEnd type="none" w="med" len="med"/>
                      <a:tailEnd type="none" w="med" len="med"/>
                    </a:lnL>
                    <a:lnR w="6350" cap="flat" cmpd="sng" algn="ctr">
                      <a:solidFill>
                        <a:srgbClr val="E0E6ED"/>
                      </a:solidFill>
                      <a:prstDash val="solid"/>
                      <a:round/>
                      <a:headEnd type="none" w="med" len="med"/>
                      <a:tailEnd type="none" w="med" len="med"/>
                    </a:lnR>
                    <a:lnT w="6350" cap="flat" cmpd="sng" algn="ctr">
                      <a:solidFill>
                        <a:srgbClr val="E0E6ED"/>
                      </a:solidFill>
                      <a:prstDash val="solid"/>
                      <a:round/>
                      <a:headEnd type="none" w="med" len="med"/>
                      <a:tailEnd type="none" w="med" len="med"/>
                    </a:lnT>
                    <a:lnB w="6350" cap="flat" cmpd="sng" algn="ctr">
                      <a:solidFill>
                        <a:srgbClr val="E0E6ED"/>
                      </a:solidFill>
                      <a:prstDash val="solid"/>
                      <a:round/>
                      <a:headEnd type="none" w="med" len="med"/>
                      <a:tailEnd type="none" w="med" len="med"/>
                    </a:lnB>
                    <a:solidFill>
                      <a:srgbClr val="F4F6F8"/>
                    </a:solidFill>
                  </a:tcPr>
                </a:tc>
              </a:tr>
              <a:tr h="228600">
                <a:tc>
                  <a:txBody>
                    <a:bodyPr/>
                    <a:lstStyle/>
                    <a:p>
                      <a:pPr marL="0" indent="0" algn="l">
                        <a:buNone/>
                      </a:pPr>
                      <a:r>
                        <a:rPr lang="en-US" sz="950" dirty="0">
                          <a:solidFill>
                            <a:srgbClr val="212121"/>
                          </a:solidFill>
                          <a:latin typeface="Calibri" panose="020F0502020204030204" pitchFamily="34" charset="0"/>
                          <a:ea typeface="Calibri" panose="020F0502020204030204" pitchFamily="34" charset="-122"/>
                          <a:cs typeface="Calibri" panose="020F0502020204030204" pitchFamily="34" charset="-120"/>
                        </a:rPr>
                        <a:t>ORTALAMA</a:t>
                      </a:r>
                      <a:endParaRPr lang="en-US" sz="950" dirty="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E0E6ED"/>
                      </a:solidFill>
                      <a:prstDash val="solid"/>
                      <a:round/>
                      <a:headEnd type="none" w="med" len="med"/>
                      <a:tailEnd type="none" w="med" len="med"/>
                    </a:lnL>
                    <a:lnR w="6350" cap="flat" cmpd="sng" algn="ctr">
                      <a:solidFill>
                        <a:srgbClr val="E0E6ED"/>
                      </a:solidFill>
                      <a:prstDash val="solid"/>
                      <a:round/>
                      <a:headEnd type="none" w="med" len="med"/>
                      <a:tailEnd type="none" w="med" len="med"/>
                    </a:lnR>
                    <a:lnT w="6350" cap="flat" cmpd="sng" algn="ctr">
                      <a:solidFill>
                        <a:srgbClr val="E0E6ED"/>
                      </a:solidFill>
                      <a:prstDash val="solid"/>
                      <a:round/>
                      <a:headEnd type="none" w="med" len="med"/>
                      <a:tailEnd type="none" w="med" len="med"/>
                    </a:lnT>
                    <a:lnB w="6350" cap="flat" cmpd="sng" algn="ctr">
                      <a:solidFill>
                        <a:srgbClr val="E0E6ED"/>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212121"/>
                          </a:solidFill>
                          <a:latin typeface="Calibri" panose="020F0502020204030204" pitchFamily="34" charset="0"/>
                          <a:ea typeface="Calibri" panose="020F0502020204030204" pitchFamily="34" charset="-122"/>
                          <a:cs typeface="Calibri" panose="020F0502020204030204" pitchFamily="34" charset="-120"/>
                        </a:rPr>
                        <a:t>4,51</a:t>
                      </a:r>
                      <a:endParaRPr lang="en-US" sz="950" dirty="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E0E6ED"/>
                      </a:solidFill>
                      <a:prstDash val="solid"/>
                      <a:round/>
                      <a:headEnd type="none" w="med" len="med"/>
                      <a:tailEnd type="none" w="med" len="med"/>
                    </a:lnL>
                    <a:lnR w="6350" cap="flat" cmpd="sng" algn="ctr">
                      <a:solidFill>
                        <a:srgbClr val="E0E6ED"/>
                      </a:solidFill>
                      <a:prstDash val="solid"/>
                      <a:round/>
                      <a:headEnd type="none" w="med" len="med"/>
                      <a:tailEnd type="none" w="med" len="med"/>
                    </a:lnR>
                    <a:lnT w="6350" cap="flat" cmpd="sng" algn="ctr">
                      <a:solidFill>
                        <a:srgbClr val="E0E6ED"/>
                      </a:solidFill>
                      <a:prstDash val="solid"/>
                      <a:round/>
                      <a:headEnd type="none" w="med" len="med"/>
                      <a:tailEnd type="none" w="med" len="med"/>
                    </a:lnT>
                    <a:lnB w="6350" cap="flat" cmpd="sng" algn="ctr">
                      <a:solidFill>
                        <a:srgbClr val="E0E6ED"/>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212121"/>
                          </a:solidFill>
                          <a:latin typeface="Calibri" panose="020F0502020204030204" pitchFamily="34" charset="0"/>
                          <a:ea typeface="Calibri" panose="020F0502020204030204" pitchFamily="34" charset="-122"/>
                          <a:cs typeface="Calibri" panose="020F0502020204030204" pitchFamily="34" charset="-120"/>
                        </a:rPr>
                        <a:t>8,23</a:t>
                      </a:r>
                      <a:endParaRPr lang="en-US" sz="950" dirty="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E0E6ED"/>
                      </a:solidFill>
                      <a:prstDash val="solid"/>
                      <a:round/>
                      <a:headEnd type="none" w="med" len="med"/>
                      <a:tailEnd type="none" w="med" len="med"/>
                    </a:lnL>
                    <a:lnR w="6350" cap="flat" cmpd="sng" algn="ctr">
                      <a:solidFill>
                        <a:srgbClr val="E0E6ED"/>
                      </a:solidFill>
                      <a:prstDash val="solid"/>
                      <a:round/>
                      <a:headEnd type="none" w="med" len="med"/>
                      <a:tailEnd type="none" w="med" len="med"/>
                    </a:lnR>
                    <a:lnT w="6350" cap="flat" cmpd="sng" algn="ctr">
                      <a:solidFill>
                        <a:srgbClr val="E0E6ED"/>
                      </a:solidFill>
                      <a:prstDash val="solid"/>
                      <a:round/>
                      <a:headEnd type="none" w="med" len="med"/>
                      <a:tailEnd type="none" w="med" len="med"/>
                    </a:lnT>
                    <a:lnB w="6350" cap="flat" cmpd="sng" algn="ctr">
                      <a:solidFill>
                        <a:srgbClr val="E0E6ED"/>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212121"/>
                          </a:solidFill>
                          <a:latin typeface="Calibri" panose="020F0502020204030204" pitchFamily="34" charset="0"/>
                          <a:ea typeface="Calibri" panose="020F0502020204030204" pitchFamily="34" charset="-122"/>
                          <a:cs typeface="Calibri" panose="020F0502020204030204" pitchFamily="34" charset="-120"/>
                        </a:rPr>
                        <a:t>4,78</a:t>
                      </a:r>
                      <a:endParaRPr lang="en-US" sz="950" dirty="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E0E6ED"/>
                      </a:solidFill>
                      <a:prstDash val="solid"/>
                      <a:round/>
                      <a:headEnd type="none" w="med" len="med"/>
                      <a:tailEnd type="none" w="med" len="med"/>
                    </a:lnL>
                    <a:lnR w="6350" cap="flat" cmpd="sng" algn="ctr">
                      <a:solidFill>
                        <a:srgbClr val="E0E6ED"/>
                      </a:solidFill>
                      <a:prstDash val="solid"/>
                      <a:round/>
                      <a:headEnd type="none" w="med" len="med"/>
                      <a:tailEnd type="none" w="med" len="med"/>
                    </a:lnR>
                    <a:lnT w="6350" cap="flat" cmpd="sng" algn="ctr">
                      <a:solidFill>
                        <a:srgbClr val="E0E6ED"/>
                      </a:solidFill>
                      <a:prstDash val="solid"/>
                      <a:round/>
                      <a:headEnd type="none" w="med" len="med"/>
                      <a:tailEnd type="none" w="med" len="med"/>
                    </a:lnT>
                    <a:lnB w="6350" cap="flat" cmpd="sng" algn="ctr">
                      <a:solidFill>
                        <a:srgbClr val="E0E6ED"/>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212121"/>
                          </a:solidFill>
                          <a:latin typeface="Calibri" panose="020F0502020204030204" pitchFamily="34" charset="0"/>
                          <a:ea typeface="Calibri" panose="020F0502020204030204" pitchFamily="34" charset="-122"/>
                          <a:cs typeface="Calibri" panose="020F0502020204030204" pitchFamily="34" charset="-120"/>
                        </a:rPr>
                        <a:t>0,453</a:t>
                      </a:r>
                      <a:endParaRPr lang="en-US" sz="950" dirty="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E0E6ED"/>
                      </a:solidFill>
                      <a:prstDash val="solid"/>
                      <a:round/>
                      <a:headEnd type="none" w="med" len="med"/>
                      <a:tailEnd type="none" w="med" len="med"/>
                    </a:lnL>
                    <a:lnR w="6350" cap="flat" cmpd="sng" algn="ctr">
                      <a:solidFill>
                        <a:srgbClr val="E0E6ED"/>
                      </a:solidFill>
                      <a:prstDash val="solid"/>
                      <a:round/>
                      <a:headEnd type="none" w="med" len="med"/>
                      <a:tailEnd type="none" w="med" len="med"/>
                    </a:lnR>
                    <a:lnT w="6350" cap="flat" cmpd="sng" algn="ctr">
                      <a:solidFill>
                        <a:srgbClr val="E0E6ED"/>
                      </a:solidFill>
                      <a:prstDash val="solid"/>
                      <a:round/>
                      <a:headEnd type="none" w="med" len="med"/>
                      <a:tailEnd type="none" w="med" len="med"/>
                    </a:lnT>
                    <a:lnB w="6350" cap="flat" cmpd="sng" algn="ctr">
                      <a:solidFill>
                        <a:srgbClr val="E0E6ED"/>
                      </a:solidFill>
                      <a:prstDash val="solid"/>
                      <a:round/>
                      <a:headEnd type="none" w="med" len="med"/>
                      <a:tailEnd type="none" w="med" len="med"/>
                    </a:lnB>
                    <a:solidFill>
                      <a:srgbClr val="FFFFFF"/>
                    </a:solidFill>
                  </a:tcPr>
                </a:tc>
              </a:tr>
            </a:tbl>
          </a:graphicData>
        </a:graphic>
      </p:graphicFrame>
      <p:sp>
        <p:nvSpPr>
          <p:cNvPr id="20" name="Text 17"/>
          <p:cNvSpPr/>
          <p:nvPr/>
        </p:nvSpPr>
        <p:spPr>
          <a:xfrm>
            <a:off x="320040" y="3474720"/>
            <a:ext cx="8503920" cy="274320"/>
          </a:xfrm>
          <a:prstGeom prst="rect">
            <a:avLst/>
          </a:prstGeom>
          <a:noFill/>
        </p:spPr>
        <p:txBody>
          <a:bodyPr wrap="square" rtlCol="0" anchor="ctr"/>
          <a:lstStyle/>
          <a:p>
            <a:pPr marL="0" indent="0" algn="ctr">
              <a:buNone/>
            </a:pPr>
            <a:r>
              <a:rPr lang="en-US" sz="850" i="1" dirty="0">
                <a:solidFill>
                  <a:srgbClr val="777777"/>
                </a:solidFill>
                <a:latin typeface="Calibri" panose="020F0502020204030204" pitchFamily="34" charset="0"/>
                <a:ea typeface="Calibri" panose="020F0502020204030204" pitchFamily="34" charset="-122"/>
                <a:cs typeface="Calibri" panose="020F0502020204030204" pitchFamily="34" charset="-120"/>
              </a:rPr>
              <a:t>φ = 38,4°K  |  β = 32°  |  Gsc = 1360,8 W/m²  |  Model: Erbs (1982)</a:t>
            </a:r>
            <a:endParaRPr lang="en-US" sz="850" dirty="0"/>
          </a:p>
        </p:txBody>
      </p:sp>
      <p:sp>
        <p:nvSpPr>
          <p:cNvPr id="21" name="Shape 18"/>
          <p:cNvSpPr/>
          <p:nvPr/>
        </p:nvSpPr>
        <p:spPr>
          <a:xfrm>
            <a:off x="320040" y="3762854"/>
            <a:ext cx="8503920" cy="1037745"/>
          </a:xfrm>
          <a:prstGeom prst="rect">
            <a:avLst/>
          </a:prstGeom>
          <a:solidFill>
            <a:srgbClr val="FEF9E7"/>
          </a:solidFill>
          <a:ln w="10160">
            <a:solidFill>
              <a:srgbClr val="C8901A"/>
            </a:solidFill>
            <a:prstDash val="solid"/>
          </a:ln>
        </p:spPr>
        <p:txBody>
          <a:bodyPr/>
          <a:lstStyle/>
          <a:p>
            <a:endParaRPr lang="tr-TR"/>
          </a:p>
        </p:txBody>
      </p:sp>
      <p:sp>
        <p:nvSpPr>
          <p:cNvPr id="22" name="Text 19"/>
          <p:cNvSpPr/>
          <p:nvPr/>
        </p:nvSpPr>
        <p:spPr>
          <a:xfrm>
            <a:off x="457200" y="3657600"/>
            <a:ext cx="8229600" cy="1097280"/>
          </a:xfrm>
          <a:prstGeom prst="rect">
            <a:avLst/>
          </a:prstGeom>
          <a:noFill/>
        </p:spPr>
        <p:txBody>
          <a:bodyPr wrap="square" rtlCol="0" anchor="ctr"/>
          <a:lstStyle/>
          <a:p>
            <a:pPr marL="0" indent="0">
              <a:buNone/>
            </a:pPr>
            <a:r>
              <a:rPr lang="en-US" sz="950" b="1" dirty="0">
                <a:solidFill>
                  <a:srgbClr val="212121"/>
                </a:solidFill>
                <a:latin typeface="Calibri" panose="020F0502020204030204" pitchFamily="34" charset="0"/>
                <a:ea typeface="Calibri" panose="020F0502020204030204" pitchFamily="34" charset="-122"/>
                <a:cs typeface="Calibri" panose="020F0502020204030204" pitchFamily="34" charset="-120"/>
              </a:rPr>
              <a:t>CF Hesabı:  </a:t>
            </a:r>
            <a:r>
              <a:rPr lang="en-US" sz="950" dirty="0">
                <a:solidFill>
                  <a:srgbClr val="212121"/>
                </a:solidFill>
                <a:latin typeface="Calibri" panose="020F0502020204030204" pitchFamily="34" charset="0"/>
                <a:ea typeface="Calibri" panose="020F0502020204030204" pitchFamily="34" charset="-122"/>
                <a:cs typeface="Calibri" panose="020F0502020204030204" pitchFamily="34" charset="-120"/>
              </a:rPr>
              <a:t>1 MWp × 4,78 h × 0,80 × 365 = 1.396.240 kWh/yıl  →  CF = 1.396.240 / 8.760.000 = </a:t>
            </a:r>
            <a:r>
              <a:rPr lang="en-US" sz="950" b="1" dirty="0">
                <a:solidFill>
                  <a:srgbClr val="E67E22"/>
                </a:solidFill>
                <a:latin typeface="Calibri" panose="020F0502020204030204" pitchFamily="34" charset="0"/>
                <a:ea typeface="Calibri" panose="020F0502020204030204" pitchFamily="34" charset="-122"/>
                <a:cs typeface="Calibri" panose="020F0502020204030204" pitchFamily="34" charset="-120"/>
              </a:rPr>
              <a:t>%15,9
</a:t>
            </a:r>
            <a:r>
              <a:rPr lang="en-US" sz="950" b="1" dirty="0">
                <a:solidFill>
                  <a:srgbClr val="212121"/>
                </a:solidFill>
                <a:latin typeface="Calibri" panose="020F0502020204030204" pitchFamily="34" charset="0"/>
                <a:ea typeface="Calibri" panose="020F0502020204030204" pitchFamily="34" charset="-122"/>
                <a:cs typeface="Calibri" panose="020F0502020204030204" pitchFamily="34" charset="-120"/>
              </a:rPr>
              <a:t>EPBT:  </a:t>
            </a:r>
            <a:r>
              <a:rPr lang="en-US" sz="950" dirty="0">
                <a:solidFill>
                  <a:srgbClr val="212121"/>
                </a:solidFill>
                <a:latin typeface="Calibri" panose="020F0502020204030204" pitchFamily="34" charset="0"/>
                <a:ea typeface="Calibri" panose="020F0502020204030204" pitchFamily="34" charset="-122"/>
                <a:cs typeface="Calibri" panose="020F0502020204030204" pitchFamily="34" charset="-120"/>
              </a:rPr>
              <a:t>Üretim için harcanan enerji / Yıllık üretim  →  Monokristal Si için </a:t>
            </a:r>
            <a:r>
              <a:rPr lang="en-US" sz="950" b="1" dirty="0">
                <a:solidFill>
                  <a:srgbClr val="2E86C1"/>
                </a:solidFill>
                <a:latin typeface="Calibri" panose="020F0502020204030204" pitchFamily="34" charset="0"/>
                <a:ea typeface="Calibri" panose="020F0502020204030204" pitchFamily="34" charset="-122"/>
                <a:cs typeface="Calibri" panose="020F0502020204030204" pitchFamily="34" charset="-120"/>
              </a:rPr>
              <a:t>~1,5–2,5 yıl
</a:t>
            </a:r>
            <a:r>
              <a:rPr lang="en-US" sz="950" b="1" dirty="0">
                <a:solidFill>
                  <a:srgbClr val="212121"/>
                </a:solidFill>
                <a:latin typeface="Calibri" panose="020F0502020204030204" pitchFamily="34" charset="0"/>
                <a:ea typeface="Calibri" panose="020F0502020204030204" pitchFamily="34" charset="-122"/>
                <a:cs typeface="Calibri" panose="020F0502020204030204" pitchFamily="34" charset="-120"/>
              </a:rPr>
              <a:t>GPBT:  </a:t>
            </a:r>
            <a:r>
              <a:rPr lang="en-US" sz="950" dirty="0">
                <a:solidFill>
                  <a:srgbClr val="212121"/>
                </a:solidFill>
                <a:latin typeface="Calibri" panose="020F0502020204030204" pitchFamily="34" charset="0"/>
                <a:ea typeface="Calibri" panose="020F0502020204030204" pitchFamily="34" charset="-122"/>
                <a:cs typeface="Calibri" panose="020F0502020204030204" pitchFamily="34" charset="-120"/>
              </a:rPr>
              <a:t>Yatırım maliyeti / Yıllık YEKDEM geliri  →  </a:t>
            </a:r>
            <a:r>
              <a:rPr lang="en-US" sz="950" b="1" dirty="0">
                <a:solidFill>
                  <a:srgbClr val="1D6A72"/>
                </a:solidFill>
                <a:latin typeface="Calibri" panose="020F0502020204030204" pitchFamily="34" charset="0"/>
                <a:ea typeface="Calibri" panose="020F0502020204030204" pitchFamily="34" charset="-122"/>
                <a:cs typeface="Calibri" panose="020F0502020204030204" pitchFamily="34" charset="-120"/>
              </a:rPr>
              <a:t>~8–12 yıl</a:t>
            </a:r>
            <a:r>
              <a:rPr lang="en-US" sz="950" dirty="0">
                <a:solidFill>
                  <a:srgbClr val="212121"/>
                </a:solidFill>
                <a:latin typeface="Calibri" panose="020F0502020204030204" pitchFamily="34" charset="0"/>
                <a:ea typeface="Calibri" panose="020F0502020204030204" pitchFamily="34" charset="-122"/>
                <a:cs typeface="Calibri" panose="020F0502020204030204" pitchFamily="34" charset="-120"/>
              </a:rPr>
              <a:t>  (GES YEKDEM: 13,3 ABD ¢/kWh + yerli bileşen bonusları)</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1A5276"/>
        </a:solidFill>
        <a:effectLst/>
      </p:bgPr>
    </p:bg>
    <p:spTree>
      <p:nvGrpSpPr>
        <p:cNvPr id="1" name=""/>
        <p:cNvGrpSpPr/>
        <p:nvPr/>
      </p:nvGrpSpPr>
      <p:grpSpPr>
        <a:xfrm>
          <a:off x="0" y="0"/>
          <a:ext cx="0" cy="0"/>
          <a:chOff x="0" y="0"/>
          <a:chExt cx="0" cy="0"/>
        </a:xfrm>
      </p:grpSpPr>
      <p:sp>
        <p:nvSpPr>
          <p:cNvPr id="2" name="Shape 0"/>
          <p:cNvSpPr/>
          <p:nvPr/>
        </p:nvSpPr>
        <p:spPr>
          <a:xfrm>
            <a:off x="0" y="4114800"/>
            <a:ext cx="9144000" cy="1028700"/>
          </a:xfrm>
          <a:prstGeom prst="rect">
            <a:avLst/>
          </a:prstGeom>
          <a:solidFill>
            <a:srgbClr val="1B3A6B"/>
          </a:solidFill>
          <a:ln w="12700">
            <a:solidFill>
              <a:srgbClr val="1B3A6B"/>
            </a:solidFill>
            <a:prstDash val="solid"/>
          </a:ln>
        </p:spPr>
        <p:txBody>
          <a:bodyPr/>
          <a:lstStyle/>
          <a:p>
            <a:endParaRPr lang="tr-TR"/>
          </a:p>
        </p:txBody>
      </p:sp>
      <p:sp>
        <p:nvSpPr>
          <p:cNvPr id="3" name="Shape 1"/>
          <p:cNvSpPr/>
          <p:nvPr/>
        </p:nvSpPr>
        <p:spPr>
          <a:xfrm>
            <a:off x="0" y="4114800"/>
            <a:ext cx="137160" cy="1028700"/>
          </a:xfrm>
          <a:prstGeom prst="rect">
            <a:avLst/>
          </a:prstGeom>
          <a:solidFill>
            <a:srgbClr val="C8901A"/>
          </a:solidFill>
          <a:ln w="12700">
            <a:solidFill>
              <a:srgbClr val="C8901A"/>
            </a:solidFill>
            <a:prstDash val="solid"/>
          </a:ln>
        </p:spPr>
        <p:txBody>
          <a:bodyPr/>
          <a:lstStyle/>
          <a:p>
            <a:endParaRPr lang="tr-TR"/>
          </a:p>
        </p:txBody>
      </p:sp>
      <p:sp>
        <p:nvSpPr>
          <p:cNvPr id="4" name="Text 2"/>
          <p:cNvSpPr/>
          <p:nvPr/>
        </p:nvSpPr>
        <p:spPr>
          <a:xfrm>
            <a:off x="457200" y="914400"/>
            <a:ext cx="8229600" cy="2560320"/>
          </a:xfrm>
          <a:prstGeom prst="rect">
            <a:avLst/>
          </a:prstGeom>
          <a:noFill/>
        </p:spPr>
        <p:txBody>
          <a:bodyPr wrap="square" rtlCol="0" anchor="ctr"/>
          <a:lstStyle/>
          <a:p>
            <a:pPr marL="0" indent="0" algn="ctr">
              <a:buNone/>
            </a:pPr>
            <a:r>
              <a:rPr lang="en-US" sz="3600" b="1" dirty="0">
                <a:solidFill>
                  <a:srgbClr val="FFFFFF"/>
                </a:solidFill>
                <a:latin typeface="Calibri" panose="020F0502020204030204" pitchFamily="34" charset="0"/>
                <a:ea typeface="Calibri" panose="020F0502020204030204" pitchFamily="34" charset="-122"/>
                <a:cs typeface="Calibri" panose="020F0502020204030204" pitchFamily="34" charset="-120"/>
              </a:rPr>
              <a:t>Rüzgar Enerjisi</a:t>
            </a:r>
            <a:endParaRPr lang="en-US" sz="3600" dirty="0"/>
          </a:p>
          <a:p>
            <a:pPr marL="0" indent="0" algn="ctr">
              <a:buNone/>
            </a:pPr>
            <a:r>
              <a:rPr lang="en-US" sz="3600" b="1" dirty="0">
                <a:solidFill>
                  <a:srgbClr val="FFFFFF"/>
                </a:solidFill>
                <a:latin typeface="Calibri" panose="020F0502020204030204" pitchFamily="34" charset="0"/>
                <a:ea typeface="Calibri" panose="020F0502020204030204" pitchFamily="34" charset="-122"/>
                <a:cs typeface="Calibri" panose="020F0502020204030204" pitchFamily="34" charset="-120"/>
              </a:rPr>
              <a:t>(RES)</a:t>
            </a:r>
            <a:endParaRPr lang="en-US" sz="3600" dirty="0"/>
          </a:p>
        </p:txBody>
      </p:sp>
      <p:sp>
        <p:nvSpPr>
          <p:cNvPr id="5" name="Text 3"/>
          <p:cNvSpPr/>
          <p:nvPr/>
        </p:nvSpPr>
        <p:spPr>
          <a:xfrm>
            <a:off x="274320" y="4206240"/>
            <a:ext cx="8595360" cy="731520"/>
          </a:xfrm>
          <a:prstGeom prst="rect">
            <a:avLst/>
          </a:prstGeom>
          <a:noFill/>
        </p:spPr>
        <p:txBody>
          <a:bodyPr wrap="square" rtlCol="0" anchor="ctr"/>
          <a:lstStyle/>
          <a:p>
            <a:pPr marL="0" indent="0" algn="ctr">
              <a:buNone/>
            </a:pPr>
            <a:r>
              <a:rPr lang="en-US" sz="900" dirty="0">
                <a:solidFill>
                  <a:srgbClr val="E0E6ED"/>
                </a:solidFill>
                <a:latin typeface="Calibri" panose="020F0502020204030204" pitchFamily="34" charset="0"/>
                <a:ea typeface="Calibri" panose="020F0502020204030204" pitchFamily="34" charset="-122"/>
                <a:cs typeface="Calibri" panose="020F0502020204030204" pitchFamily="34" charset="-120"/>
              </a:rPr>
              <a:t>SAÜ EEM  |  Yenilenebilir ve Sürdürülebilir Enerji</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8F9FA"/>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A5276"/>
          </a:solidFill>
          <a:ln w="12700">
            <a:solidFill>
              <a:srgbClr val="1A5276"/>
            </a:solidFill>
            <a:prstDash val="solid"/>
          </a:ln>
        </p:spPr>
        <p:txBody>
          <a:bodyPr/>
          <a:lstStyle/>
          <a:p>
            <a:endParaRPr lang="tr-TR"/>
          </a:p>
        </p:txBody>
      </p:sp>
      <p:sp>
        <p:nvSpPr>
          <p:cNvPr id="3" name="Shape 1"/>
          <p:cNvSpPr/>
          <p:nvPr/>
        </p:nvSpPr>
        <p:spPr>
          <a:xfrm>
            <a:off x="0" y="685800"/>
            <a:ext cx="9144000" cy="45720"/>
          </a:xfrm>
          <a:prstGeom prst="rect">
            <a:avLst/>
          </a:prstGeom>
          <a:solidFill>
            <a:srgbClr val="C8901A"/>
          </a:solidFill>
          <a:ln w="12700">
            <a:solidFill>
              <a:srgbClr val="C8901A"/>
            </a:solidFill>
            <a:prstDash val="solid"/>
          </a:ln>
        </p:spPr>
        <p:txBody>
          <a:bodyPr/>
          <a:lstStyle/>
          <a:p>
            <a:endParaRPr lang="tr-TR"/>
          </a:p>
        </p:txBody>
      </p:sp>
      <p:sp>
        <p:nvSpPr>
          <p:cNvPr id="4" name="Shape 2"/>
          <p:cNvSpPr/>
          <p:nvPr/>
        </p:nvSpPr>
        <p:spPr>
          <a:xfrm>
            <a:off x="0" y="4892040"/>
            <a:ext cx="9144000" cy="251460"/>
          </a:xfrm>
          <a:prstGeom prst="rect">
            <a:avLst/>
          </a:prstGeom>
          <a:solidFill>
            <a:srgbClr val="1B3A6B"/>
          </a:solidFill>
          <a:ln w="12700">
            <a:solidFill>
              <a:srgbClr val="1B3A6B"/>
            </a:solidFill>
            <a:prstDash val="solid"/>
          </a:ln>
        </p:spPr>
        <p:txBody>
          <a:bodyPr/>
          <a:lstStyle/>
          <a:p>
            <a:endParaRPr lang="tr-TR"/>
          </a:p>
        </p:txBody>
      </p:sp>
      <p:sp>
        <p:nvSpPr>
          <p:cNvPr id="5" name="Text 3"/>
          <p:cNvSpPr/>
          <p:nvPr/>
        </p:nvSpPr>
        <p:spPr>
          <a:xfrm>
            <a:off x="274320" y="4892040"/>
            <a:ext cx="8595360" cy="251460"/>
          </a:xfrm>
          <a:prstGeom prst="rect">
            <a:avLst/>
          </a:prstGeom>
          <a:noFill/>
        </p:spPr>
        <p:txBody>
          <a:bodyPr wrap="square" rtlCol="0" anchor="ctr"/>
          <a:lstStyle/>
          <a:p>
            <a:pPr marL="0" indent="0" algn="ctr">
              <a:buNone/>
            </a:pPr>
            <a:r>
              <a:rPr lang="en-US" sz="800" dirty="0">
                <a:solidFill>
                  <a:srgbClr val="E0E6ED"/>
                </a:solidFill>
                <a:latin typeface="Calibri" panose="020F0502020204030204" pitchFamily="34" charset="0"/>
                <a:ea typeface="Calibri" panose="020F0502020204030204" pitchFamily="34" charset="-122"/>
                <a:cs typeface="Calibri" panose="020F0502020204030204" pitchFamily="34" charset="-120"/>
              </a:rPr>
              <a:t>SAÜ EEM  |  İzmir Yenilenebilir Enerji Analizi</a:t>
            </a:r>
            <a:endParaRPr lang="en-US" sz="800" dirty="0"/>
          </a:p>
        </p:txBody>
      </p:sp>
      <p:sp>
        <p:nvSpPr>
          <p:cNvPr id="6" name="Text 4"/>
          <p:cNvSpPr/>
          <p:nvPr/>
        </p:nvSpPr>
        <p:spPr>
          <a:xfrm>
            <a:off x="274320" y="45720"/>
            <a:ext cx="8595360" cy="594360"/>
          </a:xfrm>
          <a:prstGeom prst="rect">
            <a:avLst/>
          </a:prstGeom>
          <a:noFill/>
        </p:spPr>
        <p:txBody>
          <a:bodyPr wrap="square" lIns="0" tIns="0" rIns="0" bIns="0" rtlCol="0" anchor="ctr"/>
          <a:lstStyle/>
          <a:p>
            <a:pPr marL="0" indent="0" algn="l">
              <a:buNone/>
            </a:pPr>
            <a:r>
              <a:rPr lang="en-US" sz="1800" b="1" dirty="0">
                <a:solidFill>
                  <a:srgbClr val="FFFFFF"/>
                </a:solidFill>
                <a:latin typeface="Calibri" panose="020F0502020204030204" pitchFamily="34" charset="0"/>
                <a:ea typeface="Calibri" panose="020F0502020204030204" pitchFamily="34" charset="-122"/>
                <a:cs typeface="Calibri" panose="020F0502020204030204" pitchFamily="34" charset="-120"/>
              </a:rPr>
              <a:t>Rüzgar Enerjisi — Nedir? Türleri? Avantaj / Dezavantaj</a:t>
            </a:r>
            <a:endParaRPr lang="en-US" sz="1800" dirty="0"/>
          </a:p>
        </p:txBody>
      </p:sp>
      <p:sp>
        <p:nvSpPr>
          <p:cNvPr id="7" name="Text 5"/>
          <p:cNvSpPr/>
          <p:nvPr/>
        </p:nvSpPr>
        <p:spPr>
          <a:xfrm>
            <a:off x="320040" y="777240"/>
            <a:ext cx="8503920" cy="320040"/>
          </a:xfrm>
          <a:prstGeom prst="rect">
            <a:avLst/>
          </a:prstGeom>
          <a:noFill/>
        </p:spPr>
        <p:txBody>
          <a:bodyPr wrap="square" rtlCol="0" anchor="ctr"/>
          <a:lstStyle/>
          <a:p>
            <a:pPr marL="0" indent="0">
              <a:buNone/>
            </a:pPr>
            <a:r>
              <a:rPr lang="en-US" sz="1200" b="1" dirty="0">
                <a:solidFill>
                  <a:srgbClr val="1A5276"/>
                </a:solidFill>
                <a:latin typeface="Calibri" panose="020F0502020204030204" pitchFamily="34" charset="0"/>
                <a:ea typeface="Calibri" panose="020F0502020204030204" pitchFamily="34" charset="-122"/>
                <a:cs typeface="Calibri" panose="020F0502020204030204" pitchFamily="34" charset="-120"/>
              </a:rPr>
              <a:t>Rüzgar Enerjisi Nedir?</a:t>
            </a:r>
            <a:endParaRPr lang="en-US" sz="1200" dirty="0"/>
          </a:p>
        </p:txBody>
      </p:sp>
      <p:sp>
        <p:nvSpPr>
          <p:cNvPr id="8" name="Text 6"/>
          <p:cNvSpPr/>
          <p:nvPr/>
        </p:nvSpPr>
        <p:spPr>
          <a:xfrm>
            <a:off x="320040" y="1097280"/>
            <a:ext cx="8503920" cy="411480"/>
          </a:xfrm>
          <a:prstGeom prst="rect">
            <a:avLst/>
          </a:prstGeom>
          <a:noFill/>
        </p:spPr>
        <p:txBody>
          <a:bodyPr wrap="square" rtlCol="0" anchor="ctr"/>
          <a:lstStyle/>
          <a:p>
            <a:pPr marL="0" indent="0" algn="just">
              <a:buNone/>
            </a:pPr>
            <a:r>
              <a:rPr lang="en-US" sz="1000" dirty="0">
                <a:solidFill>
                  <a:srgbClr val="212121"/>
                </a:solidFill>
                <a:latin typeface="Calibri" panose="020F0502020204030204" pitchFamily="34" charset="0"/>
                <a:ea typeface="Calibri" panose="020F0502020204030204" pitchFamily="34" charset="-122"/>
                <a:cs typeface="Calibri" panose="020F0502020204030204" pitchFamily="34" charset="-120"/>
              </a:rPr>
              <a:t>Rüzgarın kinetik enerjisinin türbin kanatları aracılığıyla mekanik enerjiye, ardından jeneratörle elektrik enerjisine dönüştürülmesidir. Temel formül: P = ½ × ρ × A × v³. Güç, rüzgar hızının küpüyle orantılıdır.</a:t>
            </a:r>
            <a:endParaRPr lang="en-US" sz="1000" dirty="0"/>
          </a:p>
        </p:txBody>
      </p:sp>
      <p:sp>
        <p:nvSpPr>
          <p:cNvPr id="9" name="Shape 7"/>
          <p:cNvSpPr/>
          <p:nvPr>
            <p:custDataLst>
              <p:tags r:id="rId1"/>
            </p:custDataLst>
          </p:nvPr>
        </p:nvSpPr>
        <p:spPr>
          <a:xfrm>
            <a:off x="320040" y="1600200"/>
            <a:ext cx="2011680" cy="1417320"/>
          </a:xfrm>
          <a:prstGeom prst="rect">
            <a:avLst/>
          </a:prstGeom>
          <a:solidFill>
            <a:srgbClr val="1A5276">
              <a:alpha val="15000"/>
            </a:srgbClr>
          </a:solidFill>
          <a:ln w="12700">
            <a:solidFill>
              <a:srgbClr val="1A5276"/>
            </a:solidFill>
            <a:prstDash val="solid"/>
          </a:ln>
        </p:spPr>
        <p:txBody>
          <a:bodyPr/>
          <a:lstStyle/>
          <a:p>
            <a:endParaRPr lang="tr-TR"/>
          </a:p>
        </p:txBody>
      </p:sp>
      <p:sp>
        <p:nvSpPr>
          <p:cNvPr id="10" name="Shape 8"/>
          <p:cNvSpPr/>
          <p:nvPr>
            <p:custDataLst>
              <p:tags r:id="rId2"/>
            </p:custDataLst>
          </p:nvPr>
        </p:nvSpPr>
        <p:spPr>
          <a:xfrm>
            <a:off x="320040" y="1600200"/>
            <a:ext cx="2011680" cy="301752"/>
          </a:xfrm>
          <a:prstGeom prst="rect">
            <a:avLst/>
          </a:prstGeom>
          <a:solidFill>
            <a:srgbClr val="1A5276"/>
          </a:solidFill>
          <a:ln w="12700">
            <a:solidFill>
              <a:srgbClr val="1A5276"/>
            </a:solidFill>
            <a:prstDash val="solid"/>
          </a:ln>
        </p:spPr>
        <p:txBody>
          <a:bodyPr/>
          <a:lstStyle/>
          <a:p>
            <a:endParaRPr lang="tr-TR"/>
          </a:p>
        </p:txBody>
      </p:sp>
      <p:sp>
        <p:nvSpPr>
          <p:cNvPr id="11" name="Text 9"/>
          <p:cNvSpPr/>
          <p:nvPr>
            <p:custDataLst>
              <p:tags r:id="rId3"/>
            </p:custDataLst>
          </p:nvPr>
        </p:nvSpPr>
        <p:spPr>
          <a:xfrm>
            <a:off x="356616" y="1600200"/>
            <a:ext cx="1938528" cy="301752"/>
          </a:xfrm>
          <a:prstGeom prst="rect">
            <a:avLst/>
          </a:prstGeom>
          <a:noFill/>
        </p:spPr>
        <p:txBody>
          <a:bodyPr wrap="square" rtlCol="0" anchor="ctr"/>
          <a:lstStyle/>
          <a:p>
            <a:pPr marL="0" indent="0" algn="ctr">
              <a:buNone/>
            </a:pPr>
            <a:r>
              <a:rPr lang="en-US" sz="950" b="1" dirty="0">
                <a:solidFill>
                  <a:srgbClr val="FFFFFF"/>
                </a:solidFill>
                <a:latin typeface="Calibri" panose="020F0502020204030204" pitchFamily="34" charset="0"/>
                <a:ea typeface="Calibri" panose="020F0502020204030204" pitchFamily="34" charset="-122"/>
                <a:cs typeface="Calibri" panose="020F0502020204030204" pitchFamily="34" charset="-120"/>
              </a:rPr>
              <a:t>Onshore (Karada)</a:t>
            </a:r>
            <a:endParaRPr lang="en-US" sz="950" dirty="0"/>
          </a:p>
        </p:txBody>
      </p:sp>
      <p:sp>
        <p:nvSpPr>
          <p:cNvPr id="12" name="Text 10"/>
          <p:cNvSpPr/>
          <p:nvPr>
            <p:custDataLst>
              <p:tags r:id="rId4"/>
            </p:custDataLst>
          </p:nvPr>
        </p:nvSpPr>
        <p:spPr>
          <a:xfrm>
            <a:off x="411480" y="1920240"/>
            <a:ext cx="1828800" cy="1051560"/>
          </a:xfrm>
          <a:prstGeom prst="rect">
            <a:avLst/>
          </a:prstGeom>
          <a:noFill/>
        </p:spPr>
        <p:txBody>
          <a:bodyPr wrap="square" rtlCol="0" anchor="t"/>
          <a:lstStyle/>
          <a:p>
            <a:pPr marL="171450" indent="-171450" algn="l">
              <a:spcAft>
                <a:spcPts val="200"/>
              </a:spcAft>
              <a:buFont typeface="Arial" panose="020B0604020202020204" pitchFamily="34" charset="0"/>
              <a:buChar char="•"/>
            </a:pPr>
            <a:r>
              <a:rPr lang="en-US" sz="900" dirty="0">
                <a:solidFill>
                  <a:srgbClr val="212121"/>
                </a:solidFill>
                <a:latin typeface="Calibri" panose="020F0502020204030204" pitchFamily="34" charset="0"/>
                <a:ea typeface="Calibri" panose="020F0502020204030204" pitchFamily="34" charset="-122"/>
                <a:cs typeface="Calibri" panose="020F0502020204030204" pitchFamily="34" charset="-120"/>
              </a:rPr>
              <a:t>Hub: 80–150 m</a:t>
            </a:r>
            <a:endParaRPr lang="en-US" sz="900" dirty="0"/>
          </a:p>
          <a:p>
            <a:pPr marL="171450" indent="-171450" algn="l">
              <a:spcAft>
                <a:spcPts val="200"/>
              </a:spcAft>
              <a:buFont typeface="Arial" panose="020B0604020202020204" pitchFamily="34" charset="0"/>
              <a:buChar char="•"/>
            </a:pPr>
            <a:r>
              <a:rPr lang="en-US" sz="900" dirty="0">
                <a:solidFill>
                  <a:srgbClr val="212121"/>
                </a:solidFill>
                <a:latin typeface="Calibri" panose="020F0502020204030204" pitchFamily="34" charset="0"/>
                <a:ea typeface="Calibri" panose="020F0502020204030204" pitchFamily="34" charset="-122"/>
                <a:cs typeface="Calibri" panose="020F0502020204030204" pitchFamily="34" charset="-120"/>
              </a:rPr>
              <a:t>C</a:t>
            </a:r>
            <a:r>
              <a:rPr lang="tr-TR" altLang="en-US" sz="900" dirty="0">
                <a:solidFill>
                  <a:srgbClr val="212121"/>
                </a:solidFill>
                <a:latin typeface="Calibri" panose="020F0502020204030204" pitchFamily="34" charset="0"/>
                <a:ea typeface="Calibri" panose="020F0502020204030204" pitchFamily="34" charset="-122"/>
                <a:cs typeface="Calibri" panose="020F0502020204030204" pitchFamily="34" charset="-120"/>
              </a:rPr>
              <a:t>F</a:t>
            </a:r>
            <a:r>
              <a:rPr lang="en-US" sz="900" dirty="0">
                <a:solidFill>
                  <a:srgbClr val="212121"/>
                </a:solidFill>
                <a:latin typeface="Calibri" panose="020F0502020204030204" pitchFamily="34" charset="0"/>
                <a:ea typeface="Calibri" panose="020F0502020204030204" pitchFamily="34" charset="-122"/>
                <a:cs typeface="Calibri" panose="020F0502020204030204" pitchFamily="34" charset="-120"/>
              </a:rPr>
              <a:t>: %30–45</a:t>
            </a:r>
            <a:endParaRPr lang="en-US" sz="900" dirty="0"/>
          </a:p>
          <a:p>
            <a:pPr marL="171450" indent="-171450" algn="l">
              <a:spcAft>
                <a:spcPts val="200"/>
              </a:spcAft>
              <a:buFont typeface="Arial" panose="020B0604020202020204" pitchFamily="34" charset="0"/>
              <a:buChar char="•"/>
            </a:pPr>
            <a:r>
              <a:rPr lang="en-US" sz="900" dirty="0">
                <a:solidFill>
                  <a:srgbClr val="212121"/>
                </a:solidFill>
                <a:latin typeface="Calibri" panose="020F0502020204030204" pitchFamily="34" charset="0"/>
                <a:ea typeface="Calibri" panose="020F0502020204030204" pitchFamily="34" charset="-122"/>
                <a:cs typeface="Calibri" panose="020F0502020204030204" pitchFamily="34" charset="-120"/>
              </a:rPr>
              <a:t>Yaygın, olgun teknoloji</a:t>
            </a:r>
            <a:endParaRPr lang="en-US" sz="900" dirty="0"/>
          </a:p>
          <a:p>
            <a:pPr marL="171450" indent="-171450" algn="l">
              <a:spcAft>
                <a:spcPts val="200"/>
              </a:spcAft>
              <a:buFont typeface="Arial" panose="020B0604020202020204" pitchFamily="34" charset="0"/>
              <a:buChar char="•"/>
            </a:pPr>
            <a:r>
              <a:rPr lang="en-US" sz="900" dirty="0">
                <a:solidFill>
                  <a:srgbClr val="212121"/>
                </a:solidFill>
                <a:latin typeface="Calibri" panose="020F0502020204030204" pitchFamily="34" charset="0"/>
                <a:ea typeface="Calibri" panose="020F0502020204030204" pitchFamily="34" charset="-122"/>
                <a:cs typeface="Calibri" panose="020F0502020204030204" pitchFamily="34" charset="-120"/>
              </a:rPr>
              <a:t>Düşük maliyet</a:t>
            </a:r>
            <a:endParaRPr lang="en-US" sz="900" dirty="0"/>
          </a:p>
        </p:txBody>
      </p:sp>
      <p:sp>
        <p:nvSpPr>
          <p:cNvPr id="13" name="Shape 11"/>
          <p:cNvSpPr/>
          <p:nvPr>
            <p:custDataLst>
              <p:tags r:id="rId5"/>
            </p:custDataLst>
          </p:nvPr>
        </p:nvSpPr>
        <p:spPr>
          <a:xfrm>
            <a:off x="2514600" y="1600200"/>
            <a:ext cx="2011680" cy="1417320"/>
          </a:xfrm>
          <a:prstGeom prst="rect">
            <a:avLst/>
          </a:prstGeom>
          <a:solidFill>
            <a:srgbClr val="2471A3">
              <a:alpha val="15000"/>
            </a:srgbClr>
          </a:solidFill>
          <a:ln w="12700">
            <a:solidFill>
              <a:srgbClr val="2471A3"/>
            </a:solidFill>
            <a:prstDash val="solid"/>
          </a:ln>
        </p:spPr>
        <p:txBody>
          <a:bodyPr/>
          <a:lstStyle/>
          <a:p>
            <a:endParaRPr lang="tr-TR"/>
          </a:p>
        </p:txBody>
      </p:sp>
      <p:sp>
        <p:nvSpPr>
          <p:cNvPr id="14" name="Shape 12"/>
          <p:cNvSpPr/>
          <p:nvPr>
            <p:custDataLst>
              <p:tags r:id="rId6"/>
            </p:custDataLst>
          </p:nvPr>
        </p:nvSpPr>
        <p:spPr>
          <a:xfrm>
            <a:off x="2514600" y="1600200"/>
            <a:ext cx="2011680" cy="301752"/>
          </a:xfrm>
          <a:prstGeom prst="rect">
            <a:avLst/>
          </a:prstGeom>
          <a:solidFill>
            <a:srgbClr val="2471A3"/>
          </a:solidFill>
          <a:ln w="12700">
            <a:solidFill>
              <a:srgbClr val="2471A3"/>
            </a:solidFill>
            <a:prstDash val="solid"/>
          </a:ln>
        </p:spPr>
        <p:txBody>
          <a:bodyPr/>
          <a:lstStyle/>
          <a:p>
            <a:endParaRPr lang="tr-TR"/>
          </a:p>
        </p:txBody>
      </p:sp>
      <p:sp>
        <p:nvSpPr>
          <p:cNvPr id="15" name="Text 13"/>
          <p:cNvSpPr/>
          <p:nvPr>
            <p:custDataLst>
              <p:tags r:id="rId7"/>
            </p:custDataLst>
          </p:nvPr>
        </p:nvSpPr>
        <p:spPr>
          <a:xfrm>
            <a:off x="2551176" y="1600200"/>
            <a:ext cx="1938528" cy="301752"/>
          </a:xfrm>
          <a:prstGeom prst="rect">
            <a:avLst/>
          </a:prstGeom>
          <a:noFill/>
        </p:spPr>
        <p:txBody>
          <a:bodyPr wrap="square" rtlCol="0" anchor="ctr"/>
          <a:lstStyle/>
          <a:p>
            <a:pPr marL="0" indent="0" algn="ctr">
              <a:buNone/>
            </a:pPr>
            <a:r>
              <a:rPr lang="en-US" sz="950" b="1" dirty="0">
                <a:solidFill>
                  <a:srgbClr val="FFFFFF"/>
                </a:solidFill>
                <a:latin typeface="Calibri" panose="020F0502020204030204" pitchFamily="34" charset="0"/>
                <a:ea typeface="Calibri" panose="020F0502020204030204" pitchFamily="34" charset="-122"/>
                <a:cs typeface="Calibri" panose="020F0502020204030204" pitchFamily="34" charset="-120"/>
              </a:rPr>
              <a:t>Offshore (Denizde)</a:t>
            </a:r>
            <a:endParaRPr lang="en-US" sz="950" dirty="0"/>
          </a:p>
        </p:txBody>
      </p:sp>
      <p:sp>
        <p:nvSpPr>
          <p:cNvPr id="16" name="Text 14"/>
          <p:cNvSpPr/>
          <p:nvPr>
            <p:custDataLst>
              <p:tags r:id="rId8"/>
            </p:custDataLst>
          </p:nvPr>
        </p:nvSpPr>
        <p:spPr>
          <a:xfrm>
            <a:off x="2606040" y="1920240"/>
            <a:ext cx="1828800" cy="1051560"/>
          </a:xfrm>
          <a:prstGeom prst="rect">
            <a:avLst/>
          </a:prstGeom>
          <a:noFill/>
        </p:spPr>
        <p:txBody>
          <a:bodyPr wrap="square" rtlCol="0" anchor="t"/>
          <a:lstStyle/>
          <a:p>
            <a:pPr marL="171450" indent="-171450" algn="l">
              <a:spcAft>
                <a:spcPts val="200"/>
              </a:spcAft>
              <a:buFont typeface="Arial" panose="020B0604020202020204" pitchFamily="34" charset="0"/>
              <a:buChar char="•"/>
            </a:pPr>
            <a:r>
              <a:rPr lang="en-US" sz="900" dirty="0">
                <a:solidFill>
                  <a:srgbClr val="212121"/>
                </a:solidFill>
                <a:latin typeface="Calibri" panose="020F0502020204030204" pitchFamily="34" charset="0"/>
                <a:ea typeface="Calibri" panose="020F0502020204030204" pitchFamily="34" charset="-122"/>
                <a:cs typeface="Calibri" panose="020F0502020204030204" pitchFamily="34" charset="-120"/>
              </a:rPr>
              <a:t>Hub: 100–180 m</a:t>
            </a:r>
            <a:endParaRPr lang="en-US" sz="900" dirty="0"/>
          </a:p>
          <a:p>
            <a:pPr marL="171450" indent="-171450" algn="l">
              <a:spcAft>
                <a:spcPts val="200"/>
              </a:spcAft>
              <a:buFont typeface="Arial" panose="020B0604020202020204" pitchFamily="34" charset="0"/>
              <a:buChar char="•"/>
            </a:pPr>
            <a:r>
              <a:rPr lang="en-US" sz="900" dirty="0">
                <a:solidFill>
                  <a:srgbClr val="212121"/>
                </a:solidFill>
                <a:latin typeface="Calibri" panose="020F0502020204030204" pitchFamily="34" charset="0"/>
                <a:ea typeface="Calibri" panose="020F0502020204030204" pitchFamily="34" charset="-122"/>
                <a:cs typeface="Calibri" panose="020F0502020204030204" pitchFamily="34" charset="-120"/>
              </a:rPr>
              <a:t>CF: %45–55</a:t>
            </a:r>
            <a:endParaRPr lang="en-US" sz="900" dirty="0"/>
          </a:p>
          <a:p>
            <a:pPr marL="171450" indent="-171450" algn="l">
              <a:spcAft>
                <a:spcPts val="200"/>
              </a:spcAft>
              <a:buFont typeface="Arial" panose="020B0604020202020204" pitchFamily="34" charset="0"/>
              <a:buChar char="•"/>
            </a:pPr>
            <a:r>
              <a:rPr lang="en-US" sz="900" dirty="0">
                <a:solidFill>
                  <a:srgbClr val="212121"/>
                </a:solidFill>
                <a:latin typeface="Calibri" panose="020F0502020204030204" pitchFamily="34" charset="0"/>
                <a:ea typeface="Calibri" panose="020F0502020204030204" pitchFamily="34" charset="-122"/>
                <a:cs typeface="Calibri" panose="020F0502020204030204" pitchFamily="34" charset="-120"/>
              </a:rPr>
              <a:t>Daha yüksek üretim</a:t>
            </a:r>
            <a:endParaRPr lang="en-US" sz="900" dirty="0"/>
          </a:p>
          <a:p>
            <a:pPr marL="171450" indent="-171450" algn="l">
              <a:spcAft>
                <a:spcPts val="200"/>
              </a:spcAft>
              <a:buFont typeface="Arial" panose="020B0604020202020204" pitchFamily="34" charset="0"/>
              <a:buChar char="•"/>
            </a:pPr>
            <a:r>
              <a:rPr lang="en-US" sz="900" dirty="0">
                <a:solidFill>
                  <a:srgbClr val="212121"/>
                </a:solidFill>
                <a:latin typeface="Calibri" panose="020F0502020204030204" pitchFamily="34" charset="0"/>
                <a:ea typeface="Calibri" panose="020F0502020204030204" pitchFamily="34" charset="-122"/>
                <a:cs typeface="Calibri" panose="020F0502020204030204" pitchFamily="34" charset="-120"/>
              </a:rPr>
              <a:t>Yüksek maliyet</a:t>
            </a:r>
            <a:endParaRPr lang="en-US" sz="900" dirty="0"/>
          </a:p>
        </p:txBody>
      </p:sp>
      <p:sp>
        <p:nvSpPr>
          <p:cNvPr id="17" name="Shape 15"/>
          <p:cNvSpPr/>
          <p:nvPr>
            <p:custDataLst>
              <p:tags r:id="rId9"/>
            </p:custDataLst>
          </p:nvPr>
        </p:nvSpPr>
        <p:spPr>
          <a:xfrm>
            <a:off x="4709160" y="1600200"/>
            <a:ext cx="2011680" cy="1417320"/>
          </a:xfrm>
          <a:prstGeom prst="rect">
            <a:avLst/>
          </a:prstGeom>
          <a:solidFill>
            <a:srgbClr val="1D6A72">
              <a:alpha val="15000"/>
            </a:srgbClr>
          </a:solidFill>
          <a:ln w="12700">
            <a:solidFill>
              <a:srgbClr val="1D6A72"/>
            </a:solidFill>
            <a:prstDash val="solid"/>
          </a:ln>
        </p:spPr>
        <p:txBody>
          <a:bodyPr/>
          <a:lstStyle/>
          <a:p>
            <a:endParaRPr lang="tr-TR"/>
          </a:p>
        </p:txBody>
      </p:sp>
      <p:sp>
        <p:nvSpPr>
          <p:cNvPr id="18" name="Shape 16"/>
          <p:cNvSpPr/>
          <p:nvPr>
            <p:custDataLst>
              <p:tags r:id="rId10"/>
            </p:custDataLst>
          </p:nvPr>
        </p:nvSpPr>
        <p:spPr>
          <a:xfrm>
            <a:off x="4709160" y="1600200"/>
            <a:ext cx="2011680" cy="301752"/>
          </a:xfrm>
          <a:prstGeom prst="rect">
            <a:avLst/>
          </a:prstGeom>
          <a:solidFill>
            <a:srgbClr val="1D6A72"/>
          </a:solidFill>
          <a:ln w="12700">
            <a:solidFill>
              <a:srgbClr val="1D6A72"/>
            </a:solidFill>
            <a:prstDash val="solid"/>
          </a:ln>
        </p:spPr>
        <p:txBody>
          <a:bodyPr/>
          <a:lstStyle/>
          <a:p>
            <a:endParaRPr lang="tr-TR"/>
          </a:p>
        </p:txBody>
      </p:sp>
      <p:sp>
        <p:nvSpPr>
          <p:cNvPr id="19" name="Text 17"/>
          <p:cNvSpPr/>
          <p:nvPr>
            <p:custDataLst>
              <p:tags r:id="rId11"/>
            </p:custDataLst>
          </p:nvPr>
        </p:nvSpPr>
        <p:spPr>
          <a:xfrm>
            <a:off x="4745736" y="1600200"/>
            <a:ext cx="1938528" cy="301752"/>
          </a:xfrm>
          <a:prstGeom prst="rect">
            <a:avLst/>
          </a:prstGeom>
          <a:noFill/>
        </p:spPr>
        <p:txBody>
          <a:bodyPr wrap="square" rtlCol="0" anchor="ctr"/>
          <a:lstStyle/>
          <a:p>
            <a:pPr marL="0" indent="0" algn="ctr">
              <a:buNone/>
            </a:pPr>
            <a:r>
              <a:rPr lang="en-US" sz="950" b="1" dirty="0">
                <a:solidFill>
                  <a:srgbClr val="FFFFFF"/>
                </a:solidFill>
                <a:latin typeface="Calibri" panose="020F0502020204030204" pitchFamily="34" charset="0"/>
                <a:ea typeface="Calibri" panose="020F0502020204030204" pitchFamily="34" charset="-122"/>
                <a:cs typeface="Calibri" panose="020F0502020204030204" pitchFamily="34" charset="-120"/>
              </a:rPr>
              <a:t>YERT (Yatay Eksenli)</a:t>
            </a:r>
            <a:endParaRPr lang="en-US" sz="950" dirty="0"/>
          </a:p>
        </p:txBody>
      </p:sp>
      <p:sp>
        <p:nvSpPr>
          <p:cNvPr id="20" name="Text 18"/>
          <p:cNvSpPr/>
          <p:nvPr>
            <p:custDataLst>
              <p:tags r:id="rId12"/>
            </p:custDataLst>
          </p:nvPr>
        </p:nvSpPr>
        <p:spPr>
          <a:xfrm>
            <a:off x="4800600" y="1920240"/>
            <a:ext cx="1828800" cy="1051560"/>
          </a:xfrm>
          <a:prstGeom prst="rect">
            <a:avLst/>
          </a:prstGeom>
          <a:noFill/>
        </p:spPr>
        <p:txBody>
          <a:bodyPr wrap="square" rtlCol="0" anchor="t"/>
          <a:lstStyle/>
          <a:p>
            <a:pPr marL="171450" indent="-171450" algn="l">
              <a:spcAft>
                <a:spcPts val="200"/>
              </a:spcAft>
              <a:buFont typeface="Arial" panose="020B0604020202020204" pitchFamily="34" charset="0"/>
              <a:buChar char="•"/>
            </a:pPr>
            <a:r>
              <a:rPr lang="en-US" sz="900" dirty="0">
                <a:solidFill>
                  <a:srgbClr val="212121"/>
                </a:solidFill>
                <a:latin typeface="Calibri" panose="020F0502020204030204" pitchFamily="34" charset="0"/>
                <a:ea typeface="Calibri" panose="020F0502020204030204" pitchFamily="34" charset="-122"/>
                <a:cs typeface="Calibri" panose="020F0502020204030204" pitchFamily="34" charset="-120"/>
              </a:rPr>
              <a:t>3 kanatlı standart</a:t>
            </a:r>
            <a:endParaRPr lang="en-US" sz="900" dirty="0"/>
          </a:p>
          <a:p>
            <a:pPr marL="171450" indent="-171450" algn="l">
              <a:spcAft>
                <a:spcPts val="200"/>
              </a:spcAft>
              <a:buFont typeface="Arial" panose="020B0604020202020204" pitchFamily="34" charset="0"/>
              <a:buChar char="•"/>
            </a:pPr>
            <a:r>
              <a:rPr lang="en-US" sz="900" dirty="0">
                <a:solidFill>
                  <a:srgbClr val="212121"/>
                </a:solidFill>
                <a:latin typeface="Calibri" panose="020F0502020204030204" pitchFamily="34" charset="0"/>
                <a:ea typeface="Calibri" panose="020F0502020204030204" pitchFamily="34" charset="-122"/>
                <a:cs typeface="Calibri" panose="020F0502020204030204" pitchFamily="34" charset="-120"/>
              </a:rPr>
              <a:t>Yüksek verim (%45+)</a:t>
            </a:r>
            <a:endParaRPr lang="en-US" sz="900" dirty="0"/>
          </a:p>
          <a:p>
            <a:pPr marL="171450" indent="-171450" algn="l">
              <a:spcAft>
                <a:spcPts val="200"/>
              </a:spcAft>
              <a:buFont typeface="Arial" panose="020B0604020202020204" pitchFamily="34" charset="0"/>
              <a:buChar char="•"/>
            </a:pPr>
            <a:r>
              <a:rPr lang="en-US" sz="900" dirty="0">
                <a:solidFill>
                  <a:srgbClr val="212121"/>
                </a:solidFill>
                <a:latin typeface="Calibri" panose="020F0502020204030204" pitchFamily="34" charset="0"/>
                <a:ea typeface="Calibri" panose="020F0502020204030204" pitchFamily="34" charset="-122"/>
                <a:cs typeface="Calibri" panose="020F0502020204030204" pitchFamily="34" charset="-120"/>
              </a:rPr>
              <a:t>Ses sorunu az</a:t>
            </a:r>
            <a:endParaRPr lang="en-US" sz="900" dirty="0"/>
          </a:p>
          <a:p>
            <a:pPr marL="171450" indent="-171450" algn="l">
              <a:spcAft>
                <a:spcPts val="200"/>
              </a:spcAft>
              <a:buFont typeface="Arial" panose="020B0604020202020204" pitchFamily="34" charset="0"/>
              <a:buChar char="•"/>
            </a:pPr>
            <a:r>
              <a:rPr lang="en-US" sz="900" dirty="0">
                <a:solidFill>
                  <a:srgbClr val="212121"/>
                </a:solidFill>
                <a:latin typeface="Calibri" panose="020F0502020204030204" pitchFamily="34" charset="0"/>
                <a:ea typeface="Calibri" panose="020F0502020204030204" pitchFamily="34" charset="-122"/>
                <a:cs typeface="Calibri" panose="020F0502020204030204" pitchFamily="34" charset="-120"/>
              </a:rPr>
              <a:t>Ticari standart</a:t>
            </a:r>
            <a:endParaRPr lang="en-US" sz="900" dirty="0"/>
          </a:p>
        </p:txBody>
      </p:sp>
      <p:sp>
        <p:nvSpPr>
          <p:cNvPr id="21" name="Shape 19"/>
          <p:cNvSpPr/>
          <p:nvPr>
            <p:custDataLst>
              <p:tags r:id="rId13"/>
            </p:custDataLst>
          </p:nvPr>
        </p:nvSpPr>
        <p:spPr>
          <a:xfrm>
            <a:off x="6903720" y="1600200"/>
            <a:ext cx="2011680" cy="1417320"/>
          </a:xfrm>
          <a:prstGeom prst="rect">
            <a:avLst/>
          </a:prstGeom>
          <a:solidFill>
            <a:srgbClr val="6C3483">
              <a:alpha val="15000"/>
            </a:srgbClr>
          </a:solidFill>
          <a:ln w="12700">
            <a:solidFill>
              <a:srgbClr val="6C3483"/>
            </a:solidFill>
            <a:prstDash val="solid"/>
          </a:ln>
        </p:spPr>
        <p:txBody>
          <a:bodyPr/>
          <a:lstStyle/>
          <a:p>
            <a:endParaRPr lang="tr-TR"/>
          </a:p>
        </p:txBody>
      </p:sp>
      <p:sp>
        <p:nvSpPr>
          <p:cNvPr id="22" name="Shape 20"/>
          <p:cNvSpPr/>
          <p:nvPr>
            <p:custDataLst>
              <p:tags r:id="rId14"/>
            </p:custDataLst>
          </p:nvPr>
        </p:nvSpPr>
        <p:spPr>
          <a:xfrm>
            <a:off x="6903720" y="1600200"/>
            <a:ext cx="2011680" cy="301752"/>
          </a:xfrm>
          <a:prstGeom prst="rect">
            <a:avLst/>
          </a:prstGeom>
          <a:solidFill>
            <a:srgbClr val="6C3483"/>
          </a:solidFill>
          <a:ln w="12700">
            <a:solidFill>
              <a:srgbClr val="6C3483"/>
            </a:solidFill>
            <a:prstDash val="solid"/>
          </a:ln>
        </p:spPr>
        <p:txBody>
          <a:bodyPr/>
          <a:lstStyle/>
          <a:p>
            <a:endParaRPr lang="tr-TR"/>
          </a:p>
        </p:txBody>
      </p:sp>
      <p:sp>
        <p:nvSpPr>
          <p:cNvPr id="23" name="Text 21"/>
          <p:cNvSpPr/>
          <p:nvPr>
            <p:custDataLst>
              <p:tags r:id="rId15"/>
            </p:custDataLst>
          </p:nvPr>
        </p:nvSpPr>
        <p:spPr>
          <a:xfrm>
            <a:off x="6940296" y="1600200"/>
            <a:ext cx="1938528" cy="301752"/>
          </a:xfrm>
          <a:prstGeom prst="rect">
            <a:avLst/>
          </a:prstGeom>
          <a:noFill/>
        </p:spPr>
        <p:txBody>
          <a:bodyPr wrap="square" rtlCol="0" anchor="ctr"/>
          <a:lstStyle/>
          <a:p>
            <a:pPr marL="0" indent="0" algn="ctr">
              <a:buNone/>
            </a:pPr>
            <a:r>
              <a:rPr lang="en-US" sz="950" b="1" dirty="0">
                <a:solidFill>
                  <a:srgbClr val="FFFFFF"/>
                </a:solidFill>
                <a:latin typeface="Calibri" panose="020F0502020204030204" pitchFamily="34" charset="0"/>
                <a:ea typeface="Calibri" panose="020F0502020204030204" pitchFamily="34" charset="-122"/>
                <a:cs typeface="Calibri" panose="020F0502020204030204" pitchFamily="34" charset="-120"/>
              </a:rPr>
              <a:t>DERT (Dikey Eksenli)</a:t>
            </a:r>
            <a:endParaRPr lang="en-US" sz="950" dirty="0"/>
          </a:p>
        </p:txBody>
      </p:sp>
      <p:sp>
        <p:nvSpPr>
          <p:cNvPr id="24" name="Text 22"/>
          <p:cNvSpPr/>
          <p:nvPr>
            <p:custDataLst>
              <p:tags r:id="rId16"/>
            </p:custDataLst>
          </p:nvPr>
        </p:nvSpPr>
        <p:spPr>
          <a:xfrm>
            <a:off x="6995160" y="1920240"/>
            <a:ext cx="1828800" cy="1051560"/>
          </a:xfrm>
          <a:prstGeom prst="rect">
            <a:avLst/>
          </a:prstGeom>
          <a:noFill/>
        </p:spPr>
        <p:txBody>
          <a:bodyPr wrap="square" rtlCol="0" anchor="t"/>
          <a:lstStyle/>
          <a:p>
            <a:pPr marL="171450" indent="-171450" algn="l">
              <a:spcAft>
                <a:spcPts val="200"/>
              </a:spcAft>
              <a:buFont typeface="Arial" panose="020B0604020202020204" pitchFamily="34" charset="0"/>
              <a:buChar char="•"/>
            </a:pPr>
            <a:r>
              <a:rPr lang="en-US" sz="900" dirty="0">
                <a:solidFill>
                  <a:srgbClr val="212121"/>
                </a:solidFill>
                <a:latin typeface="Calibri" panose="020F0502020204030204" pitchFamily="34" charset="0"/>
                <a:ea typeface="Calibri" panose="020F0502020204030204" pitchFamily="34" charset="-122"/>
                <a:cs typeface="Calibri" panose="020F0502020204030204" pitchFamily="34" charset="-120"/>
              </a:rPr>
              <a:t>Savonius, Darrieus</a:t>
            </a:r>
            <a:endParaRPr lang="en-US" sz="900" dirty="0"/>
          </a:p>
          <a:p>
            <a:pPr marL="171450" indent="-171450" algn="l">
              <a:spcAft>
                <a:spcPts val="200"/>
              </a:spcAft>
              <a:buFont typeface="Arial" panose="020B0604020202020204" pitchFamily="34" charset="0"/>
              <a:buChar char="•"/>
            </a:pPr>
            <a:r>
              <a:rPr lang="en-US" sz="900" dirty="0">
                <a:solidFill>
                  <a:srgbClr val="212121"/>
                </a:solidFill>
                <a:latin typeface="Calibri" panose="020F0502020204030204" pitchFamily="34" charset="0"/>
                <a:ea typeface="Calibri" panose="020F0502020204030204" pitchFamily="34" charset="-122"/>
                <a:cs typeface="Calibri" panose="020F0502020204030204" pitchFamily="34" charset="-120"/>
              </a:rPr>
              <a:t>Her yönden rüzgar</a:t>
            </a:r>
            <a:endParaRPr lang="en-US" sz="900" dirty="0"/>
          </a:p>
          <a:p>
            <a:pPr marL="171450" indent="-171450" algn="l">
              <a:spcAft>
                <a:spcPts val="200"/>
              </a:spcAft>
              <a:buFont typeface="Arial" panose="020B0604020202020204" pitchFamily="34" charset="0"/>
              <a:buChar char="•"/>
            </a:pPr>
            <a:r>
              <a:rPr lang="en-US" sz="900" dirty="0">
                <a:solidFill>
                  <a:srgbClr val="212121"/>
                </a:solidFill>
                <a:latin typeface="Calibri" panose="020F0502020204030204" pitchFamily="34" charset="0"/>
                <a:ea typeface="Calibri" panose="020F0502020204030204" pitchFamily="34" charset="-122"/>
                <a:cs typeface="Calibri" panose="020F0502020204030204" pitchFamily="34" charset="-120"/>
              </a:rPr>
              <a:t>Düşük verim</a:t>
            </a:r>
            <a:endParaRPr lang="en-US" sz="900" dirty="0"/>
          </a:p>
          <a:p>
            <a:pPr marL="171450" indent="-171450" algn="l">
              <a:spcAft>
                <a:spcPts val="200"/>
              </a:spcAft>
              <a:buFont typeface="Arial" panose="020B0604020202020204" pitchFamily="34" charset="0"/>
              <a:buChar char="•"/>
            </a:pPr>
            <a:r>
              <a:rPr lang="en-US" sz="900" dirty="0">
                <a:solidFill>
                  <a:srgbClr val="212121"/>
                </a:solidFill>
                <a:latin typeface="Calibri" panose="020F0502020204030204" pitchFamily="34" charset="0"/>
                <a:ea typeface="Calibri" panose="020F0502020204030204" pitchFamily="34" charset="-122"/>
                <a:cs typeface="Calibri" panose="020F0502020204030204" pitchFamily="34" charset="-120"/>
              </a:rPr>
              <a:t>Kentsel kullanım</a:t>
            </a:r>
            <a:endParaRPr lang="en-US" sz="900" dirty="0"/>
          </a:p>
        </p:txBody>
      </p:sp>
      <p:sp>
        <p:nvSpPr>
          <p:cNvPr id="25" name="Shape 23"/>
          <p:cNvSpPr/>
          <p:nvPr/>
        </p:nvSpPr>
        <p:spPr>
          <a:xfrm>
            <a:off x="320040" y="3108960"/>
            <a:ext cx="4183380" cy="1554480"/>
          </a:xfrm>
          <a:prstGeom prst="rect">
            <a:avLst/>
          </a:prstGeom>
          <a:solidFill>
            <a:srgbClr val="D5F5E3"/>
          </a:solidFill>
          <a:ln w="6350">
            <a:solidFill>
              <a:srgbClr val="E0E6ED"/>
            </a:solidFill>
            <a:prstDash val="solid"/>
          </a:ln>
        </p:spPr>
        <p:txBody>
          <a:bodyPr/>
          <a:lstStyle/>
          <a:p>
            <a:endParaRPr lang="tr-TR"/>
          </a:p>
        </p:txBody>
      </p:sp>
      <p:sp>
        <p:nvSpPr>
          <p:cNvPr id="26" name="Shape 24"/>
          <p:cNvSpPr/>
          <p:nvPr/>
        </p:nvSpPr>
        <p:spPr>
          <a:xfrm>
            <a:off x="320040" y="3108960"/>
            <a:ext cx="4183380" cy="292608"/>
          </a:xfrm>
          <a:prstGeom prst="rect">
            <a:avLst/>
          </a:prstGeom>
          <a:solidFill>
            <a:srgbClr val="1E8449"/>
          </a:solidFill>
          <a:ln w="12700">
            <a:solidFill>
              <a:srgbClr val="1E8449"/>
            </a:solidFill>
            <a:prstDash val="solid"/>
          </a:ln>
        </p:spPr>
        <p:txBody>
          <a:bodyPr/>
          <a:lstStyle/>
          <a:p>
            <a:endParaRPr lang="tr-TR"/>
          </a:p>
        </p:txBody>
      </p:sp>
      <p:sp>
        <p:nvSpPr>
          <p:cNvPr id="27" name="Text 25"/>
          <p:cNvSpPr/>
          <p:nvPr/>
        </p:nvSpPr>
        <p:spPr>
          <a:xfrm>
            <a:off x="365760" y="3127248"/>
            <a:ext cx="4091940" cy="274320"/>
          </a:xfrm>
          <a:prstGeom prst="rect">
            <a:avLst/>
          </a:prstGeom>
          <a:noFill/>
        </p:spPr>
        <p:txBody>
          <a:bodyPr wrap="square" rtlCol="0" anchor="ctr"/>
          <a:lstStyle/>
          <a:p>
            <a:pPr marL="0" indent="0" algn="ctr">
              <a:buNone/>
            </a:pPr>
            <a:r>
              <a:rPr lang="en-US" sz="1000" b="1" dirty="0">
                <a:solidFill>
                  <a:srgbClr val="FFFFFF"/>
                </a:solidFill>
                <a:latin typeface="Calibri" panose="020F0502020204030204" pitchFamily="34" charset="0"/>
                <a:ea typeface="Calibri" panose="020F0502020204030204" pitchFamily="34" charset="-122"/>
                <a:cs typeface="Calibri" panose="020F0502020204030204" pitchFamily="34" charset="-120"/>
              </a:rPr>
              <a:t>✅  Avantajlar</a:t>
            </a:r>
            <a:endParaRPr lang="en-US" sz="1000" dirty="0"/>
          </a:p>
        </p:txBody>
      </p:sp>
      <p:sp>
        <p:nvSpPr>
          <p:cNvPr id="28" name="Text 26"/>
          <p:cNvSpPr/>
          <p:nvPr/>
        </p:nvSpPr>
        <p:spPr>
          <a:xfrm>
            <a:off x="411480" y="3438144"/>
            <a:ext cx="4000500" cy="1152144"/>
          </a:xfrm>
          <a:prstGeom prst="rect">
            <a:avLst/>
          </a:prstGeom>
          <a:noFill/>
        </p:spPr>
        <p:txBody>
          <a:bodyPr wrap="square" rtlCol="0" anchor="t"/>
          <a:lstStyle/>
          <a:p>
            <a:pPr marL="0" indent="0" algn="l">
              <a:spcAft>
                <a:spcPts val="300"/>
              </a:spcAft>
              <a:buNone/>
            </a:pPr>
            <a:r>
              <a:rPr lang="en-US" sz="950" dirty="0">
                <a:solidFill>
                  <a:srgbClr val="212121"/>
                </a:solidFill>
                <a:latin typeface="Calibri" panose="020F0502020204030204" pitchFamily="34" charset="0"/>
                <a:ea typeface="Calibri" panose="020F0502020204030204" pitchFamily="34" charset="-122"/>
                <a:cs typeface="Calibri" panose="020F0502020204030204" pitchFamily="34" charset="-120"/>
              </a:rPr>
              <a:t>• Gece ve kış dahil 24/7 üretim kapasitesi
• Yüksek kapasite faktörü (%38–52)
• Düşük LCOE (kWh başı en düşük maliyet)
• Sıfır su tüketimi; minimal arazi kullanımı
• YEKDEM: 10 yıl $0,107/kWh garanti</a:t>
            </a:r>
            <a:endParaRPr lang="en-US" sz="950" dirty="0"/>
          </a:p>
        </p:txBody>
      </p:sp>
      <p:sp>
        <p:nvSpPr>
          <p:cNvPr id="29" name="Shape 27"/>
          <p:cNvSpPr/>
          <p:nvPr/>
        </p:nvSpPr>
        <p:spPr>
          <a:xfrm>
            <a:off x="4640580" y="3108960"/>
            <a:ext cx="4183380" cy="1554480"/>
          </a:xfrm>
          <a:prstGeom prst="rect">
            <a:avLst/>
          </a:prstGeom>
          <a:solidFill>
            <a:srgbClr val="FDEDEC"/>
          </a:solidFill>
          <a:ln w="6350">
            <a:solidFill>
              <a:srgbClr val="E0E6ED"/>
            </a:solidFill>
            <a:prstDash val="solid"/>
          </a:ln>
        </p:spPr>
        <p:txBody>
          <a:bodyPr/>
          <a:lstStyle/>
          <a:p>
            <a:endParaRPr lang="tr-TR"/>
          </a:p>
        </p:txBody>
      </p:sp>
      <p:sp>
        <p:nvSpPr>
          <p:cNvPr id="30" name="Shape 28"/>
          <p:cNvSpPr/>
          <p:nvPr/>
        </p:nvSpPr>
        <p:spPr>
          <a:xfrm>
            <a:off x="4640580" y="3108960"/>
            <a:ext cx="4183380" cy="292608"/>
          </a:xfrm>
          <a:prstGeom prst="rect">
            <a:avLst/>
          </a:prstGeom>
          <a:solidFill>
            <a:srgbClr val="922B21"/>
          </a:solidFill>
          <a:ln w="12700">
            <a:solidFill>
              <a:srgbClr val="922B21"/>
            </a:solidFill>
            <a:prstDash val="solid"/>
          </a:ln>
        </p:spPr>
        <p:txBody>
          <a:bodyPr/>
          <a:lstStyle/>
          <a:p>
            <a:endParaRPr lang="tr-TR"/>
          </a:p>
        </p:txBody>
      </p:sp>
      <p:sp>
        <p:nvSpPr>
          <p:cNvPr id="31" name="Text 29"/>
          <p:cNvSpPr/>
          <p:nvPr/>
        </p:nvSpPr>
        <p:spPr>
          <a:xfrm>
            <a:off x="4686300" y="3127248"/>
            <a:ext cx="4091940" cy="274320"/>
          </a:xfrm>
          <a:prstGeom prst="rect">
            <a:avLst/>
          </a:prstGeom>
          <a:noFill/>
        </p:spPr>
        <p:txBody>
          <a:bodyPr wrap="square" rtlCol="0" anchor="ctr"/>
          <a:lstStyle/>
          <a:p>
            <a:pPr marL="0" indent="0" algn="ctr">
              <a:buNone/>
            </a:pPr>
            <a:r>
              <a:rPr lang="en-US" sz="1000" b="1" dirty="0">
                <a:solidFill>
                  <a:srgbClr val="FFFFFF"/>
                </a:solidFill>
                <a:latin typeface="Calibri" panose="020F0502020204030204" pitchFamily="34" charset="0"/>
                <a:ea typeface="Calibri" panose="020F0502020204030204" pitchFamily="34" charset="-122"/>
                <a:cs typeface="Calibri" panose="020F0502020204030204" pitchFamily="34" charset="-120"/>
              </a:rPr>
              <a:t>❌  Dezavantajlar</a:t>
            </a:r>
            <a:endParaRPr lang="en-US" sz="1000" dirty="0"/>
          </a:p>
        </p:txBody>
      </p:sp>
      <p:sp>
        <p:nvSpPr>
          <p:cNvPr id="32" name="Text 30"/>
          <p:cNvSpPr/>
          <p:nvPr/>
        </p:nvSpPr>
        <p:spPr>
          <a:xfrm>
            <a:off x="4732020" y="3438144"/>
            <a:ext cx="4000500" cy="1152144"/>
          </a:xfrm>
          <a:prstGeom prst="rect">
            <a:avLst/>
          </a:prstGeom>
          <a:noFill/>
        </p:spPr>
        <p:txBody>
          <a:bodyPr wrap="square" rtlCol="0" anchor="t"/>
          <a:lstStyle/>
          <a:p>
            <a:pPr marL="0" indent="0" algn="l">
              <a:spcAft>
                <a:spcPts val="300"/>
              </a:spcAft>
              <a:buNone/>
            </a:pPr>
            <a:r>
              <a:rPr lang="en-US" sz="950" dirty="0">
                <a:solidFill>
                  <a:srgbClr val="212121"/>
                </a:solidFill>
                <a:latin typeface="Calibri" panose="020F0502020204030204" pitchFamily="34" charset="0"/>
                <a:ea typeface="Calibri" panose="020F0502020204030204" pitchFamily="34" charset="-122"/>
                <a:cs typeface="Calibri" panose="020F0502020204030204" pitchFamily="34" charset="-120"/>
              </a:rPr>
              <a:t>• Görsel ve gürültü etkisi (toplumsal kabul)
• Kuş/yarasa göçü etkisi (ÇED zorunlu)
• Rüzgara tam bağımlı (değişken üretim)
• SİT/turizm kısıtları (Çeşme, Foça)
• Yüksek montaj yüksekliği; özel ekipman</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Resim 1"/>
          <p:cNvPicPr>
            <a:picLocks noChangeAspect="1"/>
          </p:cNvPicPr>
          <p:nvPr/>
        </p:nvPicPr>
        <p:blipFill>
          <a:blip r:embed="rId1"/>
          <a:stretch>
            <a:fillRect/>
          </a:stretch>
        </p:blipFill>
        <p:spPr>
          <a:xfrm>
            <a:off x="274320" y="1508760"/>
            <a:ext cx="3849370" cy="2239645"/>
          </a:xfrm>
          <a:prstGeom prst="rect">
            <a:avLst/>
          </a:prstGeom>
        </p:spPr>
      </p:pic>
      <p:sp>
        <p:nvSpPr>
          <p:cNvPr id="4" name="Shape 0"/>
          <p:cNvSpPr/>
          <p:nvPr/>
        </p:nvSpPr>
        <p:spPr>
          <a:xfrm>
            <a:off x="0" y="0"/>
            <a:ext cx="9144000" cy="685800"/>
          </a:xfrm>
          <a:prstGeom prst="rect">
            <a:avLst/>
          </a:prstGeom>
          <a:solidFill>
            <a:srgbClr val="1A5276"/>
          </a:solidFill>
          <a:ln w="12700">
            <a:solidFill>
              <a:srgbClr val="1A5276"/>
            </a:solidFill>
            <a:prstDash val="solid"/>
          </a:ln>
        </p:spPr>
        <p:txBody>
          <a:bodyPr/>
          <a:p>
            <a:endParaRPr lang="tr-TR"/>
          </a:p>
        </p:txBody>
      </p:sp>
      <p:sp>
        <p:nvSpPr>
          <p:cNvPr id="5" name="Shape 1"/>
          <p:cNvSpPr/>
          <p:nvPr/>
        </p:nvSpPr>
        <p:spPr>
          <a:xfrm>
            <a:off x="0" y="685800"/>
            <a:ext cx="9144000" cy="45720"/>
          </a:xfrm>
          <a:prstGeom prst="rect">
            <a:avLst/>
          </a:prstGeom>
          <a:solidFill>
            <a:srgbClr val="C8901A"/>
          </a:solidFill>
          <a:ln w="12700">
            <a:solidFill>
              <a:srgbClr val="C8901A"/>
            </a:solidFill>
            <a:prstDash val="solid"/>
          </a:ln>
        </p:spPr>
        <p:txBody>
          <a:bodyPr/>
          <a:p>
            <a:endParaRPr lang="tr-TR"/>
          </a:p>
        </p:txBody>
      </p:sp>
      <p:sp>
        <p:nvSpPr>
          <p:cNvPr id="6" name="Text 4"/>
          <p:cNvSpPr/>
          <p:nvPr/>
        </p:nvSpPr>
        <p:spPr>
          <a:xfrm>
            <a:off x="274320" y="45720"/>
            <a:ext cx="8595360" cy="594360"/>
          </a:xfrm>
          <a:prstGeom prst="rect">
            <a:avLst/>
          </a:prstGeom>
          <a:noFill/>
        </p:spPr>
        <p:txBody>
          <a:bodyPr wrap="square" lIns="0" tIns="0" rIns="0" bIns="0" rtlCol="0" anchor="ctr"/>
          <a:p>
            <a:pPr marL="0" indent="0" algn="l">
              <a:buNone/>
            </a:pPr>
            <a:r>
              <a:rPr lang="en-US" sz="1800" b="1" dirty="0">
                <a:solidFill>
                  <a:srgbClr val="FFFFFF"/>
                </a:solidFill>
                <a:latin typeface="Calibri" panose="020F0502020204030204" pitchFamily="34" charset="0"/>
                <a:ea typeface="Calibri" panose="020F0502020204030204" pitchFamily="34" charset="-122"/>
                <a:cs typeface="Calibri" panose="020F0502020204030204" pitchFamily="34" charset="-120"/>
              </a:rPr>
              <a:t>Rüzgar Enerjisi — Nedir? Türleri? Avantaj / Dezavantaj</a:t>
            </a:r>
            <a:endParaRPr lang="en-US" sz="1800" dirty="0"/>
          </a:p>
        </p:txBody>
      </p:sp>
      <p:sp>
        <p:nvSpPr>
          <p:cNvPr id="13" name="Shape 2"/>
          <p:cNvSpPr/>
          <p:nvPr/>
        </p:nvSpPr>
        <p:spPr>
          <a:xfrm>
            <a:off x="0" y="4892040"/>
            <a:ext cx="9144000" cy="251460"/>
          </a:xfrm>
          <a:prstGeom prst="rect">
            <a:avLst/>
          </a:prstGeom>
          <a:solidFill>
            <a:srgbClr val="1B3A6B"/>
          </a:solidFill>
          <a:ln w="12700">
            <a:solidFill>
              <a:srgbClr val="1B3A6B"/>
            </a:solidFill>
            <a:prstDash val="solid"/>
          </a:ln>
        </p:spPr>
        <p:txBody>
          <a:bodyPr/>
          <a:p>
            <a:endParaRPr lang="tr-TR"/>
          </a:p>
        </p:txBody>
      </p:sp>
      <p:sp>
        <p:nvSpPr>
          <p:cNvPr id="14" name="Text 3"/>
          <p:cNvSpPr/>
          <p:nvPr/>
        </p:nvSpPr>
        <p:spPr>
          <a:xfrm>
            <a:off x="274320" y="4892040"/>
            <a:ext cx="8595360" cy="251460"/>
          </a:xfrm>
          <a:prstGeom prst="rect">
            <a:avLst/>
          </a:prstGeom>
          <a:noFill/>
        </p:spPr>
        <p:txBody>
          <a:bodyPr wrap="square" rtlCol="0" anchor="ctr"/>
          <a:p>
            <a:pPr marL="0" indent="0" algn="ctr">
              <a:buNone/>
            </a:pPr>
            <a:r>
              <a:rPr lang="en-US" sz="800" dirty="0">
                <a:solidFill>
                  <a:srgbClr val="E0E6ED"/>
                </a:solidFill>
                <a:latin typeface="Calibri" panose="020F0502020204030204" pitchFamily="34" charset="0"/>
                <a:ea typeface="Calibri" panose="020F0502020204030204" pitchFamily="34" charset="-122"/>
                <a:cs typeface="Calibri" panose="020F0502020204030204" pitchFamily="34" charset="-120"/>
              </a:rPr>
              <a:t>SAÜ EEM  |  İzmir Yenilenebilir Enerji Analizi</a:t>
            </a:r>
            <a:endParaRPr lang="en-US" sz="800" dirty="0"/>
          </a:p>
        </p:txBody>
      </p:sp>
      <p:pic>
        <p:nvPicPr>
          <p:cNvPr id="774823463" name="Picture 1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a:xfrm>
            <a:off x="4309745" y="1508760"/>
            <a:ext cx="4326890" cy="22352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8F9FA"/>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486000"/>
          </a:xfrm>
          <a:prstGeom prst="rect">
            <a:avLst/>
          </a:prstGeom>
          <a:solidFill>
            <a:srgbClr val="1A52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86000"/>
            <a:ext cx="9144000" cy="32400"/>
          </a:xfrm>
          <a:prstGeom prst="rect">
            <a:avLst/>
          </a:prstGeom>
          <a:solidFill>
            <a:srgbClr val="C890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4860000"/>
            <a:ext cx="9144000" cy="2844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80000" y="4860000"/>
            <a:ext cx="8784000" cy="284400"/>
          </a:xfrm>
          <a:prstGeom prst="rect">
            <a:avLst/>
          </a:prstGeom>
          <a:noFill/>
        </p:spPr>
        <p:txBody>
          <a:bodyPr wrap="square">
            <a:spAutoFit/>
          </a:bodyPr>
          <a:lstStyle/>
          <a:p>
            <a:pPr algn="ctr"/>
            <a:r>
              <a:rPr sz="850" b="0" i="0">
                <a:solidFill>
                  <a:srgbClr val="FFFFFF"/>
                </a:solidFill>
                <a:latin typeface="Calibri" panose="020F0502020204030204"/>
              </a:rPr>
              <a:t>SAÜ EEM  |  İzmir Yenilenebilir Enerji Analizi</a:t>
            </a:r>
            <a:endParaRPr sz="850" b="0" i="0">
              <a:solidFill>
                <a:srgbClr val="FFFFFF"/>
              </a:solidFill>
              <a:latin typeface="Calibri" panose="020F0502020204030204"/>
            </a:endParaRPr>
          </a:p>
        </p:txBody>
      </p:sp>
      <p:sp>
        <p:nvSpPr>
          <p:cNvPr id="6" name="TextBox 5"/>
          <p:cNvSpPr txBox="1"/>
          <p:nvPr/>
        </p:nvSpPr>
        <p:spPr>
          <a:xfrm>
            <a:off x="216000" y="18000"/>
            <a:ext cx="8640000" cy="450000"/>
          </a:xfrm>
          <a:prstGeom prst="rect">
            <a:avLst/>
          </a:prstGeom>
          <a:noFill/>
        </p:spPr>
        <p:txBody>
          <a:bodyPr wrap="square">
            <a:spAutoFit/>
          </a:bodyPr>
          <a:lstStyle/>
          <a:p>
            <a:pPr algn="l"/>
            <a:r>
              <a:rPr sz="1600" b="1" i="0">
                <a:solidFill>
                  <a:srgbClr val="FFFFFF"/>
                </a:solidFill>
                <a:latin typeface="Calibri" panose="020F0502020204030204"/>
              </a:rPr>
              <a:t>Rüzgar Enerjisi (RES) — Güncel Türbin Teknolojileri, Dünyanın En Büyük Türbinleri ve Akıllı Kontrol</a:t>
            </a:r>
            <a:endParaRPr sz="1600" b="1" i="0">
              <a:solidFill>
                <a:srgbClr val="FFFFFF"/>
              </a:solidFill>
              <a:latin typeface="Calibri" panose="020F0502020204030204"/>
            </a:endParaRPr>
          </a:p>
        </p:txBody>
      </p:sp>
      <p:sp>
        <p:nvSpPr>
          <p:cNvPr id="7" name="Rectangle 6"/>
          <p:cNvSpPr/>
          <p:nvPr/>
        </p:nvSpPr>
        <p:spPr>
          <a:xfrm>
            <a:off x="125730" y="547370"/>
            <a:ext cx="2124075" cy="1261110"/>
          </a:xfrm>
          <a:prstGeom prst="rect">
            <a:avLst/>
          </a:prstGeom>
          <a:solidFill>
            <a:srgbClr val="D6EAF8"/>
          </a:solidFill>
          <a:ln w="12700">
            <a:solidFill>
              <a:srgbClr val="1A527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25730" y="547370"/>
            <a:ext cx="2124075" cy="394335"/>
          </a:xfrm>
          <a:prstGeom prst="rect">
            <a:avLst/>
          </a:prstGeom>
          <a:solidFill>
            <a:srgbClr val="1A52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54800" y="558000"/>
            <a:ext cx="2066400" cy="154440"/>
          </a:xfrm>
          <a:prstGeom prst="rect">
            <a:avLst/>
          </a:prstGeom>
          <a:noFill/>
        </p:spPr>
        <p:txBody>
          <a:bodyPr wrap="square">
            <a:spAutoFit/>
          </a:bodyPr>
          <a:lstStyle/>
          <a:p>
            <a:pPr algn="ctr"/>
            <a:r>
              <a:rPr sz="1000" b="1" i="0">
                <a:solidFill>
                  <a:srgbClr val="FFFFFF"/>
                </a:solidFill>
                <a:latin typeface="Calibri" panose="020F0502020204030204"/>
              </a:rPr>
              <a:t>Dişli Kutulu
(Gearbox DFIG)</a:t>
            </a:r>
            <a:endParaRPr sz="1000" b="1" i="0">
              <a:solidFill>
                <a:srgbClr val="FFFFFF"/>
              </a:solidFill>
              <a:latin typeface="Calibri" panose="020F0502020204030204"/>
            </a:endParaRPr>
          </a:p>
        </p:txBody>
      </p:sp>
      <p:sp>
        <p:nvSpPr>
          <p:cNvPr id="10" name="TextBox 9"/>
          <p:cNvSpPr txBox="1"/>
          <p:nvPr/>
        </p:nvSpPr>
        <p:spPr>
          <a:xfrm>
            <a:off x="184010" y="1617945"/>
            <a:ext cx="2066400" cy="123552"/>
          </a:xfrm>
          <a:prstGeom prst="rect">
            <a:avLst/>
          </a:prstGeom>
          <a:noFill/>
        </p:spPr>
        <p:txBody>
          <a:bodyPr wrap="square">
            <a:spAutoFit/>
          </a:bodyPr>
          <a:lstStyle/>
          <a:p>
            <a:pPr algn="ctr"/>
            <a:r>
              <a:rPr sz="800" b="0" i="1">
                <a:solidFill>
                  <a:schemeClr val="tx1"/>
                </a:solidFill>
                <a:latin typeface="Calibri" panose="020F0502020204030204"/>
              </a:rPr>
              <a:t>%70+ Pazar Payı (2024)</a:t>
            </a:r>
            <a:endParaRPr sz="800" b="0" i="1">
              <a:solidFill>
                <a:schemeClr val="tx1"/>
              </a:solidFill>
              <a:latin typeface="Calibri" panose="020F0502020204030204"/>
            </a:endParaRPr>
          </a:p>
        </p:txBody>
      </p:sp>
      <p:sp>
        <p:nvSpPr>
          <p:cNvPr id="11" name="TextBox 10"/>
          <p:cNvSpPr txBox="1"/>
          <p:nvPr/>
        </p:nvSpPr>
        <p:spPr>
          <a:xfrm>
            <a:off x="154940" y="889635"/>
            <a:ext cx="2037715" cy="969010"/>
          </a:xfrm>
          <a:prstGeom prst="rect">
            <a:avLst/>
          </a:prstGeom>
          <a:noFill/>
        </p:spPr>
        <p:txBody>
          <a:bodyPr wrap="square">
            <a:noAutofit/>
          </a:bodyPr>
          <a:lstStyle/>
          <a:p>
            <a:pPr algn="l"/>
            <a:r>
              <a:rPr sz="950" b="0" i="0">
                <a:solidFill>
                  <a:srgbClr val="212121"/>
                </a:solidFill>
                <a:latin typeface="Calibri" panose="020F0502020204030204"/>
              </a:rPr>
              <a:t>DFIG jeneratör — değişken hız
Vestas V136/V236, GE Cypress
Siemens Gamesa SG 6.6-170
Olgun teknoloji, düşük maliyet
Dezavantaj: gearbox bakımı</a:t>
            </a:r>
            <a:endParaRPr sz="950" b="0" i="0">
              <a:solidFill>
                <a:srgbClr val="212121"/>
              </a:solidFill>
              <a:latin typeface="Calibri" panose="020F0502020204030204"/>
            </a:endParaRPr>
          </a:p>
        </p:txBody>
      </p:sp>
      <p:sp>
        <p:nvSpPr>
          <p:cNvPr id="14" name="Rectangle 13"/>
          <p:cNvSpPr/>
          <p:nvPr/>
        </p:nvSpPr>
        <p:spPr>
          <a:xfrm>
            <a:off x="2357755" y="547370"/>
            <a:ext cx="2124075" cy="1289685"/>
          </a:xfrm>
          <a:prstGeom prst="rect">
            <a:avLst/>
          </a:prstGeom>
          <a:solidFill>
            <a:srgbClr val="A9CCE3"/>
          </a:solidFill>
          <a:ln w="12700">
            <a:solidFill>
              <a:srgbClr val="1543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358000" y="547200"/>
            <a:ext cx="2124000" cy="280800"/>
          </a:xfrm>
          <a:prstGeom prst="rect">
            <a:avLst/>
          </a:prstGeom>
          <a:solidFill>
            <a:srgbClr val="1543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386800" y="467830"/>
            <a:ext cx="2066400" cy="154440"/>
          </a:xfrm>
          <a:prstGeom prst="rect">
            <a:avLst/>
          </a:prstGeom>
          <a:noFill/>
        </p:spPr>
        <p:txBody>
          <a:bodyPr wrap="square">
            <a:spAutoFit/>
          </a:bodyPr>
          <a:lstStyle/>
          <a:p>
            <a:pPr algn="ctr"/>
            <a:r>
              <a:rPr sz="1000" b="1" i="0">
                <a:solidFill>
                  <a:srgbClr val="FFFFFF"/>
                </a:solidFill>
                <a:latin typeface="Calibri" panose="020F0502020204030204"/>
              </a:rPr>
              <a:t>Dişlisiz
(Direct Drive PMSG)</a:t>
            </a:r>
            <a:endParaRPr sz="1000" b="1" i="0">
              <a:solidFill>
                <a:srgbClr val="FFFFFF"/>
              </a:solidFill>
              <a:latin typeface="Calibri" panose="020F0502020204030204"/>
            </a:endParaRPr>
          </a:p>
        </p:txBody>
      </p:sp>
      <p:sp>
        <p:nvSpPr>
          <p:cNvPr id="17" name="TextBox 16"/>
          <p:cNvSpPr txBox="1"/>
          <p:nvPr/>
        </p:nvSpPr>
        <p:spPr>
          <a:xfrm>
            <a:off x="2415375" y="1684620"/>
            <a:ext cx="2066400" cy="123552"/>
          </a:xfrm>
          <a:prstGeom prst="rect">
            <a:avLst/>
          </a:prstGeom>
          <a:noFill/>
        </p:spPr>
        <p:txBody>
          <a:bodyPr wrap="square">
            <a:spAutoFit/>
          </a:bodyPr>
          <a:lstStyle/>
          <a:p>
            <a:pPr algn="ctr"/>
            <a:r>
              <a:rPr sz="800" b="0" i="1">
                <a:solidFill>
                  <a:schemeClr val="tx1"/>
                </a:solidFill>
                <a:latin typeface="Calibri" panose="020F0502020204030204"/>
              </a:rPr>
              <a:t>Büyüyen Offshore Segment</a:t>
            </a:r>
            <a:endParaRPr sz="800" b="0" i="1">
              <a:solidFill>
                <a:schemeClr val="tx1"/>
              </a:solidFill>
              <a:latin typeface="Calibri" panose="020F0502020204030204"/>
            </a:endParaRPr>
          </a:p>
        </p:txBody>
      </p:sp>
      <p:sp>
        <p:nvSpPr>
          <p:cNvPr id="18" name="TextBox 17"/>
          <p:cNvSpPr txBox="1"/>
          <p:nvPr/>
        </p:nvSpPr>
        <p:spPr>
          <a:xfrm>
            <a:off x="2400935" y="845820"/>
            <a:ext cx="2037715" cy="977900"/>
          </a:xfrm>
          <a:prstGeom prst="rect">
            <a:avLst/>
          </a:prstGeom>
          <a:noFill/>
        </p:spPr>
        <p:txBody>
          <a:bodyPr wrap="square">
            <a:noAutofit/>
          </a:bodyPr>
          <a:lstStyle/>
          <a:p>
            <a:pPr algn="l"/>
            <a:r>
              <a:rPr sz="950" b="0" i="0">
                <a:solidFill>
                  <a:srgbClr val="212121"/>
                </a:solidFill>
                <a:latin typeface="Calibri" panose="020F0502020204030204"/>
              </a:rPr>
              <a:t>PMSG doğrudan jeneratör
SG 14-222 DD (Siemens Gamesa)
GE Haliade-X 14 MW (DD)
Az hareketli parça → daha az arıza
Dezavantaj: ağır nasel, maliyet↑</a:t>
            </a:r>
            <a:endParaRPr sz="950" b="0" i="0">
              <a:solidFill>
                <a:srgbClr val="212121"/>
              </a:solidFill>
              <a:latin typeface="Calibri" panose="020F0502020204030204"/>
            </a:endParaRPr>
          </a:p>
        </p:txBody>
      </p:sp>
      <p:sp>
        <p:nvSpPr>
          <p:cNvPr id="21" name="Rectangle 20"/>
          <p:cNvSpPr/>
          <p:nvPr/>
        </p:nvSpPr>
        <p:spPr>
          <a:xfrm>
            <a:off x="4589780" y="547370"/>
            <a:ext cx="2124075" cy="1303655"/>
          </a:xfrm>
          <a:prstGeom prst="rect">
            <a:avLst/>
          </a:prstGeom>
          <a:solidFill>
            <a:srgbClr val="D6EAF8"/>
          </a:solidFill>
          <a:ln w="12700">
            <a:solidFill>
              <a:srgbClr val="1A527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590000" y="547200"/>
            <a:ext cx="2124000" cy="280800"/>
          </a:xfrm>
          <a:prstGeom prst="rect">
            <a:avLst/>
          </a:prstGeom>
          <a:solidFill>
            <a:srgbClr val="1A52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618800" y="467830"/>
            <a:ext cx="2066400" cy="154440"/>
          </a:xfrm>
          <a:prstGeom prst="rect">
            <a:avLst/>
          </a:prstGeom>
          <a:noFill/>
        </p:spPr>
        <p:txBody>
          <a:bodyPr wrap="square">
            <a:spAutoFit/>
          </a:bodyPr>
          <a:lstStyle/>
          <a:p>
            <a:pPr algn="ctr"/>
            <a:r>
              <a:rPr sz="1000" b="1" i="0">
                <a:solidFill>
                  <a:srgbClr val="FFFFFF"/>
                </a:solidFill>
                <a:latin typeface="Calibri" panose="020F0502020204030204"/>
              </a:rPr>
              <a:t>Hibrit Orta Hızlı
(Single-Stage)</a:t>
            </a:r>
            <a:endParaRPr sz="1000" b="1" i="0">
              <a:solidFill>
                <a:srgbClr val="FFFFFF"/>
              </a:solidFill>
              <a:latin typeface="Calibri" panose="020F0502020204030204"/>
            </a:endParaRPr>
          </a:p>
        </p:txBody>
      </p:sp>
      <p:sp>
        <p:nvSpPr>
          <p:cNvPr id="24" name="TextBox 23"/>
          <p:cNvSpPr txBox="1"/>
          <p:nvPr/>
        </p:nvSpPr>
        <p:spPr>
          <a:xfrm>
            <a:off x="4632770" y="1617945"/>
            <a:ext cx="2066400" cy="123552"/>
          </a:xfrm>
          <a:prstGeom prst="rect">
            <a:avLst/>
          </a:prstGeom>
          <a:noFill/>
        </p:spPr>
        <p:txBody>
          <a:bodyPr wrap="square">
            <a:spAutoFit/>
          </a:bodyPr>
          <a:lstStyle/>
          <a:p>
            <a:pPr algn="ctr"/>
            <a:r>
              <a:rPr sz="800" b="0" i="1">
                <a:solidFill>
                  <a:schemeClr val="tx1"/>
                </a:solidFill>
                <a:latin typeface="Calibri" panose="020F0502020204030204"/>
              </a:rPr>
              <a:t>2024 Büyüme Trendi</a:t>
            </a:r>
            <a:endParaRPr sz="800" b="0" i="1">
              <a:solidFill>
                <a:schemeClr val="tx1"/>
              </a:solidFill>
              <a:latin typeface="Calibri" panose="020F0502020204030204"/>
            </a:endParaRPr>
          </a:p>
        </p:txBody>
      </p:sp>
      <p:sp>
        <p:nvSpPr>
          <p:cNvPr id="25" name="TextBox 24"/>
          <p:cNvSpPr txBox="1"/>
          <p:nvPr/>
        </p:nvSpPr>
        <p:spPr>
          <a:xfrm>
            <a:off x="4632960" y="845820"/>
            <a:ext cx="2037715" cy="1012825"/>
          </a:xfrm>
          <a:prstGeom prst="rect">
            <a:avLst/>
          </a:prstGeom>
          <a:noFill/>
        </p:spPr>
        <p:txBody>
          <a:bodyPr wrap="square">
            <a:noAutofit/>
          </a:bodyPr>
          <a:lstStyle/>
          <a:p>
            <a:pPr algn="l"/>
            <a:r>
              <a:rPr sz="950" b="0" i="0">
                <a:solidFill>
                  <a:srgbClr val="212121"/>
                </a:solidFill>
                <a:latin typeface="Calibri" panose="020F0502020204030204"/>
              </a:rPr>
              <a:t>Tek aşamalı gearbox + PMSG
Vestas V172, Enercon E-175 EP5
Daha küçük jeneratör boyutu
Bakım maliyeti DD ile gearbox arası
Onshore büyük sınıf için uygun</a:t>
            </a:r>
            <a:endParaRPr sz="950" b="0" i="0">
              <a:solidFill>
                <a:srgbClr val="212121"/>
              </a:solidFill>
              <a:latin typeface="Calibri" panose="020F0502020204030204"/>
            </a:endParaRPr>
          </a:p>
        </p:txBody>
      </p:sp>
      <p:sp>
        <p:nvSpPr>
          <p:cNvPr id="28" name="Rectangle 27"/>
          <p:cNvSpPr/>
          <p:nvPr/>
        </p:nvSpPr>
        <p:spPr>
          <a:xfrm>
            <a:off x="6821805" y="547370"/>
            <a:ext cx="2124075" cy="1311275"/>
          </a:xfrm>
          <a:prstGeom prst="rect">
            <a:avLst/>
          </a:prstGeom>
          <a:solidFill>
            <a:srgbClr val="EBF5FB"/>
          </a:solidFill>
          <a:ln w="12700">
            <a:solidFill>
              <a:srgbClr val="2471A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822000" y="547200"/>
            <a:ext cx="2124000" cy="280800"/>
          </a:xfrm>
          <a:prstGeom prst="rect">
            <a:avLst/>
          </a:prstGeom>
          <a:solidFill>
            <a:srgbClr val="2471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850800" y="467830"/>
            <a:ext cx="2066400" cy="154440"/>
          </a:xfrm>
          <a:prstGeom prst="rect">
            <a:avLst/>
          </a:prstGeom>
          <a:noFill/>
        </p:spPr>
        <p:txBody>
          <a:bodyPr wrap="square">
            <a:spAutoFit/>
          </a:bodyPr>
          <a:lstStyle/>
          <a:p>
            <a:pPr algn="ctr"/>
            <a:r>
              <a:rPr sz="1000" b="1" i="0">
                <a:solidFill>
                  <a:srgbClr val="FFFFFF"/>
                </a:solidFill>
                <a:latin typeface="Calibri" panose="020F0502020204030204"/>
              </a:rPr>
              <a:t>Yüzen Offshore
(Floating Wind)</a:t>
            </a:r>
            <a:endParaRPr sz="1000" b="1" i="0">
              <a:solidFill>
                <a:srgbClr val="FFFFFF"/>
              </a:solidFill>
              <a:latin typeface="Calibri" panose="020F0502020204030204"/>
            </a:endParaRPr>
          </a:p>
        </p:txBody>
      </p:sp>
      <p:sp>
        <p:nvSpPr>
          <p:cNvPr id="31" name="TextBox 30"/>
          <p:cNvSpPr txBox="1"/>
          <p:nvPr/>
        </p:nvSpPr>
        <p:spPr>
          <a:xfrm>
            <a:off x="6876200" y="1617945"/>
            <a:ext cx="2066400" cy="123552"/>
          </a:xfrm>
          <a:prstGeom prst="rect">
            <a:avLst/>
          </a:prstGeom>
          <a:noFill/>
        </p:spPr>
        <p:txBody>
          <a:bodyPr wrap="square">
            <a:spAutoFit/>
          </a:bodyPr>
          <a:lstStyle/>
          <a:p>
            <a:pPr algn="ctr"/>
            <a:r>
              <a:rPr sz="800" b="0" i="1">
                <a:solidFill>
                  <a:schemeClr val="tx1"/>
                </a:solidFill>
                <a:latin typeface="Calibri" panose="020F0502020204030204"/>
              </a:rPr>
              <a:t>2030+ Vizyon</a:t>
            </a:r>
            <a:endParaRPr sz="800" b="0" i="1">
              <a:solidFill>
                <a:schemeClr val="tx1"/>
              </a:solidFill>
              <a:latin typeface="Calibri" panose="020F0502020204030204"/>
            </a:endParaRPr>
          </a:p>
        </p:txBody>
      </p:sp>
      <p:sp>
        <p:nvSpPr>
          <p:cNvPr id="32" name="TextBox 31"/>
          <p:cNvSpPr txBox="1"/>
          <p:nvPr/>
        </p:nvSpPr>
        <p:spPr>
          <a:xfrm>
            <a:off x="6864985" y="845820"/>
            <a:ext cx="2037715" cy="993775"/>
          </a:xfrm>
          <a:prstGeom prst="rect">
            <a:avLst/>
          </a:prstGeom>
          <a:noFill/>
        </p:spPr>
        <p:txBody>
          <a:bodyPr wrap="square">
            <a:noAutofit/>
          </a:bodyPr>
          <a:lstStyle/>
          <a:p>
            <a:pPr algn="l"/>
            <a:r>
              <a:rPr sz="950" b="0" i="0">
                <a:solidFill>
                  <a:srgbClr val="212121"/>
                </a:solidFill>
                <a:latin typeface="Calibri" panose="020F0502020204030204"/>
              </a:rPr>
              <a:t>Derin su: &gt;50 m derinlik
Hywind Scotland 30 MW (Equinor)
Stiesdal TetraSpar, BW Ideol
Ege açıkları potansiyeli mevcut
Türkiye lisans altyapısı gelişiyor</a:t>
            </a:r>
            <a:endParaRPr sz="950" b="0" i="0">
              <a:solidFill>
                <a:srgbClr val="212121"/>
              </a:solidFill>
              <a:latin typeface="Calibri" panose="020F0502020204030204"/>
            </a:endParaRPr>
          </a:p>
        </p:txBody>
      </p:sp>
      <p:sp>
        <p:nvSpPr>
          <p:cNvPr id="35" name="Rectangle 34"/>
          <p:cNvSpPr/>
          <p:nvPr/>
        </p:nvSpPr>
        <p:spPr>
          <a:xfrm>
            <a:off x="125730" y="1913890"/>
            <a:ext cx="8816975" cy="257175"/>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209210" y="1905919"/>
            <a:ext cx="8640000" cy="122400"/>
          </a:xfrm>
          <a:prstGeom prst="rect">
            <a:avLst/>
          </a:prstGeom>
          <a:noFill/>
        </p:spPr>
        <p:txBody>
          <a:bodyPr wrap="square">
            <a:spAutoFit/>
          </a:bodyPr>
          <a:lstStyle/>
          <a:p>
            <a:pPr algn="l"/>
            <a:r>
              <a:rPr sz="1100" b="1" i="0">
                <a:solidFill>
                  <a:srgbClr val="FFFFFF"/>
                </a:solidFill>
                <a:latin typeface="Calibri" panose="020F0502020204030204"/>
              </a:rPr>
              <a:t>Dünyanın En Büyük Rüzgar Türbinleri (2024) — 'Bigger is Better' Trendi ve Ölçek Karşılaştırması</a:t>
            </a:r>
            <a:endParaRPr sz="1100" b="1" i="0">
              <a:solidFill>
                <a:srgbClr val="FFFFFF"/>
              </a:solidFill>
              <a:latin typeface="Calibri" panose="020F0502020204030204"/>
            </a:endParaRPr>
          </a:p>
        </p:txBody>
      </p:sp>
      <p:sp>
        <p:nvSpPr>
          <p:cNvPr id="37" name="Rectangle 36"/>
          <p:cNvSpPr/>
          <p:nvPr/>
        </p:nvSpPr>
        <p:spPr>
          <a:xfrm>
            <a:off x="125730" y="2160270"/>
            <a:ext cx="1670685" cy="668655"/>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54800" y="2160000"/>
            <a:ext cx="1612799" cy="136800"/>
          </a:xfrm>
          <a:prstGeom prst="rect">
            <a:avLst/>
          </a:prstGeom>
          <a:noFill/>
        </p:spPr>
        <p:txBody>
          <a:bodyPr wrap="square">
            <a:spAutoFit/>
          </a:bodyPr>
          <a:lstStyle/>
          <a:p>
            <a:pPr algn="ctr"/>
            <a:r>
              <a:rPr sz="950" b="1" i="0">
                <a:solidFill>
                  <a:srgbClr val="FFFFFF"/>
                </a:solidFill>
                <a:latin typeface="Calibri" panose="020F0502020204030204"/>
              </a:rPr>
              <a:t>MySE 16-260</a:t>
            </a:r>
            <a:endParaRPr sz="950" b="1" i="0">
              <a:solidFill>
                <a:srgbClr val="FFFFFF"/>
              </a:solidFill>
              <a:latin typeface="Calibri" panose="020F0502020204030204"/>
            </a:endParaRPr>
          </a:p>
        </p:txBody>
      </p:sp>
      <p:sp>
        <p:nvSpPr>
          <p:cNvPr id="39" name="TextBox 38"/>
          <p:cNvSpPr txBox="1"/>
          <p:nvPr/>
        </p:nvSpPr>
        <p:spPr>
          <a:xfrm>
            <a:off x="154940" y="2296795"/>
            <a:ext cx="1478915" cy="337185"/>
          </a:xfrm>
          <a:prstGeom prst="rect">
            <a:avLst/>
          </a:prstGeom>
          <a:noFill/>
        </p:spPr>
        <p:txBody>
          <a:bodyPr wrap="square">
            <a:spAutoFit/>
          </a:bodyPr>
          <a:lstStyle/>
          <a:p>
            <a:pPr algn="ctr"/>
            <a:r>
              <a:rPr sz="1600" b="1" i="0">
                <a:solidFill>
                  <a:srgbClr val="FFE082"/>
                </a:solidFill>
                <a:latin typeface="Calibri" panose="020F0502020204030204"/>
              </a:rPr>
              <a:t>16 MW</a:t>
            </a:r>
            <a:endParaRPr sz="1600" b="1" i="0">
              <a:solidFill>
                <a:srgbClr val="FFE082"/>
              </a:solidFill>
              <a:latin typeface="Calibri" panose="020F0502020204030204"/>
            </a:endParaRPr>
          </a:p>
        </p:txBody>
      </p:sp>
      <p:sp>
        <p:nvSpPr>
          <p:cNvPr id="40" name="TextBox 39"/>
          <p:cNvSpPr txBox="1"/>
          <p:nvPr/>
        </p:nvSpPr>
        <p:spPr>
          <a:xfrm>
            <a:off x="154800" y="2469600"/>
            <a:ext cx="1612799" cy="158400"/>
          </a:xfrm>
          <a:prstGeom prst="rect">
            <a:avLst/>
          </a:prstGeom>
          <a:noFill/>
        </p:spPr>
        <p:txBody>
          <a:bodyPr wrap="square">
            <a:spAutoFit/>
          </a:bodyPr>
          <a:lstStyle/>
          <a:p>
            <a:pPr algn="ctr"/>
            <a:r>
              <a:rPr sz="850" b="0" i="0">
                <a:solidFill>
                  <a:srgbClr val="D6EAF8"/>
                </a:solidFill>
                <a:latin typeface="Calibri" panose="020F0502020204030204"/>
              </a:rPr>
              <a:t>Ming Yang — 260 m rotor
Çin, 2024</a:t>
            </a:r>
            <a:endParaRPr sz="850" b="0" i="0">
              <a:solidFill>
                <a:srgbClr val="D6EAF8"/>
              </a:solidFill>
              <a:latin typeface="Calibri" panose="020F0502020204030204"/>
            </a:endParaRPr>
          </a:p>
        </p:txBody>
      </p:sp>
      <p:sp>
        <p:nvSpPr>
          <p:cNvPr id="41" name="Rectangle 40"/>
          <p:cNvSpPr/>
          <p:nvPr/>
        </p:nvSpPr>
        <p:spPr>
          <a:xfrm>
            <a:off x="1889760" y="2171700"/>
            <a:ext cx="1670685" cy="660400"/>
          </a:xfrm>
          <a:prstGeom prst="rect">
            <a:avLst/>
          </a:prstGeom>
          <a:solidFill>
            <a:srgbClr val="1A52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918799" y="2160000"/>
            <a:ext cx="1612799" cy="136800"/>
          </a:xfrm>
          <a:prstGeom prst="rect">
            <a:avLst/>
          </a:prstGeom>
          <a:noFill/>
        </p:spPr>
        <p:txBody>
          <a:bodyPr wrap="square">
            <a:spAutoFit/>
          </a:bodyPr>
          <a:lstStyle/>
          <a:p>
            <a:pPr algn="ctr"/>
            <a:r>
              <a:rPr sz="950" b="1" i="0">
                <a:solidFill>
                  <a:srgbClr val="FFFFFF"/>
                </a:solidFill>
                <a:latin typeface="Calibri" panose="020F0502020204030204"/>
              </a:rPr>
              <a:t>V236-15.0 MW</a:t>
            </a:r>
            <a:endParaRPr sz="950" b="1" i="0">
              <a:solidFill>
                <a:srgbClr val="FFFFFF"/>
              </a:solidFill>
              <a:latin typeface="Calibri" panose="020F0502020204030204"/>
            </a:endParaRPr>
          </a:p>
        </p:txBody>
      </p:sp>
      <p:sp>
        <p:nvSpPr>
          <p:cNvPr id="43" name="TextBox 42"/>
          <p:cNvSpPr txBox="1"/>
          <p:nvPr/>
        </p:nvSpPr>
        <p:spPr>
          <a:xfrm>
            <a:off x="1918970" y="2296795"/>
            <a:ext cx="1495425" cy="337185"/>
          </a:xfrm>
          <a:prstGeom prst="rect">
            <a:avLst/>
          </a:prstGeom>
          <a:noFill/>
        </p:spPr>
        <p:txBody>
          <a:bodyPr wrap="square">
            <a:spAutoFit/>
          </a:bodyPr>
          <a:lstStyle/>
          <a:p>
            <a:pPr algn="ctr"/>
            <a:r>
              <a:rPr sz="1600" b="1" i="0">
                <a:solidFill>
                  <a:srgbClr val="FFE082"/>
                </a:solidFill>
                <a:latin typeface="Calibri" panose="020F0502020204030204"/>
              </a:rPr>
              <a:t>15 MW</a:t>
            </a:r>
            <a:endParaRPr sz="1600" b="1" i="0">
              <a:solidFill>
                <a:srgbClr val="FFE082"/>
              </a:solidFill>
              <a:latin typeface="Calibri" panose="020F0502020204030204"/>
            </a:endParaRPr>
          </a:p>
        </p:txBody>
      </p:sp>
      <p:sp>
        <p:nvSpPr>
          <p:cNvPr id="44" name="TextBox 43"/>
          <p:cNvSpPr txBox="1"/>
          <p:nvPr/>
        </p:nvSpPr>
        <p:spPr>
          <a:xfrm>
            <a:off x="1918799" y="2469600"/>
            <a:ext cx="1612799" cy="158400"/>
          </a:xfrm>
          <a:prstGeom prst="rect">
            <a:avLst/>
          </a:prstGeom>
          <a:noFill/>
        </p:spPr>
        <p:txBody>
          <a:bodyPr wrap="square">
            <a:spAutoFit/>
          </a:bodyPr>
          <a:lstStyle/>
          <a:p>
            <a:pPr algn="ctr"/>
            <a:r>
              <a:rPr sz="850" b="0" i="0">
                <a:solidFill>
                  <a:srgbClr val="D6EAF8"/>
                </a:solidFill>
                <a:latin typeface="Calibri" panose="020F0502020204030204"/>
              </a:rPr>
              <a:t>Vestas — 236 m rotor
Denmark, 2023</a:t>
            </a:r>
            <a:endParaRPr sz="850" b="0" i="0">
              <a:solidFill>
                <a:srgbClr val="D6EAF8"/>
              </a:solidFill>
              <a:latin typeface="Calibri" panose="020F0502020204030204"/>
            </a:endParaRPr>
          </a:p>
        </p:txBody>
      </p:sp>
      <p:sp>
        <p:nvSpPr>
          <p:cNvPr id="45" name="Rectangle 44"/>
          <p:cNvSpPr/>
          <p:nvPr/>
        </p:nvSpPr>
        <p:spPr>
          <a:xfrm>
            <a:off x="3653790" y="2171065"/>
            <a:ext cx="1670685" cy="661035"/>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869055" y="2160270"/>
            <a:ext cx="1397635" cy="147320"/>
          </a:xfrm>
          <a:prstGeom prst="rect">
            <a:avLst/>
          </a:prstGeom>
          <a:noFill/>
        </p:spPr>
        <p:txBody>
          <a:bodyPr wrap="square">
            <a:noAutofit/>
          </a:bodyPr>
          <a:lstStyle/>
          <a:p>
            <a:pPr algn="ctr"/>
            <a:r>
              <a:rPr sz="950" b="1" i="0">
                <a:solidFill>
                  <a:srgbClr val="FFFFFF"/>
                </a:solidFill>
                <a:latin typeface="Calibri" panose="020F0502020204030204"/>
              </a:rPr>
              <a:t>Haliade-X</a:t>
            </a:r>
            <a:endParaRPr sz="950" b="1" i="0">
              <a:solidFill>
                <a:srgbClr val="FFFFFF"/>
              </a:solidFill>
              <a:latin typeface="Calibri" panose="020F0502020204030204"/>
            </a:endParaRPr>
          </a:p>
        </p:txBody>
      </p:sp>
      <p:sp>
        <p:nvSpPr>
          <p:cNvPr id="47" name="TextBox 46"/>
          <p:cNvSpPr txBox="1"/>
          <p:nvPr/>
        </p:nvSpPr>
        <p:spPr>
          <a:xfrm>
            <a:off x="3683000" y="2296795"/>
            <a:ext cx="1464945" cy="337185"/>
          </a:xfrm>
          <a:prstGeom prst="rect">
            <a:avLst/>
          </a:prstGeom>
          <a:noFill/>
        </p:spPr>
        <p:txBody>
          <a:bodyPr wrap="square">
            <a:spAutoFit/>
          </a:bodyPr>
          <a:lstStyle/>
          <a:p>
            <a:pPr algn="ctr"/>
            <a:r>
              <a:rPr sz="1600" b="1" i="0">
                <a:solidFill>
                  <a:srgbClr val="FFE082"/>
                </a:solidFill>
                <a:latin typeface="Calibri" panose="020F0502020204030204"/>
              </a:rPr>
              <a:t>14 MW</a:t>
            </a:r>
            <a:endParaRPr sz="1600" b="1" i="0">
              <a:solidFill>
                <a:srgbClr val="FFE082"/>
              </a:solidFill>
              <a:latin typeface="Calibri" panose="020F0502020204030204"/>
            </a:endParaRPr>
          </a:p>
        </p:txBody>
      </p:sp>
      <p:sp>
        <p:nvSpPr>
          <p:cNvPr id="48" name="TextBox 47"/>
          <p:cNvSpPr txBox="1"/>
          <p:nvPr/>
        </p:nvSpPr>
        <p:spPr>
          <a:xfrm>
            <a:off x="3682799" y="2469600"/>
            <a:ext cx="1612799" cy="158400"/>
          </a:xfrm>
          <a:prstGeom prst="rect">
            <a:avLst/>
          </a:prstGeom>
          <a:noFill/>
        </p:spPr>
        <p:txBody>
          <a:bodyPr wrap="square">
            <a:spAutoFit/>
          </a:bodyPr>
          <a:lstStyle/>
          <a:p>
            <a:pPr algn="ctr"/>
            <a:r>
              <a:rPr sz="850" b="0" i="0">
                <a:solidFill>
                  <a:srgbClr val="D6EAF8"/>
                </a:solidFill>
                <a:latin typeface="Calibri" panose="020F0502020204030204"/>
              </a:rPr>
              <a:t>GE Vernova — 220 m rotor
ABD/Avrupa</a:t>
            </a:r>
            <a:endParaRPr sz="850" b="0" i="0">
              <a:solidFill>
                <a:srgbClr val="D6EAF8"/>
              </a:solidFill>
              <a:latin typeface="Calibri" panose="020F0502020204030204"/>
            </a:endParaRPr>
          </a:p>
        </p:txBody>
      </p:sp>
      <p:sp>
        <p:nvSpPr>
          <p:cNvPr id="49" name="Rectangle 48"/>
          <p:cNvSpPr/>
          <p:nvPr/>
        </p:nvSpPr>
        <p:spPr>
          <a:xfrm>
            <a:off x="5417820" y="2171065"/>
            <a:ext cx="1670685" cy="657860"/>
          </a:xfrm>
          <a:prstGeom prst="rect">
            <a:avLst/>
          </a:prstGeom>
          <a:solidFill>
            <a:srgbClr val="922B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5602605" y="2171065"/>
            <a:ext cx="1429385" cy="147320"/>
          </a:xfrm>
          <a:prstGeom prst="rect">
            <a:avLst/>
          </a:prstGeom>
          <a:noFill/>
        </p:spPr>
        <p:txBody>
          <a:bodyPr wrap="square">
            <a:noAutofit/>
          </a:bodyPr>
          <a:lstStyle/>
          <a:p>
            <a:pPr algn="ctr"/>
            <a:r>
              <a:rPr sz="950" b="1" i="0">
                <a:solidFill>
                  <a:srgbClr val="FFFFFF"/>
                </a:solidFill>
                <a:latin typeface="Calibri" panose="020F0502020204030204"/>
              </a:rPr>
              <a:t>SG 14-236 DD</a:t>
            </a:r>
            <a:endParaRPr sz="950" b="1" i="0">
              <a:solidFill>
                <a:srgbClr val="FFFFFF"/>
              </a:solidFill>
              <a:latin typeface="Calibri" panose="020F0502020204030204"/>
            </a:endParaRPr>
          </a:p>
        </p:txBody>
      </p:sp>
      <p:sp>
        <p:nvSpPr>
          <p:cNvPr id="51" name="TextBox 50"/>
          <p:cNvSpPr txBox="1"/>
          <p:nvPr/>
        </p:nvSpPr>
        <p:spPr>
          <a:xfrm>
            <a:off x="5446800" y="2296800"/>
            <a:ext cx="1612799" cy="172800"/>
          </a:xfrm>
          <a:prstGeom prst="rect">
            <a:avLst/>
          </a:prstGeom>
          <a:noFill/>
        </p:spPr>
        <p:txBody>
          <a:bodyPr wrap="square">
            <a:spAutoFit/>
          </a:bodyPr>
          <a:lstStyle/>
          <a:p>
            <a:pPr algn="ctr"/>
            <a:r>
              <a:rPr sz="1600" b="1" i="0">
                <a:solidFill>
                  <a:srgbClr val="FFE082"/>
                </a:solidFill>
                <a:latin typeface="Calibri" panose="020F0502020204030204"/>
              </a:rPr>
              <a:t>14 MW</a:t>
            </a:r>
            <a:endParaRPr sz="1600" b="1" i="0">
              <a:solidFill>
                <a:srgbClr val="FFE082"/>
              </a:solidFill>
              <a:latin typeface="Calibri" panose="020F0502020204030204"/>
            </a:endParaRPr>
          </a:p>
        </p:txBody>
      </p:sp>
      <p:sp>
        <p:nvSpPr>
          <p:cNvPr id="52" name="TextBox 51"/>
          <p:cNvSpPr txBox="1"/>
          <p:nvPr/>
        </p:nvSpPr>
        <p:spPr>
          <a:xfrm>
            <a:off x="5446800" y="2469600"/>
            <a:ext cx="1612799" cy="158400"/>
          </a:xfrm>
          <a:prstGeom prst="rect">
            <a:avLst/>
          </a:prstGeom>
          <a:noFill/>
        </p:spPr>
        <p:txBody>
          <a:bodyPr wrap="square">
            <a:spAutoFit/>
          </a:bodyPr>
          <a:lstStyle/>
          <a:p>
            <a:pPr algn="ctr"/>
            <a:r>
              <a:rPr sz="850" b="0" i="0">
                <a:solidFill>
                  <a:srgbClr val="D6EAF8"/>
                </a:solidFill>
                <a:latin typeface="Calibri" panose="020F0502020204030204"/>
              </a:rPr>
              <a:t>Siemens Gamesa — 236 m
Avrupa, DD</a:t>
            </a:r>
            <a:endParaRPr sz="850" b="0" i="0">
              <a:solidFill>
                <a:srgbClr val="D6EAF8"/>
              </a:solidFill>
              <a:latin typeface="Calibri" panose="020F0502020204030204"/>
            </a:endParaRPr>
          </a:p>
        </p:txBody>
      </p:sp>
      <p:sp>
        <p:nvSpPr>
          <p:cNvPr id="53" name="Rectangle 52"/>
          <p:cNvSpPr/>
          <p:nvPr/>
        </p:nvSpPr>
        <p:spPr>
          <a:xfrm>
            <a:off x="7181850" y="2171700"/>
            <a:ext cx="1670685" cy="654050"/>
          </a:xfrm>
          <a:prstGeom prst="rect">
            <a:avLst/>
          </a:prstGeom>
          <a:solidFill>
            <a:srgbClr val="1E84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7211060" y="2160270"/>
            <a:ext cx="1478280" cy="147320"/>
          </a:xfrm>
          <a:prstGeom prst="rect">
            <a:avLst/>
          </a:prstGeom>
          <a:noFill/>
        </p:spPr>
        <p:txBody>
          <a:bodyPr wrap="square">
            <a:noAutofit/>
          </a:bodyPr>
          <a:lstStyle/>
          <a:p>
            <a:pPr algn="ctr"/>
            <a:r>
              <a:rPr sz="950" b="1" i="0">
                <a:solidFill>
                  <a:srgbClr val="FFFFFF"/>
                </a:solidFill>
                <a:latin typeface="Calibri" panose="020F0502020204030204"/>
              </a:rPr>
              <a:t>V136-3.45 MW</a:t>
            </a:r>
            <a:endParaRPr sz="950" b="1" i="0">
              <a:solidFill>
                <a:srgbClr val="FFFFFF"/>
              </a:solidFill>
              <a:latin typeface="Calibri" panose="020F0502020204030204"/>
            </a:endParaRPr>
          </a:p>
        </p:txBody>
      </p:sp>
      <p:sp>
        <p:nvSpPr>
          <p:cNvPr id="55" name="TextBox 54"/>
          <p:cNvSpPr txBox="1"/>
          <p:nvPr/>
        </p:nvSpPr>
        <p:spPr>
          <a:xfrm>
            <a:off x="7210799" y="2296800"/>
            <a:ext cx="1612799" cy="172800"/>
          </a:xfrm>
          <a:prstGeom prst="rect">
            <a:avLst/>
          </a:prstGeom>
          <a:noFill/>
        </p:spPr>
        <p:txBody>
          <a:bodyPr wrap="square">
            <a:spAutoFit/>
          </a:bodyPr>
          <a:lstStyle/>
          <a:p>
            <a:pPr algn="ctr"/>
            <a:r>
              <a:rPr sz="1600" b="1" i="0">
                <a:solidFill>
                  <a:srgbClr val="FFE082"/>
                </a:solidFill>
                <a:latin typeface="Calibri" panose="020F0502020204030204"/>
              </a:rPr>
              <a:t>3,45 MW</a:t>
            </a:r>
            <a:endParaRPr sz="1600" b="1" i="0">
              <a:solidFill>
                <a:srgbClr val="FFE082"/>
              </a:solidFill>
              <a:latin typeface="Calibri" panose="020F0502020204030204"/>
            </a:endParaRPr>
          </a:p>
        </p:txBody>
      </p:sp>
      <p:sp>
        <p:nvSpPr>
          <p:cNvPr id="56" name="TextBox 55"/>
          <p:cNvSpPr txBox="1"/>
          <p:nvPr/>
        </p:nvSpPr>
        <p:spPr>
          <a:xfrm>
            <a:off x="7210799" y="2469600"/>
            <a:ext cx="1612799" cy="158400"/>
          </a:xfrm>
          <a:prstGeom prst="rect">
            <a:avLst/>
          </a:prstGeom>
          <a:noFill/>
        </p:spPr>
        <p:txBody>
          <a:bodyPr wrap="square">
            <a:spAutoFit/>
          </a:bodyPr>
          <a:lstStyle/>
          <a:p>
            <a:pPr algn="ctr"/>
            <a:r>
              <a:rPr sz="850" b="0" i="0">
                <a:solidFill>
                  <a:srgbClr val="D6EAF8"/>
                </a:solidFill>
                <a:latin typeface="Calibri" panose="020F0502020204030204"/>
              </a:rPr>
              <a:t>Vestas — 136 m rotor
Karaburun ← BİZİM</a:t>
            </a:r>
            <a:endParaRPr sz="850" b="0" i="0">
              <a:solidFill>
                <a:srgbClr val="D6EAF8"/>
              </a:solidFill>
              <a:latin typeface="Calibri" panose="020F0502020204030204"/>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8F9FA"/>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486000"/>
          </a:xfrm>
          <a:prstGeom prst="rect">
            <a:avLst/>
          </a:prstGeom>
          <a:solidFill>
            <a:srgbClr val="1A52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86000"/>
            <a:ext cx="9144000" cy="32400"/>
          </a:xfrm>
          <a:prstGeom prst="rect">
            <a:avLst/>
          </a:prstGeom>
          <a:solidFill>
            <a:srgbClr val="C890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4860000"/>
            <a:ext cx="9144000" cy="2844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80000" y="4860000"/>
            <a:ext cx="8784000" cy="284400"/>
          </a:xfrm>
          <a:prstGeom prst="rect">
            <a:avLst/>
          </a:prstGeom>
          <a:noFill/>
        </p:spPr>
        <p:txBody>
          <a:bodyPr wrap="square">
            <a:spAutoFit/>
          </a:bodyPr>
          <a:lstStyle/>
          <a:p>
            <a:pPr algn="ctr"/>
            <a:r>
              <a:rPr sz="850" b="0" i="0">
                <a:solidFill>
                  <a:srgbClr val="FFFFFF"/>
                </a:solidFill>
                <a:latin typeface="Calibri" panose="020F0502020204030204"/>
              </a:rPr>
              <a:t>SAÜ EEM  |  İzmir Yenilenebilir Enerji Analizi</a:t>
            </a:r>
            <a:endParaRPr sz="850" b="0" i="0">
              <a:solidFill>
                <a:srgbClr val="FFFFFF"/>
              </a:solidFill>
              <a:latin typeface="Calibri" panose="020F0502020204030204"/>
            </a:endParaRPr>
          </a:p>
        </p:txBody>
      </p:sp>
      <p:sp>
        <p:nvSpPr>
          <p:cNvPr id="6" name="TextBox 5"/>
          <p:cNvSpPr txBox="1"/>
          <p:nvPr/>
        </p:nvSpPr>
        <p:spPr>
          <a:xfrm>
            <a:off x="216000" y="18000"/>
            <a:ext cx="8640000" cy="450000"/>
          </a:xfrm>
          <a:prstGeom prst="rect">
            <a:avLst/>
          </a:prstGeom>
          <a:noFill/>
        </p:spPr>
        <p:txBody>
          <a:bodyPr wrap="square">
            <a:spAutoFit/>
          </a:bodyPr>
          <a:lstStyle/>
          <a:p>
            <a:pPr algn="l"/>
            <a:r>
              <a:rPr sz="1700" b="1" i="0">
                <a:solidFill>
                  <a:srgbClr val="FFFFFF"/>
                </a:solidFill>
                <a:latin typeface="Calibri" panose="020F0502020204030204"/>
              </a:rPr>
              <a:t>Rüzgar Enerjisi (RES) — Türbin Konfigürasyonu ve Çiftlik Tasarımı</a:t>
            </a:r>
            <a:endParaRPr sz="1700" b="1" i="0">
              <a:solidFill>
                <a:srgbClr val="FFFFFF"/>
              </a:solidFill>
              <a:latin typeface="Calibri" panose="020F0502020204030204"/>
            </a:endParaRPr>
          </a:p>
        </p:txBody>
      </p:sp>
      <p:sp>
        <p:nvSpPr>
          <p:cNvPr id="7" name="Rectangle 6"/>
          <p:cNvSpPr/>
          <p:nvPr/>
        </p:nvSpPr>
        <p:spPr>
          <a:xfrm>
            <a:off x="125730" y="558165"/>
            <a:ext cx="4248150" cy="1026160"/>
          </a:xfrm>
          <a:prstGeom prst="rect">
            <a:avLst/>
          </a:prstGeom>
          <a:solidFill>
            <a:srgbClr val="D6EAF8"/>
          </a:solidFill>
          <a:ln w="12700">
            <a:solidFill>
              <a:srgbClr val="1A527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25730" y="558165"/>
            <a:ext cx="4248150" cy="266700"/>
          </a:xfrm>
          <a:prstGeom prst="rect">
            <a:avLst/>
          </a:prstGeom>
          <a:solidFill>
            <a:srgbClr val="1A52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61999" y="590600"/>
            <a:ext cx="4176000" cy="165600"/>
          </a:xfrm>
          <a:prstGeom prst="rect">
            <a:avLst/>
          </a:prstGeom>
          <a:noFill/>
        </p:spPr>
        <p:txBody>
          <a:bodyPr wrap="square">
            <a:spAutoFit/>
          </a:bodyPr>
          <a:lstStyle/>
          <a:p>
            <a:pPr algn="ctr"/>
            <a:r>
              <a:rPr sz="1100" b="1" i="0">
                <a:solidFill>
                  <a:srgbClr val="FFFFFF"/>
                </a:solidFill>
                <a:latin typeface="Calibri" panose="020F0502020204030204"/>
              </a:rPr>
              <a:t>YERT (Yatay Eksen) — Ticari Standart</a:t>
            </a:r>
            <a:endParaRPr sz="1100" b="1" i="0">
              <a:solidFill>
                <a:srgbClr val="FFFFFF"/>
              </a:solidFill>
              <a:latin typeface="Calibri" panose="020F0502020204030204"/>
            </a:endParaRPr>
          </a:p>
        </p:txBody>
      </p:sp>
      <p:sp>
        <p:nvSpPr>
          <p:cNvPr id="10" name="TextBox 9"/>
          <p:cNvSpPr txBox="1"/>
          <p:nvPr/>
        </p:nvSpPr>
        <p:spPr>
          <a:xfrm>
            <a:off x="179705" y="756285"/>
            <a:ext cx="4140200" cy="880745"/>
          </a:xfrm>
          <a:prstGeom prst="rect">
            <a:avLst/>
          </a:prstGeom>
          <a:noFill/>
        </p:spPr>
        <p:txBody>
          <a:bodyPr wrap="square">
            <a:noAutofit/>
          </a:bodyPr>
          <a:lstStyle/>
          <a:p>
            <a:pPr algn="l"/>
            <a:r>
              <a:rPr sz="950" b="0" i="0">
                <a:solidFill>
                  <a:srgbClr val="212121"/>
                </a:solidFill>
                <a:latin typeface="Calibri" panose="020F0502020204030204"/>
              </a:rPr>
              <a:t>Vestas V136-3,45 MW — Karaburun için seçilen model
Rotor çapı: 136 m  |  Hub: 112 m  |  Cp = 0,45
Cut-in: 3 m/s  →  Rated: 10 m/s  →  Cut-out: 20 m/s
Kapasite Faktörü: %40 (Karaburun) — Türkiye ort. %32'nin üzeri
Pitch kontrol: &gt;10 m/s güç sabitlenir, fırtınada devre dışı</a:t>
            </a:r>
            <a:endParaRPr sz="950" b="0" i="0">
              <a:solidFill>
                <a:srgbClr val="212121"/>
              </a:solidFill>
              <a:latin typeface="Calibri" panose="020F0502020204030204"/>
            </a:endParaRPr>
          </a:p>
        </p:txBody>
      </p:sp>
      <p:sp>
        <p:nvSpPr>
          <p:cNvPr id="11" name="Rectangle 10"/>
          <p:cNvSpPr/>
          <p:nvPr/>
        </p:nvSpPr>
        <p:spPr>
          <a:xfrm>
            <a:off x="4589780" y="558165"/>
            <a:ext cx="4248150" cy="1039495"/>
          </a:xfrm>
          <a:prstGeom prst="rect">
            <a:avLst/>
          </a:prstGeom>
          <a:solidFill>
            <a:srgbClr val="F5EEF8"/>
          </a:solidFill>
          <a:ln w="12700">
            <a:solidFill>
              <a:srgbClr val="6C348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89780" y="558165"/>
            <a:ext cx="4248150" cy="278130"/>
          </a:xfrm>
          <a:prstGeom prst="rect">
            <a:avLst/>
          </a:prstGeom>
          <a:solidFill>
            <a:srgbClr val="6C34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26000" y="590600"/>
            <a:ext cx="4176000" cy="165600"/>
          </a:xfrm>
          <a:prstGeom prst="rect">
            <a:avLst/>
          </a:prstGeom>
          <a:noFill/>
        </p:spPr>
        <p:txBody>
          <a:bodyPr wrap="square">
            <a:spAutoFit/>
          </a:bodyPr>
          <a:lstStyle/>
          <a:p>
            <a:pPr algn="ctr"/>
            <a:r>
              <a:rPr sz="1100" b="1" i="0">
                <a:solidFill>
                  <a:srgbClr val="FFFFFF"/>
                </a:solidFill>
                <a:latin typeface="Calibri" panose="020F0502020204030204"/>
              </a:rPr>
              <a:t>DERT (Dikey Eksen) — Kentsel/Hibrit Kullanım</a:t>
            </a:r>
            <a:endParaRPr sz="1100" b="1" i="0">
              <a:solidFill>
                <a:srgbClr val="FFFFFF"/>
              </a:solidFill>
              <a:latin typeface="Calibri" panose="020F0502020204030204"/>
            </a:endParaRPr>
          </a:p>
        </p:txBody>
      </p:sp>
      <p:sp>
        <p:nvSpPr>
          <p:cNvPr id="14" name="TextBox 13"/>
          <p:cNvSpPr txBox="1"/>
          <p:nvPr/>
        </p:nvSpPr>
        <p:spPr>
          <a:xfrm>
            <a:off x="4643755" y="792480"/>
            <a:ext cx="4140200" cy="827405"/>
          </a:xfrm>
          <a:prstGeom prst="rect">
            <a:avLst/>
          </a:prstGeom>
          <a:noFill/>
        </p:spPr>
        <p:txBody>
          <a:bodyPr wrap="square">
            <a:noAutofit/>
          </a:bodyPr>
          <a:lstStyle/>
          <a:p>
            <a:pPr algn="l"/>
            <a:r>
              <a:rPr sz="950" b="0" i="0">
                <a:solidFill>
                  <a:srgbClr val="212121"/>
                </a:solidFill>
                <a:latin typeface="Calibri" panose="020F0502020204030204"/>
              </a:rPr>
              <a:t>Savonius, Darrieus, H-rotor tipleri
Her yönden rüzgarı yakalar — yön dönüşü gerekmez
Verim: %25–35 (YERT'in yarısı)
Gürültü: YERT'e göre daha az
İzmir için: ticari ölçek değil; kentsel çatı/hibrit</a:t>
            </a:r>
            <a:endParaRPr sz="950" b="0" i="0">
              <a:solidFill>
                <a:srgbClr val="212121"/>
              </a:solidFill>
              <a:latin typeface="Calibri" panose="020F0502020204030204"/>
            </a:endParaRPr>
          </a:p>
        </p:txBody>
      </p:sp>
      <p:sp>
        <p:nvSpPr>
          <p:cNvPr id="15" name="Rectangle 14"/>
          <p:cNvSpPr/>
          <p:nvPr/>
        </p:nvSpPr>
        <p:spPr>
          <a:xfrm>
            <a:off x="125730" y="1616710"/>
            <a:ext cx="8891905" cy="345440"/>
          </a:xfrm>
          <a:prstGeom prst="rect">
            <a:avLst/>
          </a:prstGeom>
          <a:solidFill>
            <a:srgbClr val="1A52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79705" y="1670050"/>
            <a:ext cx="8639810" cy="256540"/>
          </a:xfrm>
          <a:prstGeom prst="rect">
            <a:avLst/>
          </a:prstGeom>
          <a:noFill/>
        </p:spPr>
        <p:txBody>
          <a:bodyPr wrap="square">
            <a:noAutofit/>
          </a:bodyPr>
          <a:lstStyle/>
          <a:p>
            <a:pPr algn="l"/>
            <a:r>
              <a:rPr sz="1200" b="1" i="0">
                <a:solidFill>
                  <a:srgbClr val="FFFFFF"/>
                </a:solidFill>
                <a:latin typeface="Calibri" panose="020F0502020204030204"/>
              </a:rPr>
              <a:t>Çiftlik Yerleşim Tasarımı — Karaburun Senaryosu</a:t>
            </a:r>
            <a:endParaRPr sz="1200" b="1" i="0">
              <a:solidFill>
                <a:srgbClr val="FFFFFF"/>
              </a:solidFill>
              <a:latin typeface="Calibri" panose="020F0502020204030204"/>
            </a:endParaRPr>
          </a:p>
        </p:txBody>
      </p:sp>
      <p:sp>
        <p:nvSpPr>
          <p:cNvPr id="17" name="Rectangle 16"/>
          <p:cNvSpPr/>
          <p:nvPr/>
        </p:nvSpPr>
        <p:spPr>
          <a:xfrm>
            <a:off x="125999" y="1998000"/>
            <a:ext cx="2124000" cy="917999"/>
          </a:xfrm>
          <a:prstGeom prst="rect">
            <a:avLst/>
          </a:prstGeom>
          <a:solidFill>
            <a:srgbClr val="EBF5FB"/>
          </a:solidFill>
          <a:ln w="10160">
            <a:solidFill>
              <a:srgbClr val="1A527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80000" y="2015999"/>
            <a:ext cx="2015999" cy="162000"/>
          </a:xfrm>
          <a:prstGeom prst="rect">
            <a:avLst/>
          </a:prstGeom>
          <a:noFill/>
        </p:spPr>
        <p:txBody>
          <a:bodyPr wrap="square">
            <a:spAutoFit/>
          </a:bodyPr>
          <a:lstStyle/>
          <a:p>
            <a:pPr algn="l"/>
            <a:r>
              <a:rPr sz="1000" b="1" i="0">
                <a:solidFill>
                  <a:srgbClr val="1A5276"/>
                </a:solidFill>
                <a:latin typeface="Calibri" panose="020F0502020204030204"/>
              </a:rPr>
              <a:t>Türbin Aralığı</a:t>
            </a:r>
            <a:endParaRPr sz="1000" b="1" i="0">
              <a:solidFill>
                <a:srgbClr val="1A5276"/>
              </a:solidFill>
              <a:latin typeface="Calibri" panose="020F0502020204030204"/>
            </a:endParaRPr>
          </a:p>
        </p:txBody>
      </p:sp>
      <p:sp>
        <p:nvSpPr>
          <p:cNvPr id="19" name="TextBox 18"/>
          <p:cNvSpPr txBox="1"/>
          <p:nvPr/>
        </p:nvSpPr>
        <p:spPr>
          <a:xfrm>
            <a:off x="180000" y="2196000"/>
            <a:ext cx="2015999" cy="216000"/>
          </a:xfrm>
          <a:prstGeom prst="rect">
            <a:avLst/>
          </a:prstGeom>
          <a:noFill/>
        </p:spPr>
        <p:txBody>
          <a:bodyPr wrap="square">
            <a:spAutoFit/>
          </a:bodyPr>
          <a:lstStyle/>
          <a:p>
            <a:pPr algn="ctr"/>
            <a:r>
              <a:rPr sz="2200" b="1" i="0">
                <a:solidFill>
                  <a:srgbClr val="1B3A6B"/>
                </a:solidFill>
                <a:latin typeface="Calibri" panose="020F0502020204030204"/>
              </a:rPr>
              <a:t>5–7 × D</a:t>
            </a:r>
            <a:endParaRPr sz="2200" b="1" i="0">
              <a:solidFill>
                <a:srgbClr val="1B3A6B"/>
              </a:solidFill>
              <a:latin typeface="Calibri" panose="020F0502020204030204"/>
            </a:endParaRPr>
          </a:p>
        </p:txBody>
      </p:sp>
      <p:sp>
        <p:nvSpPr>
          <p:cNvPr id="20" name="TextBox 19"/>
          <p:cNvSpPr txBox="1"/>
          <p:nvPr/>
        </p:nvSpPr>
        <p:spPr>
          <a:xfrm>
            <a:off x="180000" y="2430000"/>
            <a:ext cx="2015999" cy="450000"/>
          </a:xfrm>
          <a:prstGeom prst="rect">
            <a:avLst/>
          </a:prstGeom>
          <a:noFill/>
        </p:spPr>
        <p:txBody>
          <a:bodyPr wrap="square">
            <a:spAutoFit/>
          </a:bodyPr>
          <a:lstStyle/>
          <a:p>
            <a:pPr algn="l"/>
            <a:r>
              <a:rPr sz="900" b="0" i="0">
                <a:solidFill>
                  <a:srgbClr val="444444"/>
                </a:solidFill>
                <a:latin typeface="Calibri" panose="020F0502020204030204"/>
              </a:rPr>
              <a:t>136 m × 6 = 816 m
Minimum uyandırma etkisi için</a:t>
            </a:r>
            <a:endParaRPr sz="900" b="0" i="0">
              <a:solidFill>
                <a:srgbClr val="444444"/>
              </a:solidFill>
              <a:latin typeface="Calibri" panose="020F0502020204030204"/>
            </a:endParaRPr>
          </a:p>
        </p:txBody>
      </p:sp>
      <p:sp>
        <p:nvSpPr>
          <p:cNvPr id="21" name="Rectangle 20"/>
          <p:cNvSpPr/>
          <p:nvPr/>
        </p:nvSpPr>
        <p:spPr>
          <a:xfrm>
            <a:off x="2358000" y="1998000"/>
            <a:ext cx="2124000" cy="917999"/>
          </a:xfrm>
          <a:prstGeom prst="rect">
            <a:avLst/>
          </a:prstGeom>
          <a:solidFill>
            <a:srgbClr val="D5F5E3"/>
          </a:solidFill>
          <a:ln w="10160">
            <a:solidFill>
              <a:srgbClr val="1A527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412000" y="2015999"/>
            <a:ext cx="2015999" cy="162000"/>
          </a:xfrm>
          <a:prstGeom prst="rect">
            <a:avLst/>
          </a:prstGeom>
          <a:noFill/>
        </p:spPr>
        <p:txBody>
          <a:bodyPr wrap="square">
            <a:spAutoFit/>
          </a:bodyPr>
          <a:lstStyle/>
          <a:p>
            <a:pPr algn="l"/>
            <a:r>
              <a:rPr sz="1000" b="1" i="0">
                <a:solidFill>
                  <a:srgbClr val="1A5276"/>
                </a:solidFill>
                <a:latin typeface="Calibri" panose="020F0502020204030204"/>
              </a:rPr>
              <a:t>Izgara Düzeni</a:t>
            </a:r>
            <a:endParaRPr sz="1000" b="1" i="0">
              <a:solidFill>
                <a:srgbClr val="1A5276"/>
              </a:solidFill>
              <a:latin typeface="Calibri" panose="020F0502020204030204"/>
            </a:endParaRPr>
          </a:p>
        </p:txBody>
      </p:sp>
      <p:sp>
        <p:nvSpPr>
          <p:cNvPr id="23" name="TextBox 22"/>
          <p:cNvSpPr txBox="1"/>
          <p:nvPr/>
        </p:nvSpPr>
        <p:spPr>
          <a:xfrm>
            <a:off x="2412000" y="2196000"/>
            <a:ext cx="2015999" cy="216000"/>
          </a:xfrm>
          <a:prstGeom prst="rect">
            <a:avLst/>
          </a:prstGeom>
          <a:noFill/>
        </p:spPr>
        <p:txBody>
          <a:bodyPr wrap="square">
            <a:spAutoFit/>
          </a:bodyPr>
          <a:lstStyle/>
          <a:p>
            <a:pPr algn="ctr"/>
            <a:r>
              <a:rPr sz="2200" b="1" i="0">
                <a:solidFill>
                  <a:srgbClr val="1B3A6B"/>
                </a:solidFill>
                <a:latin typeface="Calibri" panose="020F0502020204030204"/>
              </a:rPr>
              <a:t>Kademeli</a:t>
            </a:r>
            <a:endParaRPr sz="2200" b="1" i="0">
              <a:solidFill>
                <a:srgbClr val="1B3A6B"/>
              </a:solidFill>
              <a:latin typeface="Calibri" panose="020F0502020204030204"/>
            </a:endParaRPr>
          </a:p>
        </p:txBody>
      </p:sp>
      <p:sp>
        <p:nvSpPr>
          <p:cNvPr id="24" name="TextBox 23"/>
          <p:cNvSpPr txBox="1"/>
          <p:nvPr/>
        </p:nvSpPr>
        <p:spPr>
          <a:xfrm>
            <a:off x="2412000" y="2501755"/>
            <a:ext cx="2015999" cy="450000"/>
          </a:xfrm>
          <a:prstGeom prst="rect">
            <a:avLst/>
          </a:prstGeom>
          <a:noFill/>
        </p:spPr>
        <p:txBody>
          <a:bodyPr wrap="square">
            <a:spAutoFit/>
          </a:bodyPr>
          <a:lstStyle/>
          <a:p>
            <a:pPr algn="l"/>
            <a:r>
              <a:rPr sz="900" b="0" i="0">
                <a:solidFill>
                  <a:srgbClr val="444444"/>
                </a:solidFill>
                <a:latin typeface="Calibri" panose="020F0502020204030204"/>
              </a:rPr>
              <a:t>Hâkim rüzgar yönüne dik
Yakın sıralarda ofset yerleşim</a:t>
            </a:r>
            <a:endParaRPr sz="900" b="0" i="0">
              <a:solidFill>
                <a:srgbClr val="444444"/>
              </a:solidFill>
              <a:latin typeface="Calibri" panose="020F0502020204030204"/>
            </a:endParaRPr>
          </a:p>
        </p:txBody>
      </p:sp>
      <p:sp>
        <p:nvSpPr>
          <p:cNvPr id="25" name="Rectangle 24"/>
          <p:cNvSpPr/>
          <p:nvPr/>
        </p:nvSpPr>
        <p:spPr>
          <a:xfrm>
            <a:off x="4590000" y="1998000"/>
            <a:ext cx="2124000" cy="917999"/>
          </a:xfrm>
          <a:prstGeom prst="rect">
            <a:avLst/>
          </a:prstGeom>
          <a:solidFill>
            <a:srgbClr val="FEF9E7"/>
          </a:solidFill>
          <a:ln w="10160">
            <a:solidFill>
              <a:srgbClr val="1A527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644000" y="2015999"/>
            <a:ext cx="2015999" cy="162000"/>
          </a:xfrm>
          <a:prstGeom prst="rect">
            <a:avLst/>
          </a:prstGeom>
          <a:noFill/>
        </p:spPr>
        <p:txBody>
          <a:bodyPr wrap="square">
            <a:spAutoFit/>
          </a:bodyPr>
          <a:lstStyle/>
          <a:p>
            <a:pPr algn="l"/>
            <a:r>
              <a:rPr sz="1000" b="1" i="0">
                <a:solidFill>
                  <a:srgbClr val="1A5276"/>
                </a:solidFill>
                <a:latin typeface="Calibri" panose="020F0502020204030204"/>
              </a:rPr>
              <a:t>Hub Yüksekliği</a:t>
            </a:r>
            <a:endParaRPr sz="1000" b="1" i="0">
              <a:solidFill>
                <a:srgbClr val="1A5276"/>
              </a:solidFill>
              <a:latin typeface="Calibri" panose="020F0502020204030204"/>
            </a:endParaRPr>
          </a:p>
        </p:txBody>
      </p:sp>
      <p:sp>
        <p:nvSpPr>
          <p:cNvPr id="27" name="TextBox 26"/>
          <p:cNvSpPr txBox="1"/>
          <p:nvPr/>
        </p:nvSpPr>
        <p:spPr>
          <a:xfrm>
            <a:off x="4644000" y="2196000"/>
            <a:ext cx="2015999" cy="216000"/>
          </a:xfrm>
          <a:prstGeom prst="rect">
            <a:avLst/>
          </a:prstGeom>
          <a:noFill/>
        </p:spPr>
        <p:txBody>
          <a:bodyPr wrap="square">
            <a:spAutoFit/>
          </a:bodyPr>
          <a:lstStyle/>
          <a:p>
            <a:pPr algn="ctr"/>
            <a:r>
              <a:rPr sz="2200" b="1" i="0">
                <a:solidFill>
                  <a:srgbClr val="1B3A6B"/>
                </a:solidFill>
                <a:latin typeface="Calibri" panose="020F0502020204030204"/>
              </a:rPr>
              <a:t>112 m</a:t>
            </a:r>
            <a:endParaRPr sz="2200" b="1" i="0">
              <a:solidFill>
                <a:srgbClr val="1B3A6B"/>
              </a:solidFill>
              <a:latin typeface="Calibri" panose="020F0502020204030204"/>
            </a:endParaRPr>
          </a:p>
        </p:txBody>
      </p:sp>
      <p:sp>
        <p:nvSpPr>
          <p:cNvPr id="28" name="TextBox 27"/>
          <p:cNvSpPr txBox="1"/>
          <p:nvPr/>
        </p:nvSpPr>
        <p:spPr>
          <a:xfrm>
            <a:off x="4644000" y="2430000"/>
            <a:ext cx="2015999" cy="450000"/>
          </a:xfrm>
          <a:prstGeom prst="rect">
            <a:avLst/>
          </a:prstGeom>
          <a:noFill/>
        </p:spPr>
        <p:txBody>
          <a:bodyPr wrap="square">
            <a:spAutoFit/>
          </a:bodyPr>
          <a:lstStyle/>
          <a:p>
            <a:pPr algn="l"/>
            <a:r>
              <a:rPr sz="900" b="0" i="0">
                <a:solidFill>
                  <a:srgbClr val="444444"/>
                </a:solidFill>
                <a:latin typeface="Calibri" panose="020F0502020204030204"/>
              </a:rPr>
              <a:t>Zemin sürtünme katmanı üstü
Türbülans etkisini azaltır</a:t>
            </a:r>
            <a:endParaRPr sz="900" b="0" i="0">
              <a:solidFill>
                <a:srgbClr val="444444"/>
              </a:solidFill>
              <a:latin typeface="Calibri" panose="020F0502020204030204"/>
            </a:endParaRPr>
          </a:p>
        </p:txBody>
      </p:sp>
      <p:sp>
        <p:nvSpPr>
          <p:cNvPr id="29" name="Rectangle 28"/>
          <p:cNvSpPr/>
          <p:nvPr/>
        </p:nvSpPr>
        <p:spPr>
          <a:xfrm>
            <a:off x="6822000" y="1998000"/>
            <a:ext cx="2124000" cy="917999"/>
          </a:xfrm>
          <a:prstGeom prst="rect">
            <a:avLst/>
          </a:prstGeom>
          <a:solidFill>
            <a:srgbClr val="F5EEF8"/>
          </a:solidFill>
          <a:ln w="10160">
            <a:solidFill>
              <a:srgbClr val="1A527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876000" y="2015999"/>
            <a:ext cx="2015999" cy="162000"/>
          </a:xfrm>
          <a:prstGeom prst="rect">
            <a:avLst/>
          </a:prstGeom>
          <a:noFill/>
        </p:spPr>
        <p:txBody>
          <a:bodyPr wrap="square">
            <a:spAutoFit/>
          </a:bodyPr>
          <a:lstStyle/>
          <a:p>
            <a:pPr algn="l"/>
            <a:r>
              <a:rPr sz="1000" b="1" i="0">
                <a:solidFill>
                  <a:srgbClr val="1A5276"/>
                </a:solidFill>
                <a:latin typeface="Calibri" panose="020F0502020204030204"/>
              </a:rPr>
              <a:t>Kapasite Yoğunluğu</a:t>
            </a:r>
            <a:endParaRPr sz="1000" b="1" i="0">
              <a:solidFill>
                <a:srgbClr val="1A5276"/>
              </a:solidFill>
              <a:latin typeface="Calibri" panose="020F0502020204030204"/>
            </a:endParaRPr>
          </a:p>
        </p:txBody>
      </p:sp>
      <p:sp>
        <p:nvSpPr>
          <p:cNvPr id="31" name="TextBox 30"/>
          <p:cNvSpPr txBox="1"/>
          <p:nvPr/>
        </p:nvSpPr>
        <p:spPr>
          <a:xfrm>
            <a:off x="6876000" y="2196000"/>
            <a:ext cx="2015999" cy="216000"/>
          </a:xfrm>
          <a:prstGeom prst="rect">
            <a:avLst/>
          </a:prstGeom>
          <a:noFill/>
        </p:spPr>
        <p:txBody>
          <a:bodyPr wrap="square">
            <a:spAutoFit/>
          </a:bodyPr>
          <a:lstStyle/>
          <a:p>
            <a:pPr algn="ctr"/>
            <a:r>
              <a:rPr sz="2200" b="1" i="0">
                <a:solidFill>
                  <a:srgbClr val="1B3A6B"/>
                </a:solidFill>
                <a:latin typeface="Calibri" panose="020F0502020204030204"/>
              </a:rPr>
              <a:t>3–5 MW/km²</a:t>
            </a:r>
            <a:endParaRPr sz="2200" b="1" i="0">
              <a:solidFill>
                <a:srgbClr val="1B3A6B"/>
              </a:solidFill>
              <a:latin typeface="Calibri" panose="020F0502020204030204"/>
            </a:endParaRPr>
          </a:p>
        </p:txBody>
      </p:sp>
      <p:sp>
        <p:nvSpPr>
          <p:cNvPr id="32" name="TextBox 31"/>
          <p:cNvSpPr txBox="1"/>
          <p:nvPr/>
        </p:nvSpPr>
        <p:spPr>
          <a:xfrm>
            <a:off x="6876000" y="2502390"/>
            <a:ext cx="2015999" cy="450000"/>
          </a:xfrm>
          <a:prstGeom prst="rect">
            <a:avLst/>
          </a:prstGeom>
          <a:noFill/>
        </p:spPr>
        <p:txBody>
          <a:bodyPr wrap="square">
            <a:spAutoFit/>
          </a:bodyPr>
          <a:lstStyle/>
          <a:p>
            <a:pPr algn="l"/>
            <a:r>
              <a:rPr sz="900" b="0" i="0">
                <a:solidFill>
                  <a:srgbClr val="444444"/>
                </a:solidFill>
                <a:latin typeface="Calibri" panose="020F0502020204030204"/>
              </a:rPr>
              <a:t>Onshore ort.: ~4 MW/km²
34,5 MW → ~8–11 km² alan</a:t>
            </a:r>
            <a:endParaRPr sz="900" b="0" i="0">
              <a:solidFill>
                <a:srgbClr val="444444"/>
              </a:solidFill>
              <a:latin typeface="Calibri" panose="020F0502020204030204"/>
            </a:endParaRPr>
          </a:p>
        </p:txBody>
      </p:sp>
      <p:sp>
        <p:nvSpPr>
          <p:cNvPr id="33" name="Rectangle 32"/>
          <p:cNvSpPr/>
          <p:nvPr/>
        </p:nvSpPr>
        <p:spPr>
          <a:xfrm>
            <a:off x="126365" y="3276600"/>
            <a:ext cx="8891905" cy="422275"/>
          </a:xfrm>
          <a:prstGeom prst="rect">
            <a:avLst/>
          </a:prstGeom>
          <a:solidFill>
            <a:srgbClr val="D6EAF8"/>
          </a:solidFill>
          <a:ln w="19050">
            <a:solidFill>
              <a:srgbClr val="1A527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16000" y="3293850"/>
            <a:ext cx="8676000" cy="234000"/>
          </a:xfrm>
          <a:prstGeom prst="rect">
            <a:avLst/>
          </a:prstGeom>
          <a:noFill/>
        </p:spPr>
        <p:txBody>
          <a:bodyPr wrap="square">
            <a:spAutoFit/>
          </a:bodyPr>
          <a:lstStyle/>
          <a:p>
            <a:pPr algn="l"/>
            <a:r>
              <a:rPr sz="1000" b="0" i="0">
                <a:solidFill>
                  <a:srgbClr val="1B3A6B"/>
                </a:solidFill>
                <a:latin typeface="Calibri" panose="020F0502020204030204"/>
              </a:rPr>
              <a:t>✅  İzmir İçin Öneri: Karaburun Yarımadası'nda YERT (yatay eksenli) 3+ MW sınıfı türbinler, 6D aralıklı ızgara yerleşimle 10 türbinlik çiftlik optimumdur. Ege Denizi'nden gelen meltem yönüne dik sıralar yerleştirilmeli; baskın KB yönü için NW–SE açılımı tercih edilmelidir.</a:t>
            </a:r>
            <a:endParaRPr sz="1000" b="0" i="0">
              <a:solidFill>
                <a:srgbClr val="1B3A6B"/>
              </a:solidFill>
              <a:latin typeface="Calibri" panose="020F0502020204030204"/>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8F9FA"/>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486000"/>
          </a:xfrm>
          <a:prstGeom prst="rect">
            <a:avLst/>
          </a:prstGeom>
          <a:solidFill>
            <a:srgbClr val="1A52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86000"/>
            <a:ext cx="9144000" cy="32400"/>
          </a:xfrm>
          <a:prstGeom prst="rect">
            <a:avLst/>
          </a:prstGeom>
          <a:solidFill>
            <a:srgbClr val="C890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4860000"/>
            <a:ext cx="9144000" cy="2844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80000" y="4860000"/>
            <a:ext cx="8784000" cy="284400"/>
          </a:xfrm>
          <a:prstGeom prst="rect">
            <a:avLst/>
          </a:prstGeom>
          <a:noFill/>
        </p:spPr>
        <p:txBody>
          <a:bodyPr wrap="square">
            <a:spAutoFit/>
          </a:bodyPr>
          <a:lstStyle/>
          <a:p>
            <a:pPr algn="ctr"/>
            <a:r>
              <a:rPr sz="850" b="0" i="0">
                <a:solidFill>
                  <a:srgbClr val="FFFFFF"/>
                </a:solidFill>
                <a:latin typeface="Calibri" panose="020F0502020204030204"/>
              </a:rPr>
              <a:t>SAÜ EEM  |  İzmir Yenilenebilir Enerji Analizi</a:t>
            </a:r>
            <a:endParaRPr sz="850" b="0" i="0">
              <a:solidFill>
                <a:srgbClr val="FFFFFF"/>
              </a:solidFill>
              <a:latin typeface="Calibri" panose="020F0502020204030204"/>
            </a:endParaRPr>
          </a:p>
        </p:txBody>
      </p:sp>
      <p:sp>
        <p:nvSpPr>
          <p:cNvPr id="6" name="TextBox 5"/>
          <p:cNvSpPr txBox="1"/>
          <p:nvPr/>
        </p:nvSpPr>
        <p:spPr>
          <a:xfrm>
            <a:off x="216000" y="18000"/>
            <a:ext cx="8640000" cy="450000"/>
          </a:xfrm>
          <a:prstGeom prst="rect">
            <a:avLst/>
          </a:prstGeom>
          <a:noFill/>
        </p:spPr>
        <p:txBody>
          <a:bodyPr wrap="square">
            <a:spAutoFit/>
          </a:bodyPr>
          <a:lstStyle/>
          <a:p>
            <a:pPr algn="l"/>
            <a:r>
              <a:rPr sz="1700" b="1" i="0">
                <a:solidFill>
                  <a:srgbClr val="FFFFFF"/>
                </a:solidFill>
                <a:latin typeface="Calibri" panose="020F0502020204030204"/>
              </a:rPr>
              <a:t>Rüzgar Enerjisi — İzmir Rüzgar Hızı Haritası (REPA, 100 m Hub)</a:t>
            </a:r>
            <a:endParaRPr sz="1700" b="1" i="0">
              <a:solidFill>
                <a:srgbClr val="FFFFFF"/>
              </a:solidFill>
              <a:latin typeface="Calibri" panose="020F0502020204030204"/>
            </a:endParaRPr>
          </a:p>
        </p:txBody>
      </p:sp>
      <p:pic>
        <p:nvPicPr>
          <p:cNvPr id="7" name="Picture 6" descr="image.png"/>
          <p:cNvPicPr>
            <a:picLocks noChangeAspect="1"/>
          </p:cNvPicPr>
          <p:nvPr/>
        </p:nvPicPr>
        <p:blipFill>
          <a:blip r:embed="rId1"/>
          <a:stretch>
            <a:fillRect/>
          </a:stretch>
        </p:blipFill>
        <p:spPr>
          <a:xfrm>
            <a:off x="125999" y="558000"/>
            <a:ext cx="8892000" cy="2358000"/>
          </a:xfrm>
          <a:prstGeom prst="rect">
            <a:avLst/>
          </a:prstGeom>
        </p:spPr>
      </p:pic>
      <p:sp>
        <p:nvSpPr>
          <p:cNvPr id="8" name="Rectangle 7"/>
          <p:cNvSpPr/>
          <p:nvPr/>
        </p:nvSpPr>
        <p:spPr>
          <a:xfrm>
            <a:off x="125730" y="2944495"/>
            <a:ext cx="8891905" cy="363855"/>
          </a:xfrm>
          <a:prstGeom prst="rect">
            <a:avLst/>
          </a:prstGeom>
          <a:solidFill>
            <a:srgbClr val="1A52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80635" y="3048519"/>
            <a:ext cx="8640000" cy="122400"/>
          </a:xfrm>
          <a:prstGeom prst="rect">
            <a:avLst/>
          </a:prstGeom>
          <a:noFill/>
        </p:spPr>
        <p:txBody>
          <a:bodyPr wrap="square">
            <a:spAutoFit/>
          </a:bodyPr>
          <a:lstStyle/>
          <a:p>
            <a:pPr algn="l"/>
            <a:r>
              <a:rPr sz="1100" b="1" i="0">
                <a:solidFill>
                  <a:srgbClr val="FFFFFF"/>
                </a:solidFill>
                <a:latin typeface="Calibri" panose="020F0502020204030204"/>
              </a:rPr>
              <a:t>Harita Yorumu ve İzmir İçin Çıkarımlar</a:t>
            </a:r>
            <a:endParaRPr sz="1100" b="1" i="0">
              <a:solidFill>
                <a:srgbClr val="FFFFFF"/>
              </a:solidFill>
              <a:latin typeface="Calibri" panose="020F0502020204030204"/>
            </a:endParaRPr>
          </a:p>
        </p:txBody>
      </p:sp>
      <p:sp>
        <p:nvSpPr>
          <p:cNvPr id="10" name="Rectangle 9"/>
          <p:cNvSpPr/>
          <p:nvPr/>
        </p:nvSpPr>
        <p:spPr>
          <a:xfrm>
            <a:off x="179705" y="3303905"/>
            <a:ext cx="8838565" cy="46482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51975" y="3303859"/>
            <a:ext cx="8712000" cy="306000"/>
          </a:xfrm>
          <a:prstGeom prst="rect">
            <a:avLst/>
          </a:prstGeom>
          <a:noFill/>
        </p:spPr>
        <p:txBody>
          <a:bodyPr wrap="square">
            <a:spAutoFit/>
          </a:bodyPr>
          <a:lstStyle/>
          <a:p>
            <a:pPr algn="l"/>
            <a:r>
              <a:rPr sz="980" b="0" i="0">
                <a:solidFill>
                  <a:srgbClr val="1B3A6B"/>
                </a:solidFill>
                <a:latin typeface="Calibri" panose="020F0502020204030204"/>
              </a:rPr>
              <a:t>Karaburun: Yıllık ort. 8,5–9 m/s → Sınıf 1 rüzgar sahası → CF=%40 hesap tabanı  |  Çeşme/Alaçatı: En yüksek hız (9,5 m/s) ama SİT+turizm kısıtlı  |  Kış dönemi (Ara-Mar) poyraz: 9,2–9,4 m/s → yaz mevsimi tamamlayıcı (GES sinerji)  |  P_Betz = 3.246 kW | P_türbin (Cp=0,45) = 2.463 kW @ v=8,5 m/s</a:t>
            </a:r>
            <a:endParaRPr sz="980" b="0" i="0">
              <a:solidFill>
                <a:srgbClr val="1B3A6B"/>
              </a:solidFill>
              <a:latin typeface="Calibri" panose="020F0502020204030204"/>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8F9FA"/>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A5276"/>
          </a:solidFill>
          <a:ln w="12700">
            <a:solidFill>
              <a:srgbClr val="1A5276"/>
            </a:solidFill>
            <a:prstDash val="solid"/>
          </a:ln>
        </p:spPr>
        <p:txBody>
          <a:bodyPr/>
          <a:lstStyle/>
          <a:p>
            <a:endParaRPr lang="tr-TR"/>
          </a:p>
        </p:txBody>
      </p:sp>
      <p:sp>
        <p:nvSpPr>
          <p:cNvPr id="3" name="Shape 1"/>
          <p:cNvSpPr/>
          <p:nvPr/>
        </p:nvSpPr>
        <p:spPr>
          <a:xfrm>
            <a:off x="0" y="685800"/>
            <a:ext cx="9144000" cy="45720"/>
          </a:xfrm>
          <a:prstGeom prst="rect">
            <a:avLst/>
          </a:prstGeom>
          <a:solidFill>
            <a:srgbClr val="C8901A"/>
          </a:solidFill>
          <a:ln w="12700">
            <a:solidFill>
              <a:srgbClr val="C8901A"/>
            </a:solidFill>
            <a:prstDash val="solid"/>
          </a:ln>
        </p:spPr>
        <p:txBody>
          <a:bodyPr/>
          <a:lstStyle/>
          <a:p>
            <a:endParaRPr lang="tr-TR"/>
          </a:p>
        </p:txBody>
      </p:sp>
      <p:sp>
        <p:nvSpPr>
          <p:cNvPr id="4" name="Shape 2"/>
          <p:cNvSpPr/>
          <p:nvPr/>
        </p:nvSpPr>
        <p:spPr>
          <a:xfrm>
            <a:off x="0" y="4892040"/>
            <a:ext cx="9144000" cy="251460"/>
          </a:xfrm>
          <a:prstGeom prst="rect">
            <a:avLst/>
          </a:prstGeom>
          <a:solidFill>
            <a:srgbClr val="1B3A6B"/>
          </a:solidFill>
          <a:ln w="12700">
            <a:solidFill>
              <a:srgbClr val="1B3A6B"/>
            </a:solidFill>
            <a:prstDash val="solid"/>
          </a:ln>
        </p:spPr>
        <p:txBody>
          <a:bodyPr/>
          <a:lstStyle/>
          <a:p>
            <a:endParaRPr lang="tr-TR"/>
          </a:p>
        </p:txBody>
      </p:sp>
      <p:sp>
        <p:nvSpPr>
          <p:cNvPr id="5" name="Text 3"/>
          <p:cNvSpPr/>
          <p:nvPr/>
        </p:nvSpPr>
        <p:spPr>
          <a:xfrm>
            <a:off x="274320" y="4892040"/>
            <a:ext cx="8595360" cy="251460"/>
          </a:xfrm>
          <a:prstGeom prst="rect">
            <a:avLst/>
          </a:prstGeom>
          <a:noFill/>
        </p:spPr>
        <p:txBody>
          <a:bodyPr wrap="square" rtlCol="0" anchor="ctr"/>
          <a:lstStyle/>
          <a:p>
            <a:pPr marL="0" indent="0" algn="ctr">
              <a:buNone/>
            </a:pPr>
            <a:r>
              <a:rPr lang="en-US" sz="800" dirty="0">
                <a:solidFill>
                  <a:srgbClr val="E0E6ED"/>
                </a:solidFill>
                <a:latin typeface="Calibri" panose="020F0502020204030204" pitchFamily="34" charset="0"/>
                <a:ea typeface="Calibri" panose="020F0502020204030204" pitchFamily="34" charset="-122"/>
                <a:cs typeface="Calibri" panose="020F0502020204030204" pitchFamily="34" charset="-120"/>
              </a:rPr>
              <a:t>SAÜ EEM  |  İzmir Yenilenebilir Enerji Analizi</a:t>
            </a:r>
            <a:endParaRPr lang="en-US" sz="800" dirty="0"/>
          </a:p>
        </p:txBody>
      </p:sp>
      <p:sp>
        <p:nvSpPr>
          <p:cNvPr id="6" name="Text 4"/>
          <p:cNvSpPr/>
          <p:nvPr/>
        </p:nvSpPr>
        <p:spPr>
          <a:xfrm>
            <a:off x="274320" y="45720"/>
            <a:ext cx="8595360" cy="594360"/>
          </a:xfrm>
          <a:prstGeom prst="rect">
            <a:avLst/>
          </a:prstGeom>
          <a:noFill/>
        </p:spPr>
        <p:txBody>
          <a:bodyPr wrap="square" lIns="0" tIns="0" rIns="0" bIns="0" rtlCol="0" anchor="ctr"/>
          <a:lstStyle/>
          <a:p>
            <a:pPr marL="0" indent="0" algn="l">
              <a:buNone/>
            </a:pPr>
            <a:r>
              <a:rPr lang="en-US" sz="1800" b="1" dirty="0">
                <a:solidFill>
                  <a:srgbClr val="FFFFFF"/>
                </a:solidFill>
                <a:latin typeface="Calibri" panose="020F0502020204030204" pitchFamily="34" charset="0"/>
                <a:ea typeface="Calibri" panose="020F0502020204030204" pitchFamily="34" charset="-122"/>
                <a:cs typeface="Calibri" panose="020F0502020204030204" pitchFamily="34" charset="-120"/>
              </a:rPr>
              <a:t>Rüzgar Enerjisi (RES) — Hesaplamalarımız &amp; Temel Göstergeler</a:t>
            </a:r>
            <a:endParaRPr lang="en-US" sz="1800" dirty="0"/>
          </a:p>
        </p:txBody>
      </p:sp>
      <p:sp>
        <p:nvSpPr>
          <p:cNvPr id="7" name="Shape 5"/>
          <p:cNvSpPr/>
          <p:nvPr/>
        </p:nvSpPr>
        <p:spPr>
          <a:xfrm>
            <a:off x="320040" y="777240"/>
            <a:ext cx="1920240" cy="914400"/>
          </a:xfrm>
          <a:prstGeom prst="rect">
            <a:avLst/>
          </a:prstGeom>
          <a:solidFill>
            <a:srgbClr val="1A5276"/>
          </a:solidFill>
          <a:ln w="12700">
            <a:solidFill>
              <a:srgbClr val="1A5276"/>
            </a:solidFill>
            <a:prstDash val="solid"/>
          </a:ln>
          <a:effectLst>
            <a:outerShdw blurRad="76200" dist="38100" dir="8100000" algn="bl" rotWithShape="0">
              <a:srgbClr val="000000">
                <a:alpha val="15000"/>
              </a:srgbClr>
            </a:outerShdw>
          </a:effectLst>
        </p:spPr>
        <p:txBody>
          <a:bodyPr/>
          <a:lstStyle/>
          <a:p>
            <a:endParaRPr lang="tr-TR"/>
          </a:p>
        </p:txBody>
      </p:sp>
      <p:sp>
        <p:nvSpPr>
          <p:cNvPr id="8" name="Text 6"/>
          <p:cNvSpPr/>
          <p:nvPr/>
        </p:nvSpPr>
        <p:spPr>
          <a:xfrm>
            <a:off x="320040" y="822960"/>
            <a:ext cx="1920240" cy="530352"/>
          </a:xfrm>
          <a:prstGeom prst="rect">
            <a:avLst/>
          </a:prstGeom>
          <a:noFill/>
        </p:spPr>
        <p:txBody>
          <a:bodyPr wrap="square" rtlCol="0" anchor="ctr"/>
          <a:lstStyle/>
          <a:p>
            <a:pPr marL="0" indent="0" algn="ctr">
              <a:buNone/>
            </a:pPr>
            <a:r>
              <a:rPr lang="en-US" sz="2800" b="1" dirty="0">
                <a:solidFill>
                  <a:srgbClr val="FFFFFF"/>
                </a:solidFill>
                <a:latin typeface="Calibri" panose="020F0502020204030204" pitchFamily="34" charset="0"/>
                <a:ea typeface="Calibri" panose="020F0502020204030204" pitchFamily="34" charset="-122"/>
                <a:cs typeface="Calibri" panose="020F0502020204030204" pitchFamily="34" charset="-120"/>
              </a:rPr>
              <a:t>%40,0</a:t>
            </a:r>
            <a:endParaRPr lang="en-US" sz="2800" dirty="0"/>
          </a:p>
        </p:txBody>
      </p:sp>
      <p:sp>
        <p:nvSpPr>
          <p:cNvPr id="9" name="Text 7"/>
          <p:cNvSpPr/>
          <p:nvPr/>
        </p:nvSpPr>
        <p:spPr>
          <a:xfrm>
            <a:off x="320040" y="1325880"/>
            <a:ext cx="1920240" cy="347472"/>
          </a:xfrm>
          <a:prstGeom prst="rect">
            <a:avLst/>
          </a:prstGeom>
          <a:noFill/>
        </p:spPr>
        <p:txBody>
          <a:bodyPr wrap="square" rtlCol="0" anchor="ctr"/>
          <a:lstStyle/>
          <a:p>
            <a:pPr marL="0" indent="0" algn="ctr">
              <a:buNone/>
            </a:pPr>
            <a:r>
              <a:rPr lang="en-US" sz="1000" dirty="0">
                <a:solidFill>
                  <a:srgbClr val="D6EAF8"/>
                </a:solidFill>
                <a:latin typeface="Calibri" panose="020F0502020204030204" pitchFamily="34" charset="0"/>
                <a:ea typeface="Calibri" panose="020F0502020204030204" pitchFamily="34" charset="-122"/>
                <a:cs typeface="Calibri" panose="020F0502020204030204" pitchFamily="34" charset="-120"/>
              </a:rPr>
              <a:t>Kapasite Faktörü (CF)</a:t>
            </a:r>
            <a:endParaRPr lang="en-US" sz="1000" dirty="0"/>
          </a:p>
          <a:p>
            <a:pPr marL="0" indent="0" algn="ctr">
              <a:buNone/>
            </a:pPr>
            <a:r>
              <a:rPr lang="en-US" sz="1000" dirty="0">
                <a:solidFill>
                  <a:srgbClr val="D6EAF8"/>
                </a:solidFill>
                <a:latin typeface="Calibri" panose="020F0502020204030204" pitchFamily="34" charset="0"/>
                <a:ea typeface="Calibri" panose="020F0502020204030204" pitchFamily="34" charset="-122"/>
                <a:cs typeface="Calibri" panose="020F0502020204030204" pitchFamily="34" charset="-120"/>
              </a:rPr>
              <a:t>Karaburun</a:t>
            </a:r>
            <a:endParaRPr lang="en-US" sz="1000" dirty="0"/>
          </a:p>
        </p:txBody>
      </p:sp>
      <p:sp>
        <p:nvSpPr>
          <p:cNvPr id="10" name="Shape 8"/>
          <p:cNvSpPr/>
          <p:nvPr/>
        </p:nvSpPr>
        <p:spPr>
          <a:xfrm>
            <a:off x="2377440" y="777240"/>
            <a:ext cx="1920240" cy="914400"/>
          </a:xfrm>
          <a:prstGeom prst="rect">
            <a:avLst/>
          </a:prstGeom>
          <a:solidFill>
            <a:srgbClr val="2E86C1"/>
          </a:solidFill>
          <a:ln w="12700">
            <a:solidFill>
              <a:srgbClr val="2E86C1"/>
            </a:solidFill>
            <a:prstDash val="solid"/>
          </a:ln>
          <a:effectLst>
            <a:outerShdw blurRad="76200" dist="38100" dir="8100000" algn="bl" rotWithShape="0">
              <a:srgbClr val="000000">
                <a:alpha val="15000"/>
              </a:srgbClr>
            </a:outerShdw>
          </a:effectLst>
        </p:spPr>
        <p:txBody>
          <a:bodyPr/>
          <a:lstStyle/>
          <a:p>
            <a:endParaRPr lang="tr-TR"/>
          </a:p>
        </p:txBody>
      </p:sp>
      <p:sp>
        <p:nvSpPr>
          <p:cNvPr id="11" name="Text 9"/>
          <p:cNvSpPr/>
          <p:nvPr/>
        </p:nvSpPr>
        <p:spPr>
          <a:xfrm>
            <a:off x="2377440" y="822960"/>
            <a:ext cx="1920240" cy="530352"/>
          </a:xfrm>
          <a:prstGeom prst="rect">
            <a:avLst/>
          </a:prstGeom>
          <a:noFill/>
        </p:spPr>
        <p:txBody>
          <a:bodyPr wrap="square" rtlCol="0" anchor="ctr"/>
          <a:lstStyle/>
          <a:p>
            <a:pPr marL="0" indent="0" algn="ctr">
              <a:buNone/>
            </a:pPr>
            <a:r>
              <a:rPr lang="en-US" sz="2800" b="1" dirty="0">
                <a:solidFill>
                  <a:srgbClr val="FFFFFF"/>
                </a:solidFill>
                <a:latin typeface="Calibri" panose="020F0502020204030204" pitchFamily="34" charset="0"/>
                <a:ea typeface="Calibri" panose="020F0502020204030204" pitchFamily="34" charset="-122"/>
                <a:cs typeface="Calibri" panose="020F0502020204030204" pitchFamily="34" charset="-120"/>
              </a:rPr>
              <a:t>~0,5</a:t>
            </a:r>
            <a:endParaRPr lang="en-US" sz="2800" dirty="0"/>
          </a:p>
        </p:txBody>
      </p:sp>
      <p:sp>
        <p:nvSpPr>
          <p:cNvPr id="12" name="Text 10"/>
          <p:cNvSpPr/>
          <p:nvPr/>
        </p:nvSpPr>
        <p:spPr>
          <a:xfrm>
            <a:off x="2377440" y="1325880"/>
            <a:ext cx="1920240" cy="347472"/>
          </a:xfrm>
          <a:prstGeom prst="rect">
            <a:avLst/>
          </a:prstGeom>
          <a:noFill/>
        </p:spPr>
        <p:txBody>
          <a:bodyPr wrap="square" rtlCol="0" anchor="ctr"/>
          <a:lstStyle/>
          <a:p>
            <a:pPr marL="0" indent="0" algn="ctr">
              <a:buNone/>
            </a:pPr>
            <a:r>
              <a:rPr lang="en-US" sz="1000" dirty="0">
                <a:solidFill>
                  <a:srgbClr val="D6EAF8"/>
                </a:solidFill>
                <a:latin typeface="Calibri" panose="020F0502020204030204" pitchFamily="34" charset="0"/>
                <a:ea typeface="Calibri" panose="020F0502020204030204" pitchFamily="34" charset="-122"/>
                <a:cs typeface="Calibri" panose="020F0502020204030204" pitchFamily="34" charset="-120"/>
              </a:rPr>
              <a:t>EPBT (Yıl)</a:t>
            </a:r>
            <a:endParaRPr lang="en-US" sz="1000" dirty="0"/>
          </a:p>
          <a:p>
            <a:pPr marL="0" indent="0" algn="ctr">
              <a:buNone/>
            </a:pPr>
            <a:r>
              <a:rPr lang="en-US" sz="1000" dirty="0">
                <a:solidFill>
                  <a:srgbClr val="D6EAF8"/>
                </a:solidFill>
                <a:latin typeface="Calibri" panose="020F0502020204030204" pitchFamily="34" charset="0"/>
                <a:ea typeface="Calibri" panose="020F0502020204030204" pitchFamily="34" charset="-122"/>
                <a:cs typeface="Calibri" panose="020F0502020204030204" pitchFamily="34" charset="-120"/>
              </a:rPr>
              <a:t>4–7 Ay</a:t>
            </a:r>
            <a:endParaRPr lang="en-US" sz="1000" dirty="0"/>
          </a:p>
        </p:txBody>
      </p:sp>
      <p:sp>
        <p:nvSpPr>
          <p:cNvPr id="13" name="Shape 11"/>
          <p:cNvSpPr/>
          <p:nvPr/>
        </p:nvSpPr>
        <p:spPr>
          <a:xfrm>
            <a:off x="4434840" y="777240"/>
            <a:ext cx="1920240" cy="914400"/>
          </a:xfrm>
          <a:prstGeom prst="rect">
            <a:avLst/>
          </a:prstGeom>
          <a:solidFill>
            <a:srgbClr val="1D6A72"/>
          </a:solidFill>
          <a:ln w="12700">
            <a:solidFill>
              <a:srgbClr val="1D6A72"/>
            </a:solidFill>
            <a:prstDash val="solid"/>
          </a:ln>
          <a:effectLst>
            <a:outerShdw blurRad="76200" dist="38100" dir="8100000" algn="bl" rotWithShape="0">
              <a:srgbClr val="000000">
                <a:alpha val="15000"/>
              </a:srgbClr>
            </a:outerShdw>
          </a:effectLst>
        </p:spPr>
        <p:txBody>
          <a:bodyPr/>
          <a:lstStyle/>
          <a:p>
            <a:endParaRPr lang="tr-TR"/>
          </a:p>
        </p:txBody>
      </p:sp>
      <p:sp>
        <p:nvSpPr>
          <p:cNvPr id="14" name="Text 12"/>
          <p:cNvSpPr/>
          <p:nvPr/>
        </p:nvSpPr>
        <p:spPr>
          <a:xfrm>
            <a:off x="4434840" y="822960"/>
            <a:ext cx="1920240" cy="530352"/>
          </a:xfrm>
          <a:prstGeom prst="rect">
            <a:avLst/>
          </a:prstGeom>
          <a:noFill/>
        </p:spPr>
        <p:txBody>
          <a:bodyPr wrap="square" rtlCol="0" anchor="ctr"/>
          <a:lstStyle/>
          <a:p>
            <a:pPr marL="0" indent="0" algn="ctr">
              <a:buNone/>
            </a:pPr>
            <a:r>
              <a:rPr lang="en-US" sz="2800" b="1" dirty="0">
                <a:solidFill>
                  <a:srgbClr val="FFFFFF"/>
                </a:solidFill>
                <a:latin typeface="Calibri" panose="020F0502020204030204" pitchFamily="34" charset="0"/>
                <a:ea typeface="Calibri" panose="020F0502020204030204" pitchFamily="34" charset="-122"/>
                <a:cs typeface="Calibri" panose="020F0502020204030204" pitchFamily="34" charset="-120"/>
              </a:rPr>
              <a:t>7–10</a:t>
            </a:r>
            <a:endParaRPr lang="en-US" sz="2800" dirty="0"/>
          </a:p>
        </p:txBody>
      </p:sp>
      <p:sp>
        <p:nvSpPr>
          <p:cNvPr id="15" name="Text 13"/>
          <p:cNvSpPr/>
          <p:nvPr/>
        </p:nvSpPr>
        <p:spPr>
          <a:xfrm>
            <a:off x="4434840" y="1325880"/>
            <a:ext cx="1920240" cy="347472"/>
          </a:xfrm>
          <a:prstGeom prst="rect">
            <a:avLst/>
          </a:prstGeom>
          <a:noFill/>
        </p:spPr>
        <p:txBody>
          <a:bodyPr wrap="square" rtlCol="0" anchor="ctr"/>
          <a:lstStyle/>
          <a:p>
            <a:pPr marL="0" indent="0" algn="ctr">
              <a:buNone/>
            </a:pPr>
            <a:r>
              <a:rPr lang="en-US" sz="1000" dirty="0">
                <a:solidFill>
                  <a:srgbClr val="D6EAF8"/>
                </a:solidFill>
                <a:latin typeface="Calibri" panose="020F0502020204030204" pitchFamily="34" charset="0"/>
                <a:ea typeface="Calibri" panose="020F0502020204030204" pitchFamily="34" charset="-122"/>
                <a:cs typeface="Calibri" panose="020F0502020204030204" pitchFamily="34" charset="-120"/>
              </a:rPr>
              <a:t>GPBT (Yıl)</a:t>
            </a:r>
            <a:endParaRPr lang="en-US" sz="1000" dirty="0"/>
          </a:p>
          <a:p>
            <a:pPr marL="0" indent="0" algn="ctr">
              <a:buNone/>
            </a:pPr>
            <a:r>
              <a:rPr lang="en-US" sz="1000" dirty="0">
                <a:solidFill>
                  <a:srgbClr val="D6EAF8"/>
                </a:solidFill>
                <a:latin typeface="Calibri" panose="020F0502020204030204" pitchFamily="34" charset="0"/>
                <a:ea typeface="Calibri" panose="020F0502020204030204" pitchFamily="34" charset="-122"/>
                <a:cs typeface="Calibri" panose="020F0502020204030204" pitchFamily="34" charset="-120"/>
              </a:rPr>
              <a:t>Finansal Geri Ödeme</a:t>
            </a:r>
            <a:endParaRPr lang="en-US" sz="1000" dirty="0"/>
          </a:p>
        </p:txBody>
      </p:sp>
      <p:sp>
        <p:nvSpPr>
          <p:cNvPr id="16" name="Shape 14"/>
          <p:cNvSpPr/>
          <p:nvPr/>
        </p:nvSpPr>
        <p:spPr>
          <a:xfrm>
            <a:off x="6492240" y="777240"/>
            <a:ext cx="1920240" cy="914400"/>
          </a:xfrm>
          <a:prstGeom prst="rect">
            <a:avLst/>
          </a:prstGeom>
          <a:solidFill>
            <a:srgbClr val="1E8449"/>
          </a:solidFill>
          <a:ln w="12700">
            <a:solidFill>
              <a:srgbClr val="1E8449"/>
            </a:solidFill>
            <a:prstDash val="solid"/>
          </a:ln>
          <a:effectLst>
            <a:outerShdw blurRad="76200" dist="38100" dir="8100000" algn="bl" rotWithShape="0">
              <a:srgbClr val="000000">
                <a:alpha val="15000"/>
              </a:srgbClr>
            </a:outerShdw>
          </a:effectLst>
        </p:spPr>
        <p:txBody>
          <a:bodyPr/>
          <a:lstStyle/>
          <a:p>
            <a:endParaRPr lang="tr-TR"/>
          </a:p>
        </p:txBody>
      </p:sp>
      <p:sp>
        <p:nvSpPr>
          <p:cNvPr id="17" name="Text 15"/>
          <p:cNvSpPr/>
          <p:nvPr/>
        </p:nvSpPr>
        <p:spPr>
          <a:xfrm>
            <a:off x="6492240" y="822960"/>
            <a:ext cx="1920240" cy="530352"/>
          </a:xfrm>
          <a:prstGeom prst="rect">
            <a:avLst/>
          </a:prstGeom>
          <a:noFill/>
        </p:spPr>
        <p:txBody>
          <a:bodyPr wrap="square" rtlCol="0" anchor="ctr"/>
          <a:lstStyle/>
          <a:p>
            <a:pPr marL="0" indent="0" algn="ctr">
              <a:buNone/>
            </a:pPr>
            <a:r>
              <a:rPr lang="en-US" sz="2800" b="1" dirty="0">
                <a:solidFill>
                  <a:srgbClr val="FFFFFF"/>
                </a:solidFill>
                <a:latin typeface="Calibri" panose="020F0502020204030204" pitchFamily="34" charset="0"/>
                <a:ea typeface="Calibri" panose="020F0502020204030204" pitchFamily="34" charset="-122"/>
                <a:cs typeface="Calibri" panose="020F0502020204030204" pitchFamily="34" charset="-120"/>
              </a:rPr>
              <a:t>120.900</a:t>
            </a:r>
            <a:endParaRPr lang="en-US" sz="2800" dirty="0"/>
          </a:p>
        </p:txBody>
      </p:sp>
      <p:sp>
        <p:nvSpPr>
          <p:cNvPr id="18" name="Text 16"/>
          <p:cNvSpPr/>
          <p:nvPr/>
        </p:nvSpPr>
        <p:spPr>
          <a:xfrm>
            <a:off x="6492240" y="1325880"/>
            <a:ext cx="1920240" cy="347472"/>
          </a:xfrm>
          <a:prstGeom prst="rect">
            <a:avLst/>
          </a:prstGeom>
          <a:noFill/>
        </p:spPr>
        <p:txBody>
          <a:bodyPr wrap="square" rtlCol="0" anchor="ctr"/>
          <a:lstStyle/>
          <a:p>
            <a:pPr marL="0" indent="0" algn="ctr">
              <a:buNone/>
            </a:pPr>
            <a:r>
              <a:rPr lang="en-US" sz="1000" dirty="0">
                <a:solidFill>
                  <a:srgbClr val="D6EAF8"/>
                </a:solidFill>
                <a:latin typeface="Calibri" panose="020F0502020204030204" pitchFamily="34" charset="0"/>
                <a:ea typeface="Calibri" panose="020F0502020204030204" pitchFamily="34" charset="-122"/>
                <a:cs typeface="Calibri" panose="020F0502020204030204" pitchFamily="34" charset="-120"/>
              </a:rPr>
              <a:t>MWh / Yıl</a:t>
            </a:r>
            <a:endParaRPr lang="en-US" sz="1000" dirty="0"/>
          </a:p>
          <a:p>
            <a:pPr marL="0" indent="0" algn="ctr">
              <a:buNone/>
            </a:pPr>
            <a:r>
              <a:rPr lang="en-US" sz="1000" dirty="0">
                <a:solidFill>
                  <a:srgbClr val="D6EAF8"/>
                </a:solidFill>
                <a:latin typeface="Calibri" panose="020F0502020204030204" pitchFamily="34" charset="0"/>
                <a:ea typeface="Calibri" panose="020F0502020204030204" pitchFamily="34" charset="-122"/>
                <a:cs typeface="Calibri" panose="020F0502020204030204" pitchFamily="34" charset="-120"/>
              </a:rPr>
              <a:t>10 Türbin (34,5 MW)</a:t>
            </a:r>
            <a:endParaRPr lang="en-US" sz="1000" dirty="0"/>
          </a:p>
        </p:txBody>
      </p:sp>
      <p:graphicFrame>
        <p:nvGraphicFramePr>
          <p:cNvPr id="19" name="Table 0"/>
          <p:cNvGraphicFramePr>
            <a:graphicFrameLocks noGrp="1"/>
          </p:cNvGraphicFramePr>
          <p:nvPr/>
        </p:nvGraphicFramePr>
        <p:xfrm>
          <a:off x="320040" y="1828800"/>
          <a:ext cx="8503920" cy="1706880"/>
        </p:xfrm>
        <a:graphic>
          <a:graphicData uri="http://schemas.openxmlformats.org/drawingml/2006/table">
            <a:tbl>
              <a:tblPr/>
              <a:tblGrid>
                <a:gridCol w="2743200"/>
                <a:gridCol w="2286000"/>
                <a:gridCol w="3474720"/>
              </a:tblGrid>
              <a:tr h="243840">
                <a:tc>
                  <a:txBody>
                    <a:bodyPr/>
                    <a:lstStyle/>
                    <a:p>
                      <a:pPr marL="0" indent="0" algn="ctr">
                        <a:buNone/>
                      </a:pPr>
                      <a:r>
                        <a:rPr lang="en-US" sz="1000" b="1" dirty="0">
                          <a:solidFill>
                            <a:srgbClr val="FFFFFF"/>
                          </a:solidFill>
                          <a:latin typeface="Calibri" panose="020F0502020204030204" pitchFamily="34" charset="0"/>
                          <a:ea typeface="Calibri" panose="020F0502020204030204" pitchFamily="34" charset="-122"/>
                          <a:cs typeface="Calibri" panose="020F0502020204030204" pitchFamily="34" charset="-120"/>
                        </a:rPr>
                        <a:t>Parametre</a:t>
                      </a:r>
                      <a:endParaRPr lang="en-US" sz="1000" dirty="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E0E6ED"/>
                      </a:solidFill>
                      <a:prstDash val="solid"/>
                      <a:round/>
                      <a:headEnd type="none" w="med" len="med"/>
                      <a:tailEnd type="none" w="med" len="med"/>
                    </a:lnL>
                    <a:lnR w="6350" cap="flat" cmpd="sng" algn="ctr">
                      <a:solidFill>
                        <a:srgbClr val="E0E6ED"/>
                      </a:solidFill>
                      <a:prstDash val="solid"/>
                      <a:round/>
                      <a:headEnd type="none" w="med" len="med"/>
                      <a:tailEnd type="none" w="med" len="med"/>
                    </a:lnR>
                    <a:lnT w="6350" cap="flat" cmpd="sng" algn="ctr">
                      <a:solidFill>
                        <a:srgbClr val="E0E6ED"/>
                      </a:solidFill>
                      <a:prstDash val="solid"/>
                      <a:round/>
                      <a:headEnd type="none" w="med" len="med"/>
                      <a:tailEnd type="none" w="med" len="med"/>
                    </a:lnT>
                    <a:lnB w="6350" cap="flat" cmpd="sng" algn="ctr">
                      <a:solidFill>
                        <a:srgbClr val="E0E6ED"/>
                      </a:solidFill>
                      <a:prstDash val="solid"/>
                      <a:round/>
                      <a:headEnd type="none" w="med" len="med"/>
                      <a:tailEnd type="none" w="med" len="med"/>
                    </a:lnB>
                    <a:solidFill>
                      <a:srgbClr val="1A5276"/>
                    </a:solidFill>
                  </a:tcPr>
                </a:tc>
                <a:tc>
                  <a:txBody>
                    <a:bodyPr/>
                    <a:lstStyle/>
                    <a:p>
                      <a:pPr marL="0" indent="0" algn="ctr">
                        <a:buNone/>
                      </a:pPr>
                      <a:r>
                        <a:rPr lang="en-US" sz="1000" b="1" dirty="0">
                          <a:solidFill>
                            <a:srgbClr val="FFFFFF"/>
                          </a:solidFill>
                          <a:latin typeface="Calibri" panose="020F0502020204030204" pitchFamily="34" charset="0"/>
                          <a:ea typeface="Calibri" panose="020F0502020204030204" pitchFamily="34" charset="-122"/>
                          <a:cs typeface="Calibri" panose="020F0502020204030204" pitchFamily="34" charset="-120"/>
                        </a:rPr>
                        <a:t>Değer</a:t>
                      </a:r>
                      <a:endParaRPr lang="en-US" sz="1000" dirty="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E0E6ED"/>
                      </a:solidFill>
                      <a:prstDash val="solid"/>
                      <a:round/>
                      <a:headEnd type="none" w="med" len="med"/>
                      <a:tailEnd type="none" w="med" len="med"/>
                    </a:lnL>
                    <a:lnR w="6350" cap="flat" cmpd="sng" algn="ctr">
                      <a:solidFill>
                        <a:srgbClr val="E0E6ED"/>
                      </a:solidFill>
                      <a:prstDash val="solid"/>
                      <a:round/>
                      <a:headEnd type="none" w="med" len="med"/>
                      <a:tailEnd type="none" w="med" len="med"/>
                    </a:lnR>
                    <a:lnT w="6350" cap="flat" cmpd="sng" algn="ctr">
                      <a:solidFill>
                        <a:srgbClr val="E0E6ED"/>
                      </a:solidFill>
                      <a:prstDash val="solid"/>
                      <a:round/>
                      <a:headEnd type="none" w="med" len="med"/>
                      <a:tailEnd type="none" w="med" len="med"/>
                    </a:lnT>
                    <a:lnB w="6350" cap="flat" cmpd="sng" algn="ctr">
                      <a:solidFill>
                        <a:srgbClr val="E0E6ED"/>
                      </a:solidFill>
                      <a:prstDash val="solid"/>
                      <a:round/>
                      <a:headEnd type="none" w="med" len="med"/>
                      <a:tailEnd type="none" w="med" len="med"/>
                    </a:lnB>
                    <a:solidFill>
                      <a:srgbClr val="1A5276"/>
                    </a:solidFill>
                  </a:tcPr>
                </a:tc>
                <a:tc>
                  <a:txBody>
                    <a:bodyPr/>
                    <a:lstStyle/>
                    <a:p>
                      <a:pPr marL="0" indent="0" algn="ctr">
                        <a:buNone/>
                      </a:pPr>
                      <a:r>
                        <a:rPr lang="en-US" sz="1000" b="1" dirty="0">
                          <a:solidFill>
                            <a:srgbClr val="FFFFFF"/>
                          </a:solidFill>
                          <a:latin typeface="Calibri" panose="020F0502020204030204" pitchFamily="34" charset="0"/>
                          <a:ea typeface="Calibri" panose="020F0502020204030204" pitchFamily="34" charset="-122"/>
                          <a:cs typeface="Calibri" panose="020F0502020204030204" pitchFamily="34" charset="-120"/>
                        </a:rPr>
                        <a:t>Açıklama</a:t>
                      </a:r>
                      <a:endParaRPr lang="en-US" sz="1000" dirty="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E0E6ED"/>
                      </a:solidFill>
                      <a:prstDash val="solid"/>
                      <a:round/>
                      <a:headEnd type="none" w="med" len="med"/>
                      <a:tailEnd type="none" w="med" len="med"/>
                    </a:lnL>
                    <a:lnR w="6350" cap="flat" cmpd="sng" algn="ctr">
                      <a:solidFill>
                        <a:srgbClr val="E0E6ED"/>
                      </a:solidFill>
                      <a:prstDash val="solid"/>
                      <a:round/>
                      <a:headEnd type="none" w="med" len="med"/>
                      <a:tailEnd type="none" w="med" len="med"/>
                    </a:lnR>
                    <a:lnT w="6350" cap="flat" cmpd="sng" algn="ctr">
                      <a:solidFill>
                        <a:srgbClr val="E0E6ED"/>
                      </a:solidFill>
                      <a:prstDash val="solid"/>
                      <a:round/>
                      <a:headEnd type="none" w="med" len="med"/>
                      <a:tailEnd type="none" w="med" len="med"/>
                    </a:lnT>
                    <a:lnB w="6350" cap="flat" cmpd="sng" algn="ctr">
                      <a:solidFill>
                        <a:srgbClr val="E0E6ED"/>
                      </a:solidFill>
                      <a:prstDash val="solid"/>
                      <a:round/>
                      <a:headEnd type="none" w="med" len="med"/>
                      <a:tailEnd type="none" w="med" len="med"/>
                    </a:lnB>
                    <a:solidFill>
                      <a:srgbClr val="1A5276"/>
                    </a:solidFill>
                  </a:tcPr>
                </a:tc>
              </a:tr>
              <a:tr h="243840">
                <a:tc>
                  <a:txBody>
                    <a:bodyPr/>
                    <a:lstStyle/>
                    <a:p>
                      <a:pPr marL="0" indent="0" algn="l">
                        <a:buNone/>
                      </a:pPr>
                      <a:r>
                        <a:rPr lang="en-US" sz="950" dirty="0">
                          <a:solidFill>
                            <a:srgbClr val="212121"/>
                          </a:solidFill>
                          <a:latin typeface="Calibri" panose="020F0502020204030204" pitchFamily="34" charset="0"/>
                          <a:ea typeface="Calibri" panose="020F0502020204030204" pitchFamily="34" charset="-122"/>
                          <a:cs typeface="Calibri" panose="020F0502020204030204" pitchFamily="34" charset="-120"/>
                        </a:rPr>
                        <a:t>Rüzgar Hızı (v)</a:t>
                      </a:r>
                      <a:endParaRPr lang="en-US" sz="950" dirty="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E0E6ED"/>
                      </a:solidFill>
                      <a:prstDash val="solid"/>
                      <a:round/>
                      <a:headEnd type="none" w="med" len="med"/>
                      <a:tailEnd type="none" w="med" len="med"/>
                    </a:lnL>
                    <a:lnR w="6350" cap="flat" cmpd="sng" algn="ctr">
                      <a:solidFill>
                        <a:srgbClr val="E0E6ED"/>
                      </a:solidFill>
                      <a:prstDash val="solid"/>
                      <a:round/>
                      <a:headEnd type="none" w="med" len="med"/>
                      <a:tailEnd type="none" w="med" len="med"/>
                    </a:lnR>
                    <a:lnT w="6350" cap="flat" cmpd="sng" algn="ctr">
                      <a:solidFill>
                        <a:srgbClr val="E0E6ED"/>
                      </a:solidFill>
                      <a:prstDash val="solid"/>
                      <a:round/>
                      <a:headEnd type="none" w="med" len="med"/>
                      <a:tailEnd type="none" w="med" len="med"/>
                    </a:lnT>
                    <a:lnB w="6350" cap="flat" cmpd="sng" algn="ctr">
                      <a:solidFill>
                        <a:srgbClr val="E0E6ED"/>
                      </a:solidFill>
                      <a:prstDash val="solid"/>
                      <a:round/>
                      <a:headEnd type="none" w="med" len="med"/>
                      <a:tailEnd type="none" w="med" len="med"/>
                    </a:lnB>
                    <a:solidFill>
                      <a:srgbClr val="F4F6F8"/>
                    </a:solidFill>
                  </a:tcPr>
                </a:tc>
                <a:tc>
                  <a:txBody>
                    <a:bodyPr/>
                    <a:lstStyle/>
                    <a:p>
                      <a:pPr marL="0" indent="0" algn="ctr">
                        <a:buNone/>
                      </a:pPr>
                      <a:r>
                        <a:rPr lang="en-US" sz="950" dirty="0">
                          <a:solidFill>
                            <a:srgbClr val="212121"/>
                          </a:solidFill>
                          <a:latin typeface="Calibri" panose="020F0502020204030204" pitchFamily="34" charset="0"/>
                          <a:ea typeface="Calibri" panose="020F0502020204030204" pitchFamily="34" charset="-122"/>
                          <a:cs typeface="Calibri" panose="020F0502020204030204" pitchFamily="34" charset="-120"/>
                        </a:rPr>
                        <a:t>8,5 m/s</a:t>
                      </a:r>
                      <a:endParaRPr lang="en-US" sz="950" dirty="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E0E6ED"/>
                      </a:solidFill>
                      <a:prstDash val="solid"/>
                      <a:round/>
                      <a:headEnd type="none" w="med" len="med"/>
                      <a:tailEnd type="none" w="med" len="med"/>
                    </a:lnL>
                    <a:lnR w="6350" cap="flat" cmpd="sng" algn="ctr">
                      <a:solidFill>
                        <a:srgbClr val="E0E6ED"/>
                      </a:solidFill>
                      <a:prstDash val="solid"/>
                      <a:round/>
                      <a:headEnd type="none" w="med" len="med"/>
                      <a:tailEnd type="none" w="med" len="med"/>
                    </a:lnR>
                    <a:lnT w="6350" cap="flat" cmpd="sng" algn="ctr">
                      <a:solidFill>
                        <a:srgbClr val="E0E6ED"/>
                      </a:solidFill>
                      <a:prstDash val="solid"/>
                      <a:round/>
                      <a:headEnd type="none" w="med" len="med"/>
                      <a:tailEnd type="none" w="med" len="med"/>
                    </a:lnT>
                    <a:lnB w="6350" cap="flat" cmpd="sng" algn="ctr">
                      <a:solidFill>
                        <a:srgbClr val="E0E6ED"/>
                      </a:solidFill>
                      <a:prstDash val="solid"/>
                      <a:round/>
                      <a:headEnd type="none" w="med" len="med"/>
                      <a:tailEnd type="none" w="med" len="med"/>
                    </a:lnB>
                    <a:solidFill>
                      <a:srgbClr val="F4F6F8"/>
                    </a:solidFill>
                  </a:tcPr>
                </a:tc>
                <a:tc>
                  <a:txBody>
                    <a:bodyPr/>
                    <a:lstStyle/>
                    <a:p>
                      <a:pPr marL="0" indent="0" algn="ctr">
                        <a:buNone/>
                      </a:pPr>
                      <a:r>
                        <a:rPr lang="en-US" sz="950" dirty="0">
                          <a:solidFill>
                            <a:srgbClr val="212121"/>
                          </a:solidFill>
                          <a:latin typeface="Calibri" panose="020F0502020204030204" pitchFamily="34" charset="0"/>
                          <a:ea typeface="Calibri" panose="020F0502020204030204" pitchFamily="34" charset="-122"/>
                          <a:cs typeface="Calibri" panose="020F0502020204030204" pitchFamily="34" charset="-120"/>
                        </a:rPr>
                        <a:t>Karaburun, 100 m hub ort.</a:t>
                      </a:r>
                      <a:endParaRPr lang="en-US" sz="950" dirty="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E0E6ED"/>
                      </a:solidFill>
                      <a:prstDash val="solid"/>
                      <a:round/>
                      <a:headEnd type="none" w="med" len="med"/>
                      <a:tailEnd type="none" w="med" len="med"/>
                    </a:lnL>
                    <a:lnR w="6350" cap="flat" cmpd="sng" algn="ctr">
                      <a:solidFill>
                        <a:srgbClr val="E0E6ED"/>
                      </a:solidFill>
                      <a:prstDash val="solid"/>
                      <a:round/>
                      <a:headEnd type="none" w="med" len="med"/>
                      <a:tailEnd type="none" w="med" len="med"/>
                    </a:lnR>
                    <a:lnT w="6350" cap="flat" cmpd="sng" algn="ctr">
                      <a:solidFill>
                        <a:srgbClr val="E0E6ED"/>
                      </a:solidFill>
                      <a:prstDash val="solid"/>
                      <a:round/>
                      <a:headEnd type="none" w="med" len="med"/>
                      <a:tailEnd type="none" w="med" len="med"/>
                    </a:lnT>
                    <a:lnB w="6350" cap="flat" cmpd="sng" algn="ctr">
                      <a:solidFill>
                        <a:srgbClr val="E0E6ED"/>
                      </a:solidFill>
                      <a:prstDash val="solid"/>
                      <a:round/>
                      <a:headEnd type="none" w="med" len="med"/>
                      <a:tailEnd type="none" w="med" len="med"/>
                    </a:lnB>
                    <a:solidFill>
                      <a:srgbClr val="F4F6F8"/>
                    </a:solidFill>
                  </a:tcPr>
                </a:tc>
              </a:tr>
              <a:tr h="243840">
                <a:tc>
                  <a:txBody>
                    <a:bodyPr/>
                    <a:lstStyle/>
                    <a:p>
                      <a:pPr marL="0" indent="0" algn="l">
                        <a:buNone/>
                      </a:pPr>
                      <a:r>
                        <a:rPr lang="en-US" sz="950" dirty="0">
                          <a:solidFill>
                            <a:srgbClr val="212121"/>
                          </a:solidFill>
                          <a:latin typeface="Calibri" panose="020F0502020204030204" pitchFamily="34" charset="0"/>
                          <a:ea typeface="Calibri" panose="020F0502020204030204" pitchFamily="34" charset="-122"/>
                          <a:cs typeface="Calibri" panose="020F0502020204030204" pitchFamily="34" charset="-120"/>
                        </a:rPr>
                        <a:t>P_rüzgar</a:t>
                      </a:r>
                      <a:endParaRPr lang="en-US" sz="950" dirty="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E0E6ED"/>
                      </a:solidFill>
                      <a:prstDash val="solid"/>
                      <a:round/>
                      <a:headEnd type="none" w="med" len="med"/>
                      <a:tailEnd type="none" w="med" len="med"/>
                    </a:lnL>
                    <a:lnR w="6350" cap="flat" cmpd="sng" algn="ctr">
                      <a:solidFill>
                        <a:srgbClr val="E0E6ED"/>
                      </a:solidFill>
                      <a:prstDash val="solid"/>
                      <a:round/>
                      <a:headEnd type="none" w="med" len="med"/>
                      <a:tailEnd type="none" w="med" len="med"/>
                    </a:lnR>
                    <a:lnT w="6350" cap="flat" cmpd="sng" algn="ctr">
                      <a:solidFill>
                        <a:srgbClr val="E0E6ED"/>
                      </a:solidFill>
                      <a:prstDash val="solid"/>
                      <a:round/>
                      <a:headEnd type="none" w="med" len="med"/>
                      <a:tailEnd type="none" w="med" len="med"/>
                    </a:lnT>
                    <a:lnB w="6350" cap="flat" cmpd="sng" algn="ctr">
                      <a:solidFill>
                        <a:srgbClr val="E0E6ED"/>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212121"/>
                          </a:solidFill>
                          <a:latin typeface="Calibri" panose="020F0502020204030204" pitchFamily="34" charset="0"/>
                          <a:ea typeface="Calibri" panose="020F0502020204030204" pitchFamily="34" charset="-122"/>
                          <a:cs typeface="Calibri" panose="020F0502020204030204" pitchFamily="34" charset="-120"/>
                        </a:rPr>
                        <a:t>5.474 kW</a:t>
                      </a:r>
                      <a:endParaRPr lang="en-US" sz="950" dirty="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E0E6ED"/>
                      </a:solidFill>
                      <a:prstDash val="solid"/>
                      <a:round/>
                      <a:headEnd type="none" w="med" len="med"/>
                      <a:tailEnd type="none" w="med" len="med"/>
                    </a:lnL>
                    <a:lnR w="6350" cap="flat" cmpd="sng" algn="ctr">
                      <a:solidFill>
                        <a:srgbClr val="E0E6ED"/>
                      </a:solidFill>
                      <a:prstDash val="solid"/>
                      <a:round/>
                      <a:headEnd type="none" w="med" len="med"/>
                      <a:tailEnd type="none" w="med" len="med"/>
                    </a:lnR>
                    <a:lnT w="6350" cap="flat" cmpd="sng" algn="ctr">
                      <a:solidFill>
                        <a:srgbClr val="E0E6ED"/>
                      </a:solidFill>
                      <a:prstDash val="solid"/>
                      <a:round/>
                      <a:headEnd type="none" w="med" len="med"/>
                      <a:tailEnd type="none" w="med" len="med"/>
                    </a:lnT>
                    <a:lnB w="6350" cap="flat" cmpd="sng" algn="ctr">
                      <a:solidFill>
                        <a:srgbClr val="E0E6ED"/>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212121"/>
                          </a:solidFill>
                          <a:latin typeface="Calibri" panose="020F0502020204030204" pitchFamily="34" charset="0"/>
                          <a:ea typeface="Calibri" panose="020F0502020204030204" pitchFamily="34" charset="-122"/>
                          <a:cs typeface="Calibri" panose="020F0502020204030204" pitchFamily="34" charset="-120"/>
                        </a:rPr>
                        <a:t>½ × 1,225 × 14.527 × (8,5)³</a:t>
                      </a:r>
                      <a:endParaRPr lang="en-US" sz="950" dirty="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E0E6ED"/>
                      </a:solidFill>
                      <a:prstDash val="solid"/>
                      <a:round/>
                      <a:headEnd type="none" w="med" len="med"/>
                      <a:tailEnd type="none" w="med" len="med"/>
                    </a:lnL>
                    <a:lnR w="6350" cap="flat" cmpd="sng" algn="ctr">
                      <a:solidFill>
                        <a:srgbClr val="E0E6ED"/>
                      </a:solidFill>
                      <a:prstDash val="solid"/>
                      <a:round/>
                      <a:headEnd type="none" w="med" len="med"/>
                      <a:tailEnd type="none" w="med" len="med"/>
                    </a:lnR>
                    <a:lnT w="6350" cap="flat" cmpd="sng" algn="ctr">
                      <a:solidFill>
                        <a:srgbClr val="E0E6ED"/>
                      </a:solidFill>
                      <a:prstDash val="solid"/>
                      <a:round/>
                      <a:headEnd type="none" w="med" len="med"/>
                      <a:tailEnd type="none" w="med" len="med"/>
                    </a:lnT>
                    <a:lnB w="6350" cap="flat" cmpd="sng" algn="ctr">
                      <a:solidFill>
                        <a:srgbClr val="E0E6ED"/>
                      </a:solidFill>
                      <a:prstDash val="solid"/>
                      <a:round/>
                      <a:headEnd type="none" w="med" len="med"/>
                      <a:tailEnd type="none" w="med" len="med"/>
                    </a:lnB>
                    <a:solidFill>
                      <a:srgbClr val="FFFFFF"/>
                    </a:solidFill>
                  </a:tcPr>
                </a:tc>
              </a:tr>
              <a:tr h="243840">
                <a:tc>
                  <a:txBody>
                    <a:bodyPr/>
                    <a:lstStyle/>
                    <a:p>
                      <a:pPr marL="0" indent="0" algn="l">
                        <a:buNone/>
                      </a:pPr>
                      <a:r>
                        <a:rPr lang="en-US" sz="950" dirty="0">
                          <a:solidFill>
                            <a:srgbClr val="212121"/>
                          </a:solidFill>
                          <a:latin typeface="Calibri" panose="020F0502020204030204" pitchFamily="34" charset="0"/>
                          <a:ea typeface="Calibri" panose="020F0502020204030204" pitchFamily="34" charset="-122"/>
                          <a:cs typeface="Calibri" panose="020F0502020204030204" pitchFamily="34" charset="-120"/>
                        </a:rPr>
                        <a:t>P_Betz_max</a:t>
                      </a:r>
                      <a:endParaRPr lang="en-US" sz="950" dirty="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E0E6ED"/>
                      </a:solidFill>
                      <a:prstDash val="solid"/>
                      <a:round/>
                      <a:headEnd type="none" w="med" len="med"/>
                      <a:tailEnd type="none" w="med" len="med"/>
                    </a:lnL>
                    <a:lnR w="6350" cap="flat" cmpd="sng" algn="ctr">
                      <a:solidFill>
                        <a:srgbClr val="E0E6ED"/>
                      </a:solidFill>
                      <a:prstDash val="solid"/>
                      <a:round/>
                      <a:headEnd type="none" w="med" len="med"/>
                      <a:tailEnd type="none" w="med" len="med"/>
                    </a:lnR>
                    <a:lnT w="6350" cap="flat" cmpd="sng" algn="ctr">
                      <a:solidFill>
                        <a:srgbClr val="E0E6ED"/>
                      </a:solidFill>
                      <a:prstDash val="solid"/>
                      <a:round/>
                      <a:headEnd type="none" w="med" len="med"/>
                      <a:tailEnd type="none" w="med" len="med"/>
                    </a:lnT>
                    <a:lnB w="6350" cap="flat" cmpd="sng" algn="ctr">
                      <a:solidFill>
                        <a:srgbClr val="E0E6ED"/>
                      </a:solidFill>
                      <a:prstDash val="solid"/>
                      <a:round/>
                      <a:headEnd type="none" w="med" len="med"/>
                      <a:tailEnd type="none" w="med" len="med"/>
                    </a:lnB>
                    <a:solidFill>
                      <a:srgbClr val="F4F6F8"/>
                    </a:solidFill>
                  </a:tcPr>
                </a:tc>
                <a:tc>
                  <a:txBody>
                    <a:bodyPr/>
                    <a:lstStyle/>
                    <a:p>
                      <a:pPr marL="0" indent="0" algn="ctr">
                        <a:buNone/>
                      </a:pPr>
                      <a:r>
                        <a:rPr lang="en-US" sz="950" dirty="0">
                          <a:solidFill>
                            <a:srgbClr val="212121"/>
                          </a:solidFill>
                          <a:latin typeface="Calibri" panose="020F0502020204030204" pitchFamily="34" charset="0"/>
                          <a:ea typeface="Calibri" panose="020F0502020204030204" pitchFamily="34" charset="-122"/>
                          <a:cs typeface="Calibri" panose="020F0502020204030204" pitchFamily="34" charset="-120"/>
                        </a:rPr>
                        <a:t>3.246 kW</a:t>
                      </a:r>
                      <a:endParaRPr lang="en-US" sz="950" dirty="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E0E6ED"/>
                      </a:solidFill>
                      <a:prstDash val="solid"/>
                      <a:round/>
                      <a:headEnd type="none" w="med" len="med"/>
                      <a:tailEnd type="none" w="med" len="med"/>
                    </a:lnL>
                    <a:lnR w="6350" cap="flat" cmpd="sng" algn="ctr">
                      <a:solidFill>
                        <a:srgbClr val="E0E6ED"/>
                      </a:solidFill>
                      <a:prstDash val="solid"/>
                      <a:round/>
                      <a:headEnd type="none" w="med" len="med"/>
                      <a:tailEnd type="none" w="med" len="med"/>
                    </a:lnR>
                    <a:lnT w="6350" cap="flat" cmpd="sng" algn="ctr">
                      <a:solidFill>
                        <a:srgbClr val="E0E6ED"/>
                      </a:solidFill>
                      <a:prstDash val="solid"/>
                      <a:round/>
                      <a:headEnd type="none" w="med" len="med"/>
                      <a:tailEnd type="none" w="med" len="med"/>
                    </a:lnT>
                    <a:lnB w="6350" cap="flat" cmpd="sng" algn="ctr">
                      <a:solidFill>
                        <a:srgbClr val="E0E6ED"/>
                      </a:solidFill>
                      <a:prstDash val="solid"/>
                      <a:round/>
                      <a:headEnd type="none" w="med" len="med"/>
                      <a:tailEnd type="none" w="med" len="med"/>
                    </a:lnB>
                    <a:solidFill>
                      <a:srgbClr val="F4F6F8"/>
                    </a:solidFill>
                  </a:tcPr>
                </a:tc>
                <a:tc>
                  <a:txBody>
                    <a:bodyPr/>
                    <a:lstStyle/>
                    <a:p>
                      <a:pPr marL="0" indent="0" algn="ctr">
                        <a:buNone/>
                      </a:pPr>
                      <a:r>
                        <a:rPr lang="en-US" sz="950" dirty="0">
                          <a:solidFill>
                            <a:srgbClr val="212121"/>
                          </a:solidFill>
                          <a:latin typeface="Calibri" panose="020F0502020204030204" pitchFamily="34" charset="0"/>
                          <a:ea typeface="Calibri" panose="020F0502020204030204" pitchFamily="34" charset="-122"/>
                          <a:cs typeface="Calibri" panose="020F0502020204030204" pitchFamily="34" charset="-120"/>
                        </a:rPr>
                        <a:t>0,593 × P_rüzgar (teorik üst sınır)</a:t>
                      </a:r>
                      <a:endParaRPr lang="en-US" sz="950" dirty="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E0E6ED"/>
                      </a:solidFill>
                      <a:prstDash val="solid"/>
                      <a:round/>
                      <a:headEnd type="none" w="med" len="med"/>
                      <a:tailEnd type="none" w="med" len="med"/>
                    </a:lnL>
                    <a:lnR w="6350" cap="flat" cmpd="sng" algn="ctr">
                      <a:solidFill>
                        <a:srgbClr val="E0E6ED"/>
                      </a:solidFill>
                      <a:prstDash val="solid"/>
                      <a:round/>
                      <a:headEnd type="none" w="med" len="med"/>
                      <a:tailEnd type="none" w="med" len="med"/>
                    </a:lnR>
                    <a:lnT w="6350" cap="flat" cmpd="sng" algn="ctr">
                      <a:solidFill>
                        <a:srgbClr val="E0E6ED"/>
                      </a:solidFill>
                      <a:prstDash val="solid"/>
                      <a:round/>
                      <a:headEnd type="none" w="med" len="med"/>
                      <a:tailEnd type="none" w="med" len="med"/>
                    </a:lnT>
                    <a:lnB w="6350" cap="flat" cmpd="sng" algn="ctr">
                      <a:solidFill>
                        <a:srgbClr val="E0E6ED"/>
                      </a:solidFill>
                      <a:prstDash val="solid"/>
                      <a:round/>
                      <a:headEnd type="none" w="med" len="med"/>
                      <a:tailEnd type="none" w="med" len="med"/>
                    </a:lnB>
                    <a:solidFill>
                      <a:srgbClr val="F4F6F8"/>
                    </a:solidFill>
                  </a:tcPr>
                </a:tc>
              </a:tr>
              <a:tr h="243840">
                <a:tc>
                  <a:txBody>
                    <a:bodyPr/>
                    <a:lstStyle/>
                    <a:p>
                      <a:pPr marL="0" indent="0" algn="l">
                        <a:buNone/>
                      </a:pPr>
                      <a:r>
                        <a:rPr lang="en-US" sz="950" dirty="0">
                          <a:solidFill>
                            <a:srgbClr val="212121"/>
                          </a:solidFill>
                          <a:latin typeface="Calibri" panose="020F0502020204030204" pitchFamily="34" charset="0"/>
                          <a:ea typeface="Calibri" panose="020F0502020204030204" pitchFamily="34" charset="-122"/>
                          <a:cs typeface="Calibri" panose="020F0502020204030204" pitchFamily="34" charset="-120"/>
                        </a:rPr>
                        <a:t>P_türbin (Cp=0,45)</a:t>
                      </a:r>
                      <a:endParaRPr lang="en-US" sz="950" dirty="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E0E6ED"/>
                      </a:solidFill>
                      <a:prstDash val="solid"/>
                      <a:round/>
                      <a:headEnd type="none" w="med" len="med"/>
                      <a:tailEnd type="none" w="med" len="med"/>
                    </a:lnL>
                    <a:lnR w="6350" cap="flat" cmpd="sng" algn="ctr">
                      <a:solidFill>
                        <a:srgbClr val="E0E6ED"/>
                      </a:solidFill>
                      <a:prstDash val="solid"/>
                      <a:round/>
                      <a:headEnd type="none" w="med" len="med"/>
                      <a:tailEnd type="none" w="med" len="med"/>
                    </a:lnR>
                    <a:lnT w="6350" cap="flat" cmpd="sng" algn="ctr">
                      <a:solidFill>
                        <a:srgbClr val="E0E6ED"/>
                      </a:solidFill>
                      <a:prstDash val="solid"/>
                      <a:round/>
                      <a:headEnd type="none" w="med" len="med"/>
                      <a:tailEnd type="none" w="med" len="med"/>
                    </a:lnT>
                    <a:lnB w="6350" cap="flat" cmpd="sng" algn="ctr">
                      <a:solidFill>
                        <a:srgbClr val="E0E6ED"/>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212121"/>
                          </a:solidFill>
                          <a:latin typeface="Calibri" panose="020F0502020204030204" pitchFamily="34" charset="0"/>
                          <a:ea typeface="Calibri" panose="020F0502020204030204" pitchFamily="34" charset="-122"/>
                          <a:cs typeface="Calibri" panose="020F0502020204030204" pitchFamily="34" charset="-120"/>
                        </a:rPr>
                        <a:t>2.463 kW</a:t>
                      </a:r>
                      <a:endParaRPr lang="en-US" sz="950" dirty="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E0E6ED"/>
                      </a:solidFill>
                      <a:prstDash val="solid"/>
                      <a:round/>
                      <a:headEnd type="none" w="med" len="med"/>
                      <a:tailEnd type="none" w="med" len="med"/>
                    </a:lnL>
                    <a:lnR w="6350" cap="flat" cmpd="sng" algn="ctr">
                      <a:solidFill>
                        <a:srgbClr val="E0E6ED"/>
                      </a:solidFill>
                      <a:prstDash val="solid"/>
                      <a:round/>
                      <a:headEnd type="none" w="med" len="med"/>
                      <a:tailEnd type="none" w="med" len="med"/>
                    </a:lnR>
                    <a:lnT w="6350" cap="flat" cmpd="sng" algn="ctr">
                      <a:solidFill>
                        <a:srgbClr val="E0E6ED"/>
                      </a:solidFill>
                      <a:prstDash val="solid"/>
                      <a:round/>
                      <a:headEnd type="none" w="med" len="med"/>
                      <a:tailEnd type="none" w="med" len="med"/>
                    </a:lnT>
                    <a:lnB w="6350" cap="flat" cmpd="sng" algn="ctr">
                      <a:solidFill>
                        <a:srgbClr val="E0E6ED"/>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212121"/>
                          </a:solidFill>
                          <a:latin typeface="Calibri" panose="020F0502020204030204" pitchFamily="34" charset="0"/>
                          <a:ea typeface="Calibri" panose="020F0502020204030204" pitchFamily="34" charset="-122"/>
                          <a:cs typeface="Calibri" panose="020F0502020204030204" pitchFamily="34" charset="-120"/>
                        </a:rPr>
                        <a:t>v=8,5 m/s, gerçek çıkış</a:t>
                      </a:r>
                      <a:endParaRPr lang="en-US" sz="950" dirty="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E0E6ED"/>
                      </a:solidFill>
                      <a:prstDash val="solid"/>
                      <a:round/>
                      <a:headEnd type="none" w="med" len="med"/>
                      <a:tailEnd type="none" w="med" len="med"/>
                    </a:lnL>
                    <a:lnR w="6350" cap="flat" cmpd="sng" algn="ctr">
                      <a:solidFill>
                        <a:srgbClr val="E0E6ED"/>
                      </a:solidFill>
                      <a:prstDash val="solid"/>
                      <a:round/>
                      <a:headEnd type="none" w="med" len="med"/>
                      <a:tailEnd type="none" w="med" len="med"/>
                    </a:lnR>
                    <a:lnT w="6350" cap="flat" cmpd="sng" algn="ctr">
                      <a:solidFill>
                        <a:srgbClr val="E0E6ED"/>
                      </a:solidFill>
                      <a:prstDash val="solid"/>
                      <a:round/>
                      <a:headEnd type="none" w="med" len="med"/>
                      <a:tailEnd type="none" w="med" len="med"/>
                    </a:lnT>
                    <a:lnB w="6350" cap="flat" cmpd="sng" algn="ctr">
                      <a:solidFill>
                        <a:srgbClr val="E0E6ED"/>
                      </a:solidFill>
                      <a:prstDash val="solid"/>
                      <a:round/>
                      <a:headEnd type="none" w="med" len="med"/>
                      <a:tailEnd type="none" w="med" len="med"/>
                    </a:lnB>
                    <a:solidFill>
                      <a:srgbClr val="FFFFFF"/>
                    </a:solidFill>
                  </a:tcPr>
                </a:tc>
              </a:tr>
              <a:tr h="243840">
                <a:tc>
                  <a:txBody>
                    <a:bodyPr/>
                    <a:lstStyle/>
                    <a:p>
                      <a:pPr marL="0" indent="0" algn="l">
                        <a:buNone/>
                      </a:pPr>
                      <a:r>
                        <a:rPr lang="en-US" sz="950" dirty="0">
                          <a:solidFill>
                            <a:srgbClr val="212121"/>
                          </a:solidFill>
                          <a:latin typeface="Calibri" panose="020F0502020204030204" pitchFamily="34" charset="0"/>
                          <a:ea typeface="Calibri" panose="020F0502020204030204" pitchFamily="34" charset="-122"/>
                          <a:cs typeface="Calibri" panose="020F0502020204030204" pitchFamily="34" charset="-120"/>
                        </a:rPr>
                        <a:t>Yıllık Üretim (1 türbin)</a:t>
                      </a:r>
                      <a:endParaRPr lang="en-US" sz="950" dirty="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E0E6ED"/>
                      </a:solidFill>
                      <a:prstDash val="solid"/>
                      <a:round/>
                      <a:headEnd type="none" w="med" len="med"/>
                      <a:tailEnd type="none" w="med" len="med"/>
                    </a:lnL>
                    <a:lnR w="6350" cap="flat" cmpd="sng" algn="ctr">
                      <a:solidFill>
                        <a:srgbClr val="E0E6ED"/>
                      </a:solidFill>
                      <a:prstDash val="solid"/>
                      <a:round/>
                      <a:headEnd type="none" w="med" len="med"/>
                      <a:tailEnd type="none" w="med" len="med"/>
                    </a:lnR>
                    <a:lnT w="6350" cap="flat" cmpd="sng" algn="ctr">
                      <a:solidFill>
                        <a:srgbClr val="E0E6ED"/>
                      </a:solidFill>
                      <a:prstDash val="solid"/>
                      <a:round/>
                      <a:headEnd type="none" w="med" len="med"/>
                      <a:tailEnd type="none" w="med" len="med"/>
                    </a:lnT>
                    <a:lnB w="6350" cap="flat" cmpd="sng" algn="ctr">
                      <a:solidFill>
                        <a:srgbClr val="E0E6ED"/>
                      </a:solidFill>
                      <a:prstDash val="solid"/>
                      <a:round/>
                      <a:headEnd type="none" w="med" len="med"/>
                      <a:tailEnd type="none" w="med" len="med"/>
                    </a:lnB>
                    <a:solidFill>
                      <a:srgbClr val="F4F6F8"/>
                    </a:solidFill>
                  </a:tcPr>
                </a:tc>
                <a:tc>
                  <a:txBody>
                    <a:bodyPr/>
                    <a:lstStyle/>
                    <a:p>
                      <a:pPr marL="0" indent="0" algn="ctr">
                        <a:buNone/>
                      </a:pPr>
                      <a:r>
                        <a:rPr lang="en-US" sz="950" dirty="0">
                          <a:solidFill>
                            <a:srgbClr val="212121"/>
                          </a:solidFill>
                          <a:latin typeface="Calibri" panose="020F0502020204030204" pitchFamily="34" charset="0"/>
                          <a:ea typeface="Calibri" panose="020F0502020204030204" pitchFamily="34" charset="-122"/>
                          <a:cs typeface="Calibri" panose="020F0502020204030204" pitchFamily="34" charset="-120"/>
                        </a:rPr>
                        <a:t>12.089 MWh</a:t>
                      </a:r>
                      <a:endParaRPr lang="en-US" sz="950" dirty="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E0E6ED"/>
                      </a:solidFill>
                      <a:prstDash val="solid"/>
                      <a:round/>
                      <a:headEnd type="none" w="med" len="med"/>
                      <a:tailEnd type="none" w="med" len="med"/>
                    </a:lnL>
                    <a:lnR w="6350" cap="flat" cmpd="sng" algn="ctr">
                      <a:solidFill>
                        <a:srgbClr val="E0E6ED"/>
                      </a:solidFill>
                      <a:prstDash val="solid"/>
                      <a:round/>
                      <a:headEnd type="none" w="med" len="med"/>
                      <a:tailEnd type="none" w="med" len="med"/>
                    </a:lnR>
                    <a:lnT w="6350" cap="flat" cmpd="sng" algn="ctr">
                      <a:solidFill>
                        <a:srgbClr val="E0E6ED"/>
                      </a:solidFill>
                      <a:prstDash val="solid"/>
                      <a:round/>
                      <a:headEnd type="none" w="med" len="med"/>
                      <a:tailEnd type="none" w="med" len="med"/>
                    </a:lnT>
                    <a:lnB w="6350" cap="flat" cmpd="sng" algn="ctr">
                      <a:solidFill>
                        <a:srgbClr val="E0E6ED"/>
                      </a:solidFill>
                      <a:prstDash val="solid"/>
                      <a:round/>
                      <a:headEnd type="none" w="med" len="med"/>
                      <a:tailEnd type="none" w="med" len="med"/>
                    </a:lnB>
                    <a:solidFill>
                      <a:srgbClr val="F4F6F8"/>
                    </a:solidFill>
                  </a:tcPr>
                </a:tc>
                <a:tc>
                  <a:txBody>
                    <a:bodyPr/>
                    <a:lstStyle/>
                    <a:p>
                      <a:pPr marL="0" indent="0" algn="ctr">
                        <a:buNone/>
                      </a:pPr>
                      <a:r>
                        <a:rPr lang="en-US" sz="950" dirty="0">
                          <a:solidFill>
                            <a:srgbClr val="212121"/>
                          </a:solidFill>
                          <a:latin typeface="Calibri" panose="020F0502020204030204" pitchFamily="34" charset="0"/>
                          <a:ea typeface="Calibri" panose="020F0502020204030204" pitchFamily="34" charset="-122"/>
                          <a:cs typeface="Calibri" panose="020F0502020204030204" pitchFamily="34" charset="-120"/>
                        </a:rPr>
                        <a:t>CF=%40 × 30.222 MWh teorik maks.</a:t>
                      </a:r>
                      <a:endParaRPr lang="en-US" sz="950" dirty="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E0E6ED"/>
                      </a:solidFill>
                      <a:prstDash val="solid"/>
                      <a:round/>
                      <a:headEnd type="none" w="med" len="med"/>
                      <a:tailEnd type="none" w="med" len="med"/>
                    </a:lnL>
                    <a:lnR w="6350" cap="flat" cmpd="sng" algn="ctr">
                      <a:solidFill>
                        <a:srgbClr val="E0E6ED"/>
                      </a:solidFill>
                      <a:prstDash val="solid"/>
                      <a:round/>
                      <a:headEnd type="none" w="med" len="med"/>
                      <a:tailEnd type="none" w="med" len="med"/>
                    </a:lnR>
                    <a:lnT w="6350" cap="flat" cmpd="sng" algn="ctr">
                      <a:solidFill>
                        <a:srgbClr val="E0E6ED"/>
                      </a:solidFill>
                      <a:prstDash val="solid"/>
                      <a:round/>
                      <a:headEnd type="none" w="med" len="med"/>
                      <a:tailEnd type="none" w="med" len="med"/>
                    </a:lnT>
                    <a:lnB w="6350" cap="flat" cmpd="sng" algn="ctr">
                      <a:solidFill>
                        <a:srgbClr val="E0E6ED"/>
                      </a:solidFill>
                      <a:prstDash val="solid"/>
                      <a:round/>
                      <a:headEnd type="none" w="med" len="med"/>
                      <a:tailEnd type="none" w="med" len="med"/>
                    </a:lnB>
                    <a:solidFill>
                      <a:srgbClr val="F4F6F8"/>
                    </a:solidFill>
                  </a:tcPr>
                </a:tc>
              </a:tr>
              <a:tr h="243840">
                <a:tc>
                  <a:txBody>
                    <a:bodyPr/>
                    <a:lstStyle/>
                    <a:p>
                      <a:pPr marL="0" indent="0" algn="l">
                        <a:buNone/>
                      </a:pPr>
                      <a:r>
                        <a:rPr lang="en-US" sz="950" dirty="0">
                          <a:solidFill>
                            <a:srgbClr val="212121"/>
                          </a:solidFill>
                          <a:latin typeface="Calibri" panose="020F0502020204030204" pitchFamily="34" charset="0"/>
                          <a:ea typeface="Calibri" panose="020F0502020204030204" pitchFamily="34" charset="-122"/>
                          <a:cs typeface="Calibri" panose="020F0502020204030204" pitchFamily="34" charset="-120"/>
                        </a:rPr>
                        <a:t>10 Türbin Toplam</a:t>
                      </a:r>
                      <a:endParaRPr lang="en-US" sz="950" dirty="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E0E6ED"/>
                      </a:solidFill>
                      <a:prstDash val="solid"/>
                      <a:round/>
                      <a:headEnd type="none" w="med" len="med"/>
                      <a:tailEnd type="none" w="med" len="med"/>
                    </a:lnL>
                    <a:lnR w="6350" cap="flat" cmpd="sng" algn="ctr">
                      <a:solidFill>
                        <a:srgbClr val="E0E6ED"/>
                      </a:solidFill>
                      <a:prstDash val="solid"/>
                      <a:round/>
                      <a:headEnd type="none" w="med" len="med"/>
                      <a:tailEnd type="none" w="med" len="med"/>
                    </a:lnR>
                    <a:lnT w="6350" cap="flat" cmpd="sng" algn="ctr">
                      <a:solidFill>
                        <a:srgbClr val="E0E6ED"/>
                      </a:solidFill>
                      <a:prstDash val="solid"/>
                      <a:round/>
                      <a:headEnd type="none" w="med" len="med"/>
                      <a:tailEnd type="none" w="med" len="med"/>
                    </a:lnT>
                    <a:lnB w="6350" cap="flat" cmpd="sng" algn="ctr">
                      <a:solidFill>
                        <a:srgbClr val="E0E6ED"/>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212121"/>
                          </a:solidFill>
                          <a:latin typeface="Calibri" panose="020F0502020204030204" pitchFamily="34" charset="0"/>
                          <a:ea typeface="Calibri" panose="020F0502020204030204" pitchFamily="34" charset="-122"/>
                          <a:cs typeface="Calibri" panose="020F0502020204030204" pitchFamily="34" charset="-120"/>
                        </a:rPr>
                        <a:t>120.900 MWh</a:t>
                      </a:r>
                      <a:endParaRPr lang="en-US" sz="950" dirty="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E0E6ED"/>
                      </a:solidFill>
                      <a:prstDash val="solid"/>
                      <a:round/>
                      <a:headEnd type="none" w="med" len="med"/>
                      <a:tailEnd type="none" w="med" len="med"/>
                    </a:lnL>
                    <a:lnR w="6350" cap="flat" cmpd="sng" algn="ctr">
                      <a:solidFill>
                        <a:srgbClr val="E0E6ED"/>
                      </a:solidFill>
                      <a:prstDash val="solid"/>
                      <a:round/>
                      <a:headEnd type="none" w="med" len="med"/>
                      <a:tailEnd type="none" w="med" len="med"/>
                    </a:lnR>
                    <a:lnT w="6350" cap="flat" cmpd="sng" algn="ctr">
                      <a:solidFill>
                        <a:srgbClr val="E0E6ED"/>
                      </a:solidFill>
                      <a:prstDash val="solid"/>
                      <a:round/>
                      <a:headEnd type="none" w="med" len="med"/>
                      <a:tailEnd type="none" w="med" len="med"/>
                    </a:lnT>
                    <a:lnB w="6350" cap="flat" cmpd="sng" algn="ctr">
                      <a:solidFill>
                        <a:srgbClr val="E0E6ED"/>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212121"/>
                          </a:solidFill>
                          <a:latin typeface="Calibri" panose="020F0502020204030204" pitchFamily="34" charset="0"/>
                          <a:ea typeface="Calibri" panose="020F0502020204030204" pitchFamily="34" charset="-122"/>
                          <a:cs typeface="Calibri" panose="020F0502020204030204" pitchFamily="34" charset="-120"/>
                        </a:rPr>
                        <a:t>~34.500 hane | ~56.823 ton CO₂/yıl</a:t>
                      </a:r>
                      <a:endParaRPr lang="en-US" sz="950" dirty="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E0E6ED"/>
                      </a:solidFill>
                      <a:prstDash val="solid"/>
                      <a:round/>
                      <a:headEnd type="none" w="med" len="med"/>
                      <a:tailEnd type="none" w="med" len="med"/>
                    </a:lnL>
                    <a:lnR w="6350" cap="flat" cmpd="sng" algn="ctr">
                      <a:solidFill>
                        <a:srgbClr val="E0E6ED"/>
                      </a:solidFill>
                      <a:prstDash val="solid"/>
                      <a:round/>
                      <a:headEnd type="none" w="med" len="med"/>
                      <a:tailEnd type="none" w="med" len="med"/>
                    </a:lnR>
                    <a:lnT w="6350" cap="flat" cmpd="sng" algn="ctr">
                      <a:solidFill>
                        <a:srgbClr val="E0E6ED"/>
                      </a:solidFill>
                      <a:prstDash val="solid"/>
                      <a:round/>
                      <a:headEnd type="none" w="med" len="med"/>
                      <a:tailEnd type="none" w="med" len="med"/>
                    </a:lnT>
                    <a:lnB w="6350" cap="flat" cmpd="sng" algn="ctr">
                      <a:solidFill>
                        <a:srgbClr val="E0E6ED"/>
                      </a:solidFill>
                      <a:prstDash val="solid"/>
                      <a:round/>
                      <a:headEnd type="none" w="med" len="med"/>
                      <a:tailEnd type="none" w="med" len="med"/>
                    </a:lnB>
                    <a:solidFill>
                      <a:srgbClr val="FFFFFF"/>
                    </a:solidFill>
                  </a:tcPr>
                </a:tc>
              </a:tr>
            </a:tbl>
          </a:graphicData>
        </a:graphic>
      </p:graphicFrame>
      <p:sp>
        <p:nvSpPr>
          <p:cNvPr id="20" name="Shape 17"/>
          <p:cNvSpPr/>
          <p:nvPr/>
        </p:nvSpPr>
        <p:spPr>
          <a:xfrm>
            <a:off x="320040" y="3672840"/>
            <a:ext cx="8503920" cy="1100328"/>
          </a:xfrm>
          <a:prstGeom prst="rect">
            <a:avLst/>
          </a:prstGeom>
          <a:solidFill>
            <a:srgbClr val="D6EAF8"/>
          </a:solidFill>
          <a:ln w="10160">
            <a:solidFill>
              <a:srgbClr val="1A5276"/>
            </a:solidFill>
            <a:prstDash val="solid"/>
          </a:ln>
        </p:spPr>
        <p:txBody>
          <a:bodyPr/>
          <a:lstStyle/>
          <a:p>
            <a:endParaRPr lang="tr-TR"/>
          </a:p>
        </p:txBody>
      </p:sp>
      <p:sp>
        <p:nvSpPr>
          <p:cNvPr id="21" name="Text 18"/>
          <p:cNvSpPr/>
          <p:nvPr/>
        </p:nvSpPr>
        <p:spPr>
          <a:xfrm>
            <a:off x="457200" y="3447288"/>
            <a:ext cx="8229600" cy="1280160"/>
          </a:xfrm>
          <a:prstGeom prst="rect">
            <a:avLst/>
          </a:prstGeom>
          <a:noFill/>
        </p:spPr>
        <p:txBody>
          <a:bodyPr wrap="square" rtlCol="0" anchor="ctr"/>
          <a:lstStyle/>
          <a:p>
            <a:pPr marL="0" indent="0">
              <a:buNone/>
            </a:pPr>
            <a:r>
              <a:rPr lang="en-US" sz="950" b="1" dirty="0">
                <a:solidFill>
                  <a:srgbClr val="212121"/>
                </a:solidFill>
                <a:latin typeface="Calibri" panose="020F0502020204030204" pitchFamily="34" charset="0"/>
                <a:ea typeface="Calibri" panose="020F0502020204030204" pitchFamily="34" charset="-122"/>
                <a:cs typeface="Calibri" panose="020F0502020204030204" pitchFamily="34" charset="-120"/>
              </a:rPr>
              <a:t>Betz Hesabı:  </a:t>
            </a:r>
            <a:r>
              <a:rPr lang="en-US" sz="950" dirty="0">
                <a:solidFill>
                  <a:srgbClr val="212121"/>
                </a:solidFill>
                <a:latin typeface="Calibri" panose="020F0502020204030204" pitchFamily="34" charset="0"/>
                <a:ea typeface="Calibri" panose="020F0502020204030204" pitchFamily="34" charset="-122"/>
                <a:cs typeface="Calibri" panose="020F0502020204030204" pitchFamily="34" charset="-120"/>
              </a:rPr>
              <a:t>P_rüzgar = ½ × 1,225 × 14.527 × (8,5)³ = 5.474 kW  →  P_Betz = 0,593 × 5.474 = </a:t>
            </a:r>
            <a:r>
              <a:rPr lang="en-US" sz="950" b="1" dirty="0">
                <a:solidFill>
                  <a:srgbClr val="1A5276"/>
                </a:solidFill>
                <a:latin typeface="Calibri" panose="020F0502020204030204" pitchFamily="34" charset="0"/>
                <a:ea typeface="Calibri" panose="020F0502020204030204" pitchFamily="34" charset="-122"/>
                <a:cs typeface="Calibri" panose="020F0502020204030204" pitchFamily="34" charset="-120"/>
              </a:rPr>
              <a:t>3.246 kW
</a:t>
            </a:r>
            <a:r>
              <a:rPr lang="en-US" sz="950" b="1" dirty="0">
                <a:solidFill>
                  <a:srgbClr val="212121"/>
                </a:solidFill>
                <a:latin typeface="Calibri" panose="020F0502020204030204" pitchFamily="34" charset="0"/>
                <a:ea typeface="Calibri" panose="020F0502020204030204" pitchFamily="34" charset="-122"/>
                <a:cs typeface="Calibri" panose="020F0502020204030204" pitchFamily="34" charset="-120"/>
              </a:rPr>
              <a:t>EPBT:  </a:t>
            </a:r>
            <a:r>
              <a:rPr lang="en-US" sz="950" dirty="0">
                <a:solidFill>
                  <a:srgbClr val="212121"/>
                </a:solidFill>
                <a:latin typeface="Calibri" panose="020F0502020204030204" pitchFamily="34" charset="0"/>
                <a:ea typeface="Calibri" panose="020F0502020204030204" pitchFamily="34" charset="-122"/>
                <a:cs typeface="Calibri" panose="020F0502020204030204" pitchFamily="34" charset="-120"/>
              </a:rPr>
              <a:t>Onshore RES için üretim enerjisi çok düşük  →  </a:t>
            </a:r>
            <a:r>
              <a:rPr lang="en-US" sz="950" b="1" dirty="0">
                <a:solidFill>
                  <a:srgbClr val="2E86C1"/>
                </a:solidFill>
                <a:latin typeface="Calibri" panose="020F0502020204030204" pitchFamily="34" charset="0"/>
                <a:ea typeface="Calibri" panose="020F0502020204030204" pitchFamily="34" charset="-122"/>
                <a:cs typeface="Calibri" panose="020F0502020204030204" pitchFamily="34" charset="-120"/>
              </a:rPr>
              <a:t>~4–7 ay
</a:t>
            </a:r>
            <a:r>
              <a:rPr lang="en-US" sz="950" b="1" dirty="0">
                <a:solidFill>
                  <a:srgbClr val="212121"/>
                </a:solidFill>
                <a:latin typeface="Calibri" panose="020F0502020204030204" pitchFamily="34" charset="0"/>
                <a:ea typeface="Calibri" panose="020F0502020204030204" pitchFamily="34" charset="-122"/>
                <a:cs typeface="Calibri" panose="020F0502020204030204" pitchFamily="34" charset="-120"/>
              </a:rPr>
              <a:t>GPBT:  </a:t>
            </a:r>
            <a:r>
              <a:rPr lang="en-US" sz="950" dirty="0">
                <a:solidFill>
                  <a:srgbClr val="212121"/>
                </a:solidFill>
                <a:latin typeface="Calibri" panose="020F0502020204030204" pitchFamily="34" charset="0"/>
                <a:ea typeface="Calibri" panose="020F0502020204030204" pitchFamily="34" charset="-122"/>
                <a:cs typeface="Calibri" panose="020F0502020204030204" pitchFamily="34" charset="-120"/>
              </a:rPr>
              <a:t>37,95 M$ yatırım / 12,94 M$/yıl YEKDEM geliri  →  </a:t>
            </a:r>
            <a:r>
              <a:rPr lang="en-US" sz="950" b="1" dirty="0">
                <a:solidFill>
                  <a:srgbClr val="1D6A72"/>
                </a:solidFill>
                <a:latin typeface="Calibri" panose="020F0502020204030204" pitchFamily="34" charset="0"/>
                <a:ea typeface="Calibri" panose="020F0502020204030204" pitchFamily="34" charset="-122"/>
                <a:cs typeface="Calibri" panose="020F0502020204030204" pitchFamily="34" charset="-120"/>
              </a:rPr>
              <a:t>~2,9 yıl (brüt)</a:t>
            </a:r>
            <a:r>
              <a:rPr lang="en-US" sz="950" dirty="0">
                <a:solidFill>
                  <a:srgbClr val="212121"/>
                </a:solidFill>
                <a:latin typeface="Calibri" panose="020F0502020204030204" pitchFamily="34" charset="0"/>
                <a:ea typeface="Calibri" panose="020F0502020204030204" pitchFamily="34" charset="-122"/>
                <a:cs typeface="Calibri" panose="020F0502020204030204" pitchFamily="34" charset="-120"/>
              </a:rPr>
              <a:t>  |  Gider dahil gerçekçi: </a:t>
            </a:r>
            <a:r>
              <a:rPr lang="en-US" sz="950" b="1" dirty="0">
                <a:solidFill>
                  <a:srgbClr val="1D6A72"/>
                </a:solidFill>
                <a:latin typeface="Calibri" panose="020F0502020204030204" pitchFamily="34" charset="0"/>
                <a:ea typeface="Calibri" panose="020F0502020204030204" pitchFamily="34" charset="-122"/>
                <a:cs typeface="Calibri" panose="020F0502020204030204" pitchFamily="34" charset="-120"/>
              </a:rPr>
              <a:t>7–10 yıl</a:t>
            </a:r>
            <a:endParaRPr lang="en-US" sz="9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1E8449"/>
        </a:solidFill>
        <a:effectLst/>
      </p:bgPr>
    </p:bg>
    <p:spTree>
      <p:nvGrpSpPr>
        <p:cNvPr id="1" name=""/>
        <p:cNvGrpSpPr/>
        <p:nvPr/>
      </p:nvGrpSpPr>
      <p:grpSpPr>
        <a:xfrm>
          <a:off x="0" y="0"/>
          <a:ext cx="0" cy="0"/>
          <a:chOff x="0" y="0"/>
          <a:chExt cx="0" cy="0"/>
        </a:xfrm>
      </p:grpSpPr>
      <p:sp>
        <p:nvSpPr>
          <p:cNvPr id="2" name="Shape 0"/>
          <p:cNvSpPr/>
          <p:nvPr/>
        </p:nvSpPr>
        <p:spPr>
          <a:xfrm>
            <a:off x="0" y="4114800"/>
            <a:ext cx="9144000" cy="1028700"/>
          </a:xfrm>
          <a:prstGeom prst="rect">
            <a:avLst/>
          </a:prstGeom>
          <a:solidFill>
            <a:srgbClr val="1B3A6B"/>
          </a:solidFill>
          <a:ln w="12700">
            <a:solidFill>
              <a:srgbClr val="1B3A6B"/>
            </a:solidFill>
            <a:prstDash val="solid"/>
          </a:ln>
        </p:spPr>
        <p:txBody>
          <a:bodyPr/>
          <a:lstStyle/>
          <a:p>
            <a:endParaRPr lang="tr-TR"/>
          </a:p>
        </p:txBody>
      </p:sp>
      <p:sp>
        <p:nvSpPr>
          <p:cNvPr id="3" name="Shape 1"/>
          <p:cNvSpPr/>
          <p:nvPr/>
        </p:nvSpPr>
        <p:spPr>
          <a:xfrm>
            <a:off x="0" y="4114800"/>
            <a:ext cx="137160" cy="1028700"/>
          </a:xfrm>
          <a:prstGeom prst="rect">
            <a:avLst/>
          </a:prstGeom>
          <a:solidFill>
            <a:srgbClr val="C8901A"/>
          </a:solidFill>
          <a:ln w="12700">
            <a:solidFill>
              <a:srgbClr val="C8901A"/>
            </a:solidFill>
            <a:prstDash val="solid"/>
          </a:ln>
        </p:spPr>
        <p:txBody>
          <a:bodyPr/>
          <a:lstStyle/>
          <a:p>
            <a:endParaRPr lang="tr-TR"/>
          </a:p>
        </p:txBody>
      </p:sp>
      <p:sp>
        <p:nvSpPr>
          <p:cNvPr id="4" name="Text 2"/>
          <p:cNvSpPr/>
          <p:nvPr/>
        </p:nvSpPr>
        <p:spPr>
          <a:xfrm>
            <a:off x="457200" y="914400"/>
            <a:ext cx="8229600" cy="2560320"/>
          </a:xfrm>
          <a:prstGeom prst="rect">
            <a:avLst/>
          </a:prstGeom>
          <a:noFill/>
        </p:spPr>
        <p:txBody>
          <a:bodyPr wrap="square" rtlCol="0" anchor="ctr"/>
          <a:lstStyle/>
          <a:p>
            <a:pPr marL="0" indent="0" algn="ctr">
              <a:buNone/>
            </a:pPr>
            <a:r>
              <a:rPr lang="en-US" sz="3600" b="1" dirty="0">
                <a:solidFill>
                  <a:srgbClr val="FFFFFF"/>
                </a:solidFill>
                <a:latin typeface="Calibri" panose="020F0502020204030204" pitchFamily="34" charset="0"/>
                <a:ea typeface="Calibri" panose="020F0502020204030204" pitchFamily="34" charset="-122"/>
                <a:cs typeface="Calibri" panose="020F0502020204030204" pitchFamily="34" charset="-120"/>
              </a:rPr>
              <a:t>Mikro Hidroelektrik</a:t>
            </a:r>
            <a:endParaRPr lang="en-US" sz="3600" dirty="0"/>
          </a:p>
          <a:p>
            <a:pPr marL="0" indent="0" algn="ctr">
              <a:buNone/>
            </a:pPr>
            <a:r>
              <a:rPr lang="en-US" sz="3600" b="1" dirty="0">
                <a:solidFill>
                  <a:srgbClr val="FFFFFF"/>
                </a:solidFill>
                <a:latin typeface="Calibri" panose="020F0502020204030204" pitchFamily="34" charset="0"/>
                <a:ea typeface="Calibri" panose="020F0502020204030204" pitchFamily="34" charset="-122"/>
                <a:cs typeface="Calibri" panose="020F0502020204030204" pitchFamily="34" charset="-120"/>
              </a:rPr>
              <a:t>Santral (Mikro-HES)</a:t>
            </a:r>
            <a:endParaRPr lang="en-US" sz="3600" dirty="0"/>
          </a:p>
        </p:txBody>
      </p:sp>
      <p:sp>
        <p:nvSpPr>
          <p:cNvPr id="5" name="Text 3"/>
          <p:cNvSpPr/>
          <p:nvPr/>
        </p:nvSpPr>
        <p:spPr>
          <a:xfrm>
            <a:off x="274320" y="4206240"/>
            <a:ext cx="8595360" cy="731520"/>
          </a:xfrm>
          <a:prstGeom prst="rect">
            <a:avLst/>
          </a:prstGeom>
          <a:noFill/>
        </p:spPr>
        <p:txBody>
          <a:bodyPr wrap="square" rtlCol="0" anchor="ctr"/>
          <a:lstStyle/>
          <a:p>
            <a:pPr marL="0" indent="0" algn="ctr">
              <a:buNone/>
            </a:pPr>
            <a:r>
              <a:rPr lang="en-US" sz="900" dirty="0">
                <a:solidFill>
                  <a:srgbClr val="E0E6ED"/>
                </a:solidFill>
                <a:latin typeface="Calibri" panose="020F0502020204030204" pitchFamily="34" charset="0"/>
                <a:ea typeface="Calibri" panose="020F0502020204030204" pitchFamily="34" charset="-122"/>
                <a:cs typeface="Calibri" panose="020F0502020204030204" pitchFamily="34" charset="-120"/>
              </a:rPr>
              <a:t>SAÜ EEM  |  Yenilenebilir ve Sürdürülebilir Enerji</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8F9FA"/>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E8449"/>
          </a:solidFill>
          <a:ln w="12700">
            <a:solidFill>
              <a:srgbClr val="1E8449"/>
            </a:solidFill>
            <a:prstDash val="solid"/>
          </a:ln>
        </p:spPr>
        <p:txBody>
          <a:bodyPr/>
          <a:lstStyle/>
          <a:p>
            <a:endParaRPr lang="tr-TR"/>
          </a:p>
        </p:txBody>
      </p:sp>
      <p:sp>
        <p:nvSpPr>
          <p:cNvPr id="3" name="Shape 1"/>
          <p:cNvSpPr/>
          <p:nvPr/>
        </p:nvSpPr>
        <p:spPr>
          <a:xfrm>
            <a:off x="0" y="685800"/>
            <a:ext cx="9144000" cy="45720"/>
          </a:xfrm>
          <a:prstGeom prst="rect">
            <a:avLst/>
          </a:prstGeom>
          <a:solidFill>
            <a:srgbClr val="C8901A"/>
          </a:solidFill>
          <a:ln w="12700">
            <a:solidFill>
              <a:srgbClr val="C8901A"/>
            </a:solidFill>
            <a:prstDash val="solid"/>
          </a:ln>
        </p:spPr>
        <p:txBody>
          <a:bodyPr/>
          <a:lstStyle/>
          <a:p>
            <a:endParaRPr lang="tr-TR"/>
          </a:p>
        </p:txBody>
      </p:sp>
      <p:sp>
        <p:nvSpPr>
          <p:cNvPr id="4" name="Shape 2"/>
          <p:cNvSpPr/>
          <p:nvPr/>
        </p:nvSpPr>
        <p:spPr>
          <a:xfrm>
            <a:off x="0" y="4892040"/>
            <a:ext cx="9144000" cy="251460"/>
          </a:xfrm>
          <a:prstGeom prst="rect">
            <a:avLst/>
          </a:prstGeom>
          <a:solidFill>
            <a:srgbClr val="1B3A6B"/>
          </a:solidFill>
          <a:ln w="12700">
            <a:solidFill>
              <a:srgbClr val="1B3A6B"/>
            </a:solidFill>
            <a:prstDash val="solid"/>
          </a:ln>
        </p:spPr>
        <p:txBody>
          <a:bodyPr/>
          <a:lstStyle/>
          <a:p>
            <a:endParaRPr lang="tr-TR"/>
          </a:p>
        </p:txBody>
      </p:sp>
      <p:sp>
        <p:nvSpPr>
          <p:cNvPr id="5" name="Text 3"/>
          <p:cNvSpPr/>
          <p:nvPr/>
        </p:nvSpPr>
        <p:spPr>
          <a:xfrm>
            <a:off x="274320" y="4892040"/>
            <a:ext cx="8595360" cy="251460"/>
          </a:xfrm>
          <a:prstGeom prst="rect">
            <a:avLst/>
          </a:prstGeom>
          <a:noFill/>
        </p:spPr>
        <p:txBody>
          <a:bodyPr wrap="square" rtlCol="0" anchor="ctr"/>
          <a:lstStyle/>
          <a:p>
            <a:pPr marL="0" indent="0" algn="ctr">
              <a:buNone/>
            </a:pPr>
            <a:r>
              <a:rPr lang="en-US" sz="800" dirty="0">
                <a:solidFill>
                  <a:srgbClr val="E0E6ED"/>
                </a:solidFill>
                <a:latin typeface="Calibri" panose="020F0502020204030204" pitchFamily="34" charset="0"/>
                <a:ea typeface="Calibri" panose="020F0502020204030204" pitchFamily="34" charset="-122"/>
                <a:cs typeface="Calibri" panose="020F0502020204030204" pitchFamily="34" charset="-120"/>
              </a:rPr>
              <a:t>SAÜ EEM  |  İzmir Yenilenebilir Enerji Analizi</a:t>
            </a:r>
            <a:endParaRPr lang="en-US" sz="800" dirty="0"/>
          </a:p>
        </p:txBody>
      </p:sp>
      <p:sp>
        <p:nvSpPr>
          <p:cNvPr id="6" name="Text 4"/>
          <p:cNvSpPr/>
          <p:nvPr/>
        </p:nvSpPr>
        <p:spPr>
          <a:xfrm>
            <a:off x="274320" y="45720"/>
            <a:ext cx="8595360" cy="594360"/>
          </a:xfrm>
          <a:prstGeom prst="rect">
            <a:avLst/>
          </a:prstGeom>
          <a:noFill/>
        </p:spPr>
        <p:txBody>
          <a:bodyPr wrap="square" lIns="0" tIns="0" rIns="0" bIns="0" rtlCol="0" anchor="ctr"/>
          <a:lstStyle/>
          <a:p>
            <a:pPr marL="0" indent="0" algn="l">
              <a:buNone/>
            </a:pPr>
            <a:r>
              <a:rPr lang="en-US" sz="1800" b="1" dirty="0">
                <a:solidFill>
                  <a:srgbClr val="FFFFFF"/>
                </a:solidFill>
                <a:latin typeface="Calibri" panose="020F0502020204030204" pitchFamily="34" charset="0"/>
                <a:ea typeface="Calibri" panose="020F0502020204030204" pitchFamily="34" charset="-122"/>
                <a:cs typeface="Calibri" panose="020F0502020204030204" pitchFamily="34" charset="-120"/>
              </a:rPr>
              <a:t>Mikro-HES — Nedir? Türleri? Avantaj / Dezavantaj</a:t>
            </a:r>
            <a:endParaRPr lang="en-US" sz="1800" dirty="0"/>
          </a:p>
        </p:txBody>
      </p:sp>
      <p:sp>
        <p:nvSpPr>
          <p:cNvPr id="7" name="Text 5"/>
          <p:cNvSpPr/>
          <p:nvPr/>
        </p:nvSpPr>
        <p:spPr>
          <a:xfrm>
            <a:off x="320040" y="777240"/>
            <a:ext cx="8503920" cy="320040"/>
          </a:xfrm>
          <a:prstGeom prst="rect">
            <a:avLst/>
          </a:prstGeom>
          <a:noFill/>
        </p:spPr>
        <p:txBody>
          <a:bodyPr wrap="square" rtlCol="0" anchor="ctr"/>
          <a:lstStyle/>
          <a:p>
            <a:pPr marL="0" indent="0">
              <a:buNone/>
            </a:pPr>
            <a:r>
              <a:rPr lang="en-US" sz="1200" b="1" dirty="0">
                <a:solidFill>
                  <a:srgbClr val="1E8449"/>
                </a:solidFill>
                <a:latin typeface="Calibri" panose="020F0502020204030204" pitchFamily="34" charset="0"/>
                <a:ea typeface="Calibri" panose="020F0502020204030204" pitchFamily="34" charset="-122"/>
                <a:cs typeface="Calibri" panose="020F0502020204030204" pitchFamily="34" charset="-120"/>
              </a:rPr>
              <a:t>Mikro-HES Nedir?</a:t>
            </a:r>
            <a:endParaRPr lang="en-US" sz="1200" dirty="0"/>
          </a:p>
        </p:txBody>
      </p:sp>
      <p:sp>
        <p:nvSpPr>
          <p:cNvPr id="8" name="Text 6"/>
          <p:cNvSpPr/>
          <p:nvPr/>
        </p:nvSpPr>
        <p:spPr>
          <a:xfrm>
            <a:off x="320040" y="1097280"/>
            <a:ext cx="8503920" cy="411480"/>
          </a:xfrm>
          <a:prstGeom prst="rect">
            <a:avLst/>
          </a:prstGeom>
          <a:noFill/>
        </p:spPr>
        <p:txBody>
          <a:bodyPr wrap="square" rtlCol="0" anchor="ctr"/>
          <a:lstStyle/>
          <a:p>
            <a:pPr marL="0" indent="0" algn="just">
              <a:buNone/>
            </a:pPr>
            <a:r>
              <a:rPr lang="en-US" sz="1000" dirty="0">
                <a:solidFill>
                  <a:srgbClr val="212121"/>
                </a:solidFill>
                <a:latin typeface="Calibri" panose="020F0502020204030204" pitchFamily="34" charset="0"/>
                <a:ea typeface="Calibri" panose="020F0502020204030204" pitchFamily="34" charset="-122"/>
                <a:cs typeface="Calibri" panose="020F0502020204030204" pitchFamily="34" charset="-120"/>
              </a:rPr>
              <a:t>Kurulu gücü 1–500 kW arasında olan küçük ölçekli hidroelektrik tesislerdir. Akarsuların potansiyel enerjisini türbin-jeneratör setiyle elektriğe dönüştürür. Temel formül: P (W) = [Net Yük (ft) × Akış (gal/dak)] / 10.</a:t>
            </a:r>
            <a:endParaRPr lang="en-US" sz="1000" dirty="0"/>
          </a:p>
        </p:txBody>
      </p:sp>
      <p:sp>
        <p:nvSpPr>
          <p:cNvPr id="9" name="Shape 7"/>
          <p:cNvSpPr/>
          <p:nvPr/>
        </p:nvSpPr>
        <p:spPr>
          <a:xfrm>
            <a:off x="320040" y="1600200"/>
            <a:ext cx="2011680" cy="1417320"/>
          </a:xfrm>
          <a:prstGeom prst="rect">
            <a:avLst/>
          </a:prstGeom>
          <a:solidFill>
            <a:srgbClr val="1E8449">
              <a:alpha val="15000"/>
            </a:srgbClr>
          </a:solidFill>
          <a:ln w="12700">
            <a:solidFill>
              <a:srgbClr val="1E8449"/>
            </a:solidFill>
            <a:prstDash val="solid"/>
          </a:ln>
        </p:spPr>
        <p:txBody>
          <a:bodyPr/>
          <a:lstStyle/>
          <a:p>
            <a:endParaRPr lang="tr-TR"/>
          </a:p>
        </p:txBody>
      </p:sp>
      <p:sp>
        <p:nvSpPr>
          <p:cNvPr id="10" name="Shape 8"/>
          <p:cNvSpPr/>
          <p:nvPr/>
        </p:nvSpPr>
        <p:spPr>
          <a:xfrm>
            <a:off x="320040" y="1600200"/>
            <a:ext cx="2011680" cy="301752"/>
          </a:xfrm>
          <a:prstGeom prst="rect">
            <a:avLst/>
          </a:prstGeom>
          <a:solidFill>
            <a:srgbClr val="1E8449"/>
          </a:solidFill>
          <a:ln w="12700">
            <a:solidFill>
              <a:srgbClr val="1E8449"/>
            </a:solidFill>
            <a:prstDash val="solid"/>
          </a:ln>
        </p:spPr>
        <p:txBody>
          <a:bodyPr/>
          <a:lstStyle/>
          <a:p>
            <a:endParaRPr lang="tr-TR"/>
          </a:p>
        </p:txBody>
      </p:sp>
      <p:sp>
        <p:nvSpPr>
          <p:cNvPr id="11" name="Text 9"/>
          <p:cNvSpPr/>
          <p:nvPr/>
        </p:nvSpPr>
        <p:spPr>
          <a:xfrm>
            <a:off x="356616" y="1600200"/>
            <a:ext cx="1938528" cy="301752"/>
          </a:xfrm>
          <a:prstGeom prst="rect">
            <a:avLst/>
          </a:prstGeom>
          <a:noFill/>
        </p:spPr>
        <p:txBody>
          <a:bodyPr wrap="square" rtlCol="0" anchor="ctr"/>
          <a:lstStyle/>
          <a:p>
            <a:pPr marL="0" indent="0" algn="ctr">
              <a:buNone/>
            </a:pPr>
            <a:r>
              <a:rPr lang="en-US" sz="950" b="1" dirty="0">
                <a:solidFill>
                  <a:srgbClr val="FFFFFF"/>
                </a:solidFill>
                <a:latin typeface="Calibri" panose="020F0502020204030204" pitchFamily="34" charset="0"/>
                <a:ea typeface="Calibri" panose="020F0502020204030204" pitchFamily="34" charset="-122"/>
                <a:cs typeface="Calibri" panose="020F0502020204030204" pitchFamily="34" charset="-120"/>
              </a:rPr>
              <a:t>Nehir Tipi</a:t>
            </a:r>
            <a:endParaRPr lang="en-US" sz="950" dirty="0"/>
          </a:p>
        </p:txBody>
      </p:sp>
      <p:sp>
        <p:nvSpPr>
          <p:cNvPr id="12" name="Text 10"/>
          <p:cNvSpPr/>
          <p:nvPr/>
        </p:nvSpPr>
        <p:spPr>
          <a:xfrm>
            <a:off x="411480" y="1920240"/>
            <a:ext cx="1828800" cy="1051560"/>
          </a:xfrm>
          <a:prstGeom prst="rect">
            <a:avLst/>
          </a:prstGeom>
          <a:noFill/>
        </p:spPr>
        <p:txBody>
          <a:bodyPr wrap="square" rtlCol="0" anchor="t"/>
          <a:lstStyle/>
          <a:p>
            <a:pPr marL="0" indent="0" algn="l">
              <a:spcAft>
                <a:spcPts val="200"/>
              </a:spcAft>
              <a:buNone/>
            </a:pPr>
            <a:r>
              <a:rPr lang="en-US" sz="900" dirty="0">
                <a:solidFill>
                  <a:srgbClr val="212121"/>
                </a:solidFill>
                <a:latin typeface="Calibri" panose="020F0502020204030204" pitchFamily="34" charset="0"/>
                <a:ea typeface="Calibri" panose="020F0502020204030204" pitchFamily="34" charset="-122"/>
                <a:cs typeface="Calibri" panose="020F0502020204030204" pitchFamily="34" charset="-120"/>
              </a:rPr>
              <a:t>Depolama yok</a:t>
            </a:r>
            <a:endParaRPr lang="en-US" sz="900" dirty="0"/>
          </a:p>
          <a:p>
            <a:pPr marL="0" indent="0" algn="l">
              <a:spcAft>
                <a:spcPts val="200"/>
              </a:spcAft>
              <a:buNone/>
            </a:pPr>
            <a:r>
              <a:rPr lang="en-US" sz="900" dirty="0">
                <a:solidFill>
                  <a:srgbClr val="212121"/>
                </a:solidFill>
                <a:latin typeface="Calibri" panose="020F0502020204030204" pitchFamily="34" charset="0"/>
                <a:ea typeface="Calibri" panose="020F0502020204030204" pitchFamily="34" charset="-122"/>
                <a:cs typeface="Calibri" panose="020F0502020204030204" pitchFamily="34" charset="-120"/>
              </a:rPr>
              <a:t>Aktarma kanalı</a:t>
            </a:r>
            <a:endParaRPr lang="en-US" sz="900" dirty="0"/>
          </a:p>
          <a:p>
            <a:pPr marL="0" indent="0" algn="l">
              <a:spcAft>
                <a:spcPts val="200"/>
              </a:spcAft>
              <a:buNone/>
            </a:pPr>
            <a:r>
              <a:rPr lang="en-US" sz="900" dirty="0">
                <a:solidFill>
                  <a:srgbClr val="212121"/>
                </a:solidFill>
                <a:latin typeface="Calibri" panose="020F0502020204030204" pitchFamily="34" charset="0"/>
                <a:ea typeface="Calibri" panose="020F0502020204030204" pitchFamily="34" charset="-122"/>
                <a:cs typeface="Calibri" panose="020F0502020204030204" pitchFamily="34" charset="-120"/>
              </a:rPr>
              <a:t>Düşük çevre etkisi</a:t>
            </a:r>
            <a:endParaRPr lang="en-US" sz="900" dirty="0"/>
          </a:p>
          <a:p>
            <a:pPr marL="0" indent="0" algn="l">
              <a:spcAft>
                <a:spcPts val="200"/>
              </a:spcAft>
              <a:buNone/>
            </a:pPr>
            <a:r>
              <a:rPr lang="en-US" sz="900" dirty="0">
                <a:solidFill>
                  <a:srgbClr val="212121"/>
                </a:solidFill>
                <a:latin typeface="Calibri" panose="020F0502020204030204" pitchFamily="34" charset="0"/>
                <a:ea typeface="Calibri" panose="020F0502020204030204" pitchFamily="34" charset="-122"/>
                <a:cs typeface="Calibri" panose="020F0502020204030204" pitchFamily="34" charset="-120"/>
              </a:rPr>
              <a:t>İzmir için uygun</a:t>
            </a:r>
            <a:endParaRPr lang="en-US" sz="900" dirty="0"/>
          </a:p>
        </p:txBody>
      </p:sp>
      <p:sp>
        <p:nvSpPr>
          <p:cNvPr id="13" name="Shape 11"/>
          <p:cNvSpPr/>
          <p:nvPr/>
        </p:nvSpPr>
        <p:spPr>
          <a:xfrm>
            <a:off x="2514600" y="1600200"/>
            <a:ext cx="2011680" cy="1417320"/>
          </a:xfrm>
          <a:prstGeom prst="rect">
            <a:avLst/>
          </a:prstGeom>
          <a:solidFill>
            <a:srgbClr val="1A7430">
              <a:alpha val="15000"/>
            </a:srgbClr>
          </a:solidFill>
          <a:ln w="12700">
            <a:solidFill>
              <a:srgbClr val="1A7430"/>
            </a:solidFill>
            <a:prstDash val="solid"/>
          </a:ln>
        </p:spPr>
        <p:txBody>
          <a:bodyPr/>
          <a:lstStyle/>
          <a:p>
            <a:endParaRPr lang="tr-TR"/>
          </a:p>
        </p:txBody>
      </p:sp>
      <p:sp>
        <p:nvSpPr>
          <p:cNvPr id="14" name="Shape 12"/>
          <p:cNvSpPr/>
          <p:nvPr/>
        </p:nvSpPr>
        <p:spPr>
          <a:xfrm>
            <a:off x="2514600" y="1600200"/>
            <a:ext cx="2011680" cy="301752"/>
          </a:xfrm>
          <a:prstGeom prst="rect">
            <a:avLst/>
          </a:prstGeom>
          <a:solidFill>
            <a:srgbClr val="1A7430"/>
          </a:solidFill>
          <a:ln w="12700">
            <a:solidFill>
              <a:srgbClr val="1A7430"/>
            </a:solidFill>
            <a:prstDash val="solid"/>
          </a:ln>
        </p:spPr>
        <p:txBody>
          <a:bodyPr/>
          <a:lstStyle/>
          <a:p>
            <a:endParaRPr lang="tr-TR"/>
          </a:p>
        </p:txBody>
      </p:sp>
      <p:sp>
        <p:nvSpPr>
          <p:cNvPr id="15" name="Text 13"/>
          <p:cNvSpPr/>
          <p:nvPr/>
        </p:nvSpPr>
        <p:spPr>
          <a:xfrm>
            <a:off x="2551176" y="1600200"/>
            <a:ext cx="1938528" cy="301752"/>
          </a:xfrm>
          <a:prstGeom prst="rect">
            <a:avLst/>
          </a:prstGeom>
          <a:noFill/>
        </p:spPr>
        <p:txBody>
          <a:bodyPr wrap="square" rtlCol="0" anchor="ctr"/>
          <a:lstStyle/>
          <a:p>
            <a:pPr marL="0" indent="0" algn="ctr">
              <a:buNone/>
            </a:pPr>
            <a:r>
              <a:rPr lang="en-US" sz="950" b="1" dirty="0">
                <a:solidFill>
                  <a:srgbClr val="FFFFFF"/>
                </a:solidFill>
                <a:latin typeface="Calibri" panose="020F0502020204030204" pitchFamily="34" charset="0"/>
                <a:ea typeface="Calibri" panose="020F0502020204030204" pitchFamily="34" charset="-122"/>
                <a:cs typeface="Calibri" panose="020F0502020204030204" pitchFamily="34" charset="-120"/>
              </a:rPr>
              <a:t>Regülatörlü</a:t>
            </a:r>
            <a:endParaRPr lang="en-US" sz="950" dirty="0"/>
          </a:p>
        </p:txBody>
      </p:sp>
      <p:sp>
        <p:nvSpPr>
          <p:cNvPr id="16" name="Text 14"/>
          <p:cNvSpPr/>
          <p:nvPr/>
        </p:nvSpPr>
        <p:spPr>
          <a:xfrm>
            <a:off x="2606040" y="1920240"/>
            <a:ext cx="1828800" cy="1051560"/>
          </a:xfrm>
          <a:prstGeom prst="rect">
            <a:avLst/>
          </a:prstGeom>
          <a:noFill/>
        </p:spPr>
        <p:txBody>
          <a:bodyPr wrap="square" rtlCol="0" anchor="t"/>
          <a:lstStyle/>
          <a:p>
            <a:pPr marL="0" indent="0" algn="l">
              <a:spcAft>
                <a:spcPts val="200"/>
              </a:spcAft>
              <a:buNone/>
            </a:pPr>
            <a:r>
              <a:rPr lang="en-US" sz="900" dirty="0">
                <a:solidFill>
                  <a:srgbClr val="212121"/>
                </a:solidFill>
                <a:latin typeface="Calibri" panose="020F0502020204030204" pitchFamily="34" charset="0"/>
                <a:ea typeface="Calibri" panose="020F0502020204030204" pitchFamily="34" charset="-122"/>
                <a:cs typeface="Calibri" panose="020F0502020204030204" pitchFamily="34" charset="-120"/>
              </a:rPr>
              <a:t>Küçük baraj</a:t>
            </a:r>
            <a:endParaRPr lang="en-US" sz="900" dirty="0"/>
          </a:p>
          <a:p>
            <a:pPr marL="0" indent="0" algn="l">
              <a:spcAft>
                <a:spcPts val="200"/>
              </a:spcAft>
              <a:buNone/>
            </a:pPr>
            <a:r>
              <a:rPr lang="en-US" sz="900" dirty="0">
                <a:solidFill>
                  <a:srgbClr val="212121"/>
                </a:solidFill>
                <a:latin typeface="Calibri" panose="020F0502020204030204" pitchFamily="34" charset="0"/>
                <a:ea typeface="Calibri" panose="020F0502020204030204" pitchFamily="34" charset="-122"/>
                <a:cs typeface="Calibri" panose="020F0502020204030204" pitchFamily="34" charset="-120"/>
              </a:rPr>
              <a:t>Daha kararlı debi</a:t>
            </a:r>
            <a:endParaRPr lang="en-US" sz="900" dirty="0"/>
          </a:p>
          <a:p>
            <a:pPr marL="0" indent="0" algn="l">
              <a:spcAft>
                <a:spcPts val="200"/>
              </a:spcAft>
              <a:buNone/>
            </a:pPr>
            <a:r>
              <a:rPr lang="en-US" sz="900" dirty="0">
                <a:solidFill>
                  <a:srgbClr val="212121"/>
                </a:solidFill>
                <a:latin typeface="Calibri" panose="020F0502020204030204" pitchFamily="34" charset="0"/>
                <a:ea typeface="Calibri" panose="020F0502020204030204" pitchFamily="34" charset="-122"/>
                <a:cs typeface="Calibri" panose="020F0502020204030204" pitchFamily="34" charset="-120"/>
              </a:rPr>
              <a:t>Daha fazla ekolojik etki</a:t>
            </a:r>
            <a:endParaRPr lang="en-US" sz="900" dirty="0"/>
          </a:p>
          <a:p>
            <a:pPr marL="0" indent="0" algn="l">
              <a:spcAft>
                <a:spcPts val="200"/>
              </a:spcAft>
              <a:buNone/>
            </a:pPr>
            <a:r>
              <a:rPr lang="en-US" sz="900" dirty="0">
                <a:solidFill>
                  <a:srgbClr val="212121"/>
                </a:solidFill>
                <a:latin typeface="Calibri" panose="020F0502020204030204" pitchFamily="34" charset="0"/>
                <a:ea typeface="Calibri" panose="020F0502020204030204" pitchFamily="34" charset="-122"/>
                <a:cs typeface="Calibri" panose="020F0502020204030204" pitchFamily="34" charset="-120"/>
              </a:rPr>
              <a:t>Kısmen depolama</a:t>
            </a:r>
            <a:endParaRPr lang="en-US" sz="900" dirty="0"/>
          </a:p>
        </p:txBody>
      </p:sp>
      <p:sp>
        <p:nvSpPr>
          <p:cNvPr id="17" name="Shape 15"/>
          <p:cNvSpPr/>
          <p:nvPr/>
        </p:nvSpPr>
        <p:spPr>
          <a:xfrm>
            <a:off x="4709160" y="1600200"/>
            <a:ext cx="2011680" cy="1417320"/>
          </a:xfrm>
          <a:prstGeom prst="rect">
            <a:avLst/>
          </a:prstGeom>
          <a:solidFill>
            <a:srgbClr val="239B56">
              <a:alpha val="15000"/>
            </a:srgbClr>
          </a:solidFill>
          <a:ln w="12700">
            <a:solidFill>
              <a:srgbClr val="239B56"/>
            </a:solidFill>
            <a:prstDash val="solid"/>
          </a:ln>
        </p:spPr>
        <p:txBody>
          <a:bodyPr/>
          <a:lstStyle/>
          <a:p>
            <a:endParaRPr lang="tr-TR"/>
          </a:p>
        </p:txBody>
      </p:sp>
      <p:sp>
        <p:nvSpPr>
          <p:cNvPr id="18" name="Shape 16"/>
          <p:cNvSpPr/>
          <p:nvPr/>
        </p:nvSpPr>
        <p:spPr>
          <a:xfrm>
            <a:off x="4709160" y="1600200"/>
            <a:ext cx="2011680" cy="301752"/>
          </a:xfrm>
          <a:prstGeom prst="rect">
            <a:avLst/>
          </a:prstGeom>
          <a:solidFill>
            <a:srgbClr val="239B56"/>
          </a:solidFill>
          <a:ln w="12700">
            <a:solidFill>
              <a:srgbClr val="239B56"/>
            </a:solidFill>
            <a:prstDash val="solid"/>
          </a:ln>
        </p:spPr>
        <p:txBody>
          <a:bodyPr/>
          <a:lstStyle/>
          <a:p>
            <a:endParaRPr lang="tr-TR"/>
          </a:p>
        </p:txBody>
      </p:sp>
      <p:sp>
        <p:nvSpPr>
          <p:cNvPr id="19" name="Text 17"/>
          <p:cNvSpPr/>
          <p:nvPr/>
        </p:nvSpPr>
        <p:spPr>
          <a:xfrm>
            <a:off x="4745736" y="1600200"/>
            <a:ext cx="1938528" cy="301752"/>
          </a:xfrm>
          <a:prstGeom prst="rect">
            <a:avLst/>
          </a:prstGeom>
          <a:noFill/>
        </p:spPr>
        <p:txBody>
          <a:bodyPr wrap="square" rtlCol="0" anchor="ctr"/>
          <a:lstStyle/>
          <a:p>
            <a:pPr marL="0" indent="0" algn="ctr">
              <a:buNone/>
            </a:pPr>
            <a:r>
              <a:rPr lang="en-US" sz="950" b="1" dirty="0">
                <a:solidFill>
                  <a:srgbClr val="FFFFFF"/>
                </a:solidFill>
                <a:latin typeface="Calibri" panose="020F0502020204030204" pitchFamily="34" charset="0"/>
                <a:ea typeface="Calibri" panose="020F0502020204030204" pitchFamily="34" charset="-122"/>
                <a:cs typeface="Calibri" panose="020F0502020204030204" pitchFamily="34" charset="-120"/>
              </a:rPr>
              <a:t>Suyolu (Kanaldan)</a:t>
            </a:r>
            <a:endParaRPr lang="en-US" sz="950" dirty="0"/>
          </a:p>
        </p:txBody>
      </p:sp>
      <p:sp>
        <p:nvSpPr>
          <p:cNvPr id="20" name="Text 18"/>
          <p:cNvSpPr/>
          <p:nvPr/>
        </p:nvSpPr>
        <p:spPr>
          <a:xfrm>
            <a:off x="4800600" y="1920240"/>
            <a:ext cx="1828800" cy="1051560"/>
          </a:xfrm>
          <a:prstGeom prst="rect">
            <a:avLst/>
          </a:prstGeom>
          <a:noFill/>
        </p:spPr>
        <p:txBody>
          <a:bodyPr wrap="square" rtlCol="0" anchor="t"/>
          <a:lstStyle/>
          <a:p>
            <a:pPr marL="0" indent="0" algn="l">
              <a:spcAft>
                <a:spcPts val="200"/>
              </a:spcAft>
              <a:buNone/>
            </a:pPr>
            <a:r>
              <a:rPr lang="en-US" sz="900" dirty="0">
                <a:solidFill>
                  <a:srgbClr val="212121"/>
                </a:solidFill>
                <a:latin typeface="Calibri" panose="020F0502020204030204" pitchFamily="34" charset="0"/>
                <a:ea typeface="Calibri" panose="020F0502020204030204" pitchFamily="34" charset="-122"/>
                <a:cs typeface="Calibri" panose="020F0502020204030204" pitchFamily="34" charset="-120"/>
              </a:rPr>
              <a:t>Sulama kanalı</a:t>
            </a:r>
            <a:endParaRPr lang="en-US" sz="900" dirty="0"/>
          </a:p>
          <a:p>
            <a:pPr marL="0" indent="0" algn="l">
              <a:spcAft>
                <a:spcPts val="200"/>
              </a:spcAft>
              <a:buNone/>
            </a:pPr>
            <a:r>
              <a:rPr lang="en-US" sz="900" dirty="0">
                <a:solidFill>
                  <a:srgbClr val="212121"/>
                </a:solidFill>
                <a:latin typeface="Calibri" panose="020F0502020204030204" pitchFamily="34" charset="0"/>
                <a:ea typeface="Calibri" panose="020F0502020204030204" pitchFamily="34" charset="-122"/>
                <a:cs typeface="Calibri" panose="020F0502020204030204" pitchFamily="34" charset="-120"/>
              </a:rPr>
              <a:t>Su hakkı kolay</a:t>
            </a:r>
            <a:endParaRPr lang="en-US" sz="900" dirty="0"/>
          </a:p>
          <a:p>
            <a:pPr marL="0" indent="0" algn="l">
              <a:spcAft>
                <a:spcPts val="200"/>
              </a:spcAft>
              <a:buNone/>
            </a:pPr>
            <a:r>
              <a:rPr lang="en-US" sz="900" dirty="0">
                <a:solidFill>
                  <a:srgbClr val="212121"/>
                </a:solidFill>
                <a:latin typeface="Calibri" panose="020F0502020204030204" pitchFamily="34" charset="0"/>
                <a:ea typeface="Calibri" panose="020F0502020204030204" pitchFamily="34" charset="-122"/>
                <a:cs typeface="Calibri" panose="020F0502020204030204" pitchFamily="34" charset="-120"/>
              </a:rPr>
              <a:t>Kentsel kullanım</a:t>
            </a:r>
            <a:endParaRPr lang="en-US" sz="900" dirty="0"/>
          </a:p>
          <a:p>
            <a:pPr marL="0" indent="0" algn="l">
              <a:spcAft>
                <a:spcPts val="200"/>
              </a:spcAft>
              <a:buNone/>
            </a:pPr>
            <a:r>
              <a:rPr lang="en-US" sz="900" dirty="0">
                <a:solidFill>
                  <a:srgbClr val="212121"/>
                </a:solidFill>
                <a:latin typeface="Calibri" panose="020F0502020204030204" pitchFamily="34" charset="0"/>
                <a:ea typeface="Calibri" panose="020F0502020204030204" pitchFamily="34" charset="-122"/>
                <a:cs typeface="Calibri" panose="020F0502020204030204" pitchFamily="34" charset="-120"/>
              </a:rPr>
              <a:t>Düşük maliyet</a:t>
            </a:r>
            <a:endParaRPr lang="en-US" sz="900" dirty="0"/>
          </a:p>
        </p:txBody>
      </p:sp>
      <p:sp>
        <p:nvSpPr>
          <p:cNvPr id="21" name="Shape 19"/>
          <p:cNvSpPr/>
          <p:nvPr/>
        </p:nvSpPr>
        <p:spPr>
          <a:xfrm>
            <a:off x="6903720" y="1600200"/>
            <a:ext cx="2011680" cy="1417320"/>
          </a:xfrm>
          <a:prstGeom prst="rect">
            <a:avLst/>
          </a:prstGeom>
          <a:solidFill>
            <a:srgbClr val="1D8348">
              <a:alpha val="15000"/>
            </a:srgbClr>
          </a:solidFill>
          <a:ln w="12700">
            <a:solidFill>
              <a:srgbClr val="1D8348"/>
            </a:solidFill>
            <a:prstDash val="solid"/>
          </a:ln>
        </p:spPr>
        <p:txBody>
          <a:bodyPr/>
          <a:lstStyle/>
          <a:p>
            <a:endParaRPr lang="tr-TR"/>
          </a:p>
        </p:txBody>
      </p:sp>
      <p:sp>
        <p:nvSpPr>
          <p:cNvPr id="22" name="Shape 20"/>
          <p:cNvSpPr/>
          <p:nvPr/>
        </p:nvSpPr>
        <p:spPr>
          <a:xfrm>
            <a:off x="6903720" y="1600200"/>
            <a:ext cx="2011680" cy="301752"/>
          </a:xfrm>
          <a:prstGeom prst="rect">
            <a:avLst/>
          </a:prstGeom>
          <a:solidFill>
            <a:srgbClr val="1D8348"/>
          </a:solidFill>
          <a:ln w="12700">
            <a:solidFill>
              <a:srgbClr val="1D8348"/>
            </a:solidFill>
            <a:prstDash val="solid"/>
          </a:ln>
        </p:spPr>
        <p:txBody>
          <a:bodyPr/>
          <a:lstStyle/>
          <a:p>
            <a:endParaRPr lang="tr-TR"/>
          </a:p>
        </p:txBody>
      </p:sp>
      <p:sp>
        <p:nvSpPr>
          <p:cNvPr id="23" name="Text 21"/>
          <p:cNvSpPr/>
          <p:nvPr/>
        </p:nvSpPr>
        <p:spPr>
          <a:xfrm>
            <a:off x="6940296" y="1600200"/>
            <a:ext cx="1938528" cy="301752"/>
          </a:xfrm>
          <a:prstGeom prst="rect">
            <a:avLst/>
          </a:prstGeom>
          <a:noFill/>
        </p:spPr>
        <p:txBody>
          <a:bodyPr wrap="square" rtlCol="0" anchor="ctr"/>
          <a:lstStyle/>
          <a:p>
            <a:pPr marL="0" indent="0" algn="ctr">
              <a:buNone/>
            </a:pPr>
            <a:r>
              <a:rPr lang="en-US" sz="950" b="1" dirty="0">
                <a:solidFill>
                  <a:srgbClr val="FFFFFF"/>
                </a:solidFill>
                <a:latin typeface="Calibri" panose="020F0502020204030204" pitchFamily="34" charset="0"/>
                <a:ea typeface="Calibri" panose="020F0502020204030204" pitchFamily="34" charset="-122"/>
                <a:cs typeface="Calibri" panose="020F0502020204030204" pitchFamily="34" charset="-120"/>
              </a:rPr>
              <a:t>Basınçlı Boru</a:t>
            </a:r>
            <a:endParaRPr lang="en-US" sz="950" dirty="0"/>
          </a:p>
        </p:txBody>
      </p:sp>
      <p:sp>
        <p:nvSpPr>
          <p:cNvPr id="24" name="Text 22"/>
          <p:cNvSpPr/>
          <p:nvPr/>
        </p:nvSpPr>
        <p:spPr>
          <a:xfrm>
            <a:off x="6995160" y="1920240"/>
            <a:ext cx="1828800" cy="1051560"/>
          </a:xfrm>
          <a:prstGeom prst="rect">
            <a:avLst/>
          </a:prstGeom>
          <a:noFill/>
        </p:spPr>
        <p:txBody>
          <a:bodyPr wrap="square" rtlCol="0" anchor="t"/>
          <a:lstStyle/>
          <a:p>
            <a:pPr marL="0" indent="0" algn="l">
              <a:spcAft>
                <a:spcPts val="200"/>
              </a:spcAft>
              <a:buNone/>
            </a:pPr>
            <a:r>
              <a:rPr lang="en-US" sz="900" dirty="0">
                <a:solidFill>
                  <a:srgbClr val="212121"/>
                </a:solidFill>
                <a:latin typeface="Calibri" panose="020F0502020204030204" pitchFamily="34" charset="0"/>
                <a:ea typeface="Calibri" panose="020F0502020204030204" pitchFamily="34" charset="-122"/>
                <a:cs typeface="Calibri" panose="020F0502020204030204" pitchFamily="34" charset="-120"/>
              </a:rPr>
              <a:t>Yüksek düşü</a:t>
            </a:r>
            <a:endParaRPr lang="en-US" sz="900" dirty="0"/>
          </a:p>
          <a:p>
            <a:pPr marL="0" indent="0" algn="l">
              <a:spcAft>
                <a:spcPts val="200"/>
              </a:spcAft>
              <a:buNone/>
            </a:pPr>
            <a:r>
              <a:rPr lang="en-US" sz="900" dirty="0">
                <a:solidFill>
                  <a:srgbClr val="212121"/>
                </a:solidFill>
                <a:latin typeface="Calibri" panose="020F0502020204030204" pitchFamily="34" charset="0"/>
                <a:ea typeface="Calibri" panose="020F0502020204030204" pitchFamily="34" charset="-122"/>
                <a:cs typeface="Calibri" panose="020F0502020204030204" pitchFamily="34" charset="-120"/>
              </a:rPr>
              <a:t>Kentsel şebeke</a:t>
            </a:r>
            <a:endParaRPr lang="en-US" sz="900" dirty="0"/>
          </a:p>
          <a:p>
            <a:pPr marL="0" indent="0" algn="l">
              <a:spcAft>
                <a:spcPts val="200"/>
              </a:spcAft>
              <a:buNone/>
            </a:pPr>
            <a:r>
              <a:rPr lang="en-US" sz="900" dirty="0">
                <a:solidFill>
                  <a:srgbClr val="212121"/>
                </a:solidFill>
                <a:latin typeface="Calibri" panose="020F0502020204030204" pitchFamily="34" charset="0"/>
                <a:ea typeface="Calibri" panose="020F0502020204030204" pitchFamily="34" charset="-122"/>
                <a:cs typeface="Calibri" panose="020F0502020204030204" pitchFamily="34" charset="-120"/>
              </a:rPr>
              <a:t>Kompakt tasarım</a:t>
            </a:r>
            <a:endParaRPr lang="en-US" sz="900" dirty="0"/>
          </a:p>
          <a:p>
            <a:pPr marL="0" indent="0" algn="l">
              <a:spcAft>
                <a:spcPts val="200"/>
              </a:spcAft>
              <a:buNone/>
            </a:pPr>
            <a:r>
              <a:rPr lang="en-US" sz="900" dirty="0">
                <a:solidFill>
                  <a:srgbClr val="212121"/>
                </a:solidFill>
                <a:latin typeface="Calibri" panose="020F0502020204030204" pitchFamily="34" charset="0"/>
                <a:ea typeface="Calibri" panose="020F0502020204030204" pitchFamily="34" charset="-122"/>
                <a:cs typeface="Calibri" panose="020F0502020204030204" pitchFamily="34" charset="-120"/>
              </a:rPr>
              <a:t>Ilıca Deresi modeli</a:t>
            </a:r>
            <a:endParaRPr lang="en-US" sz="900" dirty="0"/>
          </a:p>
        </p:txBody>
      </p:sp>
      <p:sp>
        <p:nvSpPr>
          <p:cNvPr id="25" name="Shape 23"/>
          <p:cNvSpPr/>
          <p:nvPr/>
        </p:nvSpPr>
        <p:spPr>
          <a:xfrm>
            <a:off x="320040" y="3108960"/>
            <a:ext cx="4183380" cy="1554480"/>
          </a:xfrm>
          <a:prstGeom prst="rect">
            <a:avLst/>
          </a:prstGeom>
          <a:solidFill>
            <a:srgbClr val="D5F5E3"/>
          </a:solidFill>
          <a:ln w="6350">
            <a:solidFill>
              <a:srgbClr val="E0E6ED"/>
            </a:solidFill>
            <a:prstDash val="solid"/>
          </a:ln>
        </p:spPr>
        <p:txBody>
          <a:bodyPr/>
          <a:lstStyle/>
          <a:p>
            <a:endParaRPr lang="tr-TR"/>
          </a:p>
        </p:txBody>
      </p:sp>
      <p:sp>
        <p:nvSpPr>
          <p:cNvPr id="26" name="Shape 24"/>
          <p:cNvSpPr/>
          <p:nvPr/>
        </p:nvSpPr>
        <p:spPr>
          <a:xfrm>
            <a:off x="320040" y="3108960"/>
            <a:ext cx="4183380" cy="292608"/>
          </a:xfrm>
          <a:prstGeom prst="rect">
            <a:avLst/>
          </a:prstGeom>
          <a:solidFill>
            <a:srgbClr val="1E8449"/>
          </a:solidFill>
          <a:ln w="12700">
            <a:solidFill>
              <a:srgbClr val="1E8449"/>
            </a:solidFill>
            <a:prstDash val="solid"/>
          </a:ln>
        </p:spPr>
        <p:txBody>
          <a:bodyPr/>
          <a:lstStyle/>
          <a:p>
            <a:endParaRPr lang="tr-TR"/>
          </a:p>
        </p:txBody>
      </p:sp>
      <p:sp>
        <p:nvSpPr>
          <p:cNvPr id="27" name="Text 25"/>
          <p:cNvSpPr/>
          <p:nvPr/>
        </p:nvSpPr>
        <p:spPr>
          <a:xfrm>
            <a:off x="365760" y="3127248"/>
            <a:ext cx="4091940" cy="274320"/>
          </a:xfrm>
          <a:prstGeom prst="rect">
            <a:avLst/>
          </a:prstGeom>
          <a:noFill/>
        </p:spPr>
        <p:txBody>
          <a:bodyPr wrap="square" rtlCol="0" anchor="ctr"/>
          <a:lstStyle/>
          <a:p>
            <a:pPr marL="0" indent="0" algn="ctr">
              <a:buNone/>
            </a:pPr>
            <a:r>
              <a:rPr lang="en-US" sz="1000" b="1" dirty="0">
                <a:solidFill>
                  <a:srgbClr val="FFFFFF"/>
                </a:solidFill>
                <a:latin typeface="Calibri" panose="020F0502020204030204" pitchFamily="34" charset="0"/>
                <a:ea typeface="Calibri" panose="020F0502020204030204" pitchFamily="34" charset="-122"/>
                <a:cs typeface="Calibri" panose="020F0502020204030204" pitchFamily="34" charset="-120"/>
              </a:rPr>
              <a:t>✅  Avantajlar</a:t>
            </a:r>
            <a:endParaRPr lang="en-US" sz="1000" dirty="0"/>
          </a:p>
        </p:txBody>
      </p:sp>
      <p:sp>
        <p:nvSpPr>
          <p:cNvPr id="28" name="Text 26"/>
          <p:cNvSpPr/>
          <p:nvPr/>
        </p:nvSpPr>
        <p:spPr>
          <a:xfrm>
            <a:off x="411480" y="3438144"/>
            <a:ext cx="4000500" cy="1152144"/>
          </a:xfrm>
          <a:prstGeom prst="rect">
            <a:avLst/>
          </a:prstGeom>
          <a:noFill/>
        </p:spPr>
        <p:txBody>
          <a:bodyPr wrap="square" rtlCol="0" anchor="t"/>
          <a:lstStyle/>
          <a:p>
            <a:pPr marL="0" indent="0" algn="l">
              <a:spcAft>
                <a:spcPts val="300"/>
              </a:spcAft>
              <a:buNone/>
            </a:pPr>
            <a:r>
              <a:rPr lang="en-US" sz="950" dirty="0">
                <a:solidFill>
                  <a:srgbClr val="212121"/>
                </a:solidFill>
                <a:latin typeface="Calibri" panose="020F0502020204030204" pitchFamily="34" charset="0"/>
                <a:ea typeface="Calibri" panose="020F0502020204030204" pitchFamily="34" charset="-122"/>
                <a:cs typeface="Calibri" panose="020F0502020204030204" pitchFamily="34" charset="-120"/>
              </a:rPr>
              <a:t>• Sürekli (24/7) üretim imkânı
• Minimal görsel çevre etkisi
• Sulama altyapısıyla entegrasyon
• Sera gazı geri ödeme süresi çok kısa (~5,5 ay)
• Düşük işletme ve bakım maliyeti</a:t>
            </a:r>
            <a:endParaRPr lang="en-US" sz="950" dirty="0"/>
          </a:p>
        </p:txBody>
      </p:sp>
      <p:sp>
        <p:nvSpPr>
          <p:cNvPr id="29" name="Shape 27"/>
          <p:cNvSpPr/>
          <p:nvPr/>
        </p:nvSpPr>
        <p:spPr>
          <a:xfrm>
            <a:off x="4640580" y="3108960"/>
            <a:ext cx="4183380" cy="1554480"/>
          </a:xfrm>
          <a:prstGeom prst="rect">
            <a:avLst/>
          </a:prstGeom>
          <a:solidFill>
            <a:srgbClr val="FDEDEC"/>
          </a:solidFill>
          <a:ln w="6350">
            <a:solidFill>
              <a:srgbClr val="E0E6ED"/>
            </a:solidFill>
            <a:prstDash val="solid"/>
          </a:ln>
        </p:spPr>
        <p:txBody>
          <a:bodyPr/>
          <a:lstStyle/>
          <a:p>
            <a:endParaRPr lang="tr-TR"/>
          </a:p>
        </p:txBody>
      </p:sp>
      <p:sp>
        <p:nvSpPr>
          <p:cNvPr id="30" name="Shape 28"/>
          <p:cNvSpPr/>
          <p:nvPr/>
        </p:nvSpPr>
        <p:spPr>
          <a:xfrm>
            <a:off x="4640580" y="3108960"/>
            <a:ext cx="4183380" cy="292608"/>
          </a:xfrm>
          <a:prstGeom prst="rect">
            <a:avLst/>
          </a:prstGeom>
          <a:solidFill>
            <a:srgbClr val="922B21"/>
          </a:solidFill>
          <a:ln w="12700">
            <a:solidFill>
              <a:srgbClr val="922B21"/>
            </a:solidFill>
            <a:prstDash val="solid"/>
          </a:ln>
        </p:spPr>
        <p:txBody>
          <a:bodyPr/>
          <a:lstStyle/>
          <a:p>
            <a:endParaRPr lang="tr-TR"/>
          </a:p>
        </p:txBody>
      </p:sp>
      <p:sp>
        <p:nvSpPr>
          <p:cNvPr id="31" name="Text 29"/>
          <p:cNvSpPr/>
          <p:nvPr/>
        </p:nvSpPr>
        <p:spPr>
          <a:xfrm>
            <a:off x="4686300" y="3127248"/>
            <a:ext cx="4091940" cy="274320"/>
          </a:xfrm>
          <a:prstGeom prst="rect">
            <a:avLst/>
          </a:prstGeom>
          <a:noFill/>
        </p:spPr>
        <p:txBody>
          <a:bodyPr wrap="square" rtlCol="0" anchor="ctr"/>
          <a:lstStyle/>
          <a:p>
            <a:pPr marL="0" indent="0" algn="ctr">
              <a:buNone/>
            </a:pPr>
            <a:r>
              <a:rPr lang="en-US" sz="1000" b="1" dirty="0">
                <a:solidFill>
                  <a:srgbClr val="FFFFFF"/>
                </a:solidFill>
                <a:latin typeface="Calibri" panose="020F0502020204030204" pitchFamily="34" charset="0"/>
                <a:ea typeface="Calibri" panose="020F0502020204030204" pitchFamily="34" charset="-122"/>
                <a:cs typeface="Calibri" panose="020F0502020204030204" pitchFamily="34" charset="-120"/>
              </a:rPr>
              <a:t>❌  Dezavantajlar</a:t>
            </a:r>
            <a:endParaRPr lang="en-US" sz="1000" dirty="0"/>
          </a:p>
        </p:txBody>
      </p:sp>
      <p:sp>
        <p:nvSpPr>
          <p:cNvPr id="32" name="Text 30"/>
          <p:cNvSpPr/>
          <p:nvPr/>
        </p:nvSpPr>
        <p:spPr>
          <a:xfrm>
            <a:off x="4732020" y="3438144"/>
            <a:ext cx="4000500" cy="1152144"/>
          </a:xfrm>
          <a:prstGeom prst="rect">
            <a:avLst/>
          </a:prstGeom>
          <a:noFill/>
        </p:spPr>
        <p:txBody>
          <a:bodyPr wrap="square" rtlCol="0" anchor="t"/>
          <a:lstStyle/>
          <a:p>
            <a:pPr marL="0" indent="0" algn="l">
              <a:spcAft>
                <a:spcPts val="300"/>
              </a:spcAft>
              <a:buNone/>
            </a:pPr>
            <a:r>
              <a:rPr lang="en-US" sz="950" dirty="0">
                <a:solidFill>
                  <a:srgbClr val="212121"/>
                </a:solidFill>
                <a:latin typeface="Calibri" panose="020F0502020204030204" pitchFamily="34" charset="0"/>
                <a:ea typeface="Calibri" panose="020F0502020204030204" pitchFamily="34" charset="-122"/>
                <a:cs typeface="Calibri" panose="020F0502020204030204" pitchFamily="34" charset="-120"/>
              </a:rPr>
              <a:t>• Mevsimsel debi bağımlılığı (yaz kuraklığı)
• Sınırlı kurulu güç potansiyeli
• Can suyu ve ekolojik risk
• DSİ su kullanım hakkı süreci
• Yüksek GPBT: 12–18 yıl</a:t>
            </a:r>
            <a:endParaRPr lang="en-US" sz="9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8F9FA"/>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486000"/>
          </a:xfrm>
          <a:prstGeom prst="rect">
            <a:avLst/>
          </a:prstGeom>
          <a:solidFill>
            <a:srgbClr val="1E84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86000"/>
            <a:ext cx="9144000" cy="32400"/>
          </a:xfrm>
          <a:prstGeom prst="rect">
            <a:avLst/>
          </a:prstGeom>
          <a:solidFill>
            <a:srgbClr val="C890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4860000"/>
            <a:ext cx="9144000" cy="2844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80000" y="4860000"/>
            <a:ext cx="8784000" cy="284400"/>
          </a:xfrm>
          <a:prstGeom prst="rect">
            <a:avLst/>
          </a:prstGeom>
          <a:noFill/>
        </p:spPr>
        <p:txBody>
          <a:bodyPr wrap="square">
            <a:spAutoFit/>
          </a:bodyPr>
          <a:lstStyle/>
          <a:p>
            <a:pPr algn="ctr"/>
            <a:r>
              <a:rPr sz="850" b="0" i="0">
                <a:solidFill>
                  <a:srgbClr val="FFFFFF"/>
                </a:solidFill>
                <a:latin typeface="Calibri" panose="020F0502020204030204"/>
              </a:rPr>
              <a:t>SAÜ EEM  |  İzmir Yenilenebilir Enerji Analizi</a:t>
            </a:r>
            <a:endParaRPr sz="850" b="0" i="0">
              <a:solidFill>
                <a:srgbClr val="FFFFFF"/>
              </a:solidFill>
              <a:latin typeface="Calibri" panose="020F0502020204030204"/>
            </a:endParaRPr>
          </a:p>
        </p:txBody>
      </p:sp>
      <p:sp>
        <p:nvSpPr>
          <p:cNvPr id="6" name="TextBox 5"/>
          <p:cNvSpPr txBox="1"/>
          <p:nvPr/>
        </p:nvSpPr>
        <p:spPr>
          <a:xfrm>
            <a:off x="216000" y="18000"/>
            <a:ext cx="8640000" cy="450000"/>
          </a:xfrm>
          <a:prstGeom prst="rect">
            <a:avLst/>
          </a:prstGeom>
          <a:noFill/>
        </p:spPr>
        <p:txBody>
          <a:bodyPr wrap="square">
            <a:spAutoFit/>
          </a:bodyPr>
          <a:lstStyle/>
          <a:p>
            <a:pPr algn="l"/>
            <a:r>
              <a:rPr sz="1700" b="1" i="0">
                <a:solidFill>
                  <a:srgbClr val="FFFFFF"/>
                </a:solidFill>
                <a:latin typeface="Calibri" panose="020F0502020204030204"/>
              </a:rPr>
              <a:t>Mikro-HES — Sistem Konfigürasyonu, Türbin Tipleri ve İzmir Uygunluğu</a:t>
            </a:r>
            <a:endParaRPr sz="1700" b="1" i="0">
              <a:solidFill>
                <a:srgbClr val="FFFFFF"/>
              </a:solidFill>
              <a:latin typeface="Calibri" panose="020F0502020204030204"/>
            </a:endParaRPr>
          </a:p>
        </p:txBody>
      </p:sp>
      <p:sp>
        <p:nvSpPr>
          <p:cNvPr id="7" name="Rectangle 6"/>
          <p:cNvSpPr/>
          <p:nvPr/>
        </p:nvSpPr>
        <p:spPr>
          <a:xfrm>
            <a:off x="125730" y="558165"/>
            <a:ext cx="2124075" cy="1227455"/>
          </a:xfrm>
          <a:prstGeom prst="rect">
            <a:avLst/>
          </a:prstGeom>
          <a:solidFill>
            <a:srgbClr val="D5F5E3"/>
          </a:solidFill>
          <a:ln w="12700">
            <a:solidFill>
              <a:srgbClr val="1E844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25999" y="558000"/>
            <a:ext cx="2124000" cy="187200"/>
          </a:xfrm>
          <a:prstGeom prst="rect">
            <a:avLst/>
          </a:prstGeom>
          <a:solidFill>
            <a:srgbClr val="1E84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63269" y="485825"/>
            <a:ext cx="2052000" cy="306705"/>
          </a:xfrm>
          <a:prstGeom prst="rect">
            <a:avLst/>
          </a:prstGeom>
          <a:noFill/>
        </p:spPr>
        <p:txBody>
          <a:bodyPr wrap="square">
            <a:spAutoFit/>
          </a:bodyPr>
          <a:lstStyle/>
          <a:p>
            <a:pPr algn="ctr"/>
            <a:r>
              <a:rPr sz="700" b="1" i="0">
                <a:solidFill>
                  <a:srgbClr val="FFFFFF"/>
                </a:solidFill>
                <a:latin typeface="Calibri" panose="020F0502020204030204"/>
              </a:rPr>
              <a:t>Nehir Tipi
(Run-of-River)</a:t>
            </a:r>
            <a:endParaRPr sz="700" b="1" i="0">
              <a:solidFill>
                <a:srgbClr val="FFFFFF"/>
              </a:solidFill>
              <a:latin typeface="Calibri" panose="020F0502020204030204"/>
            </a:endParaRPr>
          </a:p>
        </p:txBody>
      </p:sp>
      <p:sp>
        <p:nvSpPr>
          <p:cNvPr id="10" name="TextBox 9"/>
          <p:cNvSpPr txBox="1"/>
          <p:nvPr/>
        </p:nvSpPr>
        <p:spPr>
          <a:xfrm>
            <a:off x="179705" y="763270"/>
            <a:ext cx="2016125" cy="1010920"/>
          </a:xfrm>
          <a:prstGeom prst="rect">
            <a:avLst/>
          </a:prstGeom>
          <a:noFill/>
        </p:spPr>
        <p:txBody>
          <a:bodyPr wrap="square">
            <a:noAutofit/>
          </a:bodyPr>
          <a:lstStyle/>
          <a:p>
            <a:pPr algn="l"/>
            <a:r>
              <a:rPr sz="950" b="0" i="0">
                <a:solidFill>
                  <a:srgbClr val="212121"/>
                </a:solidFill>
                <a:latin typeface="Calibri" panose="020F0502020204030204"/>
              </a:rPr>
              <a:t>• Depolama yok — anlık debi
• En düşük çevre etkisi
• Mevsimsel CF değişimi
• İzmir için ana tip
• DSİ can suyu yükümlülüğü</a:t>
            </a:r>
            <a:endParaRPr sz="950" b="0" i="0">
              <a:solidFill>
                <a:srgbClr val="212121"/>
              </a:solidFill>
              <a:latin typeface="Calibri" panose="020F0502020204030204"/>
            </a:endParaRPr>
          </a:p>
        </p:txBody>
      </p:sp>
      <p:sp>
        <p:nvSpPr>
          <p:cNvPr id="11" name="TextBox 10"/>
          <p:cNvSpPr txBox="1"/>
          <p:nvPr/>
        </p:nvSpPr>
        <p:spPr>
          <a:xfrm>
            <a:off x="179779" y="1592110"/>
            <a:ext cx="2052000" cy="136800"/>
          </a:xfrm>
          <a:prstGeom prst="rect">
            <a:avLst/>
          </a:prstGeom>
          <a:noFill/>
        </p:spPr>
        <p:txBody>
          <a:bodyPr wrap="square">
            <a:spAutoFit/>
          </a:bodyPr>
          <a:lstStyle/>
          <a:p>
            <a:pPr algn="ctr"/>
            <a:r>
              <a:rPr sz="950" b="1" i="0">
                <a:solidFill>
                  <a:srgbClr val="1E8449"/>
                </a:solidFill>
                <a:latin typeface="Calibri" panose="020F0502020204030204"/>
              </a:rPr>
              <a:t>İzmir: ★★★★★</a:t>
            </a:r>
            <a:endParaRPr sz="950" b="1" i="0">
              <a:solidFill>
                <a:srgbClr val="1E8449"/>
              </a:solidFill>
              <a:latin typeface="Calibri" panose="020F0502020204030204"/>
            </a:endParaRPr>
          </a:p>
        </p:txBody>
      </p:sp>
      <p:sp>
        <p:nvSpPr>
          <p:cNvPr id="12" name="Rectangle 11"/>
          <p:cNvSpPr/>
          <p:nvPr/>
        </p:nvSpPr>
        <p:spPr>
          <a:xfrm>
            <a:off x="2357755" y="558165"/>
            <a:ext cx="2124075" cy="1215390"/>
          </a:xfrm>
          <a:prstGeom prst="rect">
            <a:avLst/>
          </a:prstGeom>
          <a:solidFill>
            <a:srgbClr val="EAFAF1"/>
          </a:solidFill>
          <a:ln w="12700">
            <a:solidFill>
              <a:srgbClr val="1A743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358000" y="558000"/>
            <a:ext cx="2124000" cy="187200"/>
          </a:xfrm>
          <a:prstGeom prst="rect">
            <a:avLst/>
          </a:prstGeom>
          <a:solidFill>
            <a:srgbClr val="1A74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394635" y="518210"/>
            <a:ext cx="2052000" cy="275590"/>
          </a:xfrm>
          <a:prstGeom prst="rect">
            <a:avLst/>
          </a:prstGeom>
          <a:noFill/>
        </p:spPr>
        <p:txBody>
          <a:bodyPr wrap="square">
            <a:spAutoFit/>
          </a:bodyPr>
          <a:lstStyle/>
          <a:p>
            <a:pPr algn="ctr"/>
            <a:r>
              <a:rPr sz="600" b="1" i="0">
                <a:solidFill>
                  <a:srgbClr val="FFFFFF"/>
                </a:solidFill>
                <a:latin typeface="Calibri" panose="020F0502020204030204"/>
              </a:rPr>
              <a:t>Pondaj Tipi
(Günlük Denge)</a:t>
            </a:r>
            <a:endParaRPr sz="600" b="1" i="0">
              <a:solidFill>
                <a:srgbClr val="FFFFFF"/>
              </a:solidFill>
              <a:latin typeface="Calibri" panose="020F0502020204030204"/>
            </a:endParaRPr>
          </a:p>
        </p:txBody>
      </p:sp>
      <p:sp>
        <p:nvSpPr>
          <p:cNvPr id="15" name="TextBox 14"/>
          <p:cNvSpPr txBox="1"/>
          <p:nvPr/>
        </p:nvSpPr>
        <p:spPr>
          <a:xfrm>
            <a:off x="2411730" y="763270"/>
            <a:ext cx="2016125" cy="1010285"/>
          </a:xfrm>
          <a:prstGeom prst="rect">
            <a:avLst/>
          </a:prstGeom>
          <a:noFill/>
        </p:spPr>
        <p:txBody>
          <a:bodyPr wrap="square">
            <a:noAutofit/>
          </a:bodyPr>
          <a:lstStyle/>
          <a:p>
            <a:pPr algn="l"/>
            <a:r>
              <a:rPr sz="950" b="0" i="0">
                <a:solidFill>
                  <a:srgbClr val="212121"/>
                </a:solidFill>
                <a:latin typeface="Calibri" panose="020F0502020204030204"/>
              </a:rPr>
              <a:t>• Küçük rezervuar/gölet
• Günlük yük dengeleme
• Orta çevre etkisi
• Mevsimsel bağımlılık azalır
• Daha yüksek ÇED gerekliliği</a:t>
            </a:r>
            <a:endParaRPr sz="950" b="0" i="0">
              <a:solidFill>
                <a:srgbClr val="212121"/>
              </a:solidFill>
              <a:latin typeface="Calibri" panose="020F0502020204030204"/>
            </a:endParaRPr>
          </a:p>
        </p:txBody>
      </p:sp>
      <p:sp>
        <p:nvSpPr>
          <p:cNvPr id="16" name="TextBox 15"/>
          <p:cNvSpPr txBox="1"/>
          <p:nvPr/>
        </p:nvSpPr>
        <p:spPr>
          <a:xfrm>
            <a:off x="2394000" y="1591475"/>
            <a:ext cx="2052000" cy="136800"/>
          </a:xfrm>
          <a:prstGeom prst="rect">
            <a:avLst/>
          </a:prstGeom>
          <a:noFill/>
        </p:spPr>
        <p:txBody>
          <a:bodyPr wrap="square">
            <a:spAutoFit/>
          </a:bodyPr>
          <a:lstStyle/>
          <a:p>
            <a:pPr algn="ctr"/>
            <a:r>
              <a:rPr sz="950" b="1" i="0">
                <a:solidFill>
                  <a:srgbClr val="1A7430"/>
                </a:solidFill>
                <a:latin typeface="Calibri" panose="020F0502020204030204"/>
              </a:rPr>
              <a:t>İzmir: ★★★☆☆</a:t>
            </a:r>
            <a:endParaRPr sz="950" b="1" i="0">
              <a:solidFill>
                <a:srgbClr val="1A7430"/>
              </a:solidFill>
              <a:latin typeface="Calibri" panose="020F0502020204030204"/>
            </a:endParaRPr>
          </a:p>
        </p:txBody>
      </p:sp>
      <p:sp>
        <p:nvSpPr>
          <p:cNvPr id="17" name="Rectangle 16"/>
          <p:cNvSpPr/>
          <p:nvPr/>
        </p:nvSpPr>
        <p:spPr>
          <a:xfrm>
            <a:off x="4589780" y="558165"/>
            <a:ext cx="2124075" cy="1201420"/>
          </a:xfrm>
          <a:prstGeom prst="rect">
            <a:avLst/>
          </a:prstGeom>
          <a:solidFill>
            <a:srgbClr val="F2FBF5"/>
          </a:solidFill>
          <a:ln w="12700">
            <a:solidFill>
              <a:srgbClr val="239B5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590000" y="558000"/>
            <a:ext cx="2124000" cy="187200"/>
          </a:xfrm>
          <a:prstGeom prst="rect">
            <a:avLst/>
          </a:prstGeom>
          <a:solidFill>
            <a:srgbClr val="239B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643780" y="516940"/>
            <a:ext cx="2052000" cy="275590"/>
          </a:xfrm>
          <a:prstGeom prst="rect">
            <a:avLst/>
          </a:prstGeom>
          <a:noFill/>
        </p:spPr>
        <p:txBody>
          <a:bodyPr wrap="square">
            <a:spAutoFit/>
          </a:bodyPr>
          <a:lstStyle/>
          <a:p>
            <a:pPr algn="ctr"/>
            <a:r>
              <a:rPr sz="600" b="1" i="0">
                <a:solidFill>
                  <a:srgbClr val="FFFFFF"/>
                </a:solidFill>
                <a:latin typeface="Calibri" panose="020F0502020204030204"/>
              </a:rPr>
              <a:t>Kanal Tipi
(Sulama Entegre)</a:t>
            </a:r>
            <a:endParaRPr sz="600" b="1" i="0">
              <a:solidFill>
                <a:srgbClr val="FFFFFF"/>
              </a:solidFill>
              <a:latin typeface="Calibri" panose="020F0502020204030204"/>
            </a:endParaRPr>
          </a:p>
        </p:txBody>
      </p:sp>
      <p:sp>
        <p:nvSpPr>
          <p:cNvPr id="20" name="TextBox 19"/>
          <p:cNvSpPr txBox="1"/>
          <p:nvPr/>
        </p:nvSpPr>
        <p:spPr>
          <a:xfrm>
            <a:off x="4643755" y="763270"/>
            <a:ext cx="2016125" cy="984250"/>
          </a:xfrm>
          <a:prstGeom prst="rect">
            <a:avLst/>
          </a:prstGeom>
          <a:noFill/>
        </p:spPr>
        <p:txBody>
          <a:bodyPr wrap="square">
            <a:noAutofit/>
          </a:bodyPr>
          <a:lstStyle/>
          <a:p>
            <a:pPr algn="l"/>
            <a:r>
              <a:rPr sz="950" b="0" i="0">
                <a:solidFill>
                  <a:srgbClr val="212121"/>
                </a:solidFill>
                <a:latin typeface="Calibri" panose="020F0502020204030204"/>
              </a:rPr>
              <a:t>• Mevcut sulama kanalları
• Su hakkı kolaylaştırılmış
• Küçük kapasiteli
• Küçük Menderes kooperatifleri
• Düşük maliyet</a:t>
            </a:r>
            <a:endParaRPr sz="950" b="0" i="0">
              <a:solidFill>
                <a:srgbClr val="212121"/>
              </a:solidFill>
              <a:latin typeface="Calibri" panose="020F0502020204030204"/>
            </a:endParaRPr>
          </a:p>
        </p:txBody>
      </p:sp>
      <p:sp>
        <p:nvSpPr>
          <p:cNvPr id="21" name="TextBox 20"/>
          <p:cNvSpPr txBox="1"/>
          <p:nvPr/>
        </p:nvSpPr>
        <p:spPr>
          <a:xfrm>
            <a:off x="4626635" y="1592745"/>
            <a:ext cx="2052000" cy="136800"/>
          </a:xfrm>
          <a:prstGeom prst="rect">
            <a:avLst/>
          </a:prstGeom>
          <a:noFill/>
        </p:spPr>
        <p:txBody>
          <a:bodyPr wrap="square">
            <a:spAutoFit/>
          </a:bodyPr>
          <a:lstStyle/>
          <a:p>
            <a:pPr algn="ctr"/>
            <a:r>
              <a:rPr sz="950" b="1" i="0">
                <a:solidFill>
                  <a:srgbClr val="239B56"/>
                </a:solidFill>
                <a:latin typeface="Calibri" panose="020F0502020204030204"/>
              </a:rPr>
              <a:t>İzmir: ★★★★☆</a:t>
            </a:r>
            <a:endParaRPr sz="950" b="1" i="0">
              <a:solidFill>
                <a:srgbClr val="239B56"/>
              </a:solidFill>
              <a:latin typeface="Calibri" panose="020F0502020204030204"/>
            </a:endParaRPr>
          </a:p>
        </p:txBody>
      </p:sp>
      <p:sp>
        <p:nvSpPr>
          <p:cNvPr id="22" name="Rectangle 21"/>
          <p:cNvSpPr/>
          <p:nvPr/>
        </p:nvSpPr>
        <p:spPr>
          <a:xfrm>
            <a:off x="6821805" y="558165"/>
            <a:ext cx="2124075" cy="1238885"/>
          </a:xfrm>
          <a:prstGeom prst="rect">
            <a:avLst/>
          </a:prstGeom>
          <a:solidFill>
            <a:srgbClr val="E8F8F5"/>
          </a:solidFill>
          <a:ln w="12700">
            <a:solidFill>
              <a:srgbClr val="117A6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822000" y="558000"/>
            <a:ext cx="2124000" cy="187200"/>
          </a:xfrm>
          <a:prstGeom prst="rect">
            <a:avLst/>
          </a:prstGeom>
          <a:solidFill>
            <a:srgbClr val="117A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858000" y="518210"/>
            <a:ext cx="2052000" cy="275590"/>
          </a:xfrm>
          <a:prstGeom prst="rect">
            <a:avLst/>
          </a:prstGeom>
          <a:noFill/>
        </p:spPr>
        <p:txBody>
          <a:bodyPr wrap="square">
            <a:spAutoFit/>
          </a:bodyPr>
          <a:lstStyle/>
          <a:p>
            <a:pPr algn="ctr"/>
            <a:r>
              <a:rPr sz="600" b="1" i="0">
                <a:solidFill>
                  <a:srgbClr val="FFFFFF"/>
                </a:solidFill>
                <a:latin typeface="Calibri" panose="020F0502020204030204"/>
              </a:rPr>
              <a:t>Pompalı Depo
(Pumped Storage)</a:t>
            </a:r>
            <a:endParaRPr sz="600" b="1" i="0">
              <a:solidFill>
                <a:srgbClr val="FFFFFF"/>
              </a:solidFill>
              <a:latin typeface="Calibri" panose="020F0502020204030204"/>
            </a:endParaRPr>
          </a:p>
        </p:txBody>
      </p:sp>
      <p:sp>
        <p:nvSpPr>
          <p:cNvPr id="25" name="TextBox 24"/>
          <p:cNvSpPr txBox="1"/>
          <p:nvPr/>
        </p:nvSpPr>
        <p:spPr>
          <a:xfrm>
            <a:off x="6875780" y="763270"/>
            <a:ext cx="2016125" cy="1022350"/>
          </a:xfrm>
          <a:prstGeom prst="rect">
            <a:avLst/>
          </a:prstGeom>
          <a:noFill/>
        </p:spPr>
        <p:txBody>
          <a:bodyPr wrap="square">
            <a:noAutofit/>
          </a:bodyPr>
          <a:lstStyle/>
          <a:p>
            <a:pPr algn="l"/>
            <a:r>
              <a:rPr sz="950" b="0" i="0">
                <a:solidFill>
                  <a:srgbClr val="212121"/>
                </a:solidFill>
                <a:latin typeface="Calibri" panose="020F0502020204030204"/>
              </a:rPr>
              <a:t>• Enerji depolama özelliği
• Yüksek altyapı maliyeti
• 2 rezervuar gerekli
• İzmir için uygun değil
• Türkiye'de nadir</a:t>
            </a:r>
            <a:endParaRPr sz="950" b="0" i="0">
              <a:solidFill>
                <a:srgbClr val="212121"/>
              </a:solidFill>
              <a:latin typeface="Calibri" panose="020F0502020204030204"/>
            </a:endParaRPr>
          </a:p>
        </p:txBody>
      </p:sp>
      <p:sp>
        <p:nvSpPr>
          <p:cNvPr id="26" name="TextBox 25"/>
          <p:cNvSpPr txBox="1"/>
          <p:nvPr/>
        </p:nvSpPr>
        <p:spPr>
          <a:xfrm>
            <a:off x="6858000" y="1593380"/>
            <a:ext cx="2052000" cy="136800"/>
          </a:xfrm>
          <a:prstGeom prst="rect">
            <a:avLst/>
          </a:prstGeom>
          <a:noFill/>
        </p:spPr>
        <p:txBody>
          <a:bodyPr wrap="square">
            <a:spAutoFit/>
          </a:bodyPr>
          <a:lstStyle/>
          <a:p>
            <a:pPr algn="ctr"/>
            <a:r>
              <a:rPr sz="950" b="1" i="0">
                <a:solidFill>
                  <a:srgbClr val="117A65"/>
                </a:solidFill>
                <a:latin typeface="Calibri" panose="020F0502020204030204"/>
              </a:rPr>
              <a:t>İzmir: ★☆☆☆☆</a:t>
            </a:r>
            <a:endParaRPr sz="950" b="1" i="0">
              <a:solidFill>
                <a:srgbClr val="117A65"/>
              </a:solidFill>
              <a:latin typeface="Calibri" panose="020F0502020204030204"/>
            </a:endParaRPr>
          </a:p>
        </p:txBody>
      </p:sp>
      <p:sp>
        <p:nvSpPr>
          <p:cNvPr id="27" name="Rectangle 26"/>
          <p:cNvSpPr/>
          <p:nvPr/>
        </p:nvSpPr>
        <p:spPr>
          <a:xfrm>
            <a:off x="125730" y="1797050"/>
            <a:ext cx="8891905" cy="247650"/>
          </a:xfrm>
          <a:prstGeom prst="rect">
            <a:avLst/>
          </a:prstGeom>
          <a:solidFill>
            <a:srgbClr val="1E84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80000" y="1796875"/>
            <a:ext cx="8640000" cy="129600"/>
          </a:xfrm>
          <a:prstGeom prst="rect">
            <a:avLst/>
          </a:prstGeom>
          <a:noFill/>
        </p:spPr>
        <p:txBody>
          <a:bodyPr wrap="square">
            <a:spAutoFit/>
          </a:bodyPr>
          <a:lstStyle/>
          <a:p>
            <a:pPr algn="l"/>
            <a:r>
              <a:rPr sz="1200" b="1" i="0">
                <a:solidFill>
                  <a:srgbClr val="FFFFFF"/>
                </a:solidFill>
                <a:latin typeface="Calibri" panose="020F0502020204030204"/>
              </a:rPr>
              <a:t>Mikro-HES Türbin Tipleri — Düşü Yüksekliğine Göre Seçim</a:t>
            </a:r>
            <a:endParaRPr sz="1200" b="1" i="0">
              <a:solidFill>
                <a:srgbClr val="FFFFFF"/>
              </a:solidFill>
              <a:latin typeface="Calibri" panose="020F0502020204030204"/>
            </a:endParaRPr>
          </a:p>
        </p:txBody>
      </p:sp>
      <p:sp>
        <p:nvSpPr>
          <p:cNvPr id="29" name="Rectangle 28"/>
          <p:cNvSpPr/>
          <p:nvPr/>
        </p:nvSpPr>
        <p:spPr>
          <a:xfrm>
            <a:off x="125730" y="2080895"/>
            <a:ext cx="1692275" cy="1232535"/>
          </a:xfrm>
          <a:prstGeom prst="rect">
            <a:avLst/>
          </a:prstGeom>
          <a:solidFill>
            <a:srgbClr val="F0FBF8"/>
          </a:solidFill>
          <a:ln w="12700">
            <a:solidFill>
              <a:srgbClr val="1E844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125999" y="2080800"/>
            <a:ext cx="1692000" cy="151200"/>
          </a:xfrm>
          <a:prstGeom prst="rect">
            <a:avLst/>
          </a:prstGeom>
          <a:solidFill>
            <a:srgbClr val="1E84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61999" y="2037410"/>
            <a:ext cx="1620000" cy="144000"/>
          </a:xfrm>
          <a:prstGeom prst="rect">
            <a:avLst/>
          </a:prstGeom>
          <a:noFill/>
        </p:spPr>
        <p:txBody>
          <a:bodyPr wrap="square">
            <a:spAutoFit/>
          </a:bodyPr>
          <a:lstStyle/>
          <a:p>
            <a:pPr algn="ctr"/>
            <a:r>
              <a:rPr sz="950" b="1" i="0">
                <a:solidFill>
                  <a:srgbClr val="FFFFFF"/>
                </a:solidFill>
                <a:latin typeface="Calibri" panose="020F0502020204030204"/>
              </a:rPr>
              <a:t>Pelton Türbini</a:t>
            </a:r>
            <a:endParaRPr sz="950" b="1" i="0">
              <a:solidFill>
                <a:srgbClr val="FFFFFF"/>
              </a:solidFill>
              <a:latin typeface="Calibri" panose="020F0502020204030204"/>
            </a:endParaRPr>
          </a:p>
        </p:txBody>
      </p:sp>
      <p:sp>
        <p:nvSpPr>
          <p:cNvPr id="32" name="TextBox 31"/>
          <p:cNvSpPr txBox="1"/>
          <p:nvPr/>
        </p:nvSpPr>
        <p:spPr>
          <a:xfrm>
            <a:off x="161999" y="2246400"/>
            <a:ext cx="1620000" cy="136800"/>
          </a:xfrm>
          <a:prstGeom prst="rect">
            <a:avLst/>
          </a:prstGeom>
          <a:noFill/>
        </p:spPr>
        <p:txBody>
          <a:bodyPr wrap="square">
            <a:spAutoFit/>
          </a:bodyPr>
          <a:lstStyle/>
          <a:p>
            <a:pPr algn="ctr"/>
            <a:r>
              <a:rPr sz="900" b="1" i="0">
                <a:solidFill>
                  <a:srgbClr val="1E8449"/>
                </a:solidFill>
                <a:latin typeface="Calibri" panose="020F0502020204030204"/>
              </a:rPr>
              <a:t>H &gt; 50 m
Ilıca Deresi tipi</a:t>
            </a:r>
            <a:endParaRPr sz="900" b="1" i="0">
              <a:solidFill>
                <a:srgbClr val="1E8449"/>
              </a:solidFill>
              <a:latin typeface="Calibri" panose="020F0502020204030204"/>
            </a:endParaRPr>
          </a:p>
        </p:txBody>
      </p:sp>
      <p:sp>
        <p:nvSpPr>
          <p:cNvPr id="33" name="TextBox 32"/>
          <p:cNvSpPr txBox="1"/>
          <p:nvPr/>
        </p:nvSpPr>
        <p:spPr>
          <a:xfrm>
            <a:off x="179705" y="2529840"/>
            <a:ext cx="1602105" cy="645160"/>
          </a:xfrm>
          <a:prstGeom prst="rect">
            <a:avLst/>
          </a:prstGeom>
          <a:noFill/>
        </p:spPr>
        <p:txBody>
          <a:bodyPr wrap="square">
            <a:spAutoFit/>
          </a:bodyPr>
          <a:lstStyle/>
          <a:p>
            <a:pPr algn="l"/>
            <a:r>
              <a:rPr sz="900" b="0" i="0">
                <a:solidFill>
                  <a:srgbClr val="212121"/>
                </a:solidFill>
                <a:latin typeface="Calibri" panose="020F0502020204030204"/>
              </a:rPr>
              <a:t>Yüksek düşü, düşük debi
Etki türbini — su jeti
η = %85–92
Ilıca Deresi (40 m) için uygun</a:t>
            </a:r>
            <a:endParaRPr sz="900" b="0" i="0">
              <a:solidFill>
                <a:srgbClr val="212121"/>
              </a:solidFill>
              <a:latin typeface="Calibri" panose="020F0502020204030204"/>
            </a:endParaRPr>
          </a:p>
        </p:txBody>
      </p:sp>
      <p:sp>
        <p:nvSpPr>
          <p:cNvPr id="34" name="Rectangle 33"/>
          <p:cNvSpPr/>
          <p:nvPr/>
        </p:nvSpPr>
        <p:spPr>
          <a:xfrm>
            <a:off x="1925955" y="2080895"/>
            <a:ext cx="1692275" cy="1232535"/>
          </a:xfrm>
          <a:prstGeom prst="rect">
            <a:avLst/>
          </a:prstGeom>
          <a:solidFill>
            <a:srgbClr val="F0FBF8"/>
          </a:solidFill>
          <a:ln w="12700">
            <a:solidFill>
              <a:srgbClr val="17A58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1925999" y="2080800"/>
            <a:ext cx="1692000" cy="151200"/>
          </a:xfrm>
          <a:prstGeom prst="rect">
            <a:avLst/>
          </a:prstGeom>
          <a:solidFill>
            <a:srgbClr val="17A5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961999" y="2037410"/>
            <a:ext cx="1620000" cy="144000"/>
          </a:xfrm>
          <a:prstGeom prst="rect">
            <a:avLst/>
          </a:prstGeom>
          <a:noFill/>
        </p:spPr>
        <p:txBody>
          <a:bodyPr wrap="square">
            <a:spAutoFit/>
          </a:bodyPr>
          <a:lstStyle/>
          <a:p>
            <a:pPr algn="ctr"/>
            <a:r>
              <a:rPr sz="950" b="1" i="0">
                <a:solidFill>
                  <a:srgbClr val="FFFFFF"/>
                </a:solidFill>
                <a:latin typeface="Calibri" panose="020F0502020204030204"/>
              </a:rPr>
              <a:t>Francis Türbini</a:t>
            </a:r>
            <a:endParaRPr sz="950" b="1" i="0">
              <a:solidFill>
                <a:srgbClr val="FFFFFF"/>
              </a:solidFill>
              <a:latin typeface="Calibri" panose="020F0502020204030204"/>
            </a:endParaRPr>
          </a:p>
        </p:txBody>
      </p:sp>
      <p:sp>
        <p:nvSpPr>
          <p:cNvPr id="37" name="TextBox 36"/>
          <p:cNvSpPr txBox="1"/>
          <p:nvPr/>
        </p:nvSpPr>
        <p:spPr>
          <a:xfrm>
            <a:off x="1961999" y="2246400"/>
            <a:ext cx="1620000" cy="136800"/>
          </a:xfrm>
          <a:prstGeom prst="rect">
            <a:avLst/>
          </a:prstGeom>
          <a:noFill/>
        </p:spPr>
        <p:txBody>
          <a:bodyPr wrap="square">
            <a:spAutoFit/>
          </a:bodyPr>
          <a:lstStyle/>
          <a:p>
            <a:pPr algn="ctr"/>
            <a:r>
              <a:rPr sz="900" b="1" i="0">
                <a:solidFill>
                  <a:srgbClr val="17A589"/>
                </a:solidFill>
                <a:latin typeface="Calibri" panose="020F0502020204030204"/>
              </a:rPr>
              <a:t>H = 10–50 m
Bakırçay / Nif tipi</a:t>
            </a:r>
            <a:endParaRPr sz="900" b="1" i="0">
              <a:solidFill>
                <a:srgbClr val="17A589"/>
              </a:solidFill>
              <a:latin typeface="Calibri" panose="020F0502020204030204"/>
            </a:endParaRPr>
          </a:p>
        </p:txBody>
      </p:sp>
      <p:sp>
        <p:nvSpPr>
          <p:cNvPr id="38" name="TextBox 37"/>
          <p:cNvSpPr txBox="1"/>
          <p:nvPr/>
        </p:nvSpPr>
        <p:spPr>
          <a:xfrm>
            <a:off x="1962150" y="2571750"/>
            <a:ext cx="1598930" cy="741680"/>
          </a:xfrm>
          <a:prstGeom prst="rect">
            <a:avLst/>
          </a:prstGeom>
          <a:noFill/>
        </p:spPr>
        <p:txBody>
          <a:bodyPr wrap="square">
            <a:noAutofit/>
          </a:bodyPr>
          <a:lstStyle/>
          <a:p>
            <a:pPr algn="l"/>
            <a:r>
              <a:rPr sz="900" b="0" i="0">
                <a:solidFill>
                  <a:srgbClr val="212121"/>
                </a:solidFill>
                <a:latin typeface="Calibri" panose="020F0502020204030204"/>
              </a:rPr>
              <a:t>Orta düşü, orta debi
Karışık akışlı — en yaygın
η = %80–92
Bakırçay (12 m) için uygun — en iyi seçim</a:t>
            </a:r>
            <a:endParaRPr sz="900" b="0" i="0">
              <a:solidFill>
                <a:srgbClr val="212121"/>
              </a:solidFill>
              <a:latin typeface="Calibri" panose="020F0502020204030204"/>
            </a:endParaRPr>
          </a:p>
        </p:txBody>
      </p:sp>
      <p:sp>
        <p:nvSpPr>
          <p:cNvPr id="39" name="Rectangle 38"/>
          <p:cNvSpPr/>
          <p:nvPr/>
        </p:nvSpPr>
        <p:spPr>
          <a:xfrm>
            <a:off x="3726180" y="2080895"/>
            <a:ext cx="1692275" cy="1232535"/>
          </a:xfrm>
          <a:prstGeom prst="rect">
            <a:avLst/>
          </a:prstGeom>
          <a:solidFill>
            <a:srgbClr val="F0FBF8"/>
          </a:solidFill>
          <a:ln w="12700">
            <a:solidFill>
              <a:srgbClr val="1ABC9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3726180" y="2080895"/>
            <a:ext cx="1692275" cy="221615"/>
          </a:xfrm>
          <a:prstGeom prst="rect">
            <a:avLst/>
          </a:prstGeom>
          <a:solidFill>
            <a:srgbClr val="1ABC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761999" y="2080590"/>
            <a:ext cx="1620000" cy="144000"/>
          </a:xfrm>
          <a:prstGeom prst="rect">
            <a:avLst/>
          </a:prstGeom>
          <a:noFill/>
        </p:spPr>
        <p:txBody>
          <a:bodyPr wrap="square">
            <a:spAutoFit/>
          </a:bodyPr>
          <a:lstStyle/>
          <a:p>
            <a:pPr algn="ctr"/>
            <a:r>
              <a:rPr sz="950" b="1" i="0">
                <a:solidFill>
                  <a:srgbClr val="FFFFFF"/>
                </a:solidFill>
                <a:latin typeface="Calibri" panose="020F0502020204030204"/>
              </a:rPr>
              <a:t>Kaplan Türbini</a:t>
            </a:r>
            <a:endParaRPr sz="950" b="1" i="0">
              <a:solidFill>
                <a:srgbClr val="FFFFFF"/>
              </a:solidFill>
              <a:latin typeface="Calibri" panose="020F0502020204030204"/>
            </a:endParaRPr>
          </a:p>
        </p:txBody>
      </p:sp>
      <p:sp>
        <p:nvSpPr>
          <p:cNvPr id="42" name="TextBox 41"/>
          <p:cNvSpPr txBox="1"/>
          <p:nvPr/>
        </p:nvSpPr>
        <p:spPr>
          <a:xfrm>
            <a:off x="3781684" y="2301645"/>
            <a:ext cx="1620000" cy="136800"/>
          </a:xfrm>
          <a:prstGeom prst="rect">
            <a:avLst/>
          </a:prstGeom>
          <a:noFill/>
        </p:spPr>
        <p:txBody>
          <a:bodyPr wrap="square">
            <a:spAutoFit/>
          </a:bodyPr>
          <a:lstStyle/>
          <a:p>
            <a:pPr algn="ctr"/>
            <a:r>
              <a:rPr sz="900" b="1" i="0">
                <a:solidFill>
                  <a:srgbClr val="1ABC9C"/>
                </a:solidFill>
                <a:latin typeface="Calibri" panose="020F0502020204030204"/>
              </a:rPr>
              <a:t>H &lt; 10 m
K.Menderes tipi</a:t>
            </a:r>
            <a:endParaRPr sz="900" b="1" i="0">
              <a:solidFill>
                <a:srgbClr val="1ABC9C"/>
              </a:solidFill>
              <a:latin typeface="Calibri" panose="020F0502020204030204"/>
            </a:endParaRPr>
          </a:p>
        </p:txBody>
      </p:sp>
      <p:sp>
        <p:nvSpPr>
          <p:cNvPr id="43" name="TextBox 42"/>
          <p:cNvSpPr txBox="1"/>
          <p:nvPr/>
        </p:nvSpPr>
        <p:spPr>
          <a:xfrm>
            <a:off x="3780000" y="2571590"/>
            <a:ext cx="1584000" cy="568800"/>
          </a:xfrm>
          <a:prstGeom prst="rect">
            <a:avLst/>
          </a:prstGeom>
          <a:noFill/>
        </p:spPr>
        <p:txBody>
          <a:bodyPr wrap="square">
            <a:spAutoFit/>
          </a:bodyPr>
          <a:lstStyle/>
          <a:p>
            <a:pPr algn="l"/>
            <a:r>
              <a:rPr sz="900" b="0" i="0">
                <a:solidFill>
                  <a:srgbClr val="212121"/>
                </a:solidFill>
                <a:latin typeface="Calibri" panose="020F0502020204030204"/>
              </a:rPr>
              <a:t>Düşük düşü, yüksek debi
Eksenel akışlı, değişken kanat
η = %80–90
Küçük Menderes (8 m) için uygun</a:t>
            </a:r>
            <a:endParaRPr sz="900" b="0" i="0">
              <a:solidFill>
                <a:srgbClr val="212121"/>
              </a:solidFill>
              <a:latin typeface="Calibri" panose="020F0502020204030204"/>
            </a:endParaRPr>
          </a:p>
        </p:txBody>
      </p:sp>
      <p:sp>
        <p:nvSpPr>
          <p:cNvPr id="44" name="Rectangle 43"/>
          <p:cNvSpPr/>
          <p:nvPr/>
        </p:nvSpPr>
        <p:spPr>
          <a:xfrm>
            <a:off x="5525770" y="2080895"/>
            <a:ext cx="1692275" cy="1232535"/>
          </a:xfrm>
          <a:prstGeom prst="rect">
            <a:avLst/>
          </a:prstGeom>
          <a:solidFill>
            <a:srgbClr val="F0FBF8"/>
          </a:solidFill>
          <a:ln w="12700">
            <a:solidFill>
              <a:srgbClr val="148F7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5526000" y="2080800"/>
            <a:ext cx="1692000" cy="151200"/>
          </a:xfrm>
          <a:prstGeom prst="rect">
            <a:avLst/>
          </a:prstGeom>
          <a:solidFill>
            <a:srgbClr val="148F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562000" y="2044395"/>
            <a:ext cx="1620000" cy="144000"/>
          </a:xfrm>
          <a:prstGeom prst="rect">
            <a:avLst/>
          </a:prstGeom>
          <a:noFill/>
        </p:spPr>
        <p:txBody>
          <a:bodyPr wrap="square">
            <a:spAutoFit/>
          </a:bodyPr>
          <a:lstStyle/>
          <a:p>
            <a:pPr algn="ctr"/>
            <a:r>
              <a:rPr sz="950" b="1" i="0">
                <a:solidFill>
                  <a:srgbClr val="FFFFFF"/>
                </a:solidFill>
                <a:latin typeface="Calibri" panose="020F0502020204030204"/>
              </a:rPr>
              <a:t>Arşimet Vidası</a:t>
            </a:r>
            <a:endParaRPr sz="950" b="1" i="0">
              <a:solidFill>
                <a:srgbClr val="FFFFFF"/>
              </a:solidFill>
              <a:latin typeface="Calibri" panose="020F0502020204030204"/>
            </a:endParaRPr>
          </a:p>
        </p:txBody>
      </p:sp>
      <p:sp>
        <p:nvSpPr>
          <p:cNvPr id="47" name="TextBox 46"/>
          <p:cNvSpPr txBox="1"/>
          <p:nvPr/>
        </p:nvSpPr>
        <p:spPr>
          <a:xfrm>
            <a:off x="5562000" y="2246400"/>
            <a:ext cx="1620000" cy="136800"/>
          </a:xfrm>
          <a:prstGeom prst="rect">
            <a:avLst/>
          </a:prstGeom>
          <a:noFill/>
        </p:spPr>
        <p:txBody>
          <a:bodyPr wrap="square">
            <a:spAutoFit/>
          </a:bodyPr>
          <a:lstStyle/>
          <a:p>
            <a:pPr algn="ctr"/>
            <a:r>
              <a:rPr sz="900" b="1" i="0">
                <a:solidFill>
                  <a:srgbClr val="148F77"/>
                </a:solidFill>
                <a:latin typeface="Calibri" panose="020F0502020204030204"/>
              </a:rPr>
              <a:t>H = 1–10 m
Kanal tipi</a:t>
            </a:r>
            <a:endParaRPr sz="900" b="1" i="0">
              <a:solidFill>
                <a:srgbClr val="148F77"/>
              </a:solidFill>
              <a:latin typeface="Calibri" panose="020F0502020204030204"/>
            </a:endParaRPr>
          </a:p>
        </p:txBody>
      </p:sp>
      <p:sp>
        <p:nvSpPr>
          <p:cNvPr id="48" name="TextBox 47"/>
          <p:cNvSpPr txBox="1"/>
          <p:nvPr/>
        </p:nvSpPr>
        <p:spPr>
          <a:xfrm>
            <a:off x="5636895" y="2571750"/>
            <a:ext cx="1470025" cy="645160"/>
          </a:xfrm>
          <a:prstGeom prst="rect">
            <a:avLst/>
          </a:prstGeom>
          <a:noFill/>
        </p:spPr>
        <p:txBody>
          <a:bodyPr wrap="square">
            <a:spAutoFit/>
          </a:bodyPr>
          <a:lstStyle/>
          <a:p>
            <a:pPr algn="l"/>
            <a:r>
              <a:rPr sz="900" b="0" i="0">
                <a:solidFill>
                  <a:srgbClr val="212121"/>
                </a:solidFill>
                <a:latin typeface="Calibri" panose="020F0502020204030204"/>
              </a:rPr>
              <a:t>Çok düşük düşü
Balık dostu tasarım
η = %70–85
Sulama kanalları için ideal</a:t>
            </a:r>
            <a:endParaRPr sz="900" b="0" i="0">
              <a:solidFill>
                <a:srgbClr val="212121"/>
              </a:solidFill>
              <a:latin typeface="Calibri" panose="020F0502020204030204"/>
            </a:endParaRPr>
          </a:p>
        </p:txBody>
      </p:sp>
      <p:sp>
        <p:nvSpPr>
          <p:cNvPr id="49" name="Rectangle 48"/>
          <p:cNvSpPr/>
          <p:nvPr/>
        </p:nvSpPr>
        <p:spPr>
          <a:xfrm>
            <a:off x="7325995" y="2080895"/>
            <a:ext cx="1692275" cy="1232535"/>
          </a:xfrm>
          <a:prstGeom prst="rect">
            <a:avLst/>
          </a:prstGeom>
          <a:solidFill>
            <a:srgbClr val="F0FBF8"/>
          </a:solidFill>
          <a:ln w="12700">
            <a:solidFill>
              <a:srgbClr val="0E66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7326000" y="2080800"/>
            <a:ext cx="1692000" cy="151200"/>
          </a:xfrm>
          <a:prstGeom prst="rect">
            <a:avLst/>
          </a:prstGeom>
          <a:solidFill>
            <a:srgbClr val="0E66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7362000" y="2036775"/>
            <a:ext cx="1620000" cy="144000"/>
          </a:xfrm>
          <a:prstGeom prst="rect">
            <a:avLst/>
          </a:prstGeom>
          <a:noFill/>
        </p:spPr>
        <p:txBody>
          <a:bodyPr wrap="square">
            <a:spAutoFit/>
          </a:bodyPr>
          <a:lstStyle/>
          <a:p>
            <a:pPr algn="ctr"/>
            <a:r>
              <a:rPr sz="950" b="1" i="0">
                <a:solidFill>
                  <a:srgbClr val="FFFFFF"/>
                </a:solidFill>
                <a:latin typeface="Calibri" panose="020F0502020204030204"/>
              </a:rPr>
              <a:t>Crossflow
(Banki-Michell)</a:t>
            </a:r>
            <a:endParaRPr sz="950" b="1" i="0">
              <a:solidFill>
                <a:srgbClr val="FFFFFF"/>
              </a:solidFill>
              <a:latin typeface="Calibri" panose="020F0502020204030204"/>
            </a:endParaRPr>
          </a:p>
        </p:txBody>
      </p:sp>
      <p:sp>
        <p:nvSpPr>
          <p:cNvPr id="52" name="TextBox 51"/>
          <p:cNvSpPr txBox="1"/>
          <p:nvPr/>
        </p:nvSpPr>
        <p:spPr>
          <a:xfrm>
            <a:off x="7362000" y="2246400"/>
            <a:ext cx="1620000" cy="136800"/>
          </a:xfrm>
          <a:prstGeom prst="rect">
            <a:avLst/>
          </a:prstGeom>
          <a:noFill/>
        </p:spPr>
        <p:txBody>
          <a:bodyPr wrap="square">
            <a:spAutoFit/>
          </a:bodyPr>
          <a:lstStyle/>
          <a:p>
            <a:pPr algn="ctr"/>
            <a:r>
              <a:rPr sz="900" b="1" i="0">
                <a:solidFill>
                  <a:srgbClr val="0E6655"/>
                </a:solidFill>
                <a:latin typeface="Calibri" panose="020F0502020204030204"/>
              </a:rPr>
              <a:t>H = 2–200 m
Esnek</a:t>
            </a:r>
            <a:endParaRPr sz="900" b="1" i="0">
              <a:solidFill>
                <a:srgbClr val="0E6655"/>
              </a:solidFill>
              <a:latin typeface="Calibri" panose="020F0502020204030204"/>
            </a:endParaRPr>
          </a:p>
        </p:txBody>
      </p:sp>
      <p:sp>
        <p:nvSpPr>
          <p:cNvPr id="53" name="TextBox 52"/>
          <p:cNvSpPr txBox="1"/>
          <p:nvPr/>
        </p:nvSpPr>
        <p:spPr>
          <a:xfrm>
            <a:off x="7421880" y="2571750"/>
            <a:ext cx="1470025" cy="645160"/>
          </a:xfrm>
          <a:prstGeom prst="rect">
            <a:avLst/>
          </a:prstGeom>
          <a:noFill/>
        </p:spPr>
        <p:txBody>
          <a:bodyPr wrap="square">
            <a:spAutoFit/>
          </a:bodyPr>
          <a:lstStyle/>
          <a:p>
            <a:pPr algn="l"/>
            <a:r>
              <a:rPr sz="900" b="0" i="0">
                <a:solidFill>
                  <a:srgbClr val="212121"/>
                </a:solidFill>
                <a:latin typeface="Calibri" panose="020F0502020204030204"/>
              </a:rPr>
              <a:t>Geniş düşü aralığı
Basit yapı — düşük maliyet
η = %75–85
Mikro ölçek için popüler</a:t>
            </a:r>
            <a:endParaRPr sz="900" b="0" i="0">
              <a:solidFill>
                <a:srgbClr val="212121"/>
              </a:solidFill>
              <a:latin typeface="Calibri" panose="020F0502020204030204"/>
            </a:endParaRPr>
          </a:p>
        </p:txBody>
      </p:sp>
      <p:sp>
        <p:nvSpPr>
          <p:cNvPr id="54" name="Rectangle 53"/>
          <p:cNvSpPr/>
          <p:nvPr/>
        </p:nvSpPr>
        <p:spPr>
          <a:xfrm>
            <a:off x="179705" y="3544570"/>
            <a:ext cx="8891905" cy="466090"/>
          </a:xfrm>
          <a:prstGeom prst="rect">
            <a:avLst/>
          </a:prstGeom>
          <a:solidFill>
            <a:srgbClr val="D5F5E3"/>
          </a:solidFill>
          <a:ln w="19050">
            <a:solidFill>
              <a:srgbClr val="1E844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215900" y="3627120"/>
            <a:ext cx="8676005" cy="374650"/>
          </a:xfrm>
          <a:prstGeom prst="rect">
            <a:avLst/>
          </a:prstGeom>
          <a:noFill/>
        </p:spPr>
        <p:txBody>
          <a:bodyPr wrap="square">
            <a:noAutofit/>
          </a:bodyPr>
          <a:lstStyle/>
          <a:p>
            <a:pPr algn="l"/>
            <a:r>
              <a:rPr sz="1000" b="0" i="0">
                <a:solidFill>
                  <a:srgbClr val="1B3A6B"/>
                </a:solidFill>
                <a:latin typeface="Calibri" panose="020F0502020204030204"/>
              </a:rPr>
              <a:t>✅  İzmir İçin Öneri: Bakırçay ve Nif Çayı için Francis türbinli nehir tipi Mikro-HES optimumdur. Küçük Menderes sulama kanallarında Kaplan veya Arşimet vidası tercih edilmelidir. Ilıca Deresi yüksek düşüsüne (40 m) karşın düşük debisi nedeniyle Pelton ya da Crossflow ile sınırlı kalır.</a:t>
            </a:r>
            <a:endParaRPr sz="1000" b="0" i="0">
              <a:solidFill>
                <a:srgbClr val="1B3A6B"/>
              </a:solidFill>
              <a:latin typeface="Calibri" panose="020F0502020204030204"/>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Shape 17"/>
          <p:cNvSpPr/>
          <p:nvPr/>
        </p:nvSpPr>
        <p:spPr>
          <a:xfrm>
            <a:off x="198120" y="790575"/>
            <a:ext cx="8653780" cy="3889375"/>
          </a:xfrm>
          <a:prstGeom prst="rect">
            <a:avLst/>
          </a:prstGeom>
          <a:solidFill>
            <a:srgbClr val="D5F5E3"/>
          </a:solidFill>
          <a:ln w="10160">
            <a:solidFill>
              <a:srgbClr val="1E8449"/>
            </a:solidFill>
            <a:prstDash val="solid"/>
          </a:ln>
        </p:spPr>
        <p:txBody>
          <a:bodyPr/>
          <a:lstStyle/>
          <a:p>
            <a:endParaRPr lang="tr-TR"/>
          </a:p>
        </p:txBody>
      </p:sp>
      <p:sp>
        <p:nvSpPr>
          <p:cNvPr id="4" name="Metin Kutusu 3"/>
          <p:cNvSpPr txBox="1"/>
          <p:nvPr/>
        </p:nvSpPr>
        <p:spPr>
          <a:xfrm>
            <a:off x="149860" y="725805"/>
            <a:ext cx="7906385" cy="5169535"/>
          </a:xfrm>
          <a:prstGeom prst="rect">
            <a:avLst/>
          </a:prstGeom>
          <a:noFill/>
        </p:spPr>
        <p:txBody>
          <a:bodyPr wrap="square" rtlCol="0">
            <a:spAutoFit/>
          </a:bodyPr>
          <a:lstStyle/>
          <a:p>
            <a:r>
              <a:rPr lang="en-US" altLang="tr-TR" sz="1600" b="1"/>
              <a:t>Set</a:t>
            </a:r>
            <a:r>
              <a:rPr lang="tr-TR" altLang="en-US" sz="1600" b="1"/>
              <a:t>:</a:t>
            </a:r>
            <a:r>
              <a:rPr lang="tr-TR" altLang="en-US" sz="1600"/>
              <a:t>S</a:t>
            </a:r>
            <a:r>
              <a:rPr lang="en-US" altLang="tr-TR" sz="1600"/>
              <a:t>uyu tutmaya yarayan b</a:t>
            </a:r>
            <a:r>
              <a:rPr lang="en-US" altLang="en-US" sz="1600"/>
              <a:t>ü</a:t>
            </a:r>
            <a:r>
              <a:rPr lang="en-US" altLang="tr-TR" sz="1600"/>
              <a:t>y</a:t>
            </a:r>
            <a:r>
              <a:rPr lang="en-US" altLang="en-US" sz="1600"/>
              <a:t>ü</a:t>
            </a:r>
            <a:r>
              <a:rPr lang="en-US" altLang="tr-TR" sz="1600"/>
              <a:t>k bloklard</a:t>
            </a:r>
            <a:r>
              <a:rPr lang="en-US" altLang="en-US" sz="1600"/>
              <a:t>ı</a:t>
            </a:r>
            <a:r>
              <a:rPr lang="en-US" altLang="tr-TR" sz="1600"/>
              <a:t>r</a:t>
            </a:r>
            <a:r>
              <a:rPr lang="tr-TR" altLang="en-US" sz="1600"/>
              <a:t>.</a:t>
            </a:r>
            <a:endParaRPr lang="en-US" altLang="tr-TR" sz="1600"/>
          </a:p>
          <a:p>
            <a:endParaRPr lang="en-US" altLang="tr-TR" sz="1600" b="1"/>
          </a:p>
          <a:p>
            <a:r>
              <a:rPr lang="en-US" altLang="tr-TR" sz="1600" b="1"/>
              <a:t>Cebri bas</a:t>
            </a:r>
            <a:r>
              <a:rPr lang="en-US" altLang="en-US" sz="1600" b="1"/>
              <a:t>ı</a:t>
            </a:r>
            <a:r>
              <a:rPr lang="en-US" altLang="tr-TR" sz="1600" b="1"/>
              <a:t>n</a:t>
            </a:r>
            <a:r>
              <a:rPr lang="en-US" altLang="en-US" sz="1600" b="1"/>
              <a:t>ç</a:t>
            </a:r>
            <a:r>
              <a:rPr lang="en-US" altLang="tr-TR" sz="1600" b="1"/>
              <a:t>l</a:t>
            </a:r>
            <a:r>
              <a:rPr lang="en-US" altLang="en-US" sz="1600" b="1"/>
              <a:t>ı</a:t>
            </a:r>
            <a:r>
              <a:rPr lang="en-US" altLang="tr-TR" sz="1600" b="1"/>
              <a:t> borular</a:t>
            </a:r>
            <a:r>
              <a:rPr lang="tr-TR" altLang="en-US" sz="1600" b="1"/>
              <a:t>:</a:t>
            </a:r>
            <a:r>
              <a:rPr lang="en-US" altLang="tr-TR" sz="1600"/>
              <a:t>Ak</a:t>
            </a:r>
            <a:r>
              <a:rPr lang="en-US" altLang="en-US" sz="1600"/>
              <a:t>ış</a:t>
            </a:r>
            <a:r>
              <a:rPr lang="en-US" altLang="tr-TR" sz="1600"/>
              <a:t>kan</a:t>
            </a:r>
            <a:r>
              <a:rPr lang="en-US" altLang="en-US" sz="1600"/>
              <a:t>ı</a:t>
            </a:r>
            <a:r>
              <a:rPr lang="en-US" altLang="tr-TR" sz="1600"/>
              <a:t>n</a:t>
            </a:r>
            <a:r>
              <a:rPr lang="tr-TR" altLang="en-US" sz="1600"/>
              <a:t> </a:t>
            </a:r>
            <a:r>
              <a:rPr lang="en-US" altLang="tr-TR" sz="1600"/>
              <a:t>iletilmesine olanak sa</a:t>
            </a:r>
            <a:r>
              <a:rPr lang="en-US" altLang="en-US" sz="1600"/>
              <a:t>ğ</a:t>
            </a:r>
            <a:r>
              <a:rPr lang="en-US" altLang="tr-TR" sz="1600"/>
              <a:t>lar.</a:t>
            </a:r>
            <a:endParaRPr lang="en-US" altLang="tr-TR" sz="1600"/>
          </a:p>
          <a:p>
            <a:br>
              <a:rPr lang="en-US" altLang="tr-TR" sz="1600" b="1"/>
            </a:br>
            <a:r>
              <a:rPr lang="en-US" altLang="tr-TR" sz="1600" b="1"/>
              <a:t>Salyangoz</a:t>
            </a:r>
            <a:r>
              <a:rPr lang="tr-TR" altLang="en-US" sz="1600" b="1"/>
              <a:t>:</a:t>
            </a:r>
            <a:r>
              <a:rPr lang="en-US" altLang="tr-TR" sz="1600"/>
              <a:t> Burada su belirli bir ivme</a:t>
            </a:r>
            <a:r>
              <a:rPr lang="tr-TR" altLang="en-US" sz="1600"/>
              <a:t> </a:t>
            </a:r>
            <a:r>
              <a:rPr lang="en-US" altLang="tr-TR" sz="1600"/>
              <a:t>kazanarak e</a:t>
            </a:r>
            <a:r>
              <a:rPr lang="en-US" altLang="en-US" sz="1600"/>
              <a:t>ş</a:t>
            </a:r>
            <a:r>
              <a:rPr lang="en-US" altLang="tr-TR" sz="1600"/>
              <a:t>it debide </a:t>
            </a:r>
            <a:r>
              <a:rPr lang="en-US" altLang="en-US" sz="1600"/>
              <a:t>ç</a:t>
            </a:r>
            <a:r>
              <a:rPr lang="en-US" altLang="tr-TR" sz="1600"/>
              <a:t>arka gelir</a:t>
            </a:r>
            <a:r>
              <a:rPr lang="tr-TR" altLang="en-US" sz="1600"/>
              <a:t>.</a:t>
            </a:r>
            <a:endParaRPr lang="tr-TR" altLang="en-US" sz="1600"/>
          </a:p>
          <a:p>
            <a:endParaRPr lang="en-US" altLang="tr-TR" sz="1600" b="1"/>
          </a:p>
          <a:p>
            <a:r>
              <a:rPr lang="en-US" altLang="tr-TR" sz="1600" b="1"/>
              <a:t>T</a:t>
            </a:r>
            <a:r>
              <a:rPr lang="en-US" altLang="en-US" sz="1600" b="1"/>
              <a:t>ü</a:t>
            </a:r>
            <a:r>
              <a:rPr lang="en-US" altLang="tr-TR" sz="1600" b="1"/>
              <a:t>rbin</a:t>
            </a:r>
            <a:r>
              <a:rPr lang="tr-TR" altLang="en-US" sz="1600" b="1"/>
              <a:t>:</a:t>
            </a:r>
            <a:r>
              <a:rPr lang="en-US" altLang="tr-TR" sz="1600"/>
              <a:t>T</a:t>
            </a:r>
            <a:r>
              <a:rPr lang="en-US" altLang="en-US" sz="1600"/>
              <a:t>ü</a:t>
            </a:r>
            <a:r>
              <a:rPr lang="en-US" altLang="tr-TR" sz="1600"/>
              <a:t>rbin </a:t>
            </a:r>
            <a:r>
              <a:rPr lang="en-US" altLang="en-US" sz="1600"/>
              <a:t>ç</a:t>
            </a:r>
            <a:r>
              <a:rPr lang="en-US" altLang="tr-TR" sz="1600"/>
              <a:t>ark</a:t>
            </a:r>
            <a:r>
              <a:rPr lang="en-US" altLang="en-US" sz="1600"/>
              <a:t>ı</a:t>
            </a:r>
            <a:r>
              <a:rPr lang="en-US" altLang="tr-TR" sz="1600"/>
              <a:t>, t</a:t>
            </a:r>
            <a:r>
              <a:rPr lang="en-US" altLang="en-US" sz="1600"/>
              <a:t>ü</a:t>
            </a:r>
            <a:r>
              <a:rPr lang="en-US" altLang="tr-TR" sz="1600"/>
              <a:t>rbin </a:t>
            </a:r>
            <a:r>
              <a:rPr lang="en-US" altLang="en-US" sz="1600"/>
              <a:t>ş</a:t>
            </a:r>
            <a:r>
              <a:rPr lang="en-US" altLang="tr-TR" sz="1600"/>
              <a:t>aft</a:t>
            </a:r>
            <a:r>
              <a:rPr lang="en-US" altLang="en-US" sz="1600"/>
              <a:t>ı</a:t>
            </a:r>
            <a:r>
              <a:rPr lang="en-US" altLang="tr-TR" sz="1600"/>
              <a:t>, t</a:t>
            </a:r>
            <a:r>
              <a:rPr lang="en-US" altLang="en-US" sz="1600"/>
              <a:t>ü</a:t>
            </a:r>
            <a:r>
              <a:rPr lang="en-US" altLang="tr-TR" sz="1600"/>
              <a:t>rbin kapa</a:t>
            </a:r>
            <a:r>
              <a:rPr lang="en-US" altLang="en-US" sz="1600"/>
              <a:t>ğı</a:t>
            </a:r>
            <a:r>
              <a:rPr lang="en-US" altLang="tr-TR" sz="1600"/>
              <a:t>, h</a:t>
            </a:r>
            <a:r>
              <a:rPr lang="en-US" altLang="en-US" sz="1600"/>
              <a:t>ı</a:t>
            </a:r>
            <a:r>
              <a:rPr lang="en-US" altLang="tr-TR" sz="1600"/>
              <a:t>z reg</a:t>
            </a:r>
            <a:r>
              <a:rPr lang="en-US" altLang="en-US" sz="1600"/>
              <a:t>ü</a:t>
            </a:r>
            <a:r>
              <a:rPr lang="en-US" altLang="tr-TR" sz="1600"/>
              <a:t>lat</a:t>
            </a:r>
            <a:r>
              <a:rPr lang="en-US" altLang="en-US" sz="1600"/>
              <a:t>ö</a:t>
            </a:r>
            <a:r>
              <a:rPr lang="en-US" altLang="tr-TR" sz="1600"/>
              <a:t>r sistemi, bas</a:t>
            </a:r>
            <a:r>
              <a:rPr lang="en-US" altLang="en-US" sz="1600"/>
              <a:t>ı</a:t>
            </a:r>
            <a:r>
              <a:rPr lang="en-US" altLang="tr-TR" sz="1600"/>
              <a:t>n</a:t>
            </a:r>
            <a:r>
              <a:rPr lang="en-US" altLang="en-US" sz="1600"/>
              <a:t>ç</a:t>
            </a:r>
            <a:r>
              <a:rPr lang="en-US" altLang="tr-TR" sz="1600"/>
              <a:t>l</a:t>
            </a:r>
            <a:r>
              <a:rPr lang="en-US" altLang="en-US" sz="1600"/>
              <a:t>ı</a:t>
            </a:r>
            <a:r>
              <a:rPr lang="en-US" altLang="tr-TR" sz="1600"/>
              <a:t> ya</a:t>
            </a:r>
            <a:r>
              <a:rPr lang="en-US" altLang="en-US" sz="1600"/>
              <a:t>ğ</a:t>
            </a:r>
            <a:endParaRPr lang="en-US" altLang="en-US" sz="1600"/>
          </a:p>
          <a:p>
            <a:r>
              <a:rPr lang="en-US" altLang="tr-TR" sz="1600"/>
              <a:t>sistemi, t</a:t>
            </a:r>
            <a:r>
              <a:rPr lang="en-US" altLang="en-US" sz="1600"/>
              <a:t>ü</a:t>
            </a:r>
            <a:r>
              <a:rPr lang="en-US" altLang="tr-TR" sz="1600"/>
              <a:t>rbin yata</a:t>
            </a:r>
            <a:r>
              <a:rPr lang="en-US" altLang="en-US" sz="1600"/>
              <a:t>ğı</a:t>
            </a:r>
            <a:r>
              <a:rPr lang="en-US" altLang="tr-TR" sz="1600"/>
              <a:t>, so</a:t>
            </a:r>
            <a:r>
              <a:rPr lang="en-US" altLang="en-US" sz="1600"/>
              <a:t>ğ</a:t>
            </a:r>
            <a:r>
              <a:rPr lang="en-US" altLang="tr-TR" sz="1600"/>
              <a:t>utma sistemi, kumanda panosu ve yard</a:t>
            </a:r>
            <a:r>
              <a:rPr lang="en-US" altLang="en-US" sz="1600"/>
              <a:t>ı</a:t>
            </a:r>
            <a:r>
              <a:rPr lang="en-US" altLang="tr-TR" sz="1600"/>
              <a:t>mc</a:t>
            </a:r>
            <a:r>
              <a:rPr lang="en-US" altLang="en-US" sz="1600"/>
              <a:t>ı</a:t>
            </a:r>
            <a:r>
              <a:rPr lang="en-US" altLang="tr-TR" sz="1600"/>
              <a:t> te</a:t>
            </a:r>
            <a:r>
              <a:rPr lang="en-US" altLang="en-US" sz="1600"/>
              <a:t>ç</a:t>
            </a:r>
            <a:r>
              <a:rPr lang="en-US" altLang="tr-TR" sz="1600"/>
              <a:t>hizattan</a:t>
            </a:r>
            <a:endParaRPr lang="en-US" altLang="tr-TR" sz="1600"/>
          </a:p>
          <a:p>
            <a:r>
              <a:rPr lang="en-US" altLang="tr-TR" sz="1600"/>
              <a:t>olu</a:t>
            </a:r>
            <a:r>
              <a:rPr lang="en-US" altLang="en-US" sz="1600"/>
              <a:t>ş</a:t>
            </a:r>
            <a:r>
              <a:rPr lang="en-US" altLang="tr-TR" sz="1600"/>
              <a:t>ur.</a:t>
            </a:r>
            <a:endParaRPr lang="en-US" altLang="tr-TR" sz="1600"/>
          </a:p>
          <a:p>
            <a:br>
              <a:rPr lang="en-US" altLang="tr-TR" sz="1600" b="1"/>
            </a:br>
            <a:r>
              <a:rPr lang="en-US" altLang="tr-TR" sz="1600" b="1"/>
              <a:t>Jenerat</a:t>
            </a:r>
            <a:r>
              <a:rPr lang="en-US" altLang="en-US" sz="1600" b="1"/>
              <a:t>ö</a:t>
            </a:r>
            <a:r>
              <a:rPr lang="en-US" altLang="tr-TR" sz="1600" b="1"/>
              <a:t>r </a:t>
            </a:r>
            <a:r>
              <a:rPr lang="tr-TR" altLang="en-US" sz="1600" b="1"/>
              <a:t>:</a:t>
            </a:r>
            <a:r>
              <a:rPr lang="en-US" altLang="tr-TR" sz="1600"/>
              <a:t>T</a:t>
            </a:r>
            <a:r>
              <a:rPr lang="en-US" altLang="en-US" sz="1600"/>
              <a:t>ü</a:t>
            </a:r>
            <a:r>
              <a:rPr lang="en-US" altLang="tr-TR" sz="1600"/>
              <a:t>rbin pervaneleri</a:t>
            </a:r>
            <a:r>
              <a:rPr lang="tr-TR" altLang="en-US" sz="1600"/>
              <a:t> </a:t>
            </a:r>
            <a:r>
              <a:rPr lang="en-US" altLang="tr-TR" sz="1600"/>
              <a:t>d</a:t>
            </a:r>
            <a:r>
              <a:rPr lang="en-US" altLang="en-US" sz="1600"/>
              <a:t>ö</a:t>
            </a:r>
            <a:r>
              <a:rPr lang="en-US" altLang="tr-TR" sz="1600"/>
              <a:t>nd</a:t>
            </a:r>
            <a:r>
              <a:rPr lang="en-US" altLang="en-US" sz="1600"/>
              <a:t>üğü</a:t>
            </a:r>
            <a:r>
              <a:rPr lang="en-US" altLang="tr-TR" sz="1600"/>
              <a:t>nde, t</a:t>
            </a:r>
            <a:r>
              <a:rPr lang="en-US" altLang="en-US" sz="1600"/>
              <a:t>ü</a:t>
            </a:r>
            <a:r>
              <a:rPr lang="en-US" altLang="tr-TR" sz="1600"/>
              <a:t>rbin miline ba</a:t>
            </a:r>
            <a:r>
              <a:rPr lang="en-US" altLang="en-US" sz="1600"/>
              <a:t>ğ</a:t>
            </a:r>
            <a:r>
              <a:rPr lang="en-US" altLang="tr-TR" sz="1600"/>
              <a:t>l</a:t>
            </a:r>
            <a:r>
              <a:rPr lang="en-US" altLang="en-US" sz="1600"/>
              <a:t>ı</a:t>
            </a:r>
            <a:r>
              <a:rPr lang="en-US" altLang="tr-TR" sz="1600"/>
              <a:t> jenerat</a:t>
            </a:r>
            <a:r>
              <a:rPr lang="en-US" altLang="en-US" sz="1600"/>
              <a:t>ö</a:t>
            </a:r>
            <a:r>
              <a:rPr lang="en-US" altLang="tr-TR" sz="1600"/>
              <a:t>r</a:t>
            </a:r>
            <a:r>
              <a:rPr lang="en-US" altLang="en-US" sz="1600"/>
              <a:t>ü</a:t>
            </a:r>
            <a:r>
              <a:rPr lang="en-US" altLang="tr-TR" sz="1600"/>
              <a:t>n dev m</a:t>
            </a:r>
            <a:r>
              <a:rPr lang="en-US" altLang="en-US" sz="1600"/>
              <a:t>ı</a:t>
            </a:r>
            <a:r>
              <a:rPr lang="en-US" altLang="tr-TR" sz="1600"/>
              <a:t>knat</a:t>
            </a:r>
            <a:r>
              <a:rPr lang="en-US" altLang="en-US" sz="1600"/>
              <a:t>ı</a:t>
            </a:r>
            <a:r>
              <a:rPr lang="en-US" altLang="tr-TR" sz="1600"/>
              <a:t>slar</a:t>
            </a:r>
            <a:r>
              <a:rPr lang="en-US" altLang="en-US" sz="1600"/>
              <a:t>ı</a:t>
            </a:r>
            <a:r>
              <a:rPr lang="en-US" altLang="tr-TR" sz="1600"/>
              <a:t> da d</a:t>
            </a:r>
            <a:r>
              <a:rPr lang="en-US" altLang="en-US" sz="1600"/>
              <a:t>ö</a:t>
            </a:r>
            <a:r>
              <a:rPr lang="en-US" altLang="tr-TR" sz="1600"/>
              <a:t>nmeye</a:t>
            </a:r>
            <a:r>
              <a:rPr lang="tr-TR" altLang="en-US" sz="1600"/>
              <a:t> </a:t>
            </a:r>
            <a:r>
              <a:rPr lang="en-US" altLang="tr-TR" sz="1600"/>
              <a:t>ba</a:t>
            </a:r>
            <a:r>
              <a:rPr lang="en-US" altLang="en-US" sz="1600"/>
              <a:t>ş</a:t>
            </a:r>
            <a:r>
              <a:rPr lang="en-US" altLang="tr-TR" sz="1600"/>
              <a:t>layacakt</a:t>
            </a:r>
            <a:r>
              <a:rPr lang="en-US" altLang="en-US" sz="1600"/>
              <a:t>ı</a:t>
            </a:r>
            <a:r>
              <a:rPr lang="en-US" altLang="tr-TR" sz="1600"/>
              <a:t>r. </a:t>
            </a:r>
            <a:endParaRPr lang="en-US" altLang="tr-TR" sz="1600"/>
          </a:p>
          <a:p>
            <a:br>
              <a:rPr lang="en-US" altLang="tr-TR" sz="1600" b="1"/>
            </a:br>
            <a:r>
              <a:rPr lang="en-US" altLang="tr-TR" sz="1600" b="1"/>
              <a:t>Transformat</a:t>
            </a:r>
            <a:r>
              <a:rPr lang="en-US" altLang="en-US" sz="1600" b="1"/>
              <a:t>ö</a:t>
            </a:r>
            <a:r>
              <a:rPr lang="en-US" altLang="tr-TR" sz="1600" b="1"/>
              <a:t>r (D</a:t>
            </a:r>
            <a:r>
              <a:rPr lang="en-US" altLang="en-US" sz="1600" b="1"/>
              <a:t>ö</a:t>
            </a:r>
            <a:r>
              <a:rPr lang="en-US" altLang="tr-TR" sz="1600" b="1"/>
              <a:t>n</a:t>
            </a:r>
            <a:r>
              <a:rPr lang="en-US" altLang="en-US" sz="1600" b="1"/>
              <a:t>üş</a:t>
            </a:r>
            <a:r>
              <a:rPr lang="en-US" altLang="tr-TR" sz="1600" b="1"/>
              <a:t>t</a:t>
            </a:r>
            <a:r>
              <a:rPr lang="en-US" altLang="en-US" sz="1600" b="1"/>
              <a:t>ü</a:t>
            </a:r>
            <a:r>
              <a:rPr lang="en-US" altLang="tr-TR" sz="1600" b="1"/>
              <a:t>r</a:t>
            </a:r>
            <a:r>
              <a:rPr lang="en-US" altLang="en-US" sz="1600" b="1"/>
              <a:t>ü</a:t>
            </a:r>
            <a:r>
              <a:rPr lang="en-US" altLang="tr-TR" sz="1600" b="1"/>
              <a:t>c</a:t>
            </a:r>
            <a:r>
              <a:rPr lang="en-US" altLang="en-US" sz="1600" b="1"/>
              <a:t>ü</a:t>
            </a:r>
            <a:r>
              <a:rPr lang="en-US" altLang="tr-TR" sz="1600" b="1"/>
              <a:t>)</a:t>
            </a:r>
            <a:r>
              <a:rPr lang="tr-TR" altLang="en-US" sz="1600" b="1"/>
              <a:t>:</a:t>
            </a:r>
            <a:r>
              <a:rPr lang="en-US" altLang="tr-TR" sz="1600"/>
              <a:t>Hidroelektrik santrallerinde genelde d</a:t>
            </a:r>
            <a:r>
              <a:rPr lang="en-US" altLang="en-US" sz="1600"/>
              <a:t>üşü</a:t>
            </a:r>
            <a:r>
              <a:rPr lang="en-US" altLang="tr-TR" sz="1600"/>
              <a:t>k gerilimi</a:t>
            </a:r>
            <a:endParaRPr lang="en-US" altLang="tr-TR" sz="1600"/>
          </a:p>
          <a:p>
            <a:r>
              <a:rPr lang="en-US" altLang="tr-TR" sz="1600"/>
              <a:t>y</a:t>
            </a:r>
            <a:r>
              <a:rPr lang="en-US" altLang="en-US" sz="1600"/>
              <a:t>ü</a:t>
            </a:r>
            <a:r>
              <a:rPr lang="en-US" altLang="tr-TR" sz="1600"/>
              <a:t>kseltmek amac</a:t>
            </a:r>
            <a:r>
              <a:rPr lang="en-US" altLang="en-US" sz="1600"/>
              <a:t>ı</a:t>
            </a:r>
            <a:r>
              <a:rPr lang="en-US" altLang="tr-TR" sz="1600"/>
              <a:t>yla tasarlanm</a:t>
            </a:r>
            <a:r>
              <a:rPr lang="en-US" altLang="en-US" sz="1600"/>
              <a:t>ış</a:t>
            </a:r>
            <a:r>
              <a:rPr lang="en-US" altLang="tr-TR" sz="1600"/>
              <a:t>lard</a:t>
            </a:r>
            <a:r>
              <a:rPr lang="en-US" altLang="en-US" sz="1600"/>
              <a:t>ı</a:t>
            </a:r>
            <a:r>
              <a:rPr lang="en-US" altLang="tr-TR" sz="1600"/>
              <a:t>r.</a:t>
            </a:r>
            <a:br>
              <a:rPr lang="en-US" altLang="tr-TR"/>
            </a:br>
            <a:br>
              <a:rPr lang="en-US" altLang="tr-TR"/>
            </a:br>
            <a:endParaRPr lang="en-US" altLang="tr-TR" b="1"/>
          </a:p>
          <a:p>
            <a:endParaRPr lang="en-US" altLang="tr-TR"/>
          </a:p>
          <a:p>
            <a:endParaRPr lang="en-US" altLang="tr-TR"/>
          </a:p>
          <a:p>
            <a:r>
              <a:rPr lang="en-US" altLang="tr-TR"/>
              <a:t> </a:t>
            </a:r>
            <a:endParaRPr lang="en-US" altLang="tr-TR"/>
          </a:p>
        </p:txBody>
      </p:sp>
      <p:sp>
        <p:nvSpPr>
          <p:cNvPr id="5" name="Shape 0"/>
          <p:cNvSpPr/>
          <p:nvPr/>
        </p:nvSpPr>
        <p:spPr>
          <a:xfrm>
            <a:off x="0" y="0"/>
            <a:ext cx="9144000" cy="685800"/>
          </a:xfrm>
          <a:prstGeom prst="rect">
            <a:avLst/>
          </a:prstGeom>
          <a:solidFill>
            <a:srgbClr val="1E8449"/>
          </a:solidFill>
          <a:ln w="12700">
            <a:solidFill>
              <a:srgbClr val="1E8449"/>
            </a:solidFill>
            <a:prstDash val="solid"/>
          </a:ln>
        </p:spPr>
        <p:txBody>
          <a:bodyPr/>
          <a:lstStyle/>
          <a:p>
            <a:endParaRPr lang="tr-TR"/>
          </a:p>
        </p:txBody>
      </p:sp>
      <p:sp>
        <p:nvSpPr>
          <p:cNvPr id="6" name="Text 4"/>
          <p:cNvSpPr/>
          <p:nvPr/>
        </p:nvSpPr>
        <p:spPr>
          <a:xfrm>
            <a:off x="274320" y="45720"/>
            <a:ext cx="8595360" cy="594360"/>
          </a:xfrm>
          <a:prstGeom prst="rect">
            <a:avLst/>
          </a:prstGeom>
          <a:noFill/>
        </p:spPr>
        <p:txBody>
          <a:bodyPr wrap="square" lIns="0" tIns="0" rIns="0" bIns="0" rtlCol="0" anchor="ctr"/>
          <a:lstStyle/>
          <a:p>
            <a:pPr marL="0" indent="0" algn="l">
              <a:buNone/>
            </a:pPr>
            <a:r>
              <a:rPr lang="en-US" altLang="tr-TR" b="1">
                <a:solidFill>
                  <a:schemeClr val="bg1"/>
                </a:solidFill>
                <a:latin typeface="Calibri" panose="020F0502020204030204" pitchFamily="34" charset="0"/>
                <a:ea typeface="+mn-ea"/>
                <a:cs typeface="+mn-ea"/>
                <a:sym typeface="+mn-ea"/>
              </a:rPr>
              <a:t>Hidroelektrik Santrali </a:t>
            </a:r>
            <a:r>
              <a:rPr lang="tr-TR" altLang="en-US" b="1">
                <a:solidFill>
                  <a:schemeClr val="bg1"/>
                </a:solidFill>
                <a:latin typeface="Calibri" panose="020F0502020204030204" pitchFamily="34" charset="0"/>
                <a:ea typeface="+mn-ea"/>
                <a:cs typeface="+mn-ea"/>
                <a:sym typeface="+mn-ea"/>
              </a:rPr>
              <a:t>Parçaları</a:t>
            </a:r>
            <a:endParaRPr lang="tr-TR" altLang="en-US" sz="1800" b="1" dirty="0">
              <a:solidFill>
                <a:schemeClr val="bg1"/>
              </a:solidFill>
              <a:latin typeface="Calibri" panose="020F0502020204030204" pitchFamily="34" charset="0"/>
              <a:ea typeface="+mn-ea"/>
              <a:cs typeface="+mn-ea"/>
              <a:sym typeface="+mn-ea"/>
            </a:endParaRPr>
          </a:p>
        </p:txBody>
      </p:sp>
      <p:sp>
        <p:nvSpPr>
          <p:cNvPr id="7" name="Shape 2"/>
          <p:cNvSpPr/>
          <p:nvPr/>
        </p:nvSpPr>
        <p:spPr>
          <a:xfrm>
            <a:off x="0" y="4892040"/>
            <a:ext cx="9144000" cy="251460"/>
          </a:xfrm>
          <a:prstGeom prst="rect">
            <a:avLst/>
          </a:prstGeom>
          <a:solidFill>
            <a:srgbClr val="1B3A6B"/>
          </a:solidFill>
          <a:ln w="12700">
            <a:solidFill>
              <a:srgbClr val="1B3A6B"/>
            </a:solidFill>
            <a:prstDash val="solid"/>
          </a:ln>
        </p:spPr>
        <p:txBody>
          <a:bodyPr/>
          <a:lstStyle/>
          <a:p>
            <a:endParaRPr lang="tr-TR"/>
          </a:p>
        </p:txBody>
      </p:sp>
      <p:sp>
        <p:nvSpPr>
          <p:cNvPr id="8" name="Text 3"/>
          <p:cNvSpPr/>
          <p:nvPr/>
        </p:nvSpPr>
        <p:spPr>
          <a:xfrm>
            <a:off x="274320" y="4892040"/>
            <a:ext cx="8595360" cy="251460"/>
          </a:xfrm>
          <a:prstGeom prst="rect">
            <a:avLst/>
          </a:prstGeom>
          <a:noFill/>
        </p:spPr>
        <p:txBody>
          <a:bodyPr wrap="square" rtlCol="0" anchor="ctr"/>
          <a:lstStyle/>
          <a:p>
            <a:pPr marL="0" indent="0" algn="ctr">
              <a:buNone/>
            </a:pPr>
            <a:r>
              <a:rPr lang="en-US" sz="800" dirty="0">
                <a:solidFill>
                  <a:srgbClr val="E0E6ED"/>
                </a:solidFill>
                <a:latin typeface="Calibri" panose="020F0502020204030204" pitchFamily="34" charset="0"/>
                <a:ea typeface="Calibri" panose="020F0502020204030204" pitchFamily="34" charset="-122"/>
                <a:cs typeface="Calibri" panose="020F0502020204030204" pitchFamily="34" charset="-120"/>
              </a:rPr>
              <a:t>SAÜ EEM  |  İzmir Yenilenebilir Enerji Analizi</a:t>
            </a:r>
            <a:endParaRPr lang="en-US" sz="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8F9FA"/>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E8449"/>
          </a:solidFill>
          <a:ln w="12700">
            <a:solidFill>
              <a:srgbClr val="1E8449"/>
            </a:solidFill>
            <a:prstDash val="solid"/>
          </a:ln>
        </p:spPr>
        <p:txBody>
          <a:bodyPr/>
          <a:lstStyle/>
          <a:p>
            <a:endParaRPr lang="tr-TR"/>
          </a:p>
        </p:txBody>
      </p:sp>
      <p:sp>
        <p:nvSpPr>
          <p:cNvPr id="3" name="Shape 1"/>
          <p:cNvSpPr/>
          <p:nvPr/>
        </p:nvSpPr>
        <p:spPr>
          <a:xfrm>
            <a:off x="0" y="685800"/>
            <a:ext cx="9144000" cy="45720"/>
          </a:xfrm>
          <a:prstGeom prst="rect">
            <a:avLst/>
          </a:prstGeom>
          <a:solidFill>
            <a:srgbClr val="C8901A"/>
          </a:solidFill>
          <a:ln w="12700">
            <a:solidFill>
              <a:srgbClr val="C8901A"/>
            </a:solidFill>
            <a:prstDash val="solid"/>
          </a:ln>
        </p:spPr>
        <p:txBody>
          <a:bodyPr/>
          <a:lstStyle/>
          <a:p>
            <a:endParaRPr lang="tr-TR"/>
          </a:p>
        </p:txBody>
      </p:sp>
      <p:sp>
        <p:nvSpPr>
          <p:cNvPr id="4" name="Shape 2"/>
          <p:cNvSpPr/>
          <p:nvPr/>
        </p:nvSpPr>
        <p:spPr>
          <a:xfrm>
            <a:off x="0" y="4892040"/>
            <a:ext cx="9144000" cy="251460"/>
          </a:xfrm>
          <a:prstGeom prst="rect">
            <a:avLst/>
          </a:prstGeom>
          <a:solidFill>
            <a:srgbClr val="1B3A6B"/>
          </a:solidFill>
          <a:ln w="12700">
            <a:solidFill>
              <a:srgbClr val="1B3A6B"/>
            </a:solidFill>
            <a:prstDash val="solid"/>
          </a:ln>
        </p:spPr>
        <p:txBody>
          <a:bodyPr/>
          <a:lstStyle/>
          <a:p>
            <a:endParaRPr lang="tr-TR"/>
          </a:p>
        </p:txBody>
      </p:sp>
      <p:sp>
        <p:nvSpPr>
          <p:cNvPr id="5" name="Text 3"/>
          <p:cNvSpPr/>
          <p:nvPr/>
        </p:nvSpPr>
        <p:spPr>
          <a:xfrm>
            <a:off x="274320" y="4892040"/>
            <a:ext cx="8595360" cy="251460"/>
          </a:xfrm>
          <a:prstGeom prst="rect">
            <a:avLst/>
          </a:prstGeom>
          <a:noFill/>
        </p:spPr>
        <p:txBody>
          <a:bodyPr wrap="square" rtlCol="0" anchor="ctr"/>
          <a:lstStyle/>
          <a:p>
            <a:pPr marL="0" indent="0" algn="ctr">
              <a:buNone/>
            </a:pPr>
            <a:r>
              <a:rPr lang="en-US" sz="800" dirty="0">
                <a:solidFill>
                  <a:srgbClr val="E0E6ED"/>
                </a:solidFill>
                <a:latin typeface="Calibri" panose="020F0502020204030204" pitchFamily="34" charset="0"/>
                <a:ea typeface="Calibri" panose="020F0502020204030204" pitchFamily="34" charset="-122"/>
                <a:cs typeface="Calibri" panose="020F0502020204030204" pitchFamily="34" charset="-120"/>
              </a:rPr>
              <a:t>SAÜ EEM  |  İzmir Yenilenebilir Enerji Analizi</a:t>
            </a:r>
            <a:endParaRPr lang="en-US" sz="800" dirty="0"/>
          </a:p>
        </p:txBody>
      </p:sp>
      <p:sp>
        <p:nvSpPr>
          <p:cNvPr id="6" name="Text 4"/>
          <p:cNvSpPr/>
          <p:nvPr/>
        </p:nvSpPr>
        <p:spPr>
          <a:xfrm>
            <a:off x="274320" y="45720"/>
            <a:ext cx="8595360" cy="594360"/>
          </a:xfrm>
          <a:prstGeom prst="rect">
            <a:avLst/>
          </a:prstGeom>
          <a:noFill/>
        </p:spPr>
        <p:txBody>
          <a:bodyPr wrap="square" lIns="0" tIns="0" rIns="0" bIns="0" rtlCol="0" anchor="ctr"/>
          <a:lstStyle/>
          <a:p>
            <a:pPr marL="0" indent="0" algn="l">
              <a:buNone/>
            </a:pPr>
            <a:r>
              <a:rPr lang="en-US" sz="1800" b="1" dirty="0">
                <a:solidFill>
                  <a:srgbClr val="FFFFFF"/>
                </a:solidFill>
                <a:latin typeface="Calibri" panose="020F0502020204030204" pitchFamily="34" charset="0"/>
                <a:ea typeface="Calibri" panose="020F0502020204030204" pitchFamily="34" charset="-122"/>
                <a:cs typeface="Calibri" panose="020F0502020204030204" pitchFamily="34" charset="-120"/>
              </a:rPr>
              <a:t>Mikro-HES — Hesaplamalarımız &amp; Temel Göstergeler</a:t>
            </a:r>
            <a:endParaRPr lang="en-US" sz="1800" dirty="0"/>
          </a:p>
        </p:txBody>
      </p:sp>
      <p:sp>
        <p:nvSpPr>
          <p:cNvPr id="7" name="Shape 5"/>
          <p:cNvSpPr/>
          <p:nvPr/>
        </p:nvSpPr>
        <p:spPr>
          <a:xfrm>
            <a:off x="320040" y="777240"/>
            <a:ext cx="1920240" cy="914400"/>
          </a:xfrm>
          <a:prstGeom prst="rect">
            <a:avLst/>
          </a:prstGeom>
          <a:solidFill>
            <a:srgbClr val="1E8449"/>
          </a:solidFill>
          <a:ln w="12700">
            <a:solidFill>
              <a:srgbClr val="1E8449"/>
            </a:solidFill>
            <a:prstDash val="solid"/>
          </a:ln>
          <a:effectLst>
            <a:outerShdw blurRad="76200" dist="38100" dir="8100000" algn="bl" rotWithShape="0">
              <a:srgbClr val="000000">
                <a:alpha val="15000"/>
              </a:srgbClr>
            </a:outerShdw>
          </a:effectLst>
        </p:spPr>
        <p:txBody>
          <a:bodyPr/>
          <a:lstStyle/>
          <a:p>
            <a:endParaRPr lang="tr-TR"/>
          </a:p>
        </p:txBody>
      </p:sp>
      <p:sp>
        <p:nvSpPr>
          <p:cNvPr id="8" name="Text 6"/>
          <p:cNvSpPr/>
          <p:nvPr/>
        </p:nvSpPr>
        <p:spPr>
          <a:xfrm>
            <a:off x="320040" y="822960"/>
            <a:ext cx="1920240" cy="530352"/>
          </a:xfrm>
          <a:prstGeom prst="rect">
            <a:avLst/>
          </a:prstGeom>
          <a:noFill/>
        </p:spPr>
        <p:txBody>
          <a:bodyPr wrap="square" rtlCol="0" anchor="ctr"/>
          <a:lstStyle/>
          <a:p>
            <a:pPr marL="0" indent="0" algn="ctr">
              <a:buNone/>
            </a:pPr>
            <a:r>
              <a:rPr lang="en-US" sz="2800" b="1" dirty="0">
                <a:solidFill>
                  <a:srgbClr val="FFFFFF"/>
                </a:solidFill>
                <a:latin typeface="Calibri" panose="020F0502020204030204" pitchFamily="34" charset="0"/>
                <a:ea typeface="Calibri" panose="020F0502020204030204" pitchFamily="34" charset="-122"/>
                <a:cs typeface="Calibri" panose="020F0502020204030204" pitchFamily="34" charset="-120"/>
              </a:rPr>
              <a:t>%31,4</a:t>
            </a:r>
            <a:endParaRPr lang="en-US" sz="2800" dirty="0"/>
          </a:p>
        </p:txBody>
      </p:sp>
      <p:sp>
        <p:nvSpPr>
          <p:cNvPr id="9" name="Text 7"/>
          <p:cNvSpPr/>
          <p:nvPr/>
        </p:nvSpPr>
        <p:spPr>
          <a:xfrm>
            <a:off x="320040" y="1325880"/>
            <a:ext cx="1920240" cy="347472"/>
          </a:xfrm>
          <a:prstGeom prst="rect">
            <a:avLst/>
          </a:prstGeom>
          <a:noFill/>
        </p:spPr>
        <p:txBody>
          <a:bodyPr wrap="square" rtlCol="0" anchor="ctr"/>
          <a:lstStyle/>
          <a:p>
            <a:pPr marL="0" indent="0" algn="ctr">
              <a:buNone/>
            </a:pPr>
            <a:r>
              <a:rPr lang="en-US" sz="1000" dirty="0">
                <a:solidFill>
                  <a:srgbClr val="D6EAF8"/>
                </a:solidFill>
                <a:latin typeface="Calibri" panose="020F0502020204030204" pitchFamily="34" charset="0"/>
                <a:ea typeface="Calibri" panose="020F0502020204030204" pitchFamily="34" charset="-122"/>
                <a:cs typeface="Calibri" panose="020F0502020204030204" pitchFamily="34" charset="-120"/>
              </a:rPr>
              <a:t>Kapasite Faktörü (CF)</a:t>
            </a:r>
            <a:endParaRPr lang="en-US" sz="1000" dirty="0"/>
          </a:p>
          <a:p>
            <a:pPr marL="0" indent="0" algn="ctr">
              <a:buNone/>
            </a:pPr>
            <a:r>
              <a:rPr lang="en-US" sz="1000" dirty="0">
                <a:solidFill>
                  <a:srgbClr val="D6EAF8"/>
                </a:solidFill>
                <a:latin typeface="Calibri" panose="020F0502020204030204" pitchFamily="34" charset="0"/>
                <a:ea typeface="Calibri" panose="020F0502020204030204" pitchFamily="34" charset="-122"/>
                <a:cs typeface="Calibri" panose="020F0502020204030204" pitchFamily="34" charset="-120"/>
              </a:rPr>
              <a:t>Bakırçay 2 MW</a:t>
            </a:r>
            <a:endParaRPr lang="en-US" sz="1000" dirty="0"/>
          </a:p>
        </p:txBody>
      </p:sp>
      <p:sp>
        <p:nvSpPr>
          <p:cNvPr id="10" name="Shape 8"/>
          <p:cNvSpPr/>
          <p:nvPr/>
        </p:nvSpPr>
        <p:spPr>
          <a:xfrm>
            <a:off x="2377440" y="777240"/>
            <a:ext cx="1920240" cy="914400"/>
          </a:xfrm>
          <a:prstGeom prst="rect">
            <a:avLst/>
          </a:prstGeom>
          <a:solidFill>
            <a:srgbClr val="2E86C1"/>
          </a:solidFill>
          <a:ln w="12700">
            <a:solidFill>
              <a:srgbClr val="2E86C1"/>
            </a:solidFill>
            <a:prstDash val="solid"/>
          </a:ln>
          <a:effectLst>
            <a:outerShdw blurRad="76200" dist="38100" dir="8100000" algn="bl" rotWithShape="0">
              <a:srgbClr val="000000">
                <a:alpha val="15000"/>
              </a:srgbClr>
            </a:outerShdw>
          </a:effectLst>
        </p:spPr>
        <p:txBody>
          <a:bodyPr/>
          <a:lstStyle/>
          <a:p>
            <a:endParaRPr lang="tr-TR"/>
          </a:p>
        </p:txBody>
      </p:sp>
      <p:sp>
        <p:nvSpPr>
          <p:cNvPr id="11" name="Text 9"/>
          <p:cNvSpPr/>
          <p:nvPr/>
        </p:nvSpPr>
        <p:spPr>
          <a:xfrm>
            <a:off x="2377440" y="822960"/>
            <a:ext cx="1920240" cy="530352"/>
          </a:xfrm>
          <a:prstGeom prst="rect">
            <a:avLst/>
          </a:prstGeom>
          <a:noFill/>
        </p:spPr>
        <p:txBody>
          <a:bodyPr wrap="square" rtlCol="0" anchor="ctr"/>
          <a:lstStyle/>
          <a:p>
            <a:pPr marL="0" indent="0" algn="ctr">
              <a:buNone/>
            </a:pPr>
            <a:r>
              <a:rPr lang="en-US" sz="2800" b="1" dirty="0">
                <a:solidFill>
                  <a:srgbClr val="FFFFFF"/>
                </a:solidFill>
                <a:latin typeface="Calibri" panose="020F0502020204030204" pitchFamily="34" charset="0"/>
                <a:ea typeface="Calibri" panose="020F0502020204030204" pitchFamily="34" charset="-122"/>
                <a:cs typeface="Calibri" panose="020F0502020204030204" pitchFamily="34" charset="-120"/>
              </a:rPr>
              <a:t>0,5–1,5</a:t>
            </a:r>
            <a:endParaRPr lang="en-US" sz="2800" dirty="0"/>
          </a:p>
        </p:txBody>
      </p:sp>
      <p:sp>
        <p:nvSpPr>
          <p:cNvPr id="12" name="Text 10"/>
          <p:cNvSpPr/>
          <p:nvPr/>
        </p:nvSpPr>
        <p:spPr>
          <a:xfrm>
            <a:off x="2377440" y="1325880"/>
            <a:ext cx="1920240" cy="347472"/>
          </a:xfrm>
          <a:prstGeom prst="rect">
            <a:avLst/>
          </a:prstGeom>
          <a:noFill/>
        </p:spPr>
        <p:txBody>
          <a:bodyPr wrap="square" rtlCol="0" anchor="ctr"/>
          <a:lstStyle/>
          <a:p>
            <a:pPr marL="0" indent="0" algn="ctr">
              <a:buNone/>
            </a:pPr>
            <a:r>
              <a:rPr lang="en-US" sz="1000" dirty="0">
                <a:solidFill>
                  <a:srgbClr val="D6EAF8"/>
                </a:solidFill>
                <a:latin typeface="Calibri" panose="020F0502020204030204" pitchFamily="34" charset="0"/>
                <a:ea typeface="Calibri" panose="020F0502020204030204" pitchFamily="34" charset="-122"/>
                <a:cs typeface="Calibri" panose="020F0502020204030204" pitchFamily="34" charset="-120"/>
              </a:rPr>
              <a:t>EPBT (Yıl)</a:t>
            </a:r>
            <a:endParaRPr lang="en-US" sz="1000" dirty="0"/>
          </a:p>
          <a:p>
            <a:pPr marL="0" indent="0" algn="ctr">
              <a:buNone/>
            </a:pPr>
            <a:r>
              <a:rPr lang="en-US" sz="1000" dirty="0">
                <a:solidFill>
                  <a:srgbClr val="D6EAF8"/>
                </a:solidFill>
                <a:latin typeface="Calibri" panose="020F0502020204030204" pitchFamily="34" charset="0"/>
                <a:ea typeface="Calibri" panose="020F0502020204030204" pitchFamily="34" charset="-122"/>
                <a:cs typeface="Calibri" panose="020F0502020204030204" pitchFamily="34" charset="-120"/>
              </a:rPr>
              <a:t>Enerji Geri Ödeme</a:t>
            </a:r>
            <a:endParaRPr lang="en-US" sz="1000" dirty="0"/>
          </a:p>
        </p:txBody>
      </p:sp>
      <p:sp>
        <p:nvSpPr>
          <p:cNvPr id="13" name="Shape 11"/>
          <p:cNvSpPr/>
          <p:nvPr/>
        </p:nvSpPr>
        <p:spPr>
          <a:xfrm>
            <a:off x="4434840" y="777240"/>
            <a:ext cx="1920240" cy="914400"/>
          </a:xfrm>
          <a:prstGeom prst="rect">
            <a:avLst/>
          </a:prstGeom>
          <a:solidFill>
            <a:srgbClr val="1D6A72"/>
          </a:solidFill>
          <a:ln w="12700">
            <a:solidFill>
              <a:srgbClr val="1D6A72"/>
            </a:solidFill>
            <a:prstDash val="solid"/>
          </a:ln>
          <a:effectLst>
            <a:outerShdw blurRad="76200" dist="38100" dir="8100000" algn="bl" rotWithShape="0">
              <a:srgbClr val="000000">
                <a:alpha val="15000"/>
              </a:srgbClr>
            </a:outerShdw>
          </a:effectLst>
        </p:spPr>
        <p:txBody>
          <a:bodyPr/>
          <a:lstStyle/>
          <a:p>
            <a:endParaRPr lang="tr-TR"/>
          </a:p>
        </p:txBody>
      </p:sp>
      <p:sp>
        <p:nvSpPr>
          <p:cNvPr id="14" name="Text 12"/>
          <p:cNvSpPr/>
          <p:nvPr/>
        </p:nvSpPr>
        <p:spPr>
          <a:xfrm>
            <a:off x="4434840" y="822960"/>
            <a:ext cx="1920240" cy="530352"/>
          </a:xfrm>
          <a:prstGeom prst="rect">
            <a:avLst/>
          </a:prstGeom>
          <a:noFill/>
        </p:spPr>
        <p:txBody>
          <a:bodyPr wrap="square" rtlCol="0" anchor="ctr"/>
          <a:lstStyle/>
          <a:p>
            <a:pPr marL="0" indent="0" algn="ctr">
              <a:buNone/>
            </a:pPr>
            <a:r>
              <a:rPr lang="en-US" sz="2800" b="1" dirty="0">
                <a:solidFill>
                  <a:srgbClr val="FFFFFF"/>
                </a:solidFill>
                <a:latin typeface="Calibri" panose="020F0502020204030204" pitchFamily="34" charset="0"/>
                <a:ea typeface="Calibri" panose="020F0502020204030204" pitchFamily="34" charset="-122"/>
                <a:cs typeface="Calibri" panose="020F0502020204030204" pitchFamily="34" charset="-120"/>
              </a:rPr>
              <a:t>12–18</a:t>
            </a:r>
            <a:endParaRPr lang="en-US" sz="2800" dirty="0"/>
          </a:p>
        </p:txBody>
      </p:sp>
      <p:sp>
        <p:nvSpPr>
          <p:cNvPr id="15" name="Text 13"/>
          <p:cNvSpPr/>
          <p:nvPr/>
        </p:nvSpPr>
        <p:spPr>
          <a:xfrm>
            <a:off x="4434840" y="1325880"/>
            <a:ext cx="1920240" cy="347472"/>
          </a:xfrm>
          <a:prstGeom prst="rect">
            <a:avLst/>
          </a:prstGeom>
          <a:noFill/>
        </p:spPr>
        <p:txBody>
          <a:bodyPr wrap="square" rtlCol="0" anchor="ctr"/>
          <a:lstStyle/>
          <a:p>
            <a:pPr marL="0" indent="0" algn="ctr">
              <a:buNone/>
            </a:pPr>
            <a:r>
              <a:rPr lang="en-US" sz="1000" dirty="0">
                <a:solidFill>
                  <a:srgbClr val="D6EAF8"/>
                </a:solidFill>
                <a:latin typeface="Calibri" panose="020F0502020204030204" pitchFamily="34" charset="0"/>
                <a:ea typeface="Calibri" panose="020F0502020204030204" pitchFamily="34" charset="-122"/>
                <a:cs typeface="Calibri" panose="020F0502020204030204" pitchFamily="34" charset="-120"/>
              </a:rPr>
              <a:t>GPBT (Yıl)</a:t>
            </a:r>
            <a:endParaRPr lang="en-US" sz="1000" dirty="0"/>
          </a:p>
          <a:p>
            <a:pPr marL="0" indent="0" algn="ctr">
              <a:buNone/>
            </a:pPr>
            <a:r>
              <a:rPr lang="en-US" sz="1000" dirty="0">
                <a:solidFill>
                  <a:srgbClr val="D6EAF8"/>
                </a:solidFill>
                <a:latin typeface="Calibri" panose="020F0502020204030204" pitchFamily="34" charset="0"/>
                <a:ea typeface="Calibri" panose="020F0502020204030204" pitchFamily="34" charset="-122"/>
                <a:cs typeface="Calibri" panose="020F0502020204030204" pitchFamily="34" charset="-120"/>
              </a:rPr>
              <a:t>Finansal Geri Ödeme</a:t>
            </a:r>
            <a:endParaRPr lang="en-US" sz="1000" dirty="0"/>
          </a:p>
        </p:txBody>
      </p:sp>
      <p:sp>
        <p:nvSpPr>
          <p:cNvPr id="16" name="Shape 14"/>
          <p:cNvSpPr/>
          <p:nvPr/>
        </p:nvSpPr>
        <p:spPr>
          <a:xfrm>
            <a:off x="6492240" y="777240"/>
            <a:ext cx="1920240" cy="914400"/>
          </a:xfrm>
          <a:prstGeom prst="rect">
            <a:avLst/>
          </a:prstGeom>
          <a:solidFill>
            <a:srgbClr val="1E8449"/>
          </a:solidFill>
          <a:ln w="12700">
            <a:solidFill>
              <a:srgbClr val="1E8449"/>
            </a:solidFill>
            <a:prstDash val="solid"/>
          </a:ln>
          <a:effectLst>
            <a:outerShdw blurRad="76200" dist="38100" dir="8100000" algn="bl" rotWithShape="0">
              <a:srgbClr val="000000">
                <a:alpha val="15000"/>
              </a:srgbClr>
            </a:outerShdw>
          </a:effectLst>
        </p:spPr>
        <p:txBody>
          <a:bodyPr/>
          <a:lstStyle/>
          <a:p>
            <a:endParaRPr lang="tr-TR"/>
          </a:p>
        </p:txBody>
      </p:sp>
      <p:sp>
        <p:nvSpPr>
          <p:cNvPr id="17" name="Text 15"/>
          <p:cNvSpPr/>
          <p:nvPr/>
        </p:nvSpPr>
        <p:spPr>
          <a:xfrm>
            <a:off x="6492240" y="822960"/>
            <a:ext cx="1920240" cy="530352"/>
          </a:xfrm>
          <a:prstGeom prst="rect">
            <a:avLst/>
          </a:prstGeom>
          <a:noFill/>
        </p:spPr>
        <p:txBody>
          <a:bodyPr wrap="square" rtlCol="0" anchor="ctr"/>
          <a:lstStyle/>
          <a:p>
            <a:pPr marL="0" indent="0" algn="ctr">
              <a:buNone/>
            </a:pPr>
            <a:r>
              <a:rPr lang="en-US" sz="2800" b="1" dirty="0">
                <a:solidFill>
                  <a:srgbClr val="FFFFFF"/>
                </a:solidFill>
                <a:latin typeface="Calibri" panose="020F0502020204030204" pitchFamily="34" charset="0"/>
                <a:ea typeface="Calibri" panose="020F0502020204030204" pitchFamily="34" charset="-122"/>
                <a:cs typeface="Calibri" panose="020F0502020204030204" pitchFamily="34" charset="-120"/>
              </a:rPr>
              <a:t>5.500</a:t>
            </a:r>
            <a:endParaRPr lang="en-US" sz="2800" dirty="0"/>
          </a:p>
        </p:txBody>
      </p:sp>
      <p:sp>
        <p:nvSpPr>
          <p:cNvPr id="18" name="Text 16"/>
          <p:cNvSpPr/>
          <p:nvPr/>
        </p:nvSpPr>
        <p:spPr>
          <a:xfrm>
            <a:off x="6492240" y="1325880"/>
            <a:ext cx="1920240" cy="347472"/>
          </a:xfrm>
          <a:prstGeom prst="rect">
            <a:avLst/>
          </a:prstGeom>
          <a:noFill/>
        </p:spPr>
        <p:txBody>
          <a:bodyPr wrap="square" rtlCol="0" anchor="ctr"/>
          <a:lstStyle/>
          <a:p>
            <a:pPr marL="0" indent="0" algn="ctr">
              <a:buNone/>
            </a:pPr>
            <a:r>
              <a:rPr lang="en-US" sz="1000" dirty="0">
                <a:solidFill>
                  <a:srgbClr val="D6EAF8"/>
                </a:solidFill>
                <a:latin typeface="Calibri" panose="020F0502020204030204" pitchFamily="34" charset="0"/>
                <a:ea typeface="Calibri" panose="020F0502020204030204" pitchFamily="34" charset="-122"/>
                <a:cs typeface="Calibri" panose="020F0502020204030204" pitchFamily="34" charset="-120"/>
              </a:rPr>
              <a:t>MWh / Yıl</a:t>
            </a:r>
            <a:endParaRPr lang="en-US" sz="1000" dirty="0"/>
          </a:p>
          <a:p>
            <a:pPr marL="0" indent="0" algn="ctr">
              <a:buNone/>
            </a:pPr>
            <a:r>
              <a:rPr lang="en-US" sz="1000" dirty="0">
                <a:solidFill>
                  <a:srgbClr val="D6EAF8"/>
                </a:solidFill>
                <a:latin typeface="Calibri" panose="020F0502020204030204" pitchFamily="34" charset="0"/>
                <a:ea typeface="Calibri" panose="020F0502020204030204" pitchFamily="34" charset="-122"/>
                <a:cs typeface="Calibri" panose="020F0502020204030204" pitchFamily="34" charset="-120"/>
              </a:rPr>
              <a:t>Bakırçay 2 MW</a:t>
            </a:r>
            <a:endParaRPr lang="en-US" sz="1000" dirty="0"/>
          </a:p>
        </p:txBody>
      </p:sp>
      <p:graphicFrame>
        <p:nvGraphicFramePr>
          <p:cNvPr id="19" name="Table 0"/>
          <p:cNvGraphicFramePr>
            <a:graphicFrameLocks noGrp="1"/>
          </p:cNvGraphicFramePr>
          <p:nvPr/>
        </p:nvGraphicFramePr>
        <p:xfrm>
          <a:off x="320040" y="1828800"/>
          <a:ext cx="8503920" cy="1706880"/>
        </p:xfrm>
        <a:graphic>
          <a:graphicData uri="http://schemas.openxmlformats.org/drawingml/2006/table">
            <a:tbl>
              <a:tblPr/>
              <a:tblGrid>
                <a:gridCol w="2377440"/>
                <a:gridCol w="822960"/>
                <a:gridCol w="1097280"/>
                <a:gridCol w="1463040"/>
                <a:gridCol w="1463040"/>
                <a:gridCol w="1280160"/>
              </a:tblGrid>
              <a:tr h="243840">
                <a:tc>
                  <a:txBody>
                    <a:bodyPr/>
                    <a:lstStyle/>
                    <a:p>
                      <a:pPr marL="0" indent="0" algn="ctr">
                        <a:buNone/>
                      </a:pPr>
                      <a:r>
                        <a:rPr lang="en-US" sz="1000" b="1" dirty="0">
                          <a:solidFill>
                            <a:srgbClr val="FFFFFF"/>
                          </a:solidFill>
                          <a:latin typeface="Calibri" panose="020F0502020204030204" pitchFamily="34" charset="0"/>
                          <a:ea typeface="Calibri" panose="020F0502020204030204" pitchFamily="34" charset="-122"/>
                          <a:cs typeface="Calibri" panose="020F0502020204030204" pitchFamily="34" charset="-120"/>
                        </a:rPr>
                        <a:t>Lokasyon</a:t>
                      </a:r>
                      <a:endParaRPr lang="en-US" sz="1000" dirty="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E0E6ED"/>
                      </a:solidFill>
                      <a:prstDash val="solid"/>
                      <a:round/>
                      <a:headEnd type="none" w="med" len="med"/>
                      <a:tailEnd type="none" w="med" len="med"/>
                    </a:lnL>
                    <a:lnR w="6350" cap="flat" cmpd="sng" algn="ctr">
                      <a:solidFill>
                        <a:srgbClr val="E0E6ED"/>
                      </a:solidFill>
                      <a:prstDash val="solid"/>
                      <a:round/>
                      <a:headEnd type="none" w="med" len="med"/>
                      <a:tailEnd type="none" w="med" len="med"/>
                    </a:lnR>
                    <a:lnT w="6350" cap="flat" cmpd="sng" algn="ctr">
                      <a:solidFill>
                        <a:srgbClr val="E0E6ED"/>
                      </a:solidFill>
                      <a:prstDash val="solid"/>
                      <a:round/>
                      <a:headEnd type="none" w="med" len="med"/>
                      <a:tailEnd type="none" w="med" len="med"/>
                    </a:lnT>
                    <a:lnB w="6350" cap="flat" cmpd="sng" algn="ctr">
                      <a:solidFill>
                        <a:srgbClr val="E0E6ED"/>
                      </a:solidFill>
                      <a:prstDash val="solid"/>
                      <a:round/>
                      <a:headEnd type="none" w="med" len="med"/>
                      <a:tailEnd type="none" w="med" len="med"/>
                    </a:lnB>
                    <a:solidFill>
                      <a:srgbClr val="1E8449"/>
                    </a:solidFill>
                  </a:tcPr>
                </a:tc>
                <a:tc>
                  <a:txBody>
                    <a:bodyPr/>
                    <a:lstStyle/>
                    <a:p>
                      <a:pPr marL="0" indent="0" algn="ctr">
                        <a:buNone/>
                      </a:pPr>
                      <a:r>
                        <a:rPr lang="en-US" sz="1000" b="1" dirty="0">
                          <a:solidFill>
                            <a:srgbClr val="FFFFFF"/>
                          </a:solidFill>
                          <a:latin typeface="Calibri" panose="020F0502020204030204" pitchFamily="34" charset="0"/>
                          <a:ea typeface="Calibri" panose="020F0502020204030204" pitchFamily="34" charset="-122"/>
                          <a:cs typeface="Calibri" panose="020F0502020204030204" pitchFamily="34" charset="-120"/>
                        </a:rPr>
                        <a:t>H (m)</a:t>
                      </a:r>
                      <a:endParaRPr lang="en-US" sz="1000" dirty="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E0E6ED"/>
                      </a:solidFill>
                      <a:prstDash val="solid"/>
                      <a:round/>
                      <a:headEnd type="none" w="med" len="med"/>
                      <a:tailEnd type="none" w="med" len="med"/>
                    </a:lnL>
                    <a:lnR w="6350" cap="flat" cmpd="sng" algn="ctr">
                      <a:solidFill>
                        <a:srgbClr val="E0E6ED"/>
                      </a:solidFill>
                      <a:prstDash val="solid"/>
                      <a:round/>
                      <a:headEnd type="none" w="med" len="med"/>
                      <a:tailEnd type="none" w="med" len="med"/>
                    </a:lnR>
                    <a:lnT w="6350" cap="flat" cmpd="sng" algn="ctr">
                      <a:solidFill>
                        <a:srgbClr val="E0E6ED"/>
                      </a:solidFill>
                      <a:prstDash val="solid"/>
                      <a:round/>
                      <a:headEnd type="none" w="med" len="med"/>
                      <a:tailEnd type="none" w="med" len="med"/>
                    </a:lnT>
                    <a:lnB w="6350" cap="flat" cmpd="sng" algn="ctr">
                      <a:solidFill>
                        <a:srgbClr val="E0E6ED"/>
                      </a:solidFill>
                      <a:prstDash val="solid"/>
                      <a:round/>
                      <a:headEnd type="none" w="med" len="med"/>
                      <a:tailEnd type="none" w="med" len="med"/>
                    </a:lnB>
                    <a:solidFill>
                      <a:srgbClr val="1E8449"/>
                    </a:solidFill>
                  </a:tcPr>
                </a:tc>
                <a:tc>
                  <a:txBody>
                    <a:bodyPr/>
                    <a:lstStyle/>
                    <a:p>
                      <a:pPr marL="0" indent="0" algn="ctr">
                        <a:buNone/>
                      </a:pPr>
                      <a:r>
                        <a:rPr lang="en-US" sz="1000" b="1" dirty="0">
                          <a:solidFill>
                            <a:srgbClr val="FFFFFF"/>
                          </a:solidFill>
                          <a:latin typeface="Calibri" panose="020F0502020204030204" pitchFamily="34" charset="0"/>
                          <a:ea typeface="Calibri" panose="020F0502020204030204" pitchFamily="34" charset="-122"/>
                          <a:cs typeface="Calibri" panose="020F0502020204030204" pitchFamily="34" charset="-120"/>
                        </a:rPr>
                        <a:t>Q (gal/dk)</a:t>
                      </a:r>
                      <a:endParaRPr lang="en-US" sz="1000" dirty="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E0E6ED"/>
                      </a:solidFill>
                      <a:prstDash val="solid"/>
                      <a:round/>
                      <a:headEnd type="none" w="med" len="med"/>
                      <a:tailEnd type="none" w="med" len="med"/>
                    </a:lnL>
                    <a:lnR w="6350" cap="flat" cmpd="sng" algn="ctr">
                      <a:solidFill>
                        <a:srgbClr val="E0E6ED"/>
                      </a:solidFill>
                      <a:prstDash val="solid"/>
                      <a:round/>
                      <a:headEnd type="none" w="med" len="med"/>
                      <a:tailEnd type="none" w="med" len="med"/>
                    </a:lnR>
                    <a:lnT w="6350" cap="flat" cmpd="sng" algn="ctr">
                      <a:solidFill>
                        <a:srgbClr val="E0E6ED"/>
                      </a:solidFill>
                      <a:prstDash val="solid"/>
                      <a:round/>
                      <a:headEnd type="none" w="med" len="med"/>
                      <a:tailEnd type="none" w="med" len="med"/>
                    </a:lnT>
                    <a:lnB w="6350" cap="flat" cmpd="sng" algn="ctr">
                      <a:solidFill>
                        <a:srgbClr val="E0E6ED"/>
                      </a:solidFill>
                      <a:prstDash val="solid"/>
                      <a:round/>
                      <a:headEnd type="none" w="med" len="med"/>
                      <a:tailEnd type="none" w="med" len="med"/>
                    </a:lnB>
                    <a:solidFill>
                      <a:srgbClr val="1E8449"/>
                    </a:solidFill>
                  </a:tcPr>
                </a:tc>
                <a:tc>
                  <a:txBody>
                    <a:bodyPr/>
                    <a:lstStyle/>
                    <a:p>
                      <a:pPr marL="0" indent="0" algn="ctr">
                        <a:buNone/>
                      </a:pPr>
                      <a:r>
                        <a:rPr lang="en-US" sz="1000" b="1" dirty="0">
                          <a:solidFill>
                            <a:srgbClr val="FFFFFF"/>
                          </a:solidFill>
                          <a:latin typeface="Calibri" panose="020F0502020204030204" pitchFamily="34" charset="0"/>
                          <a:ea typeface="Calibri" panose="020F0502020204030204" pitchFamily="34" charset="-122"/>
                          <a:cs typeface="Calibri" panose="020F0502020204030204" pitchFamily="34" charset="-120"/>
                        </a:rPr>
                        <a:t>P_anlık (W)</a:t>
                      </a:r>
                      <a:endParaRPr lang="en-US" sz="1000" dirty="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E0E6ED"/>
                      </a:solidFill>
                      <a:prstDash val="solid"/>
                      <a:round/>
                      <a:headEnd type="none" w="med" len="med"/>
                      <a:tailEnd type="none" w="med" len="med"/>
                    </a:lnL>
                    <a:lnR w="6350" cap="flat" cmpd="sng" algn="ctr">
                      <a:solidFill>
                        <a:srgbClr val="E0E6ED"/>
                      </a:solidFill>
                      <a:prstDash val="solid"/>
                      <a:round/>
                      <a:headEnd type="none" w="med" len="med"/>
                      <a:tailEnd type="none" w="med" len="med"/>
                    </a:lnR>
                    <a:lnT w="6350" cap="flat" cmpd="sng" algn="ctr">
                      <a:solidFill>
                        <a:srgbClr val="E0E6ED"/>
                      </a:solidFill>
                      <a:prstDash val="solid"/>
                      <a:round/>
                      <a:headEnd type="none" w="med" len="med"/>
                      <a:tailEnd type="none" w="med" len="med"/>
                    </a:lnT>
                    <a:lnB w="6350" cap="flat" cmpd="sng" algn="ctr">
                      <a:solidFill>
                        <a:srgbClr val="E0E6ED"/>
                      </a:solidFill>
                      <a:prstDash val="solid"/>
                      <a:round/>
                      <a:headEnd type="none" w="med" len="med"/>
                      <a:tailEnd type="none" w="med" len="med"/>
                    </a:lnB>
                    <a:solidFill>
                      <a:srgbClr val="1E8449"/>
                    </a:solidFill>
                  </a:tcPr>
                </a:tc>
                <a:tc>
                  <a:txBody>
                    <a:bodyPr/>
                    <a:lstStyle/>
                    <a:p>
                      <a:pPr marL="0" indent="0" algn="ctr">
                        <a:buNone/>
                      </a:pPr>
                      <a:r>
                        <a:rPr lang="en-US" sz="1000" b="1" dirty="0">
                          <a:solidFill>
                            <a:srgbClr val="FFFFFF"/>
                          </a:solidFill>
                          <a:latin typeface="Calibri" panose="020F0502020204030204" pitchFamily="34" charset="0"/>
                          <a:ea typeface="Calibri" panose="020F0502020204030204" pitchFamily="34" charset="-122"/>
                          <a:cs typeface="Calibri" panose="020F0502020204030204" pitchFamily="34" charset="-120"/>
                        </a:rPr>
                        <a:t>E_günlük (Wh)</a:t>
                      </a:r>
                      <a:endParaRPr lang="en-US" sz="1000" dirty="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E0E6ED"/>
                      </a:solidFill>
                      <a:prstDash val="solid"/>
                      <a:round/>
                      <a:headEnd type="none" w="med" len="med"/>
                      <a:tailEnd type="none" w="med" len="med"/>
                    </a:lnL>
                    <a:lnR w="6350" cap="flat" cmpd="sng" algn="ctr">
                      <a:solidFill>
                        <a:srgbClr val="E0E6ED"/>
                      </a:solidFill>
                      <a:prstDash val="solid"/>
                      <a:round/>
                      <a:headEnd type="none" w="med" len="med"/>
                      <a:tailEnd type="none" w="med" len="med"/>
                    </a:lnR>
                    <a:lnT w="6350" cap="flat" cmpd="sng" algn="ctr">
                      <a:solidFill>
                        <a:srgbClr val="E0E6ED"/>
                      </a:solidFill>
                      <a:prstDash val="solid"/>
                      <a:round/>
                      <a:headEnd type="none" w="med" len="med"/>
                      <a:tailEnd type="none" w="med" len="med"/>
                    </a:lnT>
                    <a:lnB w="6350" cap="flat" cmpd="sng" algn="ctr">
                      <a:solidFill>
                        <a:srgbClr val="E0E6ED"/>
                      </a:solidFill>
                      <a:prstDash val="solid"/>
                      <a:round/>
                      <a:headEnd type="none" w="med" len="med"/>
                      <a:tailEnd type="none" w="med" len="med"/>
                    </a:lnB>
                    <a:solidFill>
                      <a:srgbClr val="1E8449"/>
                    </a:solidFill>
                  </a:tcPr>
                </a:tc>
                <a:tc>
                  <a:txBody>
                    <a:bodyPr/>
                    <a:lstStyle/>
                    <a:p>
                      <a:pPr marL="0" indent="0" algn="ctr">
                        <a:buNone/>
                      </a:pPr>
                      <a:r>
                        <a:rPr lang="en-US" sz="1000" b="1" dirty="0">
                          <a:solidFill>
                            <a:srgbClr val="FFFFFF"/>
                          </a:solidFill>
                          <a:latin typeface="Calibri" panose="020F0502020204030204" pitchFamily="34" charset="0"/>
                          <a:ea typeface="Calibri" panose="020F0502020204030204" pitchFamily="34" charset="-122"/>
                          <a:cs typeface="Calibri" panose="020F0502020204030204" pitchFamily="34" charset="-120"/>
                        </a:rPr>
                        <a:t>Sıralama</a:t>
                      </a:r>
                      <a:endParaRPr lang="en-US" sz="1000" dirty="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E0E6ED"/>
                      </a:solidFill>
                      <a:prstDash val="solid"/>
                      <a:round/>
                      <a:headEnd type="none" w="med" len="med"/>
                      <a:tailEnd type="none" w="med" len="med"/>
                    </a:lnL>
                    <a:lnR w="6350" cap="flat" cmpd="sng" algn="ctr">
                      <a:solidFill>
                        <a:srgbClr val="E0E6ED"/>
                      </a:solidFill>
                      <a:prstDash val="solid"/>
                      <a:round/>
                      <a:headEnd type="none" w="med" len="med"/>
                      <a:tailEnd type="none" w="med" len="med"/>
                    </a:lnR>
                    <a:lnT w="6350" cap="flat" cmpd="sng" algn="ctr">
                      <a:solidFill>
                        <a:srgbClr val="E0E6ED"/>
                      </a:solidFill>
                      <a:prstDash val="solid"/>
                      <a:round/>
                      <a:headEnd type="none" w="med" len="med"/>
                      <a:tailEnd type="none" w="med" len="med"/>
                    </a:lnT>
                    <a:lnB w="6350" cap="flat" cmpd="sng" algn="ctr">
                      <a:solidFill>
                        <a:srgbClr val="E0E6ED"/>
                      </a:solidFill>
                      <a:prstDash val="solid"/>
                      <a:round/>
                      <a:headEnd type="none" w="med" len="med"/>
                      <a:tailEnd type="none" w="med" len="med"/>
                    </a:lnB>
                    <a:solidFill>
                      <a:srgbClr val="1E8449"/>
                    </a:solidFill>
                  </a:tcPr>
                </a:tc>
              </a:tr>
              <a:tr h="243840">
                <a:tc>
                  <a:txBody>
                    <a:bodyPr/>
                    <a:lstStyle/>
                    <a:p>
                      <a:pPr marL="0" indent="0" algn="l">
                        <a:buNone/>
                      </a:pPr>
                      <a:r>
                        <a:rPr lang="en-US" sz="950" dirty="0">
                          <a:solidFill>
                            <a:srgbClr val="212121"/>
                          </a:solidFill>
                          <a:latin typeface="Calibri" panose="020F0502020204030204" pitchFamily="34" charset="0"/>
                          <a:ea typeface="Calibri" panose="020F0502020204030204" pitchFamily="34" charset="-122"/>
                          <a:cs typeface="Calibri" panose="020F0502020204030204" pitchFamily="34" charset="-120"/>
                        </a:rPr>
                        <a:t>Bakırçay</a:t>
                      </a:r>
                      <a:endParaRPr lang="en-US" sz="950" dirty="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E0E6ED"/>
                      </a:solidFill>
                      <a:prstDash val="solid"/>
                      <a:round/>
                      <a:headEnd type="none" w="med" len="med"/>
                      <a:tailEnd type="none" w="med" len="med"/>
                    </a:lnL>
                    <a:lnR w="6350" cap="flat" cmpd="sng" algn="ctr">
                      <a:solidFill>
                        <a:srgbClr val="E0E6ED"/>
                      </a:solidFill>
                      <a:prstDash val="solid"/>
                      <a:round/>
                      <a:headEnd type="none" w="med" len="med"/>
                      <a:tailEnd type="none" w="med" len="med"/>
                    </a:lnR>
                    <a:lnT w="6350" cap="flat" cmpd="sng" algn="ctr">
                      <a:solidFill>
                        <a:srgbClr val="E0E6ED"/>
                      </a:solidFill>
                      <a:prstDash val="solid"/>
                      <a:round/>
                      <a:headEnd type="none" w="med" len="med"/>
                      <a:tailEnd type="none" w="med" len="med"/>
                    </a:lnT>
                    <a:lnB w="6350" cap="flat" cmpd="sng" algn="ctr">
                      <a:solidFill>
                        <a:srgbClr val="E0E6ED"/>
                      </a:solidFill>
                      <a:prstDash val="solid"/>
                      <a:round/>
                      <a:headEnd type="none" w="med" len="med"/>
                      <a:tailEnd type="none" w="med" len="med"/>
                    </a:lnB>
                    <a:solidFill>
                      <a:srgbClr val="F4F6F8"/>
                    </a:solidFill>
                  </a:tcPr>
                </a:tc>
                <a:tc>
                  <a:txBody>
                    <a:bodyPr/>
                    <a:lstStyle/>
                    <a:p>
                      <a:pPr marL="0" indent="0" algn="ctr">
                        <a:buNone/>
                      </a:pPr>
                      <a:r>
                        <a:rPr lang="en-US" sz="950" dirty="0">
                          <a:solidFill>
                            <a:srgbClr val="212121"/>
                          </a:solidFill>
                          <a:latin typeface="Calibri" panose="020F0502020204030204" pitchFamily="34" charset="0"/>
                          <a:ea typeface="Calibri" panose="020F0502020204030204" pitchFamily="34" charset="-122"/>
                          <a:cs typeface="Calibri" panose="020F0502020204030204" pitchFamily="34" charset="-120"/>
                        </a:rPr>
                        <a:t>12</a:t>
                      </a:r>
                      <a:endParaRPr lang="en-US" sz="950" dirty="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E0E6ED"/>
                      </a:solidFill>
                      <a:prstDash val="solid"/>
                      <a:round/>
                      <a:headEnd type="none" w="med" len="med"/>
                      <a:tailEnd type="none" w="med" len="med"/>
                    </a:lnL>
                    <a:lnR w="6350" cap="flat" cmpd="sng" algn="ctr">
                      <a:solidFill>
                        <a:srgbClr val="E0E6ED"/>
                      </a:solidFill>
                      <a:prstDash val="solid"/>
                      <a:round/>
                      <a:headEnd type="none" w="med" len="med"/>
                      <a:tailEnd type="none" w="med" len="med"/>
                    </a:lnR>
                    <a:lnT w="6350" cap="flat" cmpd="sng" algn="ctr">
                      <a:solidFill>
                        <a:srgbClr val="E0E6ED"/>
                      </a:solidFill>
                      <a:prstDash val="solid"/>
                      <a:round/>
                      <a:headEnd type="none" w="med" len="med"/>
                      <a:tailEnd type="none" w="med" len="med"/>
                    </a:lnT>
                    <a:lnB w="6350" cap="flat" cmpd="sng" algn="ctr">
                      <a:solidFill>
                        <a:srgbClr val="E0E6ED"/>
                      </a:solidFill>
                      <a:prstDash val="solid"/>
                      <a:round/>
                      <a:headEnd type="none" w="med" len="med"/>
                      <a:tailEnd type="none" w="med" len="med"/>
                    </a:lnB>
                    <a:solidFill>
                      <a:srgbClr val="F4F6F8"/>
                    </a:solidFill>
                  </a:tcPr>
                </a:tc>
                <a:tc>
                  <a:txBody>
                    <a:bodyPr/>
                    <a:lstStyle/>
                    <a:p>
                      <a:pPr marL="0" indent="0" algn="ctr">
                        <a:buNone/>
                      </a:pPr>
                      <a:r>
                        <a:rPr lang="en-US" sz="950" dirty="0">
                          <a:solidFill>
                            <a:srgbClr val="212121"/>
                          </a:solidFill>
                          <a:latin typeface="Calibri" panose="020F0502020204030204" pitchFamily="34" charset="0"/>
                          <a:ea typeface="Calibri" panose="020F0502020204030204" pitchFamily="34" charset="-122"/>
                          <a:cs typeface="Calibri" panose="020F0502020204030204" pitchFamily="34" charset="-120"/>
                        </a:rPr>
                        <a:t>400</a:t>
                      </a:r>
                      <a:endParaRPr lang="en-US" sz="950" dirty="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E0E6ED"/>
                      </a:solidFill>
                      <a:prstDash val="solid"/>
                      <a:round/>
                      <a:headEnd type="none" w="med" len="med"/>
                      <a:tailEnd type="none" w="med" len="med"/>
                    </a:lnL>
                    <a:lnR w="6350" cap="flat" cmpd="sng" algn="ctr">
                      <a:solidFill>
                        <a:srgbClr val="E0E6ED"/>
                      </a:solidFill>
                      <a:prstDash val="solid"/>
                      <a:round/>
                      <a:headEnd type="none" w="med" len="med"/>
                      <a:tailEnd type="none" w="med" len="med"/>
                    </a:lnR>
                    <a:lnT w="6350" cap="flat" cmpd="sng" algn="ctr">
                      <a:solidFill>
                        <a:srgbClr val="E0E6ED"/>
                      </a:solidFill>
                      <a:prstDash val="solid"/>
                      <a:round/>
                      <a:headEnd type="none" w="med" len="med"/>
                      <a:tailEnd type="none" w="med" len="med"/>
                    </a:lnT>
                    <a:lnB w="6350" cap="flat" cmpd="sng" algn="ctr">
                      <a:solidFill>
                        <a:srgbClr val="E0E6ED"/>
                      </a:solidFill>
                      <a:prstDash val="solid"/>
                      <a:round/>
                      <a:headEnd type="none" w="med" len="med"/>
                      <a:tailEnd type="none" w="med" len="med"/>
                    </a:lnB>
                    <a:solidFill>
                      <a:srgbClr val="F4F6F8"/>
                    </a:solidFill>
                  </a:tcPr>
                </a:tc>
                <a:tc>
                  <a:txBody>
                    <a:bodyPr/>
                    <a:lstStyle/>
                    <a:p>
                      <a:pPr marL="0" indent="0" algn="ctr">
                        <a:buNone/>
                      </a:pPr>
                      <a:r>
                        <a:rPr lang="en-US" sz="950" dirty="0">
                          <a:solidFill>
                            <a:srgbClr val="212121"/>
                          </a:solidFill>
                          <a:latin typeface="Calibri" panose="020F0502020204030204" pitchFamily="34" charset="0"/>
                          <a:ea typeface="Calibri" panose="020F0502020204030204" pitchFamily="34" charset="-122"/>
                          <a:cs typeface="Calibri" panose="020F0502020204030204" pitchFamily="34" charset="-120"/>
                        </a:rPr>
                        <a:t>1.103,2</a:t>
                      </a:r>
                      <a:endParaRPr lang="en-US" sz="950" dirty="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E0E6ED"/>
                      </a:solidFill>
                      <a:prstDash val="solid"/>
                      <a:round/>
                      <a:headEnd type="none" w="med" len="med"/>
                      <a:tailEnd type="none" w="med" len="med"/>
                    </a:lnL>
                    <a:lnR w="6350" cap="flat" cmpd="sng" algn="ctr">
                      <a:solidFill>
                        <a:srgbClr val="E0E6ED"/>
                      </a:solidFill>
                      <a:prstDash val="solid"/>
                      <a:round/>
                      <a:headEnd type="none" w="med" len="med"/>
                      <a:tailEnd type="none" w="med" len="med"/>
                    </a:lnR>
                    <a:lnT w="6350" cap="flat" cmpd="sng" algn="ctr">
                      <a:solidFill>
                        <a:srgbClr val="E0E6ED"/>
                      </a:solidFill>
                      <a:prstDash val="solid"/>
                      <a:round/>
                      <a:headEnd type="none" w="med" len="med"/>
                      <a:tailEnd type="none" w="med" len="med"/>
                    </a:lnT>
                    <a:lnB w="6350" cap="flat" cmpd="sng" algn="ctr">
                      <a:solidFill>
                        <a:srgbClr val="E0E6ED"/>
                      </a:solidFill>
                      <a:prstDash val="solid"/>
                      <a:round/>
                      <a:headEnd type="none" w="med" len="med"/>
                      <a:tailEnd type="none" w="med" len="med"/>
                    </a:lnB>
                    <a:solidFill>
                      <a:srgbClr val="F4F6F8"/>
                    </a:solidFill>
                  </a:tcPr>
                </a:tc>
                <a:tc>
                  <a:txBody>
                    <a:bodyPr/>
                    <a:lstStyle/>
                    <a:p>
                      <a:pPr marL="0" indent="0" algn="ctr">
                        <a:buNone/>
                      </a:pPr>
                      <a:r>
                        <a:rPr lang="en-US" sz="950" dirty="0">
                          <a:solidFill>
                            <a:srgbClr val="212121"/>
                          </a:solidFill>
                          <a:latin typeface="Calibri" panose="020F0502020204030204" pitchFamily="34" charset="0"/>
                          <a:ea typeface="Calibri" panose="020F0502020204030204" pitchFamily="34" charset="-122"/>
                          <a:cs typeface="Calibri" panose="020F0502020204030204" pitchFamily="34" charset="-120"/>
                        </a:rPr>
                        <a:t>26.476,8</a:t>
                      </a:r>
                      <a:endParaRPr lang="en-US" sz="950" dirty="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E0E6ED"/>
                      </a:solidFill>
                      <a:prstDash val="solid"/>
                      <a:round/>
                      <a:headEnd type="none" w="med" len="med"/>
                      <a:tailEnd type="none" w="med" len="med"/>
                    </a:lnL>
                    <a:lnR w="6350" cap="flat" cmpd="sng" algn="ctr">
                      <a:solidFill>
                        <a:srgbClr val="E0E6ED"/>
                      </a:solidFill>
                      <a:prstDash val="solid"/>
                      <a:round/>
                      <a:headEnd type="none" w="med" len="med"/>
                      <a:tailEnd type="none" w="med" len="med"/>
                    </a:lnR>
                    <a:lnT w="6350" cap="flat" cmpd="sng" algn="ctr">
                      <a:solidFill>
                        <a:srgbClr val="E0E6ED"/>
                      </a:solidFill>
                      <a:prstDash val="solid"/>
                      <a:round/>
                      <a:headEnd type="none" w="med" len="med"/>
                      <a:tailEnd type="none" w="med" len="med"/>
                    </a:lnT>
                    <a:lnB w="6350" cap="flat" cmpd="sng" algn="ctr">
                      <a:solidFill>
                        <a:srgbClr val="E0E6ED"/>
                      </a:solidFill>
                      <a:prstDash val="solid"/>
                      <a:round/>
                      <a:headEnd type="none" w="med" len="med"/>
                      <a:tailEnd type="none" w="med" len="med"/>
                    </a:lnB>
                    <a:solidFill>
                      <a:srgbClr val="F4F6F8"/>
                    </a:solidFill>
                  </a:tcPr>
                </a:tc>
                <a:tc>
                  <a:txBody>
                    <a:bodyPr/>
                    <a:lstStyle/>
                    <a:p>
                      <a:pPr marL="0" indent="0" algn="ctr">
                        <a:buNone/>
                      </a:pPr>
                      <a:r>
                        <a:rPr lang="en-US" sz="950" dirty="0">
                          <a:solidFill>
                            <a:srgbClr val="212121"/>
                          </a:solidFill>
                          <a:latin typeface="Calibri" panose="020F0502020204030204" pitchFamily="34" charset="0"/>
                          <a:ea typeface="Calibri" panose="020F0502020204030204" pitchFamily="34" charset="-122"/>
                          <a:cs typeface="Calibri" panose="020F0502020204030204" pitchFamily="34" charset="-120"/>
                        </a:rPr>
                        <a:t>1. EN İYİ</a:t>
                      </a:r>
                      <a:endParaRPr lang="en-US" sz="950" dirty="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E0E6ED"/>
                      </a:solidFill>
                      <a:prstDash val="solid"/>
                      <a:round/>
                      <a:headEnd type="none" w="med" len="med"/>
                      <a:tailEnd type="none" w="med" len="med"/>
                    </a:lnL>
                    <a:lnR w="6350" cap="flat" cmpd="sng" algn="ctr">
                      <a:solidFill>
                        <a:srgbClr val="E0E6ED"/>
                      </a:solidFill>
                      <a:prstDash val="solid"/>
                      <a:round/>
                      <a:headEnd type="none" w="med" len="med"/>
                      <a:tailEnd type="none" w="med" len="med"/>
                    </a:lnR>
                    <a:lnT w="6350" cap="flat" cmpd="sng" algn="ctr">
                      <a:solidFill>
                        <a:srgbClr val="E0E6ED"/>
                      </a:solidFill>
                      <a:prstDash val="solid"/>
                      <a:round/>
                      <a:headEnd type="none" w="med" len="med"/>
                      <a:tailEnd type="none" w="med" len="med"/>
                    </a:lnT>
                    <a:lnB w="6350" cap="flat" cmpd="sng" algn="ctr">
                      <a:solidFill>
                        <a:srgbClr val="E0E6ED"/>
                      </a:solidFill>
                      <a:prstDash val="solid"/>
                      <a:round/>
                      <a:headEnd type="none" w="med" len="med"/>
                      <a:tailEnd type="none" w="med" len="med"/>
                    </a:lnB>
                    <a:solidFill>
                      <a:srgbClr val="F4F6F8"/>
                    </a:solidFill>
                  </a:tcPr>
                </a:tc>
              </a:tr>
              <a:tr h="243840">
                <a:tc>
                  <a:txBody>
                    <a:bodyPr/>
                    <a:lstStyle/>
                    <a:p>
                      <a:pPr marL="0" indent="0" algn="l">
                        <a:buNone/>
                      </a:pPr>
                      <a:r>
                        <a:rPr lang="en-US" sz="950" dirty="0">
                          <a:solidFill>
                            <a:srgbClr val="212121"/>
                          </a:solidFill>
                          <a:latin typeface="Calibri" panose="020F0502020204030204" pitchFamily="34" charset="0"/>
                          <a:ea typeface="Calibri" panose="020F0502020204030204" pitchFamily="34" charset="-122"/>
                          <a:cs typeface="Calibri" panose="020F0502020204030204" pitchFamily="34" charset="-120"/>
                        </a:rPr>
                        <a:t>Nif Çayı</a:t>
                      </a:r>
                      <a:endParaRPr lang="en-US" sz="950" dirty="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E0E6ED"/>
                      </a:solidFill>
                      <a:prstDash val="solid"/>
                      <a:round/>
                      <a:headEnd type="none" w="med" len="med"/>
                      <a:tailEnd type="none" w="med" len="med"/>
                    </a:lnL>
                    <a:lnR w="6350" cap="flat" cmpd="sng" algn="ctr">
                      <a:solidFill>
                        <a:srgbClr val="E0E6ED"/>
                      </a:solidFill>
                      <a:prstDash val="solid"/>
                      <a:round/>
                      <a:headEnd type="none" w="med" len="med"/>
                      <a:tailEnd type="none" w="med" len="med"/>
                    </a:lnR>
                    <a:lnT w="6350" cap="flat" cmpd="sng" algn="ctr">
                      <a:solidFill>
                        <a:srgbClr val="E0E6ED"/>
                      </a:solidFill>
                      <a:prstDash val="solid"/>
                      <a:round/>
                      <a:headEnd type="none" w="med" len="med"/>
                      <a:tailEnd type="none" w="med" len="med"/>
                    </a:lnT>
                    <a:lnB w="6350" cap="flat" cmpd="sng" algn="ctr">
                      <a:solidFill>
                        <a:srgbClr val="E0E6ED"/>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212121"/>
                          </a:solidFill>
                          <a:latin typeface="Calibri" panose="020F0502020204030204" pitchFamily="34" charset="0"/>
                          <a:ea typeface="Calibri" panose="020F0502020204030204" pitchFamily="34" charset="-122"/>
                          <a:cs typeface="Calibri" panose="020F0502020204030204" pitchFamily="34" charset="-120"/>
                        </a:rPr>
                        <a:t>15</a:t>
                      </a:r>
                      <a:endParaRPr lang="en-US" sz="950" dirty="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E0E6ED"/>
                      </a:solidFill>
                      <a:prstDash val="solid"/>
                      <a:round/>
                      <a:headEnd type="none" w="med" len="med"/>
                      <a:tailEnd type="none" w="med" len="med"/>
                    </a:lnL>
                    <a:lnR w="6350" cap="flat" cmpd="sng" algn="ctr">
                      <a:solidFill>
                        <a:srgbClr val="E0E6ED"/>
                      </a:solidFill>
                      <a:prstDash val="solid"/>
                      <a:round/>
                      <a:headEnd type="none" w="med" len="med"/>
                      <a:tailEnd type="none" w="med" len="med"/>
                    </a:lnR>
                    <a:lnT w="6350" cap="flat" cmpd="sng" algn="ctr">
                      <a:solidFill>
                        <a:srgbClr val="E0E6ED"/>
                      </a:solidFill>
                      <a:prstDash val="solid"/>
                      <a:round/>
                      <a:headEnd type="none" w="med" len="med"/>
                      <a:tailEnd type="none" w="med" len="med"/>
                    </a:lnT>
                    <a:lnB w="6350" cap="flat" cmpd="sng" algn="ctr">
                      <a:solidFill>
                        <a:srgbClr val="E0E6ED"/>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212121"/>
                          </a:solidFill>
                          <a:latin typeface="Calibri" panose="020F0502020204030204" pitchFamily="34" charset="0"/>
                          <a:ea typeface="Calibri" panose="020F0502020204030204" pitchFamily="34" charset="-122"/>
                          <a:cs typeface="Calibri" panose="020F0502020204030204" pitchFamily="34" charset="-120"/>
                        </a:rPr>
                        <a:t>300</a:t>
                      </a:r>
                      <a:endParaRPr lang="en-US" sz="950" dirty="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E0E6ED"/>
                      </a:solidFill>
                      <a:prstDash val="solid"/>
                      <a:round/>
                      <a:headEnd type="none" w="med" len="med"/>
                      <a:tailEnd type="none" w="med" len="med"/>
                    </a:lnL>
                    <a:lnR w="6350" cap="flat" cmpd="sng" algn="ctr">
                      <a:solidFill>
                        <a:srgbClr val="E0E6ED"/>
                      </a:solidFill>
                      <a:prstDash val="solid"/>
                      <a:round/>
                      <a:headEnd type="none" w="med" len="med"/>
                      <a:tailEnd type="none" w="med" len="med"/>
                    </a:lnR>
                    <a:lnT w="6350" cap="flat" cmpd="sng" algn="ctr">
                      <a:solidFill>
                        <a:srgbClr val="E0E6ED"/>
                      </a:solidFill>
                      <a:prstDash val="solid"/>
                      <a:round/>
                      <a:headEnd type="none" w="med" len="med"/>
                      <a:tailEnd type="none" w="med" len="med"/>
                    </a:lnT>
                    <a:lnB w="6350" cap="flat" cmpd="sng" algn="ctr">
                      <a:solidFill>
                        <a:srgbClr val="E0E6ED"/>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212121"/>
                          </a:solidFill>
                          <a:latin typeface="Calibri" panose="020F0502020204030204" pitchFamily="34" charset="0"/>
                          <a:ea typeface="Calibri" panose="020F0502020204030204" pitchFamily="34" charset="-122"/>
                          <a:cs typeface="Calibri" panose="020F0502020204030204" pitchFamily="34" charset="-120"/>
                        </a:rPr>
                        <a:t>1.033,2</a:t>
                      </a:r>
                      <a:endParaRPr lang="en-US" sz="950" dirty="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E0E6ED"/>
                      </a:solidFill>
                      <a:prstDash val="solid"/>
                      <a:round/>
                      <a:headEnd type="none" w="med" len="med"/>
                      <a:tailEnd type="none" w="med" len="med"/>
                    </a:lnL>
                    <a:lnR w="6350" cap="flat" cmpd="sng" algn="ctr">
                      <a:solidFill>
                        <a:srgbClr val="E0E6ED"/>
                      </a:solidFill>
                      <a:prstDash val="solid"/>
                      <a:round/>
                      <a:headEnd type="none" w="med" len="med"/>
                      <a:tailEnd type="none" w="med" len="med"/>
                    </a:lnR>
                    <a:lnT w="6350" cap="flat" cmpd="sng" algn="ctr">
                      <a:solidFill>
                        <a:srgbClr val="E0E6ED"/>
                      </a:solidFill>
                      <a:prstDash val="solid"/>
                      <a:round/>
                      <a:headEnd type="none" w="med" len="med"/>
                      <a:tailEnd type="none" w="med" len="med"/>
                    </a:lnT>
                    <a:lnB w="6350" cap="flat" cmpd="sng" algn="ctr">
                      <a:solidFill>
                        <a:srgbClr val="E0E6ED"/>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212121"/>
                          </a:solidFill>
                          <a:latin typeface="Calibri" panose="020F0502020204030204" pitchFamily="34" charset="0"/>
                          <a:ea typeface="Calibri" panose="020F0502020204030204" pitchFamily="34" charset="-122"/>
                          <a:cs typeface="Calibri" panose="020F0502020204030204" pitchFamily="34" charset="-120"/>
                        </a:rPr>
                        <a:t>24.796,8</a:t>
                      </a:r>
                      <a:endParaRPr lang="en-US" sz="950" dirty="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E0E6ED"/>
                      </a:solidFill>
                      <a:prstDash val="solid"/>
                      <a:round/>
                      <a:headEnd type="none" w="med" len="med"/>
                      <a:tailEnd type="none" w="med" len="med"/>
                    </a:lnL>
                    <a:lnR w="6350" cap="flat" cmpd="sng" algn="ctr">
                      <a:solidFill>
                        <a:srgbClr val="E0E6ED"/>
                      </a:solidFill>
                      <a:prstDash val="solid"/>
                      <a:round/>
                      <a:headEnd type="none" w="med" len="med"/>
                      <a:tailEnd type="none" w="med" len="med"/>
                    </a:lnR>
                    <a:lnT w="6350" cap="flat" cmpd="sng" algn="ctr">
                      <a:solidFill>
                        <a:srgbClr val="E0E6ED"/>
                      </a:solidFill>
                      <a:prstDash val="solid"/>
                      <a:round/>
                      <a:headEnd type="none" w="med" len="med"/>
                      <a:tailEnd type="none" w="med" len="med"/>
                    </a:lnT>
                    <a:lnB w="6350" cap="flat" cmpd="sng" algn="ctr">
                      <a:solidFill>
                        <a:srgbClr val="E0E6ED"/>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212121"/>
                          </a:solidFill>
                          <a:latin typeface="Calibri" panose="020F0502020204030204" pitchFamily="34" charset="0"/>
                          <a:ea typeface="Calibri" panose="020F0502020204030204" pitchFamily="34" charset="-122"/>
                          <a:cs typeface="Calibri" panose="020F0502020204030204" pitchFamily="34" charset="-120"/>
                        </a:rPr>
                        <a:t>2.</a:t>
                      </a:r>
                      <a:endParaRPr lang="en-US" sz="950" dirty="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E0E6ED"/>
                      </a:solidFill>
                      <a:prstDash val="solid"/>
                      <a:round/>
                      <a:headEnd type="none" w="med" len="med"/>
                      <a:tailEnd type="none" w="med" len="med"/>
                    </a:lnL>
                    <a:lnR w="6350" cap="flat" cmpd="sng" algn="ctr">
                      <a:solidFill>
                        <a:srgbClr val="E0E6ED"/>
                      </a:solidFill>
                      <a:prstDash val="solid"/>
                      <a:round/>
                      <a:headEnd type="none" w="med" len="med"/>
                      <a:tailEnd type="none" w="med" len="med"/>
                    </a:lnR>
                    <a:lnT w="6350" cap="flat" cmpd="sng" algn="ctr">
                      <a:solidFill>
                        <a:srgbClr val="E0E6ED"/>
                      </a:solidFill>
                      <a:prstDash val="solid"/>
                      <a:round/>
                      <a:headEnd type="none" w="med" len="med"/>
                      <a:tailEnd type="none" w="med" len="med"/>
                    </a:lnT>
                    <a:lnB w="6350" cap="flat" cmpd="sng" algn="ctr">
                      <a:solidFill>
                        <a:srgbClr val="E0E6ED"/>
                      </a:solidFill>
                      <a:prstDash val="solid"/>
                      <a:round/>
                      <a:headEnd type="none" w="med" len="med"/>
                      <a:tailEnd type="none" w="med" len="med"/>
                    </a:lnB>
                    <a:solidFill>
                      <a:srgbClr val="FFFFFF"/>
                    </a:solidFill>
                  </a:tcPr>
                </a:tc>
              </a:tr>
              <a:tr h="243840">
                <a:tc>
                  <a:txBody>
                    <a:bodyPr/>
                    <a:lstStyle/>
                    <a:p>
                      <a:pPr marL="0" indent="0" algn="l">
                        <a:buNone/>
                      </a:pPr>
                      <a:r>
                        <a:rPr lang="en-US" sz="950" dirty="0">
                          <a:solidFill>
                            <a:srgbClr val="212121"/>
                          </a:solidFill>
                          <a:latin typeface="Calibri" panose="020F0502020204030204" pitchFamily="34" charset="0"/>
                          <a:ea typeface="Calibri" panose="020F0502020204030204" pitchFamily="34" charset="-122"/>
                          <a:cs typeface="Calibri" panose="020F0502020204030204" pitchFamily="34" charset="-120"/>
                        </a:rPr>
                        <a:t>Kocaçay</a:t>
                      </a:r>
                      <a:endParaRPr lang="en-US" sz="950" dirty="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E0E6ED"/>
                      </a:solidFill>
                      <a:prstDash val="solid"/>
                      <a:round/>
                      <a:headEnd type="none" w="med" len="med"/>
                      <a:tailEnd type="none" w="med" len="med"/>
                    </a:lnL>
                    <a:lnR w="6350" cap="flat" cmpd="sng" algn="ctr">
                      <a:solidFill>
                        <a:srgbClr val="E0E6ED"/>
                      </a:solidFill>
                      <a:prstDash val="solid"/>
                      <a:round/>
                      <a:headEnd type="none" w="med" len="med"/>
                      <a:tailEnd type="none" w="med" len="med"/>
                    </a:lnR>
                    <a:lnT w="6350" cap="flat" cmpd="sng" algn="ctr">
                      <a:solidFill>
                        <a:srgbClr val="E0E6ED"/>
                      </a:solidFill>
                      <a:prstDash val="solid"/>
                      <a:round/>
                      <a:headEnd type="none" w="med" len="med"/>
                      <a:tailEnd type="none" w="med" len="med"/>
                    </a:lnT>
                    <a:lnB w="6350" cap="flat" cmpd="sng" algn="ctr">
                      <a:solidFill>
                        <a:srgbClr val="E0E6ED"/>
                      </a:solidFill>
                      <a:prstDash val="solid"/>
                      <a:round/>
                      <a:headEnd type="none" w="med" len="med"/>
                      <a:tailEnd type="none" w="med" len="med"/>
                    </a:lnB>
                    <a:solidFill>
                      <a:srgbClr val="F4F6F8"/>
                    </a:solidFill>
                  </a:tcPr>
                </a:tc>
                <a:tc>
                  <a:txBody>
                    <a:bodyPr/>
                    <a:lstStyle/>
                    <a:p>
                      <a:pPr marL="0" indent="0" algn="ctr">
                        <a:buNone/>
                      </a:pPr>
                      <a:r>
                        <a:rPr lang="en-US" sz="950" dirty="0">
                          <a:solidFill>
                            <a:srgbClr val="212121"/>
                          </a:solidFill>
                          <a:latin typeface="Calibri" panose="020F0502020204030204" pitchFamily="34" charset="0"/>
                          <a:ea typeface="Calibri" panose="020F0502020204030204" pitchFamily="34" charset="-122"/>
                          <a:cs typeface="Calibri" panose="020F0502020204030204" pitchFamily="34" charset="-120"/>
                        </a:rPr>
                        <a:t>18</a:t>
                      </a:r>
                      <a:endParaRPr lang="en-US" sz="950" dirty="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E0E6ED"/>
                      </a:solidFill>
                      <a:prstDash val="solid"/>
                      <a:round/>
                      <a:headEnd type="none" w="med" len="med"/>
                      <a:tailEnd type="none" w="med" len="med"/>
                    </a:lnL>
                    <a:lnR w="6350" cap="flat" cmpd="sng" algn="ctr">
                      <a:solidFill>
                        <a:srgbClr val="E0E6ED"/>
                      </a:solidFill>
                      <a:prstDash val="solid"/>
                      <a:round/>
                      <a:headEnd type="none" w="med" len="med"/>
                      <a:tailEnd type="none" w="med" len="med"/>
                    </a:lnR>
                    <a:lnT w="6350" cap="flat" cmpd="sng" algn="ctr">
                      <a:solidFill>
                        <a:srgbClr val="E0E6ED"/>
                      </a:solidFill>
                      <a:prstDash val="solid"/>
                      <a:round/>
                      <a:headEnd type="none" w="med" len="med"/>
                      <a:tailEnd type="none" w="med" len="med"/>
                    </a:lnT>
                    <a:lnB w="6350" cap="flat" cmpd="sng" algn="ctr">
                      <a:solidFill>
                        <a:srgbClr val="E0E6ED"/>
                      </a:solidFill>
                      <a:prstDash val="solid"/>
                      <a:round/>
                      <a:headEnd type="none" w="med" len="med"/>
                      <a:tailEnd type="none" w="med" len="med"/>
                    </a:lnB>
                    <a:solidFill>
                      <a:srgbClr val="F4F6F8"/>
                    </a:solidFill>
                  </a:tcPr>
                </a:tc>
                <a:tc>
                  <a:txBody>
                    <a:bodyPr/>
                    <a:lstStyle/>
                    <a:p>
                      <a:pPr marL="0" indent="0" algn="ctr">
                        <a:buNone/>
                      </a:pPr>
                      <a:r>
                        <a:rPr lang="en-US" sz="950" dirty="0">
                          <a:solidFill>
                            <a:srgbClr val="212121"/>
                          </a:solidFill>
                          <a:latin typeface="Calibri" panose="020F0502020204030204" pitchFamily="34" charset="0"/>
                          <a:ea typeface="Calibri" panose="020F0502020204030204" pitchFamily="34" charset="-122"/>
                          <a:cs typeface="Calibri" panose="020F0502020204030204" pitchFamily="34" charset="-120"/>
                        </a:rPr>
                        <a:t>250</a:t>
                      </a:r>
                      <a:endParaRPr lang="en-US" sz="950" dirty="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E0E6ED"/>
                      </a:solidFill>
                      <a:prstDash val="solid"/>
                      <a:round/>
                      <a:headEnd type="none" w="med" len="med"/>
                      <a:tailEnd type="none" w="med" len="med"/>
                    </a:lnL>
                    <a:lnR w="6350" cap="flat" cmpd="sng" algn="ctr">
                      <a:solidFill>
                        <a:srgbClr val="E0E6ED"/>
                      </a:solidFill>
                      <a:prstDash val="solid"/>
                      <a:round/>
                      <a:headEnd type="none" w="med" len="med"/>
                      <a:tailEnd type="none" w="med" len="med"/>
                    </a:lnR>
                    <a:lnT w="6350" cap="flat" cmpd="sng" algn="ctr">
                      <a:solidFill>
                        <a:srgbClr val="E0E6ED"/>
                      </a:solidFill>
                      <a:prstDash val="solid"/>
                      <a:round/>
                      <a:headEnd type="none" w="med" len="med"/>
                      <a:tailEnd type="none" w="med" len="med"/>
                    </a:lnT>
                    <a:lnB w="6350" cap="flat" cmpd="sng" algn="ctr">
                      <a:solidFill>
                        <a:srgbClr val="E0E6ED"/>
                      </a:solidFill>
                      <a:prstDash val="solid"/>
                      <a:round/>
                      <a:headEnd type="none" w="med" len="med"/>
                      <a:tailEnd type="none" w="med" len="med"/>
                    </a:lnB>
                    <a:solidFill>
                      <a:srgbClr val="F4F6F8"/>
                    </a:solidFill>
                  </a:tcPr>
                </a:tc>
                <a:tc>
                  <a:txBody>
                    <a:bodyPr/>
                    <a:lstStyle/>
                    <a:p>
                      <a:pPr marL="0" indent="0" algn="ctr">
                        <a:buNone/>
                      </a:pPr>
                      <a:r>
                        <a:rPr lang="en-US" sz="950" dirty="0">
                          <a:solidFill>
                            <a:srgbClr val="212121"/>
                          </a:solidFill>
                          <a:latin typeface="Calibri" panose="020F0502020204030204" pitchFamily="34" charset="0"/>
                          <a:ea typeface="Calibri" panose="020F0502020204030204" pitchFamily="34" charset="-122"/>
                          <a:cs typeface="Calibri" panose="020F0502020204030204" pitchFamily="34" charset="-120"/>
                        </a:rPr>
                        <a:t>1.032,5</a:t>
                      </a:r>
                      <a:endParaRPr lang="en-US" sz="950" dirty="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E0E6ED"/>
                      </a:solidFill>
                      <a:prstDash val="solid"/>
                      <a:round/>
                      <a:headEnd type="none" w="med" len="med"/>
                      <a:tailEnd type="none" w="med" len="med"/>
                    </a:lnL>
                    <a:lnR w="6350" cap="flat" cmpd="sng" algn="ctr">
                      <a:solidFill>
                        <a:srgbClr val="E0E6ED"/>
                      </a:solidFill>
                      <a:prstDash val="solid"/>
                      <a:round/>
                      <a:headEnd type="none" w="med" len="med"/>
                      <a:tailEnd type="none" w="med" len="med"/>
                    </a:lnR>
                    <a:lnT w="6350" cap="flat" cmpd="sng" algn="ctr">
                      <a:solidFill>
                        <a:srgbClr val="E0E6ED"/>
                      </a:solidFill>
                      <a:prstDash val="solid"/>
                      <a:round/>
                      <a:headEnd type="none" w="med" len="med"/>
                      <a:tailEnd type="none" w="med" len="med"/>
                    </a:lnT>
                    <a:lnB w="6350" cap="flat" cmpd="sng" algn="ctr">
                      <a:solidFill>
                        <a:srgbClr val="E0E6ED"/>
                      </a:solidFill>
                      <a:prstDash val="solid"/>
                      <a:round/>
                      <a:headEnd type="none" w="med" len="med"/>
                      <a:tailEnd type="none" w="med" len="med"/>
                    </a:lnB>
                    <a:solidFill>
                      <a:srgbClr val="F4F6F8"/>
                    </a:solidFill>
                  </a:tcPr>
                </a:tc>
                <a:tc>
                  <a:txBody>
                    <a:bodyPr/>
                    <a:lstStyle/>
                    <a:p>
                      <a:pPr marL="0" indent="0" algn="ctr">
                        <a:buNone/>
                      </a:pPr>
                      <a:r>
                        <a:rPr lang="en-US" sz="950" dirty="0">
                          <a:solidFill>
                            <a:srgbClr val="212121"/>
                          </a:solidFill>
                          <a:latin typeface="Calibri" panose="020F0502020204030204" pitchFamily="34" charset="0"/>
                          <a:ea typeface="Calibri" panose="020F0502020204030204" pitchFamily="34" charset="-122"/>
                          <a:cs typeface="Calibri" panose="020F0502020204030204" pitchFamily="34" charset="-120"/>
                        </a:rPr>
                        <a:t>24.780,0</a:t>
                      </a:r>
                      <a:endParaRPr lang="en-US" sz="950" dirty="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E0E6ED"/>
                      </a:solidFill>
                      <a:prstDash val="solid"/>
                      <a:round/>
                      <a:headEnd type="none" w="med" len="med"/>
                      <a:tailEnd type="none" w="med" len="med"/>
                    </a:lnL>
                    <a:lnR w="6350" cap="flat" cmpd="sng" algn="ctr">
                      <a:solidFill>
                        <a:srgbClr val="E0E6ED"/>
                      </a:solidFill>
                      <a:prstDash val="solid"/>
                      <a:round/>
                      <a:headEnd type="none" w="med" len="med"/>
                      <a:tailEnd type="none" w="med" len="med"/>
                    </a:lnR>
                    <a:lnT w="6350" cap="flat" cmpd="sng" algn="ctr">
                      <a:solidFill>
                        <a:srgbClr val="E0E6ED"/>
                      </a:solidFill>
                      <a:prstDash val="solid"/>
                      <a:round/>
                      <a:headEnd type="none" w="med" len="med"/>
                      <a:tailEnd type="none" w="med" len="med"/>
                    </a:lnT>
                    <a:lnB w="6350" cap="flat" cmpd="sng" algn="ctr">
                      <a:solidFill>
                        <a:srgbClr val="E0E6ED"/>
                      </a:solidFill>
                      <a:prstDash val="solid"/>
                      <a:round/>
                      <a:headEnd type="none" w="med" len="med"/>
                      <a:tailEnd type="none" w="med" len="med"/>
                    </a:lnB>
                    <a:solidFill>
                      <a:srgbClr val="F4F6F8"/>
                    </a:solidFill>
                  </a:tcPr>
                </a:tc>
                <a:tc>
                  <a:txBody>
                    <a:bodyPr/>
                    <a:lstStyle/>
                    <a:p>
                      <a:pPr marL="0" indent="0" algn="ctr">
                        <a:buNone/>
                      </a:pPr>
                      <a:r>
                        <a:rPr lang="en-US" sz="950" dirty="0">
                          <a:solidFill>
                            <a:srgbClr val="212121"/>
                          </a:solidFill>
                          <a:latin typeface="Calibri" panose="020F0502020204030204" pitchFamily="34" charset="0"/>
                          <a:ea typeface="Calibri" panose="020F0502020204030204" pitchFamily="34" charset="-122"/>
                          <a:cs typeface="Calibri" panose="020F0502020204030204" pitchFamily="34" charset="-120"/>
                        </a:rPr>
                        <a:t>3.</a:t>
                      </a:r>
                      <a:endParaRPr lang="en-US" sz="950" dirty="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E0E6ED"/>
                      </a:solidFill>
                      <a:prstDash val="solid"/>
                      <a:round/>
                      <a:headEnd type="none" w="med" len="med"/>
                      <a:tailEnd type="none" w="med" len="med"/>
                    </a:lnL>
                    <a:lnR w="6350" cap="flat" cmpd="sng" algn="ctr">
                      <a:solidFill>
                        <a:srgbClr val="E0E6ED"/>
                      </a:solidFill>
                      <a:prstDash val="solid"/>
                      <a:round/>
                      <a:headEnd type="none" w="med" len="med"/>
                      <a:tailEnd type="none" w="med" len="med"/>
                    </a:lnR>
                    <a:lnT w="6350" cap="flat" cmpd="sng" algn="ctr">
                      <a:solidFill>
                        <a:srgbClr val="E0E6ED"/>
                      </a:solidFill>
                      <a:prstDash val="solid"/>
                      <a:round/>
                      <a:headEnd type="none" w="med" len="med"/>
                      <a:tailEnd type="none" w="med" len="med"/>
                    </a:lnT>
                    <a:lnB w="6350" cap="flat" cmpd="sng" algn="ctr">
                      <a:solidFill>
                        <a:srgbClr val="E0E6ED"/>
                      </a:solidFill>
                      <a:prstDash val="solid"/>
                      <a:round/>
                      <a:headEnd type="none" w="med" len="med"/>
                      <a:tailEnd type="none" w="med" len="med"/>
                    </a:lnB>
                    <a:solidFill>
                      <a:srgbClr val="F4F6F8"/>
                    </a:solidFill>
                  </a:tcPr>
                </a:tc>
              </a:tr>
              <a:tr h="243840">
                <a:tc>
                  <a:txBody>
                    <a:bodyPr/>
                    <a:lstStyle/>
                    <a:p>
                      <a:pPr marL="0" indent="0" algn="l">
                        <a:buNone/>
                      </a:pPr>
                      <a:r>
                        <a:rPr lang="en-US" sz="950" dirty="0">
                          <a:solidFill>
                            <a:srgbClr val="212121"/>
                          </a:solidFill>
                          <a:latin typeface="Calibri" panose="020F0502020204030204" pitchFamily="34" charset="0"/>
                          <a:ea typeface="Calibri" panose="020F0502020204030204" pitchFamily="34" charset="-122"/>
                          <a:cs typeface="Calibri" panose="020F0502020204030204" pitchFamily="34" charset="-120"/>
                        </a:rPr>
                        <a:t>Küçük Menderes</a:t>
                      </a:r>
                      <a:endParaRPr lang="en-US" sz="950" dirty="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E0E6ED"/>
                      </a:solidFill>
                      <a:prstDash val="solid"/>
                      <a:round/>
                      <a:headEnd type="none" w="med" len="med"/>
                      <a:tailEnd type="none" w="med" len="med"/>
                    </a:lnL>
                    <a:lnR w="6350" cap="flat" cmpd="sng" algn="ctr">
                      <a:solidFill>
                        <a:srgbClr val="E0E6ED"/>
                      </a:solidFill>
                      <a:prstDash val="solid"/>
                      <a:round/>
                      <a:headEnd type="none" w="med" len="med"/>
                      <a:tailEnd type="none" w="med" len="med"/>
                    </a:lnR>
                    <a:lnT w="6350" cap="flat" cmpd="sng" algn="ctr">
                      <a:solidFill>
                        <a:srgbClr val="E0E6ED"/>
                      </a:solidFill>
                      <a:prstDash val="solid"/>
                      <a:round/>
                      <a:headEnd type="none" w="med" len="med"/>
                      <a:tailEnd type="none" w="med" len="med"/>
                    </a:lnT>
                    <a:lnB w="6350" cap="flat" cmpd="sng" algn="ctr">
                      <a:solidFill>
                        <a:srgbClr val="E0E6ED"/>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212121"/>
                          </a:solidFill>
                          <a:latin typeface="Calibri" panose="020F0502020204030204" pitchFamily="34" charset="0"/>
                          <a:ea typeface="Calibri" panose="020F0502020204030204" pitchFamily="34" charset="-122"/>
                          <a:cs typeface="Calibri" panose="020F0502020204030204" pitchFamily="34" charset="-120"/>
                        </a:rPr>
                        <a:t>8</a:t>
                      </a:r>
                      <a:endParaRPr lang="en-US" sz="950" dirty="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E0E6ED"/>
                      </a:solidFill>
                      <a:prstDash val="solid"/>
                      <a:round/>
                      <a:headEnd type="none" w="med" len="med"/>
                      <a:tailEnd type="none" w="med" len="med"/>
                    </a:lnL>
                    <a:lnR w="6350" cap="flat" cmpd="sng" algn="ctr">
                      <a:solidFill>
                        <a:srgbClr val="E0E6ED"/>
                      </a:solidFill>
                      <a:prstDash val="solid"/>
                      <a:round/>
                      <a:headEnd type="none" w="med" len="med"/>
                      <a:tailEnd type="none" w="med" len="med"/>
                    </a:lnR>
                    <a:lnT w="6350" cap="flat" cmpd="sng" algn="ctr">
                      <a:solidFill>
                        <a:srgbClr val="E0E6ED"/>
                      </a:solidFill>
                      <a:prstDash val="solid"/>
                      <a:round/>
                      <a:headEnd type="none" w="med" len="med"/>
                      <a:tailEnd type="none" w="med" len="med"/>
                    </a:lnT>
                    <a:lnB w="6350" cap="flat" cmpd="sng" algn="ctr">
                      <a:solidFill>
                        <a:srgbClr val="E0E6ED"/>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212121"/>
                          </a:solidFill>
                          <a:latin typeface="Calibri" panose="020F0502020204030204" pitchFamily="34" charset="0"/>
                          <a:ea typeface="Calibri" panose="020F0502020204030204" pitchFamily="34" charset="-122"/>
                          <a:cs typeface="Calibri" panose="020F0502020204030204" pitchFamily="34" charset="-120"/>
                        </a:rPr>
                        <a:t>500</a:t>
                      </a:r>
                      <a:endParaRPr lang="en-US" sz="950" dirty="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E0E6ED"/>
                      </a:solidFill>
                      <a:prstDash val="solid"/>
                      <a:round/>
                      <a:headEnd type="none" w="med" len="med"/>
                      <a:tailEnd type="none" w="med" len="med"/>
                    </a:lnL>
                    <a:lnR w="6350" cap="flat" cmpd="sng" algn="ctr">
                      <a:solidFill>
                        <a:srgbClr val="E0E6ED"/>
                      </a:solidFill>
                      <a:prstDash val="solid"/>
                      <a:round/>
                      <a:headEnd type="none" w="med" len="med"/>
                      <a:tailEnd type="none" w="med" len="med"/>
                    </a:lnR>
                    <a:lnT w="6350" cap="flat" cmpd="sng" algn="ctr">
                      <a:solidFill>
                        <a:srgbClr val="E0E6ED"/>
                      </a:solidFill>
                      <a:prstDash val="solid"/>
                      <a:round/>
                      <a:headEnd type="none" w="med" len="med"/>
                      <a:tailEnd type="none" w="med" len="med"/>
                    </a:lnT>
                    <a:lnB w="6350" cap="flat" cmpd="sng" algn="ctr">
                      <a:solidFill>
                        <a:srgbClr val="E0E6ED"/>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212121"/>
                          </a:solidFill>
                          <a:latin typeface="Calibri" panose="020F0502020204030204" pitchFamily="34" charset="0"/>
                          <a:ea typeface="Calibri" panose="020F0502020204030204" pitchFamily="34" charset="-122"/>
                          <a:cs typeface="Calibri" panose="020F0502020204030204" pitchFamily="34" charset="-120"/>
                        </a:rPr>
                        <a:t>917,0</a:t>
                      </a:r>
                      <a:endParaRPr lang="en-US" sz="950" dirty="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E0E6ED"/>
                      </a:solidFill>
                      <a:prstDash val="solid"/>
                      <a:round/>
                      <a:headEnd type="none" w="med" len="med"/>
                      <a:tailEnd type="none" w="med" len="med"/>
                    </a:lnL>
                    <a:lnR w="6350" cap="flat" cmpd="sng" algn="ctr">
                      <a:solidFill>
                        <a:srgbClr val="E0E6ED"/>
                      </a:solidFill>
                      <a:prstDash val="solid"/>
                      <a:round/>
                      <a:headEnd type="none" w="med" len="med"/>
                      <a:tailEnd type="none" w="med" len="med"/>
                    </a:lnR>
                    <a:lnT w="6350" cap="flat" cmpd="sng" algn="ctr">
                      <a:solidFill>
                        <a:srgbClr val="E0E6ED"/>
                      </a:solidFill>
                      <a:prstDash val="solid"/>
                      <a:round/>
                      <a:headEnd type="none" w="med" len="med"/>
                      <a:tailEnd type="none" w="med" len="med"/>
                    </a:lnT>
                    <a:lnB w="6350" cap="flat" cmpd="sng" algn="ctr">
                      <a:solidFill>
                        <a:srgbClr val="E0E6ED"/>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212121"/>
                          </a:solidFill>
                          <a:latin typeface="Calibri" panose="020F0502020204030204" pitchFamily="34" charset="0"/>
                          <a:ea typeface="Calibri" panose="020F0502020204030204" pitchFamily="34" charset="-122"/>
                          <a:cs typeface="Calibri" panose="020F0502020204030204" pitchFamily="34" charset="-120"/>
                        </a:rPr>
                        <a:t>22.008,0</a:t>
                      </a:r>
                      <a:endParaRPr lang="en-US" sz="950" dirty="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E0E6ED"/>
                      </a:solidFill>
                      <a:prstDash val="solid"/>
                      <a:round/>
                      <a:headEnd type="none" w="med" len="med"/>
                      <a:tailEnd type="none" w="med" len="med"/>
                    </a:lnL>
                    <a:lnR w="6350" cap="flat" cmpd="sng" algn="ctr">
                      <a:solidFill>
                        <a:srgbClr val="E0E6ED"/>
                      </a:solidFill>
                      <a:prstDash val="solid"/>
                      <a:round/>
                      <a:headEnd type="none" w="med" len="med"/>
                      <a:tailEnd type="none" w="med" len="med"/>
                    </a:lnR>
                    <a:lnT w="6350" cap="flat" cmpd="sng" algn="ctr">
                      <a:solidFill>
                        <a:srgbClr val="E0E6ED"/>
                      </a:solidFill>
                      <a:prstDash val="solid"/>
                      <a:round/>
                      <a:headEnd type="none" w="med" len="med"/>
                      <a:tailEnd type="none" w="med" len="med"/>
                    </a:lnT>
                    <a:lnB w="6350" cap="flat" cmpd="sng" algn="ctr">
                      <a:solidFill>
                        <a:srgbClr val="E0E6ED"/>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212121"/>
                          </a:solidFill>
                          <a:latin typeface="Calibri" panose="020F0502020204030204" pitchFamily="34" charset="0"/>
                          <a:ea typeface="Calibri" panose="020F0502020204030204" pitchFamily="34" charset="-122"/>
                          <a:cs typeface="Calibri" panose="020F0502020204030204" pitchFamily="34" charset="-120"/>
                        </a:rPr>
                        <a:t>4.</a:t>
                      </a:r>
                      <a:endParaRPr lang="en-US" sz="950" dirty="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E0E6ED"/>
                      </a:solidFill>
                      <a:prstDash val="solid"/>
                      <a:round/>
                      <a:headEnd type="none" w="med" len="med"/>
                      <a:tailEnd type="none" w="med" len="med"/>
                    </a:lnL>
                    <a:lnR w="6350" cap="flat" cmpd="sng" algn="ctr">
                      <a:solidFill>
                        <a:srgbClr val="E0E6ED"/>
                      </a:solidFill>
                      <a:prstDash val="solid"/>
                      <a:round/>
                      <a:headEnd type="none" w="med" len="med"/>
                      <a:tailEnd type="none" w="med" len="med"/>
                    </a:lnR>
                    <a:lnT w="6350" cap="flat" cmpd="sng" algn="ctr">
                      <a:solidFill>
                        <a:srgbClr val="E0E6ED"/>
                      </a:solidFill>
                      <a:prstDash val="solid"/>
                      <a:round/>
                      <a:headEnd type="none" w="med" len="med"/>
                      <a:tailEnd type="none" w="med" len="med"/>
                    </a:lnT>
                    <a:lnB w="6350" cap="flat" cmpd="sng" algn="ctr">
                      <a:solidFill>
                        <a:srgbClr val="E0E6ED"/>
                      </a:solidFill>
                      <a:prstDash val="solid"/>
                      <a:round/>
                      <a:headEnd type="none" w="med" len="med"/>
                      <a:tailEnd type="none" w="med" len="med"/>
                    </a:lnB>
                    <a:solidFill>
                      <a:srgbClr val="FFFFFF"/>
                    </a:solidFill>
                  </a:tcPr>
                </a:tc>
              </a:tr>
              <a:tr h="243840">
                <a:tc>
                  <a:txBody>
                    <a:bodyPr/>
                    <a:lstStyle/>
                    <a:p>
                      <a:pPr marL="0" indent="0" algn="l">
                        <a:buNone/>
                      </a:pPr>
                      <a:r>
                        <a:rPr lang="en-US" sz="950" dirty="0">
                          <a:solidFill>
                            <a:srgbClr val="212121"/>
                          </a:solidFill>
                          <a:latin typeface="Calibri" panose="020F0502020204030204" pitchFamily="34" charset="0"/>
                          <a:ea typeface="Calibri" panose="020F0502020204030204" pitchFamily="34" charset="-122"/>
                          <a:cs typeface="Calibri" panose="020F0502020204030204" pitchFamily="34" charset="-120"/>
                        </a:rPr>
                        <a:t>Ilıca Deresi</a:t>
                      </a:r>
                      <a:endParaRPr lang="en-US" sz="950" dirty="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E0E6ED"/>
                      </a:solidFill>
                      <a:prstDash val="solid"/>
                      <a:round/>
                      <a:headEnd type="none" w="med" len="med"/>
                      <a:tailEnd type="none" w="med" len="med"/>
                    </a:lnL>
                    <a:lnR w="6350" cap="flat" cmpd="sng" algn="ctr">
                      <a:solidFill>
                        <a:srgbClr val="E0E6ED"/>
                      </a:solidFill>
                      <a:prstDash val="solid"/>
                      <a:round/>
                      <a:headEnd type="none" w="med" len="med"/>
                      <a:tailEnd type="none" w="med" len="med"/>
                    </a:lnR>
                    <a:lnT w="6350" cap="flat" cmpd="sng" algn="ctr">
                      <a:solidFill>
                        <a:srgbClr val="E0E6ED"/>
                      </a:solidFill>
                      <a:prstDash val="solid"/>
                      <a:round/>
                      <a:headEnd type="none" w="med" len="med"/>
                      <a:tailEnd type="none" w="med" len="med"/>
                    </a:lnT>
                    <a:lnB w="6350" cap="flat" cmpd="sng" algn="ctr">
                      <a:solidFill>
                        <a:srgbClr val="E0E6ED"/>
                      </a:solidFill>
                      <a:prstDash val="solid"/>
                      <a:round/>
                      <a:headEnd type="none" w="med" len="med"/>
                      <a:tailEnd type="none" w="med" len="med"/>
                    </a:lnB>
                    <a:solidFill>
                      <a:srgbClr val="F4F6F8"/>
                    </a:solidFill>
                  </a:tcPr>
                </a:tc>
                <a:tc>
                  <a:txBody>
                    <a:bodyPr/>
                    <a:lstStyle/>
                    <a:p>
                      <a:pPr marL="0" indent="0" algn="ctr">
                        <a:buNone/>
                      </a:pPr>
                      <a:r>
                        <a:rPr lang="en-US" sz="950" dirty="0">
                          <a:solidFill>
                            <a:srgbClr val="212121"/>
                          </a:solidFill>
                          <a:latin typeface="Calibri" panose="020F0502020204030204" pitchFamily="34" charset="0"/>
                          <a:ea typeface="Calibri" panose="020F0502020204030204" pitchFamily="34" charset="-122"/>
                          <a:cs typeface="Calibri" panose="020F0502020204030204" pitchFamily="34" charset="-120"/>
                        </a:rPr>
                        <a:t>40</a:t>
                      </a:r>
                      <a:endParaRPr lang="en-US" sz="950" dirty="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E0E6ED"/>
                      </a:solidFill>
                      <a:prstDash val="solid"/>
                      <a:round/>
                      <a:headEnd type="none" w="med" len="med"/>
                      <a:tailEnd type="none" w="med" len="med"/>
                    </a:lnL>
                    <a:lnR w="6350" cap="flat" cmpd="sng" algn="ctr">
                      <a:solidFill>
                        <a:srgbClr val="E0E6ED"/>
                      </a:solidFill>
                      <a:prstDash val="solid"/>
                      <a:round/>
                      <a:headEnd type="none" w="med" len="med"/>
                      <a:tailEnd type="none" w="med" len="med"/>
                    </a:lnR>
                    <a:lnT w="6350" cap="flat" cmpd="sng" algn="ctr">
                      <a:solidFill>
                        <a:srgbClr val="E0E6ED"/>
                      </a:solidFill>
                      <a:prstDash val="solid"/>
                      <a:round/>
                      <a:headEnd type="none" w="med" len="med"/>
                      <a:tailEnd type="none" w="med" len="med"/>
                    </a:lnT>
                    <a:lnB w="6350" cap="flat" cmpd="sng" algn="ctr">
                      <a:solidFill>
                        <a:srgbClr val="E0E6ED"/>
                      </a:solidFill>
                      <a:prstDash val="solid"/>
                      <a:round/>
                      <a:headEnd type="none" w="med" len="med"/>
                      <a:tailEnd type="none" w="med" len="med"/>
                    </a:lnB>
                    <a:solidFill>
                      <a:srgbClr val="F4F6F8"/>
                    </a:solidFill>
                  </a:tcPr>
                </a:tc>
                <a:tc>
                  <a:txBody>
                    <a:bodyPr/>
                    <a:lstStyle/>
                    <a:p>
                      <a:pPr marL="0" indent="0" algn="ctr">
                        <a:buNone/>
                      </a:pPr>
                      <a:r>
                        <a:rPr lang="en-US" sz="950" dirty="0">
                          <a:solidFill>
                            <a:srgbClr val="212121"/>
                          </a:solidFill>
                          <a:latin typeface="Calibri" panose="020F0502020204030204" pitchFamily="34" charset="0"/>
                          <a:ea typeface="Calibri" panose="020F0502020204030204" pitchFamily="34" charset="-122"/>
                          <a:cs typeface="Calibri" panose="020F0502020204030204" pitchFamily="34" charset="-120"/>
                        </a:rPr>
                        <a:t>80</a:t>
                      </a:r>
                      <a:endParaRPr lang="en-US" sz="950" dirty="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E0E6ED"/>
                      </a:solidFill>
                      <a:prstDash val="solid"/>
                      <a:round/>
                      <a:headEnd type="none" w="med" len="med"/>
                      <a:tailEnd type="none" w="med" len="med"/>
                    </a:lnL>
                    <a:lnR w="6350" cap="flat" cmpd="sng" algn="ctr">
                      <a:solidFill>
                        <a:srgbClr val="E0E6ED"/>
                      </a:solidFill>
                      <a:prstDash val="solid"/>
                      <a:round/>
                      <a:headEnd type="none" w="med" len="med"/>
                      <a:tailEnd type="none" w="med" len="med"/>
                    </a:lnR>
                    <a:lnT w="6350" cap="flat" cmpd="sng" algn="ctr">
                      <a:solidFill>
                        <a:srgbClr val="E0E6ED"/>
                      </a:solidFill>
                      <a:prstDash val="solid"/>
                      <a:round/>
                      <a:headEnd type="none" w="med" len="med"/>
                      <a:tailEnd type="none" w="med" len="med"/>
                    </a:lnT>
                    <a:lnB w="6350" cap="flat" cmpd="sng" algn="ctr">
                      <a:solidFill>
                        <a:srgbClr val="E0E6ED"/>
                      </a:solidFill>
                      <a:prstDash val="solid"/>
                      <a:round/>
                      <a:headEnd type="none" w="med" len="med"/>
                      <a:tailEnd type="none" w="med" len="med"/>
                    </a:lnB>
                    <a:solidFill>
                      <a:srgbClr val="F4F6F8"/>
                    </a:solidFill>
                  </a:tcPr>
                </a:tc>
                <a:tc>
                  <a:txBody>
                    <a:bodyPr/>
                    <a:lstStyle/>
                    <a:p>
                      <a:pPr marL="0" indent="0" algn="ctr">
                        <a:buNone/>
                      </a:pPr>
                      <a:r>
                        <a:rPr lang="en-US" sz="950" dirty="0">
                          <a:solidFill>
                            <a:srgbClr val="212121"/>
                          </a:solidFill>
                          <a:latin typeface="Calibri" panose="020F0502020204030204" pitchFamily="34" charset="0"/>
                          <a:ea typeface="Calibri" panose="020F0502020204030204" pitchFamily="34" charset="-122"/>
                          <a:cs typeface="Calibri" panose="020F0502020204030204" pitchFamily="34" charset="-120"/>
                        </a:rPr>
                        <a:t>734,7</a:t>
                      </a:r>
                      <a:endParaRPr lang="en-US" sz="950" dirty="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E0E6ED"/>
                      </a:solidFill>
                      <a:prstDash val="solid"/>
                      <a:round/>
                      <a:headEnd type="none" w="med" len="med"/>
                      <a:tailEnd type="none" w="med" len="med"/>
                    </a:lnL>
                    <a:lnR w="6350" cap="flat" cmpd="sng" algn="ctr">
                      <a:solidFill>
                        <a:srgbClr val="E0E6ED"/>
                      </a:solidFill>
                      <a:prstDash val="solid"/>
                      <a:round/>
                      <a:headEnd type="none" w="med" len="med"/>
                      <a:tailEnd type="none" w="med" len="med"/>
                    </a:lnR>
                    <a:lnT w="6350" cap="flat" cmpd="sng" algn="ctr">
                      <a:solidFill>
                        <a:srgbClr val="E0E6ED"/>
                      </a:solidFill>
                      <a:prstDash val="solid"/>
                      <a:round/>
                      <a:headEnd type="none" w="med" len="med"/>
                      <a:tailEnd type="none" w="med" len="med"/>
                    </a:lnT>
                    <a:lnB w="6350" cap="flat" cmpd="sng" algn="ctr">
                      <a:solidFill>
                        <a:srgbClr val="E0E6ED"/>
                      </a:solidFill>
                      <a:prstDash val="solid"/>
                      <a:round/>
                      <a:headEnd type="none" w="med" len="med"/>
                      <a:tailEnd type="none" w="med" len="med"/>
                    </a:lnB>
                    <a:solidFill>
                      <a:srgbClr val="F4F6F8"/>
                    </a:solidFill>
                  </a:tcPr>
                </a:tc>
                <a:tc>
                  <a:txBody>
                    <a:bodyPr/>
                    <a:lstStyle/>
                    <a:p>
                      <a:pPr marL="0" indent="0" algn="ctr">
                        <a:buNone/>
                      </a:pPr>
                      <a:r>
                        <a:rPr lang="en-US" sz="950" dirty="0">
                          <a:solidFill>
                            <a:srgbClr val="212121"/>
                          </a:solidFill>
                          <a:latin typeface="Calibri" panose="020F0502020204030204" pitchFamily="34" charset="0"/>
                          <a:ea typeface="Calibri" panose="020F0502020204030204" pitchFamily="34" charset="-122"/>
                          <a:cs typeface="Calibri" panose="020F0502020204030204" pitchFamily="34" charset="-120"/>
                        </a:rPr>
                        <a:t>17.633,3</a:t>
                      </a:r>
                      <a:endParaRPr lang="en-US" sz="950" dirty="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E0E6ED"/>
                      </a:solidFill>
                      <a:prstDash val="solid"/>
                      <a:round/>
                      <a:headEnd type="none" w="med" len="med"/>
                      <a:tailEnd type="none" w="med" len="med"/>
                    </a:lnL>
                    <a:lnR w="6350" cap="flat" cmpd="sng" algn="ctr">
                      <a:solidFill>
                        <a:srgbClr val="E0E6ED"/>
                      </a:solidFill>
                      <a:prstDash val="solid"/>
                      <a:round/>
                      <a:headEnd type="none" w="med" len="med"/>
                      <a:tailEnd type="none" w="med" len="med"/>
                    </a:lnR>
                    <a:lnT w="6350" cap="flat" cmpd="sng" algn="ctr">
                      <a:solidFill>
                        <a:srgbClr val="E0E6ED"/>
                      </a:solidFill>
                      <a:prstDash val="solid"/>
                      <a:round/>
                      <a:headEnd type="none" w="med" len="med"/>
                      <a:tailEnd type="none" w="med" len="med"/>
                    </a:lnT>
                    <a:lnB w="6350" cap="flat" cmpd="sng" algn="ctr">
                      <a:solidFill>
                        <a:srgbClr val="E0E6ED"/>
                      </a:solidFill>
                      <a:prstDash val="solid"/>
                      <a:round/>
                      <a:headEnd type="none" w="med" len="med"/>
                      <a:tailEnd type="none" w="med" len="med"/>
                    </a:lnB>
                    <a:solidFill>
                      <a:srgbClr val="F4F6F8"/>
                    </a:solidFill>
                  </a:tcPr>
                </a:tc>
                <a:tc>
                  <a:txBody>
                    <a:bodyPr/>
                    <a:lstStyle/>
                    <a:p>
                      <a:pPr marL="0" indent="0" algn="ctr">
                        <a:buNone/>
                      </a:pPr>
                      <a:r>
                        <a:rPr lang="en-US" sz="950" dirty="0">
                          <a:solidFill>
                            <a:srgbClr val="212121"/>
                          </a:solidFill>
                          <a:latin typeface="Calibri" panose="020F0502020204030204" pitchFamily="34" charset="0"/>
                          <a:ea typeface="Calibri" panose="020F0502020204030204" pitchFamily="34" charset="-122"/>
                          <a:cs typeface="Calibri" panose="020F0502020204030204" pitchFamily="34" charset="-120"/>
                        </a:rPr>
                        <a:t>5.</a:t>
                      </a:r>
                      <a:endParaRPr lang="en-US" sz="950" dirty="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E0E6ED"/>
                      </a:solidFill>
                      <a:prstDash val="solid"/>
                      <a:round/>
                      <a:headEnd type="none" w="med" len="med"/>
                      <a:tailEnd type="none" w="med" len="med"/>
                    </a:lnL>
                    <a:lnR w="6350" cap="flat" cmpd="sng" algn="ctr">
                      <a:solidFill>
                        <a:srgbClr val="E0E6ED"/>
                      </a:solidFill>
                      <a:prstDash val="solid"/>
                      <a:round/>
                      <a:headEnd type="none" w="med" len="med"/>
                      <a:tailEnd type="none" w="med" len="med"/>
                    </a:lnR>
                    <a:lnT w="6350" cap="flat" cmpd="sng" algn="ctr">
                      <a:solidFill>
                        <a:srgbClr val="E0E6ED"/>
                      </a:solidFill>
                      <a:prstDash val="solid"/>
                      <a:round/>
                      <a:headEnd type="none" w="med" len="med"/>
                      <a:tailEnd type="none" w="med" len="med"/>
                    </a:lnT>
                    <a:lnB w="6350" cap="flat" cmpd="sng" algn="ctr">
                      <a:solidFill>
                        <a:srgbClr val="E0E6ED"/>
                      </a:solidFill>
                      <a:prstDash val="solid"/>
                      <a:round/>
                      <a:headEnd type="none" w="med" len="med"/>
                      <a:tailEnd type="none" w="med" len="med"/>
                    </a:lnB>
                    <a:solidFill>
                      <a:srgbClr val="F4F6F8"/>
                    </a:solidFill>
                  </a:tcPr>
                </a:tc>
              </a:tr>
              <a:tr h="243840">
                <a:tc>
                  <a:txBody>
                    <a:bodyPr/>
                    <a:lstStyle/>
                    <a:p>
                      <a:pPr marL="0" indent="0" algn="l">
                        <a:buNone/>
                      </a:pPr>
                      <a:r>
                        <a:rPr lang="en-US" sz="950" dirty="0">
                          <a:solidFill>
                            <a:srgbClr val="212121"/>
                          </a:solidFill>
                          <a:latin typeface="Calibri" panose="020F0502020204030204" pitchFamily="34" charset="0"/>
                          <a:ea typeface="Calibri" panose="020F0502020204030204" pitchFamily="34" charset="-122"/>
                          <a:cs typeface="Calibri" panose="020F0502020204030204" pitchFamily="34" charset="-120"/>
                        </a:rPr>
                        <a:t>Şaşal Deresi</a:t>
                      </a:r>
                      <a:endParaRPr lang="en-US" sz="950" dirty="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E0E6ED"/>
                      </a:solidFill>
                      <a:prstDash val="solid"/>
                      <a:round/>
                      <a:headEnd type="none" w="med" len="med"/>
                      <a:tailEnd type="none" w="med" len="med"/>
                    </a:lnL>
                    <a:lnR w="6350" cap="flat" cmpd="sng" algn="ctr">
                      <a:solidFill>
                        <a:srgbClr val="E0E6ED"/>
                      </a:solidFill>
                      <a:prstDash val="solid"/>
                      <a:round/>
                      <a:headEnd type="none" w="med" len="med"/>
                      <a:tailEnd type="none" w="med" len="med"/>
                    </a:lnR>
                    <a:lnT w="6350" cap="flat" cmpd="sng" algn="ctr">
                      <a:solidFill>
                        <a:srgbClr val="E0E6ED"/>
                      </a:solidFill>
                      <a:prstDash val="solid"/>
                      <a:round/>
                      <a:headEnd type="none" w="med" len="med"/>
                      <a:tailEnd type="none" w="med" len="med"/>
                    </a:lnT>
                    <a:lnB w="6350" cap="flat" cmpd="sng" algn="ctr">
                      <a:solidFill>
                        <a:srgbClr val="E0E6ED"/>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212121"/>
                          </a:solidFill>
                          <a:latin typeface="Calibri" panose="020F0502020204030204" pitchFamily="34" charset="0"/>
                          <a:ea typeface="Calibri" panose="020F0502020204030204" pitchFamily="34" charset="-122"/>
                          <a:cs typeface="Calibri" panose="020F0502020204030204" pitchFamily="34" charset="-120"/>
                        </a:rPr>
                        <a:t>25</a:t>
                      </a:r>
                      <a:endParaRPr lang="en-US" sz="950" dirty="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E0E6ED"/>
                      </a:solidFill>
                      <a:prstDash val="solid"/>
                      <a:round/>
                      <a:headEnd type="none" w="med" len="med"/>
                      <a:tailEnd type="none" w="med" len="med"/>
                    </a:lnL>
                    <a:lnR w="6350" cap="flat" cmpd="sng" algn="ctr">
                      <a:solidFill>
                        <a:srgbClr val="E0E6ED"/>
                      </a:solidFill>
                      <a:prstDash val="solid"/>
                      <a:round/>
                      <a:headEnd type="none" w="med" len="med"/>
                      <a:tailEnd type="none" w="med" len="med"/>
                    </a:lnR>
                    <a:lnT w="6350" cap="flat" cmpd="sng" algn="ctr">
                      <a:solidFill>
                        <a:srgbClr val="E0E6ED"/>
                      </a:solidFill>
                      <a:prstDash val="solid"/>
                      <a:round/>
                      <a:headEnd type="none" w="med" len="med"/>
                      <a:tailEnd type="none" w="med" len="med"/>
                    </a:lnT>
                    <a:lnB w="6350" cap="flat" cmpd="sng" algn="ctr">
                      <a:solidFill>
                        <a:srgbClr val="E0E6ED"/>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212121"/>
                          </a:solidFill>
                          <a:latin typeface="Calibri" panose="020F0502020204030204" pitchFamily="34" charset="0"/>
                          <a:ea typeface="Calibri" panose="020F0502020204030204" pitchFamily="34" charset="-122"/>
                          <a:cs typeface="Calibri" panose="020F0502020204030204" pitchFamily="34" charset="-120"/>
                        </a:rPr>
                        <a:t>120</a:t>
                      </a:r>
                      <a:endParaRPr lang="en-US" sz="950" dirty="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E0E6ED"/>
                      </a:solidFill>
                      <a:prstDash val="solid"/>
                      <a:round/>
                      <a:headEnd type="none" w="med" len="med"/>
                      <a:tailEnd type="none" w="med" len="med"/>
                    </a:lnL>
                    <a:lnR w="6350" cap="flat" cmpd="sng" algn="ctr">
                      <a:solidFill>
                        <a:srgbClr val="E0E6ED"/>
                      </a:solidFill>
                      <a:prstDash val="solid"/>
                      <a:round/>
                      <a:headEnd type="none" w="med" len="med"/>
                      <a:tailEnd type="none" w="med" len="med"/>
                    </a:lnR>
                    <a:lnT w="6350" cap="flat" cmpd="sng" algn="ctr">
                      <a:solidFill>
                        <a:srgbClr val="E0E6ED"/>
                      </a:solidFill>
                      <a:prstDash val="solid"/>
                      <a:round/>
                      <a:headEnd type="none" w="med" len="med"/>
                      <a:tailEnd type="none" w="med" len="med"/>
                    </a:lnT>
                    <a:lnB w="6350" cap="flat" cmpd="sng" algn="ctr">
                      <a:solidFill>
                        <a:srgbClr val="E0E6ED"/>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212121"/>
                          </a:solidFill>
                          <a:latin typeface="Calibri" panose="020F0502020204030204" pitchFamily="34" charset="0"/>
                          <a:ea typeface="Calibri" panose="020F0502020204030204" pitchFamily="34" charset="-122"/>
                          <a:cs typeface="Calibri" panose="020F0502020204030204" pitchFamily="34" charset="-120"/>
                        </a:rPr>
                        <a:t>688,8</a:t>
                      </a:r>
                      <a:endParaRPr lang="en-US" sz="950" dirty="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E0E6ED"/>
                      </a:solidFill>
                      <a:prstDash val="solid"/>
                      <a:round/>
                      <a:headEnd type="none" w="med" len="med"/>
                      <a:tailEnd type="none" w="med" len="med"/>
                    </a:lnL>
                    <a:lnR w="6350" cap="flat" cmpd="sng" algn="ctr">
                      <a:solidFill>
                        <a:srgbClr val="E0E6ED"/>
                      </a:solidFill>
                      <a:prstDash val="solid"/>
                      <a:round/>
                      <a:headEnd type="none" w="med" len="med"/>
                      <a:tailEnd type="none" w="med" len="med"/>
                    </a:lnR>
                    <a:lnT w="6350" cap="flat" cmpd="sng" algn="ctr">
                      <a:solidFill>
                        <a:srgbClr val="E0E6ED"/>
                      </a:solidFill>
                      <a:prstDash val="solid"/>
                      <a:round/>
                      <a:headEnd type="none" w="med" len="med"/>
                      <a:tailEnd type="none" w="med" len="med"/>
                    </a:lnT>
                    <a:lnB w="6350" cap="flat" cmpd="sng" algn="ctr">
                      <a:solidFill>
                        <a:srgbClr val="E0E6ED"/>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212121"/>
                          </a:solidFill>
                          <a:latin typeface="Calibri" panose="020F0502020204030204" pitchFamily="34" charset="0"/>
                          <a:ea typeface="Calibri" panose="020F0502020204030204" pitchFamily="34" charset="-122"/>
                          <a:cs typeface="Calibri" panose="020F0502020204030204" pitchFamily="34" charset="-120"/>
                        </a:rPr>
                        <a:t>16.531,2</a:t>
                      </a:r>
                      <a:endParaRPr lang="en-US" sz="950" dirty="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E0E6ED"/>
                      </a:solidFill>
                      <a:prstDash val="solid"/>
                      <a:round/>
                      <a:headEnd type="none" w="med" len="med"/>
                      <a:tailEnd type="none" w="med" len="med"/>
                    </a:lnL>
                    <a:lnR w="6350" cap="flat" cmpd="sng" algn="ctr">
                      <a:solidFill>
                        <a:srgbClr val="E0E6ED"/>
                      </a:solidFill>
                      <a:prstDash val="solid"/>
                      <a:round/>
                      <a:headEnd type="none" w="med" len="med"/>
                      <a:tailEnd type="none" w="med" len="med"/>
                    </a:lnR>
                    <a:lnT w="6350" cap="flat" cmpd="sng" algn="ctr">
                      <a:solidFill>
                        <a:srgbClr val="E0E6ED"/>
                      </a:solidFill>
                      <a:prstDash val="solid"/>
                      <a:round/>
                      <a:headEnd type="none" w="med" len="med"/>
                      <a:tailEnd type="none" w="med" len="med"/>
                    </a:lnT>
                    <a:lnB w="6350" cap="flat" cmpd="sng" algn="ctr">
                      <a:solidFill>
                        <a:srgbClr val="E0E6ED"/>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212121"/>
                          </a:solidFill>
                          <a:latin typeface="Calibri" panose="020F0502020204030204" pitchFamily="34" charset="0"/>
                          <a:ea typeface="Calibri" panose="020F0502020204030204" pitchFamily="34" charset="-122"/>
                          <a:cs typeface="Calibri" panose="020F0502020204030204" pitchFamily="34" charset="-120"/>
                        </a:rPr>
                        <a:t>6.</a:t>
                      </a:r>
                      <a:endParaRPr lang="en-US" sz="950" dirty="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E0E6ED"/>
                      </a:solidFill>
                      <a:prstDash val="solid"/>
                      <a:round/>
                      <a:headEnd type="none" w="med" len="med"/>
                      <a:tailEnd type="none" w="med" len="med"/>
                    </a:lnL>
                    <a:lnR w="6350" cap="flat" cmpd="sng" algn="ctr">
                      <a:solidFill>
                        <a:srgbClr val="E0E6ED"/>
                      </a:solidFill>
                      <a:prstDash val="solid"/>
                      <a:round/>
                      <a:headEnd type="none" w="med" len="med"/>
                      <a:tailEnd type="none" w="med" len="med"/>
                    </a:lnR>
                    <a:lnT w="6350" cap="flat" cmpd="sng" algn="ctr">
                      <a:solidFill>
                        <a:srgbClr val="E0E6ED"/>
                      </a:solidFill>
                      <a:prstDash val="solid"/>
                      <a:round/>
                      <a:headEnd type="none" w="med" len="med"/>
                      <a:tailEnd type="none" w="med" len="med"/>
                    </a:lnT>
                    <a:lnB w="6350" cap="flat" cmpd="sng" algn="ctr">
                      <a:solidFill>
                        <a:srgbClr val="E0E6ED"/>
                      </a:solidFill>
                      <a:prstDash val="solid"/>
                      <a:round/>
                      <a:headEnd type="none" w="med" len="med"/>
                      <a:tailEnd type="none" w="med" len="med"/>
                    </a:lnB>
                    <a:solidFill>
                      <a:srgbClr val="FFFFFF"/>
                    </a:solidFill>
                  </a:tcPr>
                </a:tc>
              </a:tr>
            </a:tbl>
          </a:graphicData>
        </a:graphic>
      </p:graphicFrame>
      <p:sp>
        <p:nvSpPr>
          <p:cNvPr id="20" name="Shape 17"/>
          <p:cNvSpPr/>
          <p:nvPr/>
        </p:nvSpPr>
        <p:spPr>
          <a:xfrm>
            <a:off x="326618" y="3685996"/>
            <a:ext cx="8503920" cy="1100328"/>
          </a:xfrm>
          <a:prstGeom prst="rect">
            <a:avLst/>
          </a:prstGeom>
          <a:solidFill>
            <a:srgbClr val="D5F5E3"/>
          </a:solidFill>
          <a:ln w="10160">
            <a:solidFill>
              <a:srgbClr val="1E8449"/>
            </a:solidFill>
            <a:prstDash val="solid"/>
          </a:ln>
        </p:spPr>
        <p:txBody>
          <a:bodyPr/>
          <a:lstStyle/>
          <a:p>
            <a:endParaRPr lang="tr-TR"/>
          </a:p>
        </p:txBody>
      </p:sp>
      <p:sp>
        <p:nvSpPr>
          <p:cNvPr id="21" name="Text 18"/>
          <p:cNvSpPr/>
          <p:nvPr/>
        </p:nvSpPr>
        <p:spPr>
          <a:xfrm>
            <a:off x="457200" y="3447288"/>
            <a:ext cx="8229600" cy="1280160"/>
          </a:xfrm>
          <a:prstGeom prst="rect">
            <a:avLst/>
          </a:prstGeom>
          <a:noFill/>
        </p:spPr>
        <p:txBody>
          <a:bodyPr wrap="square" rtlCol="0" anchor="ctr"/>
          <a:lstStyle/>
          <a:p>
            <a:pPr marL="0" indent="0">
              <a:buNone/>
            </a:pPr>
            <a:r>
              <a:rPr lang="en-US" sz="950" b="1" dirty="0">
                <a:solidFill>
                  <a:srgbClr val="212121"/>
                </a:solidFill>
                <a:latin typeface="Calibri" panose="020F0502020204030204" pitchFamily="34" charset="0"/>
                <a:ea typeface="Calibri" panose="020F0502020204030204" pitchFamily="34" charset="-122"/>
                <a:cs typeface="Calibri" panose="020F0502020204030204" pitchFamily="34" charset="-120"/>
              </a:rPr>
              <a:t>Bakırçay Formülü:  </a:t>
            </a:r>
            <a:r>
              <a:rPr lang="en-US" sz="950" dirty="0">
                <a:solidFill>
                  <a:srgbClr val="212121"/>
                </a:solidFill>
                <a:latin typeface="Calibri" panose="020F0502020204030204" pitchFamily="34" charset="0"/>
                <a:ea typeface="Calibri" panose="020F0502020204030204" pitchFamily="34" charset="-122"/>
                <a:cs typeface="Calibri" panose="020F0502020204030204" pitchFamily="34" charset="-120"/>
              </a:rPr>
              <a:t>P = (39,4 × 0,70) × 400 / 10 = </a:t>
            </a:r>
            <a:r>
              <a:rPr lang="en-US" sz="950" b="1" dirty="0">
                <a:solidFill>
                  <a:srgbClr val="1E8449"/>
                </a:solidFill>
                <a:latin typeface="Calibri" panose="020F0502020204030204" pitchFamily="34" charset="0"/>
                <a:ea typeface="Calibri" panose="020F0502020204030204" pitchFamily="34" charset="-122"/>
                <a:cs typeface="Calibri" panose="020F0502020204030204" pitchFamily="34" charset="-120"/>
              </a:rPr>
              <a:t>1.103,2 W
</a:t>
            </a:r>
            <a:r>
              <a:rPr lang="tr-TR" altLang="en-US" sz="950" b="1" dirty="0">
                <a:solidFill>
                  <a:srgbClr val="1E8449"/>
                </a:solidFill>
                <a:latin typeface="Calibri" panose="020F0502020204030204" pitchFamily="34" charset="0"/>
                <a:ea typeface="Calibri" panose="020F0502020204030204" pitchFamily="34" charset="-122"/>
                <a:cs typeface="Calibri" panose="020F0502020204030204" pitchFamily="34" charset="-120"/>
              </a:rPr>
              <a:t> </a:t>
            </a:r>
            <a:r>
              <a:rPr lang="en-US" sz="950" dirty="0">
                <a:solidFill>
                  <a:srgbClr val="212121"/>
                </a:solidFill>
                <a:latin typeface="Calibri" panose="020F0502020204030204" pitchFamily="34" charset="0"/>
                <a:ea typeface="Calibri" panose="020F0502020204030204" pitchFamily="34" charset="-122"/>
                <a:cs typeface="Calibri" panose="020F0502020204030204" pitchFamily="34" charset="-120"/>
                <a:sym typeface="+mn-ea"/>
              </a:rPr>
              <a:t>P (W) = [Net Yük (ft) × Akış (gal/dak)] / 10</a:t>
            </a:r>
            <a:endParaRPr lang="en-US" sz="950" dirty="0">
              <a:solidFill>
                <a:srgbClr val="212121"/>
              </a:solidFill>
              <a:latin typeface="Calibri" panose="020F0502020204030204" pitchFamily="34" charset="0"/>
              <a:ea typeface="Calibri" panose="020F0502020204030204" pitchFamily="34" charset="-122"/>
              <a:cs typeface="Calibri" panose="020F0502020204030204" pitchFamily="34" charset="-120"/>
              <a:sym typeface="+mn-ea"/>
            </a:endParaRPr>
          </a:p>
          <a:p>
            <a:pPr marL="0" indent="0">
              <a:buNone/>
            </a:pPr>
            <a:r>
              <a:rPr lang="en-US" sz="950" b="1" dirty="0">
                <a:solidFill>
                  <a:srgbClr val="212121"/>
                </a:solidFill>
                <a:latin typeface="Calibri" panose="020F0502020204030204" pitchFamily="34" charset="0"/>
                <a:ea typeface="Calibri" panose="020F0502020204030204" pitchFamily="34" charset="-122"/>
                <a:cs typeface="Calibri" panose="020F0502020204030204" pitchFamily="34" charset="-120"/>
              </a:rPr>
              <a:t>Ticari Ölçek (2 MW):  </a:t>
            </a:r>
            <a:r>
              <a:rPr lang="en-US" sz="950" dirty="0">
                <a:solidFill>
                  <a:srgbClr val="212121"/>
                </a:solidFill>
                <a:latin typeface="Calibri" panose="020F0502020204030204" pitchFamily="34" charset="0"/>
                <a:ea typeface="Calibri" panose="020F0502020204030204" pitchFamily="34" charset="-122"/>
                <a:cs typeface="Calibri" panose="020F0502020204030204" pitchFamily="34" charset="-120"/>
              </a:rPr>
              <a:t>CF = 5.500 / 17.520 = </a:t>
            </a:r>
            <a:r>
              <a:rPr lang="en-US" sz="950" b="1" dirty="0">
                <a:solidFill>
                  <a:srgbClr val="1E8449"/>
                </a:solidFill>
                <a:latin typeface="Calibri" panose="020F0502020204030204" pitchFamily="34" charset="0"/>
                <a:ea typeface="Calibri" panose="020F0502020204030204" pitchFamily="34" charset="-122"/>
                <a:cs typeface="Calibri" panose="020F0502020204030204" pitchFamily="34" charset="-120"/>
              </a:rPr>
              <a:t>%31,4</a:t>
            </a:r>
            <a:r>
              <a:rPr lang="en-US" sz="950" dirty="0">
                <a:solidFill>
                  <a:srgbClr val="212121"/>
                </a:solidFill>
                <a:latin typeface="Calibri" panose="020F0502020204030204" pitchFamily="34" charset="0"/>
                <a:ea typeface="Calibri" panose="020F0502020204030204" pitchFamily="34" charset="-122"/>
                <a:cs typeface="Calibri" panose="020F0502020204030204" pitchFamily="34" charset="-120"/>
              </a:rPr>
              <a:t>  |  Sera Gazı Geri Ödeme: (120×10)/(0,434×6.000) = </a:t>
            </a:r>
            <a:r>
              <a:rPr lang="en-US" sz="950" b="1" dirty="0">
                <a:solidFill>
                  <a:srgbClr val="C8901A"/>
                </a:solidFill>
                <a:latin typeface="Calibri" panose="020F0502020204030204" pitchFamily="34" charset="0"/>
                <a:ea typeface="Calibri" panose="020F0502020204030204" pitchFamily="34" charset="-122"/>
                <a:cs typeface="Calibri" panose="020F0502020204030204" pitchFamily="34" charset="-120"/>
              </a:rPr>
              <a:t>~5,5 ay
</a:t>
            </a:r>
            <a:r>
              <a:rPr lang="en-US" sz="950" b="1" dirty="0">
                <a:solidFill>
                  <a:srgbClr val="212121"/>
                </a:solidFill>
                <a:latin typeface="Calibri" panose="020F0502020204030204" pitchFamily="34" charset="0"/>
                <a:ea typeface="Calibri" panose="020F0502020204030204" pitchFamily="34" charset="-122"/>
                <a:cs typeface="Calibri" panose="020F0502020204030204" pitchFamily="34" charset="-120"/>
              </a:rPr>
              <a:t>EPBT:  </a:t>
            </a:r>
            <a:r>
              <a:rPr lang="en-US" sz="950" dirty="0">
                <a:solidFill>
                  <a:srgbClr val="212121"/>
                </a:solidFill>
                <a:latin typeface="Calibri" panose="020F0502020204030204" pitchFamily="34" charset="0"/>
                <a:ea typeface="Calibri" panose="020F0502020204030204" pitchFamily="34" charset="-122"/>
                <a:cs typeface="Calibri" panose="020F0502020204030204" pitchFamily="34" charset="-120"/>
              </a:rPr>
              <a:t>İnşaat ve üretim enerjisi az  →  </a:t>
            </a:r>
            <a:r>
              <a:rPr lang="en-US" sz="950" b="1" dirty="0">
                <a:solidFill>
                  <a:srgbClr val="2E86C1"/>
                </a:solidFill>
                <a:latin typeface="Calibri" panose="020F0502020204030204" pitchFamily="34" charset="0"/>
                <a:ea typeface="Calibri" panose="020F0502020204030204" pitchFamily="34" charset="-122"/>
                <a:cs typeface="Calibri" panose="020F0502020204030204" pitchFamily="34" charset="-120"/>
              </a:rPr>
              <a:t>~6–18 ay
</a:t>
            </a:r>
            <a:r>
              <a:rPr lang="en-US" sz="950" b="1" dirty="0">
                <a:solidFill>
                  <a:srgbClr val="212121"/>
                </a:solidFill>
                <a:latin typeface="Calibri" panose="020F0502020204030204" pitchFamily="34" charset="0"/>
                <a:ea typeface="Calibri" panose="020F0502020204030204" pitchFamily="34" charset="-122"/>
                <a:cs typeface="Calibri" panose="020F0502020204030204" pitchFamily="34" charset="-120"/>
              </a:rPr>
              <a:t>GPBT:  </a:t>
            </a:r>
            <a:r>
              <a:rPr lang="en-US" sz="950" dirty="0">
                <a:solidFill>
                  <a:srgbClr val="212121"/>
                </a:solidFill>
                <a:latin typeface="Calibri" panose="020F0502020204030204" pitchFamily="34" charset="0"/>
                <a:ea typeface="Calibri" panose="020F0502020204030204" pitchFamily="34" charset="-122"/>
                <a:cs typeface="Calibri" panose="020F0502020204030204" pitchFamily="34" charset="-120"/>
              </a:rPr>
              <a:t>YEKDEM HES: $0,050/kWh  →  Geri ödeme </a:t>
            </a:r>
            <a:r>
              <a:rPr lang="en-US" sz="950" b="1" dirty="0">
                <a:solidFill>
                  <a:srgbClr val="1D6A72"/>
                </a:solidFill>
                <a:latin typeface="Calibri" panose="020F0502020204030204" pitchFamily="34" charset="0"/>
                <a:ea typeface="Calibri" panose="020F0502020204030204" pitchFamily="34" charset="-122"/>
                <a:cs typeface="Calibri" panose="020F0502020204030204" pitchFamily="34" charset="-120"/>
              </a:rPr>
              <a:t>~12–18 yıl</a:t>
            </a:r>
            <a:endParaRPr lang="en-US" sz="9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Shape 17"/>
          <p:cNvSpPr/>
          <p:nvPr/>
        </p:nvSpPr>
        <p:spPr>
          <a:xfrm>
            <a:off x="374650" y="834390"/>
            <a:ext cx="8479155" cy="1727200"/>
          </a:xfrm>
          <a:prstGeom prst="rect">
            <a:avLst/>
          </a:prstGeom>
          <a:solidFill>
            <a:srgbClr val="D5F5E3"/>
          </a:solidFill>
          <a:ln w="10160">
            <a:solidFill>
              <a:srgbClr val="1E8449"/>
            </a:solidFill>
            <a:prstDash val="solid"/>
          </a:ln>
        </p:spPr>
        <p:txBody>
          <a:bodyPr/>
          <a:lstStyle/>
          <a:p>
            <a:endParaRPr lang="tr-TR"/>
          </a:p>
        </p:txBody>
      </p:sp>
      <p:pic>
        <p:nvPicPr>
          <p:cNvPr id="2" name="Resim 1"/>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2091055" y="2722245"/>
            <a:ext cx="4528185" cy="2010410"/>
          </a:xfrm>
          <a:prstGeom prst="rect">
            <a:avLst/>
          </a:prstGeom>
          <a:noFill/>
          <a:ln>
            <a:noFill/>
          </a:ln>
        </p:spPr>
      </p:pic>
      <p:sp>
        <p:nvSpPr>
          <p:cNvPr id="3" name="Metin Kutusu 2"/>
          <p:cNvSpPr txBox="1"/>
          <p:nvPr/>
        </p:nvSpPr>
        <p:spPr>
          <a:xfrm>
            <a:off x="520359" y="834258"/>
            <a:ext cx="7768962" cy="1938992"/>
          </a:xfrm>
          <a:prstGeom prst="rect">
            <a:avLst/>
          </a:prstGeom>
          <a:noFill/>
        </p:spPr>
        <p:txBody>
          <a:bodyPr wrap="square" rtlCol="0">
            <a:spAutoFit/>
          </a:bodyPr>
          <a:lstStyle/>
          <a:p>
            <a:pPr marL="171450" indent="-171450">
              <a:buFont typeface="Arial" panose="020B0604020202020204" pitchFamily="34" charset="0"/>
              <a:buChar char="•"/>
            </a:pPr>
            <a:r>
              <a:rPr lang="tr-TR" sz="1200" dirty="0"/>
              <a:t>Ilıca Deresi 40 metre ile en yüksek </a:t>
            </a:r>
            <a:r>
              <a:rPr lang="tr-TR" sz="1200" dirty="0" err="1"/>
              <a:t>düşüye</a:t>
            </a:r>
            <a:r>
              <a:rPr lang="tr-TR" sz="1200" dirty="0"/>
              <a:t> (yüksekliğe) sahip olmasına rağmen suyun akışı yetersiz olduğu için (80 </a:t>
            </a:r>
            <a:r>
              <a:rPr lang="tr-TR" sz="1200" dirty="0" err="1"/>
              <a:t>gal</a:t>
            </a:r>
            <a:r>
              <a:rPr lang="tr-TR" sz="1200" dirty="0"/>
              <a:t>/</a:t>
            </a:r>
            <a:r>
              <a:rPr lang="tr-TR" sz="1200" dirty="0" err="1"/>
              <a:t>dak</a:t>
            </a:r>
            <a:r>
              <a:rPr lang="tr-TR" sz="1200" dirty="0"/>
              <a:t>) gücü düşük kaldı. Öte yandan Küçük Menderes 500 </a:t>
            </a:r>
            <a:r>
              <a:rPr lang="tr-TR" sz="1200" dirty="0" err="1"/>
              <a:t>gal</a:t>
            </a:r>
            <a:r>
              <a:rPr lang="tr-TR" sz="1200" dirty="0"/>
              <a:t>/</a:t>
            </a:r>
            <a:r>
              <a:rPr lang="tr-TR" sz="1200" dirty="0" err="1"/>
              <a:t>dak</a:t>
            </a:r>
            <a:r>
              <a:rPr lang="tr-TR" sz="1200" dirty="0"/>
              <a:t> ile en yüksek akışa sahip olsa da yükseklik yetersiz (8 metre) olduğu için liderliği kaptırdı. </a:t>
            </a:r>
            <a:endParaRPr lang="tr-TR" sz="1200" dirty="0"/>
          </a:p>
          <a:p>
            <a:r>
              <a:rPr lang="tr-TR" sz="1200" dirty="0"/>
              <a:t> </a:t>
            </a:r>
            <a:r>
              <a:rPr lang="tr-TR" sz="1200" b="1" dirty="0"/>
              <a:t>Mikro HES'lerin Ormansızlaştırma ve Çevresel Etkileri</a:t>
            </a:r>
            <a:endParaRPr lang="tr-TR" sz="1200" b="1" dirty="0"/>
          </a:p>
          <a:p>
            <a:pPr marL="171450" indent="-171450">
              <a:buFont typeface="Arial" panose="020B0604020202020204" pitchFamily="34" charset="0"/>
              <a:buChar char="•"/>
            </a:pPr>
            <a:r>
              <a:rPr lang="tr-TR" sz="1200" dirty="0"/>
              <a:t>Proje alanına ulaşmak için açılan servis yolları, cebri boruların (suyu türbine taşıyan borular) döşenmesi ve üretilen elektriğin şebekeye bağlanması için çekilen enerji nakil hatları, vadi tabanlarında ve yamaçlarda ciddi ağaç kesimine (ormansızlaşmaya) neden olur.</a:t>
            </a:r>
            <a:endParaRPr lang="tr-TR" sz="1200" dirty="0"/>
          </a:p>
          <a:p>
            <a:pPr marL="171450" indent="-171450">
              <a:buFont typeface="Arial" panose="020B0604020202020204" pitchFamily="34" charset="0"/>
              <a:buChar char="•"/>
            </a:pPr>
            <a:r>
              <a:rPr lang="tr-TR" sz="1200" b="1" dirty="0"/>
              <a:t>Can Suyu Problemi:</a:t>
            </a:r>
            <a:r>
              <a:rPr lang="tr-TR" sz="1200" dirty="0"/>
              <a:t> Suyun doğal yatağından alınıp borulara hapsedilmesi, nehir yatağındaki su miktarını (can suyu) kritik seviyelere düşürür. Kuruma tehlikesiyle baş başa bırakır.</a:t>
            </a:r>
            <a:endParaRPr lang="tr-TR" sz="1200" dirty="0"/>
          </a:p>
          <a:p>
            <a:pPr marL="171450" indent="-171450">
              <a:buFont typeface="Arial" panose="020B0604020202020204" pitchFamily="34" charset="0"/>
              <a:buChar char="•"/>
            </a:pPr>
            <a:endParaRPr lang="tr-TR" sz="1200" dirty="0"/>
          </a:p>
        </p:txBody>
      </p:sp>
      <p:sp>
        <p:nvSpPr>
          <p:cNvPr id="5" name="Shape 0"/>
          <p:cNvSpPr/>
          <p:nvPr/>
        </p:nvSpPr>
        <p:spPr>
          <a:xfrm>
            <a:off x="0" y="0"/>
            <a:ext cx="9144000" cy="685800"/>
          </a:xfrm>
          <a:prstGeom prst="rect">
            <a:avLst/>
          </a:prstGeom>
          <a:solidFill>
            <a:srgbClr val="1E8449"/>
          </a:solidFill>
          <a:ln w="12700">
            <a:solidFill>
              <a:srgbClr val="1E8449"/>
            </a:solidFill>
            <a:prstDash val="solid"/>
          </a:ln>
        </p:spPr>
        <p:txBody>
          <a:bodyPr/>
          <a:lstStyle/>
          <a:p>
            <a:endParaRPr lang="tr-TR"/>
          </a:p>
        </p:txBody>
      </p:sp>
      <p:sp>
        <p:nvSpPr>
          <p:cNvPr id="6" name="Text 4"/>
          <p:cNvSpPr/>
          <p:nvPr/>
        </p:nvSpPr>
        <p:spPr>
          <a:xfrm>
            <a:off x="274320" y="45720"/>
            <a:ext cx="8595360" cy="594360"/>
          </a:xfrm>
          <a:prstGeom prst="rect">
            <a:avLst/>
          </a:prstGeom>
          <a:noFill/>
        </p:spPr>
        <p:txBody>
          <a:bodyPr wrap="square" lIns="0" tIns="0" rIns="0" bIns="0" rtlCol="0" anchor="ctr"/>
          <a:lstStyle/>
          <a:p>
            <a:pPr marL="0" indent="0" algn="l">
              <a:buNone/>
            </a:pPr>
            <a:r>
              <a:rPr lang="en-US" altLang="tr-TR" b="1">
                <a:solidFill>
                  <a:schemeClr val="bg1"/>
                </a:solidFill>
                <a:latin typeface="Calibri" panose="020F0502020204030204" pitchFamily="34" charset="0"/>
                <a:ea typeface="+mn-ea"/>
                <a:cs typeface="+mn-ea"/>
                <a:sym typeface="+mn-ea"/>
              </a:rPr>
              <a:t>Hidroelektrik Santrali </a:t>
            </a:r>
            <a:r>
              <a:rPr lang="tr-TR" altLang="en-US" b="1">
                <a:solidFill>
                  <a:schemeClr val="bg1"/>
                </a:solidFill>
                <a:latin typeface="Calibri" panose="020F0502020204030204" pitchFamily="34" charset="0"/>
                <a:ea typeface="+mn-ea"/>
                <a:cs typeface="+mn-ea"/>
                <a:sym typeface="+mn-ea"/>
              </a:rPr>
              <a:t>Çevresel Etkileri</a:t>
            </a:r>
            <a:endParaRPr lang="tr-TR" altLang="en-US" sz="1800" b="1" dirty="0">
              <a:solidFill>
                <a:schemeClr val="bg1"/>
              </a:solidFill>
              <a:latin typeface="Calibri" panose="020F0502020204030204" pitchFamily="34" charset="0"/>
              <a:ea typeface="+mn-ea"/>
              <a:cs typeface="+mn-ea"/>
              <a:sym typeface="+mn-ea"/>
            </a:endParaRPr>
          </a:p>
        </p:txBody>
      </p:sp>
      <p:sp>
        <p:nvSpPr>
          <p:cNvPr id="4" name="Shape 2"/>
          <p:cNvSpPr/>
          <p:nvPr/>
        </p:nvSpPr>
        <p:spPr>
          <a:xfrm>
            <a:off x="0" y="4892040"/>
            <a:ext cx="9144000" cy="251460"/>
          </a:xfrm>
          <a:prstGeom prst="rect">
            <a:avLst/>
          </a:prstGeom>
          <a:solidFill>
            <a:srgbClr val="1B3A6B"/>
          </a:solidFill>
          <a:ln w="12700">
            <a:solidFill>
              <a:srgbClr val="1B3A6B"/>
            </a:solidFill>
            <a:prstDash val="solid"/>
          </a:ln>
        </p:spPr>
        <p:txBody>
          <a:bodyPr/>
          <a:lstStyle/>
          <a:p>
            <a:endParaRPr lang="tr-TR"/>
          </a:p>
        </p:txBody>
      </p:sp>
      <p:sp>
        <p:nvSpPr>
          <p:cNvPr id="7" name="Text 3"/>
          <p:cNvSpPr/>
          <p:nvPr/>
        </p:nvSpPr>
        <p:spPr>
          <a:xfrm>
            <a:off x="274320" y="4892040"/>
            <a:ext cx="8595360" cy="251460"/>
          </a:xfrm>
          <a:prstGeom prst="rect">
            <a:avLst/>
          </a:prstGeom>
          <a:noFill/>
        </p:spPr>
        <p:txBody>
          <a:bodyPr wrap="square" rtlCol="0" anchor="ctr"/>
          <a:lstStyle/>
          <a:p>
            <a:pPr marL="0" indent="0" algn="ctr">
              <a:buNone/>
            </a:pPr>
            <a:r>
              <a:rPr lang="en-US" sz="800" dirty="0">
                <a:solidFill>
                  <a:srgbClr val="E0E6ED"/>
                </a:solidFill>
                <a:latin typeface="Calibri" panose="020F0502020204030204" pitchFamily="34" charset="0"/>
                <a:ea typeface="Calibri" panose="020F0502020204030204" pitchFamily="34" charset="-122"/>
                <a:cs typeface="Calibri" panose="020F0502020204030204" pitchFamily="34" charset="-120"/>
              </a:rPr>
              <a:t>SAÜ EEM  |  İzmir Yenilenebilir Enerji Analizi</a:t>
            </a:r>
            <a:endParaRPr lang="en-US" sz="8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hape 17"/>
          <p:cNvSpPr/>
          <p:nvPr/>
        </p:nvSpPr>
        <p:spPr>
          <a:xfrm>
            <a:off x="357505" y="734695"/>
            <a:ext cx="8502650" cy="1135380"/>
          </a:xfrm>
          <a:prstGeom prst="rect">
            <a:avLst/>
          </a:prstGeom>
          <a:solidFill>
            <a:srgbClr val="D5F5E3"/>
          </a:solidFill>
          <a:ln w="10160">
            <a:solidFill>
              <a:srgbClr val="1E8449"/>
            </a:solidFill>
            <a:prstDash val="solid"/>
          </a:ln>
        </p:spPr>
        <p:txBody>
          <a:bodyPr/>
          <a:lstStyle/>
          <a:p>
            <a:endParaRPr lang="tr-TR"/>
          </a:p>
        </p:txBody>
      </p:sp>
      <p:sp>
        <p:nvSpPr>
          <p:cNvPr id="20" name="Shape 17"/>
          <p:cNvSpPr/>
          <p:nvPr/>
        </p:nvSpPr>
        <p:spPr>
          <a:xfrm>
            <a:off x="365760" y="3396615"/>
            <a:ext cx="8495030" cy="1275080"/>
          </a:xfrm>
          <a:prstGeom prst="rect">
            <a:avLst/>
          </a:prstGeom>
          <a:solidFill>
            <a:srgbClr val="D5F5E3"/>
          </a:solidFill>
          <a:ln w="10160">
            <a:solidFill>
              <a:srgbClr val="1E8449"/>
            </a:solidFill>
            <a:prstDash val="solid"/>
          </a:ln>
        </p:spPr>
        <p:txBody>
          <a:bodyPr/>
          <a:lstStyle/>
          <a:p>
            <a:endParaRPr lang="tr-TR"/>
          </a:p>
        </p:txBody>
      </p:sp>
      <p:sp>
        <p:nvSpPr>
          <p:cNvPr id="2" name="Metin Kutusu 1"/>
          <p:cNvSpPr txBox="1"/>
          <p:nvPr/>
        </p:nvSpPr>
        <p:spPr>
          <a:xfrm>
            <a:off x="357510" y="685756"/>
            <a:ext cx="8332728" cy="5000625"/>
          </a:xfrm>
          <a:prstGeom prst="rect">
            <a:avLst/>
          </a:prstGeom>
          <a:noFill/>
        </p:spPr>
        <p:txBody>
          <a:bodyPr wrap="square" rtlCol="0">
            <a:spAutoFit/>
          </a:bodyPr>
          <a:lstStyle/>
          <a:p>
            <a:r>
              <a:rPr lang="tr-TR" sz="1100" b="1" dirty="0"/>
              <a:t>2. Bölgesel Etkiler ve İstihdam Sağlama Potansiyeli</a:t>
            </a:r>
            <a:endParaRPr lang="tr-TR" sz="1100" dirty="0"/>
          </a:p>
          <a:p>
            <a:pPr marL="171450" indent="-171450">
              <a:buFont typeface="Arial" panose="020B0604020202020204" pitchFamily="34" charset="0"/>
              <a:buChar char="•"/>
            </a:pPr>
            <a:r>
              <a:rPr lang="tr-TR" sz="1100" dirty="0"/>
              <a:t>Hafriyat, nakliye ve inşaat işlerinde doğrudan yöre halkı için geçici ama yoğun bir istihdam kapısıdır.</a:t>
            </a:r>
            <a:endParaRPr lang="tr-TR" sz="1100" dirty="0"/>
          </a:p>
          <a:p>
            <a:pPr marL="171450" indent="-171450">
              <a:buFont typeface="Arial" panose="020B0604020202020204" pitchFamily="34" charset="0"/>
              <a:buChar char="•"/>
            </a:pPr>
            <a:r>
              <a:rPr lang="tr-TR" sz="1100" dirty="0"/>
              <a:t>Tesisin bakımı, güvenliği ve işletilmesi için tekniker ve operatör kadrolarına ihtiyaç duyulur. </a:t>
            </a:r>
            <a:endParaRPr lang="tr-TR" sz="1100" dirty="0"/>
          </a:p>
          <a:p>
            <a:endParaRPr lang="tr-TR" sz="1100" b="1" dirty="0"/>
          </a:p>
          <a:p>
            <a:r>
              <a:rPr lang="tr-TR" sz="1100" b="1" dirty="0"/>
              <a:t>3. Mikro HES'lerde Düşük Verim (Kapasite Faktörü) Problemi</a:t>
            </a:r>
            <a:endParaRPr lang="tr-TR" sz="1100" b="1" dirty="0"/>
          </a:p>
          <a:p>
            <a:r>
              <a:rPr lang="tr-TR" sz="1100" dirty="0"/>
              <a:t>HES'lerin su depolama (rezervuar) alanı olmadığı için (nehir tipi/regülatör tipi), sadece o an dereden akan suyla elektrik üretirler.</a:t>
            </a:r>
            <a:endParaRPr lang="tr-TR" sz="1100" dirty="0"/>
          </a:p>
          <a:p>
            <a:endParaRPr lang="tr-TR" sz="1100" dirty="0"/>
          </a:p>
          <a:p>
            <a:endParaRPr lang="tr-TR" sz="1100" b="1" dirty="0"/>
          </a:p>
          <a:p>
            <a:endParaRPr lang="tr-TR" sz="1100" b="1" dirty="0"/>
          </a:p>
          <a:p>
            <a:endParaRPr lang="tr-TR" sz="1100" b="1" dirty="0"/>
          </a:p>
          <a:p>
            <a:endParaRPr lang="tr-TR" sz="1100" b="1" dirty="0"/>
          </a:p>
          <a:p>
            <a:endParaRPr lang="tr-TR" sz="1100" b="1" dirty="0"/>
          </a:p>
          <a:p>
            <a:endParaRPr lang="tr-TR" sz="1100" b="1" dirty="0"/>
          </a:p>
          <a:p>
            <a:endParaRPr lang="tr-TR" sz="1100" b="1" dirty="0"/>
          </a:p>
          <a:p>
            <a:endParaRPr lang="tr-TR" sz="1100" b="1" dirty="0"/>
          </a:p>
          <a:p>
            <a:endParaRPr lang="tr-TR" sz="1100" b="1" dirty="0"/>
          </a:p>
          <a:p>
            <a:r>
              <a:rPr lang="tr-TR" sz="1100" b="1" dirty="0"/>
              <a:t>4. "Mahsuplaşma" ve Ürettiğini Tüket Modeli</a:t>
            </a:r>
            <a:endParaRPr lang="tr-TR" sz="1100" b="1" dirty="0"/>
          </a:p>
          <a:p>
            <a:r>
              <a:rPr lang="tr-TR" sz="1100" b="1" dirty="0"/>
              <a:t>Mahsuplaşma Nedir?</a:t>
            </a:r>
            <a:r>
              <a:rPr lang="tr-TR" sz="1100" dirty="0"/>
              <a:t> Artık yatırımcılara "Sadece elektriği üretip devlete satayım" modelinden ziyade, kendi tüketimini karşılamak için üretim yapma modeli teşvik ediliyor. Örneğin, bölgedeki büyük bir sanayi tesisi, tarımsal sulama kooperatifi veya bir belediye, kendi elektrik ihtiyacını karşılamak için bir mikro HES kurabilir.</a:t>
            </a:r>
            <a:endParaRPr lang="tr-TR" sz="1100" dirty="0"/>
          </a:p>
          <a:p>
            <a:endParaRPr lang="tr-TR" sz="1100" b="1" dirty="0"/>
          </a:p>
          <a:p>
            <a:r>
              <a:rPr lang="tr-TR" sz="1100" b="1" dirty="0"/>
              <a:t>Neden "Artık Ürettiğini Tüket" Diyorlar?</a:t>
            </a:r>
            <a:endParaRPr lang="tr-TR" sz="1100" b="1" dirty="0"/>
          </a:p>
          <a:p>
            <a:r>
              <a:rPr lang="tr-TR" sz="1100" dirty="0"/>
              <a:t> Çünkü elektrik şebekeleri (iletişim hatları ve trafolar) kapasite sınırlarına ulaştı.</a:t>
            </a:r>
            <a:endParaRPr lang="tr-TR" sz="1100" dirty="0"/>
          </a:p>
          <a:p>
            <a:endParaRPr lang="tr-TR" sz="1100" dirty="0"/>
          </a:p>
          <a:p>
            <a:endParaRPr lang="tr-TR" sz="1100" dirty="0"/>
          </a:p>
          <a:p>
            <a:endParaRPr lang="tr-TR" sz="1100" dirty="0"/>
          </a:p>
          <a:p>
            <a:endParaRPr lang="tr-TR" sz="1100" dirty="0"/>
          </a:p>
          <a:p>
            <a:pPr marL="171450" indent="-171450">
              <a:buFont typeface="Arial" panose="020B0604020202020204" pitchFamily="34" charset="0"/>
              <a:buChar char="•"/>
            </a:pPr>
            <a:endParaRPr lang="tr-TR" sz="1100" dirty="0"/>
          </a:p>
          <a:p>
            <a:endParaRPr lang="tr-TR" sz="1100" dirty="0"/>
          </a:p>
        </p:txBody>
      </p:sp>
      <p:pic>
        <p:nvPicPr>
          <p:cNvPr id="4" name="Resim 3"/>
          <p:cNvPicPr>
            <a:picLocks noChangeAspect="1"/>
          </p:cNvPicPr>
          <p:nvPr/>
        </p:nvPicPr>
        <p:blipFill>
          <a:blip r:embed="rId1"/>
          <a:stretch>
            <a:fillRect/>
          </a:stretch>
        </p:blipFill>
        <p:spPr>
          <a:xfrm>
            <a:off x="2536825" y="1962150"/>
            <a:ext cx="3803650" cy="1313180"/>
          </a:xfrm>
          <a:prstGeom prst="rect">
            <a:avLst/>
          </a:prstGeom>
        </p:spPr>
      </p:pic>
      <p:sp>
        <p:nvSpPr>
          <p:cNvPr id="5" name="Shape 0"/>
          <p:cNvSpPr/>
          <p:nvPr/>
        </p:nvSpPr>
        <p:spPr>
          <a:xfrm>
            <a:off x="0" y="0"/>
            <a:ext cx="9144000" cy="685800"/>
          </a:xfrm>
          <a:prstGeom prst="rect">
            <a:avLst/>
          </a:prstGeom>
          <a:solidFill>
            <a:srgbClr val="1E8449"/>
          </a:solidFill>
          <a:ln w="12700">
            <a:solidFill>
              <a:srgbClr val="1E8449"/>
            </a:solidFill>
            <a:prstDash val="solid"/>
          </a:ln>
        </p:spPr>
        <p:txBody>
          <a:bodyPr/>
          <a:lstStyle/>
          <a:p>
            <a:endParaRPr lang="tr-TR"/>
          </a:p>
        </p:txBody>
      </p:sp>
      <p:sp>
        <p:nvSpPr>
          <p:cNvPr id="6" name="Text 4"/>
          <p:cNvSpPr/>
          <p:nvPr/>
        </p:nvSpPr>
        <p:spPr>
          <a:xfrm>
            <a:off x="274320" y="45720"/>
            <a:ext cx="8595360" cy="594360"/>
          </a:xfrm>
          <a:prstGeom prst="rect">
            <a:avLst/>
          </a:prstGeom>
          <a:noFill/>
        </p:spPr>
        <p:txBody>
          <a:bodyPr wrap="square" lIns="0" tIns="0" rIns="0" bIns="0" rtlCol="0" anchor="ctr"/>
          <a:lstStyle/>
          <a:p>
            <a:pPr marL="0" indent="0" algn="l">
              <a:buNone/>
            </a:pPr>
            <a:r>
              <a:rPr lang="en-US" altLang="tr-TR" b="1">
                <a:solidFill>
                  <a:schemeClr val="bg1"/>
                </a:solidFill>
                <a:latin typeface="Calibri" panose="020F0502020204030204" pitchFamily="34" charset="0"/>
                <a:ea typeface="+mn-ea"/>
                <a:cs typeface="+mn-ea"/>
                <a:sym typeface="+mn-ea"/>
              </a:rPr>
              <a:t>Hidroelektrik Santrali </a:t>
            </a:r>
            <a:r>
              <a:rPr lang="tr-TR" altLang="en-US" b="1">
                <a:solidFill>
                  <a:schemeClr val="bg1"/>
                </a:solidFill>
                <a:latin typeface="Calibri" panose="020F0502020204030204" pitchFamily="34" charset="0"/>
                <a:ea typeface="+mn-ea"/>
                <a:cs typeface="+mn-ea"/>
                <a:sym typeface="+mn-ea"/>
              </a:rPr>
              <a:t>İstihdam Potansiyeli</a:t>
            </a:r>
            <a:endParaRPr lang="tr-TR" altLang="en-US" sz="1800" b="1" dirty="0">
              <a:solidFill>
                <a:schemeClr val="bg1"/>
              </a:solidFill>
              <a:latin typeface="Calibri" panose="020F0502020204030204" pitchFamily="34" charset="0"/>
              <a:ea typeface="+mn-ea"/>
              <a:cs typeface="+mn-ea"/>
              <a:sym typeface="+mn-ea"/>
            </a:endParaRPr>
          </a:p>
        </p:txBody>
      </p:sp>
      <p:sp>
        <p:nvSpPr>
          <p:cNvPr id="3" name="Shape 2"/>
          <p:cNvSpPr/>
          <p:nvPr/>
        </p:nvSpPr>
        <p:spPr>
          <a:xfrm>
            <a:off x="0" y="4892040"/>
            <a:ext cx="9144000" cy="251460"/>
          </a:xfrm>
          <a:prstGeom prst="rect">
            <a:avLst/>
          </a:prstGeom>
          <a:solidFill>
            <a:srgbClr val="1B3A6B"/>
          </a:solidFill>
          <a:ln w="12700">
            <a:solidFill>
              <a:srgbClr val="1B3A6B"/>
            </a:solidFill>
            <a:prstDash val="solid"/>
          </a:ln>
        </p:spPr>
        <p:txBody>
          <a:bodyPr/>
          <a:lstStyle/>
          <a:p>
            <a:endParaRPr lang="tr-TR"/>
          </a:p>
        </p:txBody>
      </p:sp>
      <p:sp>
        <p:nvSpPr>
          <p:cNvPr id="7" name="Text 3"/>
          <p:cNvSpPr/>
          <p:nvPr/>
        </p:nvSpPr>
        <p:spPr>
          <a:xfrm>
            <a:off x="274320" y="4892040"/>
            <a:ext cx="8595360" cy="251460"/>
          </a:xfrm>
          <a:prstGeom prst="rect">
            <a:avLst/>
          </a:prstGeom>
          <a:noFill/>
        </p:spPr>
        <p:txBody>
          <a:bodyPr wrap="square" rtlCol="0" anchor="ctr"/>
          <a:lstStyle/>
          <a:p>
            <a:pPr marL="0" indent="0" algn="ctr">
              <a:buNone/>
            </a:pPr>
            <a:r>
              <a:rPr lang="en-US" sz="800" dirty="0">
                <a:solidFill>
                  <a:srgbClr val="E0E6ED"/>
                </a:solidFill>
                <a:latin typeface="Calibri" panose="020F0502020204030204" pitchFamily="34" charset="0"/>
                <a:ea typeface="Calibri" panose="020F0502020204030204" pitchFamily="34" charset="-122"/>
                <a:cs typeface="Calibri" panose="020F0502020204030204" pitchFamily="34" charset="-120"/>
              </a:rPr>
              <a:t>SAÜ EEM  |  İzmir Yenilenebilir Enerji Analizi</a:t>
            </a:r>
            <a:endParaRPr lang="en-US" sz="8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8F9FA"/>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486000"/>
          </a:xfrm>
          <a:prstGeom prst="rect">
            <a:avLst/>
          </a:prstGeom>
          <a:solidFill>
            <a:srgbClr val="1E84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86000"/>
            <a:ext cx="9144000" cy="32400"/>
          </a:xfrm>
          <a:prstGeom prst="rect">
            <a:avLst/>
          </a:prstGeom>
          <a:solidFill>
            <a:srgbClr val="C890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4860000"/>
            <a:ext cx="9144000" cy="2844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80000" y="4860000"/>
            <a:ext cx="8784000" cy="284400"/>
          </a:xfrm>
          <a:prstGeom prst="rect">
            <a:avLst/>
          </a:prstGeom>
          <a:noFill/>
        </p:spPr>
        <p:txBody>
          <a:bodyPr wrap="square">
            <a:spAutoFit/>
          </a:bodyPr>
          <a:lstStyle/>
          <a:p>
            <a:pPr algn="ctr"/>
            <a:r>
              <a:rPr sz="850" b="0" i="0">
                <a:solidFill>
                  <a:srgbClr val="FFFFFF"/>
                </a:solidFill>
                <a:latin typeface="Calibri" panose="020F0502020204030204"/>
              </a:rPr>
              <a:t>SAÜ EEM  |  İzmir Yenilenebilir Enerji Analizi</a:t>
            </a:r>
            <a:endParaRPr sz="850" b="0" i="0">
              <a:solidFill>
                <a:srgbClr val="FFFFFF"/>
              </a:solidFill>
              <a:latin typeface="Calibri" panose="020F0502020204030204"/>
            </a:endParaRPr>
          </a:p>
        </p:txBody>
      </p:sp>
      <p:sp>
        <p:nvSpPr>
          <p:cNvPr id="6" name="TextBox 5"/>
          <p:cNvSpPr txBox="1"/>
          <p:nvPr/>
        </p:nvSpPr>
        <p:spPr>
          <a:xfrm>
            <a:off x="216000" y="18000"/>
            <a:ext cx="8640000" cy="450000"/>
          </a:xfrm>
          <a:prstGeom prst="rect">
            <a:avLst/>
          </a:prstGeom>
          <a:noFill/>
        </p:spPr>
        <p:txBody>
          <a:bodyPr wrap="square">
            <a:spAutoFit/>
          </a:bodyPr>
          <a:lstStyle/>
          <a:p>
            <a:pPr algn="l"/>
            <a:r>
              <a:rPr sz="1700" b="1" i="0">
                <a:solidFill>
                  <a:srgbClr val="FFFFFF"/>
                </a:solidFill>
                <a:latin typeface="Calibri" panose="020F0502020204030204"/>
              </a:rPr>
              <a:t>Mikro-HES — İzmir Akarsuları ve Hidrolojik Potansiyel Haritası</a:t>
            </a:r>
            <a:endParaRPr sz="1700" b="1" i="0">
              <a:solidFill>
                <a:srgbClr val="FFFFFF"/>
              </a:solidFill>
              <a:latin typeface="Calibri" panose="020F0502020204030204"/>
            </a:endParaRPr>
          </a:p>
        </p:txBody>
      </p:sp>
      <p:pic>
        <p:nvPicPr>
          <p:cNvPr id="7" name="Picture 6" descr="image.png"/>
          <p:cNvPicPr>
            <a:picLocks noChangeAspect="1"/>
          </p:cNvPicPr>
          <p:nvPr/>
        </p:nvPicPr>
        <p:blipFill>
          <a:blip r:embed="rId1"/>
          <a:stretch>
            <a:fillRect/>
          </a:stretch>
        </p:blipFill>
        <p:spPr>
          <a:xfrm>
            <a:off x="125999" y="558000"/>
            <a:ext cx="8892000" cy="2358000"/>
          </a:xfrm>
          <a:prstGeom prst="rect">
            <a:avLst/>
          </a:prstGeom>
        </p:spPr>
      </p:pic>
      <p:sp>
        <p:nvSpPr>
          <p:cNvPr id="8" name="Rectangle 7"/>
          <p:cNvSpPr/>
          <p:nvPr/>
        </p:nvSpPr>
        <p:spPr>
          <a:xfrm>
            <a:off x="125730" y="2944495"/>
            <a:ext cx="8891905" cy="424180"/>
          </a:xfrm>
          <a:prstGeom prst="rect">
            <a:avLst/>
          </a:prstGeom>
          <a:solidFill>
            <a:srgbClr val="1E84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79705" y="3081655"/>
            <a:ext cx="8639810" cy="272415"/>
          </a:xfrm>
          <a:prstGeom prst="rect">
            <a:avLst/>
          </a:prstGeom>
          <a:noFill/>
        </p:spPr>
        <p:txBody>
          <a:bodyPr wrap="square">
            <a:noAutofit/>
          </a:bodyPr>
          <a:lstStyle/>
          <a:p>
            <a:pPr algn="l"/>
            <a:r>
              <a:rPr sz="1100" b="1" i="0">
                <a:solidFill>
                  <a:srgbClr val="FFFFFF"/>
                </a:solidFill>
                <a:latin typeface="Calibri" panose="020F0502020204030204"/>
              </a:rPr>
              <a:t>Harita Yorumu ve İzmir İçin Çıkarımlar</a:t>
            </a:r>
            <a:endParaRPr sz="1100" b="1" i="0">
              <a:solidFill>
                <a:srgbClr val="FFFFFF"/>
              </a:solidFill>
              <a:latin typeface="Calibri" panose="020F0502020204030204"/>
            </a:endParaRPr>
          </a:p>
        </p:txBody>
      </p:sp>
      <p:sp>
        <p:nvSpPr>
          <p:cNvPr id="10" name="Rectangle 9"/>
          <p:cNvSpPr/>
          <p:nvPr/>
        </p:nvSpPr>
        <p:spPr>
          <a:xfrm>
            <a:off x="126634" y="3369470"/>
            <a:ext cx="8892000" cy="324000"/>
          </a:xfrm>
          <a:prstGeom prst="rect">
            <a:avLst/>
          </a:prstGeom>
          <a:solidFill>
            <a:srgbClr val="D5F5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15780" y="3317194"/>
            <a:ext cx="8712000" cy="306000"/>
          </a:xfrm>
          <a:prstGeom prst="rect">
            <a:avLst/>
          </a:prstGeom>
          <a:noFill/>
        </p:spPr>
        <p:txBody>
          <a:bodyPr wrap="square">
            <a:spAutoFit/>
          </a:bodyPr>
          <a:lstStyle/>
          <a:p>
            <a:pPr algn="l"/>
            <a:r>
              <a:rPr sz="980" b="0" i="0">
                <a:solidFill>
                  <a:srgbClr val="1B3A6B"/>
                </a:solidFill>
                <a:latin typeface="Calibri" panose="020F0502020204030204"/>
              </a:rPr>
              <a:t>Bakırçay: En yüksek debi×düşü dengesi → P = 1.103 W → 2 MW çiftlik 5.500 MWh/yıl  |  CF = %31,4 (mevsimsel kış-bahar debisi ağırlıklı); sera gazı geri ödeme ~5,5 ay  |  Tüm lokasyonlar Francis türbini (H=10–50 m) veya Kaplan (K.Menderes) için uygun  |  Yaz kuraklığı Temmuz–Eylül: debi %60–70 azalır → yıllık CF düşürür</a:t>
            </a:r>
            <a:endParaRPr sz="980" b="0" i="0">
              <a:solidFill>
                <a:srgbClr val="1B3A6B"/>
              </a:solidFill>
              <a:latin typeface="Calibri" panose="020F0502020204030204"/>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Resim 1" descr="1grafik"/>
          <p:cNvPicPr>
            <a:picLocks noChangeAspect="1"/>
          </p:cNvPicPr>
          <p:nvPr/>
        </p:nvPicPr>
        <p:blipFill>
          <a:blip r:embed="rId1"/>
          <a:stretch>
            <a:fillRect/>
          </a:stretch>
        </p:blipFill>
        <p:spPr>
          <a:xfrm>
            <a:off x="372110" y="1021080"/>
            <a:ext cx="5229860" cy="3404870"/>
          </a:xfrm>
          <a:prstGeom prst="rect">
            <a:avLst/>
          </a:prstGeom>
        </p:spPr>
      </p:pic>
      <p:sp>
        <p:nvSpPr>
          <p:cNvPr id="4" name="Shape 0"/>
          <p:cNvSpPr/>
          <p:nvPr/>
        </p:nvSpPr>
        <p:spPr>
          <a:xfrm>
            <a:off x="0" y="0"/>
            <a:ext cx="9144000" cy="685800"/>
          </a:xfrm>
          <a:prstGeom prst="rect">
            <a:avLst/>
          </a:prstGeom>
          <a:solidFill>
            <a:srgbClr val="1E8449"/>
          </a:solidFill>
          <a:ln w="12700">
            <a:solidFill>
              <a:srgbClr val="1E8449"/>
            </a:solidFill>
            <a:prstDash val="solid"/>
          </a:ln>
        </p:spPr>
        <p:txBody>
          <a:bodyPr/>
          <a:p>
            <a:endParaRPr lang="tr-TR"/>
          </a:p>
        </p:txBody>
      </p:sp>
      <p:sp>
        <p:nvSpPr>
          <p:cNvPr id="5" name="Shape 1"/>
          <p:cNvSpPr/>
          <p:nvPr/>
        </p:nvSpPr>
        <p:spPr>
          <a:xfrm>
            <a:off x="0" y="685800"/>
            <a:ext cx="9144000" cy="45720"/>
          </a:xfrm>
          <a:prstGeom prst="rect">
            <a:avLst/>
          </a:prstGeom>
          <a:solidFill>
            <a:srgbClr val="C8901A"/>
          </a:solidFill>
          <a:ln w="12700">
            <a:solidFill>
              <a:srgbClr val="C8901A"/>
            </a:solidFill>
            <a:prstDash val="solid"/>
          </a:ln>
        </p:spPr>
        <p:txBody>
          <a:bodyPr/>
          <a:p>
            <a:endParaRPr lang="tr-TR"/>
          </a:p>
        </p:txBody>
      </p:sp>
      <p:sp>
        <p:nvSpPr>
          <p:cNvPr id="6" name="Text 4"/>
          <p:cNvSpPr/>
          <p:nvPr/>
        </p:nvSpPr>
        <p:spPr>
          <a:xfrm>
            <a:off x="274320" y="45720"/>
            <a:ext cx="8595360" cy="594360"/>
          </a:xfrm>
          <a:prstGeom prst="rect">
            <a:avLst/>
          </a:prstGeom>
          <a:noFill/>
        </p:spPr>
        <p:txBody>
          <a:bodyPr wrap="square" lIns="0" tIns="0" rIns="0" bIns="0" rtlCol="0" anchor="ctr"/>
          <a:p>
            <a:pPr marL="0" indent="0" algn="l">
              <a:buNone/>
            </a:pPr>
            <a:r>
              <a:rPr lang="en-US" sz="1800" b="1" dirty="0">
                <a:solidFill>
                  <a:srgbClr val="FFFFFF"/>
                </a:solidFill>
                <a:latin typeface="Calibri" panose="020F0502020204030204" pitchFamily="34" charset="0"/>
                <a:ea typeface="Calibri" panose="020F0502020204030204" pitchFamily="34" charset="-122"/>
                <a:cs typeface="Calibri" panose="020F0502020204030204" pitchFamily="34" charset="-120"/>
              </a:rPr>
              <a:t>Mikro-HES — Hesaplamalarımız &amp; Temel Göstergeler</a:t>
            </a:r>
            <a:endParaRPr lang="en-US" sz="1800" dirty="0"/>
          </a:p>
        </p:txBody>
      </p:sp>
      <p:sp>
        <p:nvSpPr>
          <p:cNvPr id="7" name="Shape 2"/>
          <p:cNvSpPr/>
          <p:nvPr/>
        </p:nvSpPr>
        <p:spPr>
          <a:xfrm>
            <a:off x="0" y="4892040"/>
            <a:ext cx="9144000" cy="251460"/>
          </a:xfrm>
          <a:prstGeom prst="rect">
            <a:avLst/>
          </a:prstGeom>
          <a:solidFill>
            <a:srgbClr val="1B3A6B"/>
          </a:solidFill>
          <a:ln w="12700">
            <a:solidFill>
              <a:srgbClr val="1B3A6B"/>
            </a:solidFill>
            <a:prstDash val="solid"/>
          </a:ln>
        </p:spPr>
        <p:txBody>
          <a:bodyPr/>
          <a:p>
            <a:endParaRPr lang="tr-TR"/>
          </a:p>
        </p:txBody>
      </p:sp>
      <p:sp>
        <p:nvSpPr>
          <p:cNvPr id="8" name="Text 3"/>
          <p:cNvSpPr/>
          <p:nvPr/>
        </p:nvSpPr>
        <p:spPr>
          <a:xfrm>
            <a:off x="274320" y="4892040"/>
            <a:ext cx="8595360" cy="251460"/>
          </a:xfrm>
          <a:prstGeom prst="rect">
            <a:avLst/>
          </a:prstGeom>
          <a:noFill/>
        </p:spPr>
        <p:txBody>
          <a:bodyPr wrap="square" rtlCol="0" anchor="ctr"/>
          <a:p>
            <a:pPr marL="0" indent="0" algn="ctr">
              <a:buNone/>
            </a:pPr>
            <a:r>
              <a:rPr lang="en-US" sz="800" dirty="0">
                <a:solidFill>
                  <a:srgbClr val="E0E6ED"/>
                </a:solidFill>
                <a:latin typeface="Calibri" panose="020F0502020204030204" pitchFamily="34" charset="0"/>
                <a:ea typeface="Calibri" panose="020F0502020204030204" pitchFamily="34" charset="-122"/>
                <a:cs typeface="Calibri" panose="020F0502020204030204" pitchFamily="34" charset="-120"/>
              </a:rPr>
              <a:t>SAÜ EEM  |  İzmir Yenilenebilir Enerji Analizi</a:t>
            </a:r>
            <a:endParaRPr lang="en-US" sz="800" dirty="0"/>
          </a:p>
        </p:txBody>
      </p:sp>
      <p:sp>
        <p:nvSpPr>
          <p:cNvPr id="9" name="Metin Kutusu 8"/>
          <p:cNvSpPr txBox="1"/>
          <p:nvPr/>
        </p:nvSpPr>
        <p:spPr>
          <a:xfrm>
            <a:off x="6082665" y="1090930"/>
            <a:ext cx="2695575" cy="3091815"/>
          </a:xfrm>
          <a:prstGeom prst="rect">
            <a:avLst/>
          </a:prstGeom>
          <a:noFill/>
        </p:spPr>
        <p:txBody>
          <a:bodyPr wrap="square" rtlCol="0">
            <a:spAutoFit/>
          </a:bodyPr>
          <a:p>
            <a:r>
              <a:rPr lang="en-US" altLang="tr-TR" sz="1500"/>
              <a:t>Grafik, Bak</a:t>
            </a:r>
            <a:r>
              <a:rPr lang="" altLang="en-US" sz="1500"/>
              <a:t>ı</a:t>
            </a:r>
            <a:r>
              <a:rPr lang="en-US" altLang="tr-TR" sz="1500"/>
              <a:t>r</a:t>
            </a:r>
            <a:r>
              <a:rPr lang="" altLang="en-US" sz="1500"/>
              <a:t>ç</a:t>
            </a:r>
            <a:r>
              <a:rPr lang="en-US" altLang="tr-TR" sz="1500"/>
              <a:t>ay Havzas</a:t>
            </a:r>
            <a:r>
              <a:rPr lang="" altLang="en-US" sz="1500"/>
              <a:t>ı</a:t>
            </a:r>
            <a:r>
              <a:rPr lang="en-US" altLang="tr-TR" sz="1500"/>
              <a:t>'ndaki ortalama su debisi ile mikro-HES enerji </a:t>
            </a:r>
            <a:r>
              <a:rPr lang="en-US" altLang="en-US" sz="1500"/>
              <a:t>ü</a:t>
            </a:r>
            <a:r>
              <a:rPr lang="en-US" altLang="tr-TR" sz="1500"/>
              <a:t>retim potansiyelinin birbiriyle do</a:t>
            </a:r>
            <a:r>
              <a:rPr lang="" altLang="en-US" sz="1500"/>
              <a:t>ğ</a:t>
            </a:r>
            <a:r>
              <a:rPr lang="en-US" altLang="tr-TR" sz="1500"/>
              <a:t>rudan orant</a:t>
            </a:r>
            <a:r>
              <a:rPr lang="" altLang="en-US" sz="1500"/>
              <a:t>ı</a:t>
            </a:r>
            <a:r>
              <a:rPr lang="en-US" altLang="tr-TR" sz="1500"/>
              <a:t>l</a:t>
            </a:r>
            <a:r>
              <a:rPr lang="" altLang="en-US" sz="1500"/>
              <a:t>ı</a:t>
            </a:r>
            <a:r>
              <a:rPr lang="en-US" altLang="tr-TR" sz="1500"/>
              <a:t> oldu</a:t>
            </a:r>
            <a:r>
              <a:rPr lang="" altLang="en-US" sz="1500"/>
              <a:t>ğ</a:t>
            </a:r>
            <a:r>
              <a:rPr lang="en-US" altLang="tr-TR" sz="1500"/>
              <a:t>unu ve </a:t>
            </a:r>
            <a:r>
              <a:rPr lang="en-US" altLang="en-US" sz="1500"/>
              <a:t>ö</a:t>
            </a:r>
            <a:r>
              <a:rPr lang="en-US" altLang="tr-TR" sz="1500"/>
              <a:t>zellikle Mart ay</a:t>
            </a:r>
            <a:r>
              <a:rPr lang="" altLang="en-US" sz="1500"/>
              <a:t>ı</a:t>
            </a:r>
            <a:r>
              <a:rPr lang="en-US" altLang="tr-TR" sz="1500"/>
              <a:t>nda (yakla</a:t>
            </a:r>
            <a:r>
              <a:rPr lang="" altLang="en-US" sz="1500"/>
              <a:t>şı</a:t>
            </a:r>
            <a:r>
              <a:rPr lang="en-US" altLang="tr-TR" sz="1500"/>
              <a:t>k 22 m</a:t>
            </a:r>
            <a:r>
              <a:rPr lang="en-US" altLang="en-US" sz="1500"/>
              <a:t>³</a:t>
            </a:r>
            <a:r>
              <a:rPr lang="en-US" altLang="tr-TR" sz="1500"/>
              <a:t>/s debi ile) zirveye ula</a:t>
            </a:r>
            <a:r>
              <a:rPr lang="" altLang="en-US" sz="1500"/>
              <a:t>ş</a:t>
            </a:r>
            <a:r>
              <a:rPr lang="en-US" altLang="tr-TR" sz="1500"/>
              <a:t>t</a:t>
            </a:r>
            <a:r>
              <a:rPr lang="" altLang="en-US" sz="1500"/>
              <a:t>ığı</a:t>
            </a:r>
            <a:r>
              <a:rPr lang="en-US" altLang="tr-TR" sz="1500"/>
              <a:t>n</a:t>
            </a:r>
            <a:r>
              <a:rPr lang="" altLang="en-US" sz="1500"/>
              <a:t>ı</a:t>
            </a:r>
            <a:r>
              <a:rPr lang="en-US" altLang="tr-TR" sz="1500"/>
              <a:t> g</a:t>
            </a:r>
            <a:r>
              <a:rPr lang="en-US" altLang="en-US" sz="1500"/>
              <a:t>ö</a:t>
            </a:r>
            <a:r>
              <a:rPr lang="en-US" altLang="tr-TR" sz="1500"/>
              <a:t>stermektedir. Yaz aylar</a:t>
            </a:r>
            <a:r>
              <a:rPr lang="" altLang="en-US" sz="1500"/>
              <a:t>ı</a:t>
            </a:r>
            <a:r>
              <a:rPr lang="en-US" altLang="tr-TR" sz="1500"/>
              <a:t>nda ya</a:t>
            </a:r>
            <a:r>
              <a:rPr lang="" altLang="en-US" sz="1500"/>
              <a:t>ş</a:t>
            </a:r>
            <a:r>
              <a:rPr lang="en-US" altLang="tr-TR" sz="1500"/>
              <a:t>anan keskin d</a:t>
            </a:r>
            <a:r>
              <a:rPr lang="en-US" altLang="en-US" sz="1500"/>
              <a:t>ü</a:t>
            </a:r>
            <a:r>
              <a:rPr lang="" altLang="en-US" sz="1500"/>
              <a:t>ş</a:t>
            </a:r>
            <a:r>
              <a:rPr lang="en-US" altLang="en-US" sz="1500"/>
              <a:t>ü</a:t>
            </a:r>
            <a:r>
              <a:rPr lang="" altLang="en-US" sz="1500"/>
              <a:t>ş</a:t>
            </a:r>
            <a:r>
              <a:rPr lang="en-US" altLang="tr-TR" sz="1500"/>
              <a:t> ise, kurulacak sistemin enerji </a:t>
            </a:r>
            <a:r>
              <a:rPr lang="en-US" altLang="en-US" sz="1500"/>
              <a:t>ü</a:t>
            </a:r>
            <a:r>
              <a:rPr lang="en-US" altLang="tr-TR" sz="1500"/>
              <a:t>retiminde mevsimsel hidrolojik ko</a:t>
            </a:r>
            <a:r>
              <a:rPr lang="" altLang="en-US" sz="1500"/>
              <a:t>ş</a:t>
            </a:r>
            <a:r>
              <a:rPr lang="en-US" altLang="tr-TR" sz="1500"/>
              <a:t>ullara ne kadar ba</a:t>
            </a:r>
            <a:r>
              <a:rPr lang="" altLang="en-US" sz="1500"/>
              <a:t>ğı</a:t>
            </a:r>
            <a:r>
              <a:rPr lang="en-US" altLang="tr-TR" sz="1500"/>
              <a:t>ml</a:t>
            </a:r>
            <a:r>
              <a:rPr lang="" altLang="en-US" sz="1500"/>
              <a:t>ı</a:t>
            </a:r>
            <a:r>
              <a:rPr lang="en-US" altLang="tr-TR" sz="1500"/>
              <a:t> olaca</a:t>
            </a:r>
            <a:r>
              <a:rPr lang="" altLang="en-US" sz="1500"/>
              <a:t>ğı</a:t>
            </a:r>
            <a:r>
              <a:rPr lang="en-US" altLang="tr-TR" sz="1500"/>
              <a:t>n</a:t>
            </a:r>
            <a:r>
              <a:rPr lang="" altLang="en-US" sz="1500"/>
              <a:t>ı</a:t>
            </a:r>
            <a:r>
              <a:rPr lang="en-US" altLang="tr-TR" sz="1500"/>
              <a:t> a</a:t>
            </a:r>
            <a:r>
              <a:rPr lang="" altLang="en-US" sz="1500"/>
              <a:t>çı</a:t>
            </a:r>
            <a:r>
              <a:rPr lang="en-US" altLang="tr-TR" sz="1500"/>
              <a:t>k</a:t>
            </a:r>
            <a:r>
              <a:rPr lang="" altLang="en-US" sz="1500"/>
              <a:t>ç</a:t>
            </a:r>
            <a:r>
              <a:rPr lang="en-US" altLang="tr-TR" sz="1500"/>
              <a:t>a ortaya koymaktad</a:t>
            </a:r>
            <a:r>
              <a:rPr lang="" altLang="en-US" sz="1500"/>
              <a:t>ı</a:t>
            </a:r>
            <a:r>
              <a:rPr lang="en-US" altLang="tr-TR" sz="1500"/>
              <a:t>r</a:t>
            </a:r>
            <a:r>
              <a:rPr lang="tr-TR" altLang="en-US" sz="1500"/>
              <a:t>.</a:t>
            </a:r>
            <a:endParaRPr lang="tr-TR" altLang="en-US" sz="150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Resim 1" descr="grafik2"/>
          <p:cNvPicPr>
            <a:picLocks noChangeAspect="1"/>
          </p:cNvPicPr>
          <p:nvPr/>
        </p:nvPicPr>
        <p:blipFill>
          <a:blip r:embed="rId1"/>
          <a:stretch>
            <a:fillRect/>
          </a:stretch>
        </p:blipFill>
        <p:spPr>
          <a:xfrm>
            <a:off x="274320" y="997585"/>
            <a:ext cx="5684520" cy="3604895"/>
          </a:xfrm>
          <a:prstGeom prst="rect">
            <a:avLst/>
          </a:prstGeom>
        </p:spPr>
      </p:pic>
      <p:sp>
        <p:nvSpPr>
          <p:cNvPr id="3" name="Metin Kutusu 2"/>
          <p:cNvSpPr txBox="1"/>
          <p:nvPr/>
        </p:nvSpPr>
        <p:spPr>
          <a:xfrm>
            <a:off x="6351270" y="910590"/>
            <a:ext cx="2152015" cy="3322955"/>
          </a:xfrm>
          <a:prstGeom prst="rect">
            <a:avLst/>
          </a:prstGeom>
          <a:noFill/>
        </p:spPr>
        <p:txBody>
          <a:bodyPr wrap="square" rtlCol="0">
            <a:spAutoFit/>
          </a:bodyPr>
          <a:p>
            <a:r>
              <a:rPr lang="" altLang="en-US" sz="1200"/>
              <a:t>İ</a:t>
            </a:r>
            <a:r>
              <a:rPr lang="en-US" altLang="tr-TR" sz="1200"/>
              <a:t>zmir genelindeki su havzalar</a:t>
            </a:r>
            <a:r>
              <a:rPr lang="" altLang="en-US" sz="1200"/>
              <a:t>ı</a:t>
            </a:r>
            <a:r>
              <a:rPr lang="en-US" altLang="tr-TR" sz="1200"/>
              <a:t>n</a:t>
            </a:r>
            <a:r>
              <a:rPr lang="" altLang="en-US" sz="1200"/>
              <a:t>ı</a:t>
            </a:r>
            <a:r>
              <a:rPr lang="en-US" altLang="tr-TR" sz="1200"/>
              <a:t>n mikro-HES potansiyelleri</a:t>
            </a:r>
            <a:r>
              <a:rPr lang="tr-TR" altLang="en-US" sz="1200"/>
              <a:t> </a:t>
            </a:r>
            <a:r>
              <a:rPr lang="en-US" altLang="tr-TR" sz="1200"/>
              <a:t>kar</a:t>
            </a:r>
            <a:r>
              <a:rPr lang="" altLang="en-US" sz="1200"/>
              <a:t>şı</a:t>
            </a:r>
            <a:r>
              <a:rPr lang="en-US" altLang="tr-TR" sz="1200"/>
              <a:t>la</a:t>
            </a:r>
            <a:r>
              <a:rPr lang="" altLang="en-US" sz="1200"/>
              <a:t>ş</a:t>
            </a:r>
            <a:r>
              <a:rPr lang="en-US" altLang="tr-TR" sz="1200"/>
              <a:t>t</a:t>
            </a:r>
            <a:r>
              <a:rPr lang="" altLang="en-US" sz="1200"/>
              <a:t>ı</a:t>
            </a:r>
            <a:r>
              <a:rPr lang="en-US" altLang="tr-TR" sz="1200"/>
              <a:t>r</a:t>
            </a:r>
            <a:r>
              <a:rPr lang="" altLang="en-US" sz="1200"/>
              <a:t>ı</a:t>
            </a:r>
            <a:r>
              <a:rPr lang="en-US" altLang="tr-TR" sz="1200"/>
              <a:t>ld</a:t>
            </a:r>
            <a:r>
              <a:rPr lang="" altLang="en-US" sz="1200"/>
              <a:t>ığı</a:t>
            </a:r>
            <a:r>
              <a:rPr lang="en-US" altLang="tr-TR" sz="1200"/>
              <a:t>nda,</a:t>
            </a:r>
            <a:r>
              <a:rPr lang="en-US" altLang="tr-TR"/>
              <a:t> </a:t>
            </a:r>
            <a:r>
              <a:rPr lang="en-US" altLang="tr-TR" sz="1200"/>
              <a:t>Gediz Havzas</a:t>
            </a:r>
            <a:r>
              <a:rPr lang="" altLang="en-US" sz="1200"/>
              <a:t>ı</a:t>
            </a:r>
            <a:r>
              <a:rPr lang="en-US" altLang="tr-TR" sz="1200"/>
              <a:t> 28.4 MW ile en y</a:t>
            </a:r>
            <a:r>
              <a:rPr lang="en-US" altLang="en-US" sz="1200"/>
              <a:t>ü</a:t>
            </a:r>
            <a:r>
              <a:rPr lang="en-US" altLang="tr-TR" sz="1200"/>
              <a:t>ksek kapasiteye sahip b</a:t>
            </a:r>
            <a:r>
              <a:rPr lang="en-US" altLang="en-US" sz="1200"/>
              <a:t>ö</a:t>
            </a:r>
            <a:r>
              <a:rPr lang="en-US" altLang="tr-TR" sz="1200"/>
              <a:t>lge olarak </a:t>
            </a:r>
            <a:r>
              <a:rPr lang="en-US" altLang="en-US" sz="1200"/>
              <a:t>ö</a:t>
            </a:r>
            <a:r>
              <a:rPr lang="en-US" altLang="tr-TR" sz="1200"/>
              <a:t>ne </a:t>
            </a:r>
            <a:r>
              <a:rPr lang="" altLang="en-US" sz="1200"/>
              <a:t>çı</a:t>
            </a:r>
            <a:r>
              <a:rPr lang="en-US" altLang="tr-TR" sz="1200"/>
              <a:t>kmaktad</a:t>
            </a:r>
            <a:r>
              <a:rPr lang="" altLang="en-US" sz="1200"/>
              <a:t>ı</a:t>
            </a:r>
            <a:r>
              <a:rPr lang="en-US" altLang="tr-TR" sz="1200"/>
              <a:t>r. Bununla birlikte, incelememizin odak noktas</a:t>
            </a:r>
            <a:r>
              <a:rPr lang="" altLang="en-US" sz="1200"/>
              <a:t>ı</a:t>
            </a:r>
            <a:r>
              <a:rPr lang="en-US" altLang="tr-TR" sz="1200"/>
              <a:t>n</a:t>
            </a:r>
            <a:r>
              <a:rPr lang="" altLang="en-US" sz="1200"/>
              <a:t>ı</a:t>
            </a:r>
            <a:r>
              <a:rPr lang="en-US" altLang="tr-TR" sz="1200"/>
              <a:t> olu</a:t>
            </a:r>
            <a:r>
              <a:rPr lang="" altLang="en-US" sz="1200"/>
              <a:t>ş</a:t>
            </a:r>
            <a:r>
              <a:rPr lang="en-US" altLang="tr-TR" sz="1200"/>
              <a:t>turan Bak</a:t>
            </a:r>
            <a:r>
              <a:rPr lang="" altLang="en-US" sz="1200"/>
              <a:t>ı</a:t>
            </a:r>
            <a:r>
              <a:rPr lang="en-US" altLang="tr-TR" sz="1200"/>
              <a:t>r</a:t>
            </a:r>
            <a:r>
              <a:rPr lang="" altLang="en-US" sz="1200"/>
              <a:t>ç</a:t>
            </a:r>
            <a:r>
              <a:rPr lang="en-US" altLang="tr-TR" sz="1200"/>
              <a:t>ay Havzas</a:t>
            </a:r>
            <a:r>
              <a:rPr lang="" altLang="en-US" sz="1200"/>
              <a:t>ı</a:t>
            </a:r>
            <a:r>
              <a:rPr lang="en-US" altLang="tr-TR" sz="1200"/>
              <a:t>, 12.5 MW'l</a:t>
            </a:r>
            <a:r>
              <a:rPr lang="" altLang="en-US" sz="1200"/>
              <a:t>ı</a:t>
            </a:r>
            <a:r>
              <a:rPr lang="en-US" altLang="tr-TR" sz="1200"/>
              <a:t>k tahmini kurulu g</a:t>
            </a:r>
            <a:r>
              <a:rPr lang="en-US" altLang="en-US" sz="1200"/>
              <a:t>ü</a:t>
            </a:r>
            <a:r>
              <a:rPr lang="en-US" altLang="tr-TR" sz="1200"/>
              <a:t>c</a:t>
            </a:r>
            <a:r>
              <a:rPr lang="en-US" altLang="en-US" sz="1200"/>
              <a:t>ü</a:t>
            </a:r>
            <a:r>
              <a:rPr lang="en-US" altLang="tr-TR" sz="1200"/>
              <a:t>yle b</a:t>
            </a:r>
            <a:r>
              <a:rPr lang="en-US" altLang="en-US" sz="1200"/>
              <a:t>ö</a:t>
            </a:r>
            <a:r>
              <a:rPr lang="en-US" altLang="tr-TR" sz="1200"/>
              <a:t>lgedeki en y</a:t>
            </a:r>
            <a:r>
              <a:rPr lang="en-US" altLang="en-US" sz="1200"/>
              <a:t>ü</a:t>
            </a:r>
            <a:r>
              <a:rPr lang="en-US" altLang="tr-TR" sz="1200"/>
              <a:t>ksek potansiyele sahip ikinci havza konumundad</a:t>
            </a:r>
            <a:r>
              <a:rPr lang="" altLang="en-US" sz="1200"/>
              <a:t>ı</a:t>
            </a:r>
            <a:r>
              <a:rPr lang="en-US" altLang="tr-TR" sz="1200"/>
              <a:t>r ve yenilenebilir enerji yat</a:t>
            </a:r>
            <a:r>
              <a:rPr lang="" altLang="en-US" sz="1200"/>
              <a:t>ı</a:t>
            </a:r>
            <a:r>
              <a:rPr lang="en-US" altLang="tr-TR" sz="1200"/>
              <a:t>r</a:t>
            </a:r>
            <a:r>
              <a:rPr lang="" altLang="en-US" sz="1200"/>
              <a:t>ı</a:t>
            </a:r>
            <a:r>
              <a:rPr lang="en-US" altLang="tr-TR" sz="1200"/>
              <a:t>mlar</a:t>
            </a:r>
            <a:r>
              <a:rPr lang="" altLang="en-US" sz="1200"/>
              <a:t>ı</a:t>
            </a:r>
            <a:r>
              <a:rPr lang="en-US" altLang="tr-TR" sz="1200"/>
              <a:t> a</a:t>
            </a:r>
            <a:r>
              <a:rPr lang="" altLang="en-US" sz="1200"/>
              <a:t>çı</a:t>
            </a:r>
            <a:r>
              <a:rPr lang="en-US" altLang="tr-TR" sz="1200"/>
              <a:t>s</a:t>
            </a:r>
            <a:r>
              <a:rPr lang="" altLang="en-US" sz="1200"/>
              <a:t>ı</a:t>
            </a:r>
            <a:r>
              <a:rPr lang="en-US" altLang="tr-TR" sz="1200"/>
              <a:t>ndan olduk</a:t>
            </a:r>
            <a:r>
              <a:rPr lang="" altLang="en-US" sz="1200"/>
              <a:t>ç</a:t>
            </a:r>
            <a:r>
              <a:rPr lang="en-US" altLang="tr-TR" sz="1200"/>
              <a:t>a g</a:t>
            </a:r>
            <a:r>
              <a:rPr lang="en-US" altLang="en-US" sz="1200"/>
              <a:t>ü</a:t>
            </a:r>
            <a:r>
              <a:rPr lang="" altLang="en-US" sz="1200"/>
              <a:t>ç</a:t>
            </a:r>
            <a:r>
              <a:rPr lang="en-US" altLang="tr-TR" sz="1200"/>
              <a:t>l</a:t>
            </a:r>
            <a:r>
              <a:rPr lang="en-US" altLang="en-US" sz="1200"/>
              <a:t>ü</a:t>
            </a:r>
            <a:r>
              <a:rPr lang="en-US" altLang="tr-TR" sz="1200"/>
              <a:t> ve de</a:t>
            </a:r>
            <a:r>
              <a:rPr lang="" altLang="en-US" sz="1200"/>
              <a:t>ğ</a:t>
            </a:r>
            <a:r>
              <a:rPr lang="en-US" altLang="tr-TR" sz="1200"/>
              <a:t>erlendirilebilir bir profil </a:t>
            </a:r>
            <a:r>
              <a:rPr lang="" altLang="en-US" sz="1200"/>
              <a:t>ç</a:t>
            </a:r>
            <a:r>
              <a:rPr lang="en-US" altLang="tr-TR" sz="1200"/>
              <a:t>izmektedir</a:t>
            </a:r>
            <a:r>
              <a:rPr lang="tr-TR" altLang="en-US" sz="1200"/>
              <a:t>.</a:t>
            </a:r>
            <a:endParaRPr lang="tr-TR" altLang="en-US" sz="1200"/>
          </a:p>
        </p:txBody>
      </p:sp>
      <p:sp>
        <p:nvSpPr>
          <p:cNvPr id="4" name="Shape 0"/>
          <p:cNvSpPr/>
          <p:nvPr/>
        </p:nvSpPr>
        <p:spPr>
          <a:xfrm>
            <a:off x="0" y="0"/>
            <a:ext cx="9144000" cy="685800"/>
          </a:xfrm>
          <a:prstGeom prst="rect">
            <a:avLst/>
          </a:prstGeom>
          <a:solidFill>
            <a:srgbClr val="1E8449"/>
          </a:solidFill>
          <a:ln w="12700">
            <a:solidFill>
              <a:srgbClr val="1E8449"/>
            </a:solidFill>
            <a:prstDash val="solid"/>
          </a:ln>
        </p:spPr>
        <p:txBody>
          <a:bodyPr/>
          <a:p>
            <a:endParaRPr lang="tr-TR"/>
          </a:p>
        </p:txBody>
      </p:sp>
      <p:sp>
        <p:nvSpPr>
          <p:cNvPr id="5" name="Shape 1"/>
          <p:cNvSpPr/>
          <p:nvPr/>
        </p:nvSpPr>
        <p:spPr>
          <a:xfrm>
            <a:off x="0" y="685800"/>
            <a:ext cx="9144000" cy="45720"/>
          </a:xfrm>
          <a:prstGeom prst="rect">
            <a:avLst/>
          </a:prstGeom>
          <a:solidFill>
            <a:srgbClr val="C8901A"/>
          </a:solidFill>
          <a:ln w="12700">
            <a:solidFill>
              <a:srgbClr val="C8901A"/>
            </a:solidFill>
            <a:prstDash val="solid"/>
          </a:ln>
        </p:spPr>
        <p:txBody>
          <a:bodyPr/>
          <a:p>
            <a:endParaRPr lang="tr-TR"/>
          </a:p>
        </p:txBody>
      </p:sp>
      <p:sp>
        <p:nvSpPr>
          <p:cNvPr id="6" name="Text 4"/>
          <p:cNvSpPr/>
          <p:nvPr/>
        </p:nvSpPr>
        <p:spPr>
          <a:xfrm>
            <a:off x="274320" y="45720"/>
            <a:ext cx="8595360" cy="594360"/>
          </a:xfrm>
          <a:prstGeom prst="rect">
            <a:avLst/>
          </a:prstGeom>
          <a:noFill/>
        </p:spPr>
        <p:txBody>
          <a:bodyPr wrap="square" lIns="0" tIns="0" rIns="0" bIns="0" rtlCol="0" anchor="ctr"/>
          <a:p>
            <a:pPr marL="0" indent="0" algn="l">
              <a:buNone/>
            </a:pPr>
            <a:r>
              <a:rPr lang="en-US" sz="1800" b="1" dirty="0">
                <a:solidFill>
                  <a:srgbClr val="FFFFFF"/>
                </a:solidFill>
                <a:latin typeface="Calibri" panose="020F0502020204030204" pitchFamily="34" charset="0"/>
                <a:ea typeface="Calibri" panose="020F0502020204030204" pitchFamily="34" charset="-122"/>
                <a:cs typeface="Calibri" panose="020F0502020204030204" pitchFamily="34" charset="-120"/>
              </a:rPr>
              <a:t>Mikro-HES — Hesaplamalarımız &amp; Temel Göstergeler</a:t>
            </a:r>
            <a:endParaRPr lang="en-US" sz="1800" dirty="0"/>
          </a:p>
        </p:txBody>
      </p:sp>
      <p:sp>
        <p:nvSpPr>
          <p:cNvPr id="7" name="Shape 2"/>
          <p:cNvSpPr/>
          <p:nvPr/>
        </p:nvSpPr>
        <p:spPr>
          <a:xfrm>
            <a:off x="0" y="4892040"/>
            <a:ext cx="9144000" cy="251460"/>
          </a:xfrm>
          <a:prstGeom prst="rect">
            <a:avLst/>
          </a:prstGeom>
          <a:solidFill>
            <a:srgbClr val="1B3A6B"/>
          </a:solidFill>
          <a:ln w="12700">
            <a:solidFill>
              <a:srgbClr val="1B3A6B"/>
            </a:solidFill>
            <a:prstDash val="solid"/>
          </a:ln>
        </p:spPr>
        <p:txBody>
          <a:bodyPr/>
          <a:p>
            <a:endParaRPr lang="tr-TR"/>
          </a:p>
        </p:txBody>
      </p:sp>
      <p:sp>
        <p:nvSpPr>
          <p:cNvPr id="8" name="Text 3"/>
          <p:cNvSpPr/>
          <p:nvPr/>
        </p:nvSpPr>
        <p:spPr>
          <a:xfrm>
            <a:off x="274320" y="4892040"/>
            <a:ext cx="8595360" cy="251460"/>
          </a:xfrm>
          <a:prstGeom prst="rect">
            <a:avLst/>
          </a:prstGeom>
          <a:noFill/>
        </p:spPr>
        <p:txBody>
          <a:bodyPr wrap="square" rtlCol="0" anchor="ctr"/>
          <a:p>
            <a:pPr marL="0" indent="0" algn="ctr">
              <a:buNone/>
            </a:pPr>
            <a:r>
              <a:rPr lang="en-US" sz="800" dirty="0">
                <a:solidFill>
                  <a:srgbClr val="E0E6ED"/>
                </a:solidFill>
                <a:latin typeface="Calibri" panose="020F0502020204030204" pitchFamily="34" charset="0"/>
                <a:ea typeface="Calibri" panose="020F0502020204030204" pitchFamily="34" charset="-122"/>
                <a:cs typeface="Calibri" panose="020F0502020204030204" pitchFamily="34" charset="-120"/>
              </a:rPr>
              <a:t>SAÜ EEM  |  İzmir Yenilenebilir Enerji Analizi</a:t>
            </a:r>
            <a:endParaRPr lang="en-US" sz="8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922B21"/>
        </a:solidFill>
        <a:effectLst/>
      </p:bgPr>
    </p:bg>
    <p:spTree>
      <p:nvGrpSpPr>
        <p:cNvPr id="1" name=""/>
        <p:cNvGrpSpPr/>
        <p:nvPr/>
      </p:nvGrpSpPr>
      <p:grpSpPr>
        <a:xfrm>
          <a:off x="0" y="0"/>
          <a:ext cx="0" cy="0"/>
          <a:chOff x="0" y="0"/>
          <a:chExt cx="0" cy="0"/>
        </a:xfrm>
      </p:grpSpPr>
      <p:sp>
        <p:nvSpPr>
          <p:cNvPr id="2" name="Shape 0"/>
          <p:cNvSpPr/>
          <p:nvPr/>
        </p:nvSpPr>
        <p:spPr>
          <a:xfrm>
            <a:off x="0" y="4114800"/>
            <a:ext cx="9144000" cy="1028700"/>
          </a:xfrm>
          <a:prstGeom prst="rect">
            <a:avLst/>
          </a:prstGeom>
          <a:solidFill>
            <a:srgbClr val="1B3A6B"/>
          </a:solidFill>
          <a:ln w="12700">
            <a:solidFill>
              <a:srgbClr val="1B3A6B"/>
            </a:solidFill>
            <a:prstDash val="solid"/>
          </a:ln>
        </p:spPr>
        <p:txBody>
          <a:bodyPr/>
          <a:lstStyle/>
          <a:p>
            <a:endParaRPr lang="tr-TR"/>
          </a:p>
        </p:txBody>
      </p:sp>
      <p:sp>
        <p:nvSpPr>
          <p:cNvPr id="3" name="Shape 1"/>
          <p:cNvSpPr/>
          <p:nvPr/>
        </p:nvSpPr>
        <p:spPr>
          <a:xfrm>
            <a:off x="0" y="4114800"/>
            <a:ext cx="137160" cy="1028700"/>
          </a:xfrm>
          <a:prstGeom prst="rect">
            <a:avLst/>
          </a:prstGeom>
          <a:solidFill>
            <a:srgbClr val="C8901A"/>
          </a:solidFill>
          <a:ln w="12700">
            <a:solidFill>
              <a:srgbClr val="C8901A"/>
            </a:solidFill>
            <a:prstDash val="solid"/>
          </a:ln>
        </p:spPr>
        <p:txBody>
          <a:bodyPr/>
          <a:lstStyle/>
          <a:p>
            <a:endParaRPr lang="tr-TR"/>
          </a:p>
        </p:txBody>
      </p:sp>
      <p:sp>
        <p:nvSpPr>
          <p:cNvPr id="4" name="Text 2"/>
          <p:cNvSpPr/>
          <p:nvPr/>
        </p:nvSpPr>
        <p:spPr>
          <a:xfrm>
            <a:off x="457200" y="914400"/>
            <a:ext cx="8229600" cy="2560320"/>
          </a:xfrm>
          <a:prstGeom prst="rect">
            <a:avLst/>
          </a:prstGeom>
          <a:noFill/>
        </p:spPr>
        <p:txBody>
          <a:bodyPr wrap="square" rtlCol="0" anchor="ctr"/>
          <a:lstStyle/>
          <a:p>
            <a:pPr marL="0" indent="0" algn="ctr">
              <a:buNone/>
            </a:pPr>
            <a:r>
              <a:rPr lang="en-US" sz="3600" b="1" dirty="0">
                <a:solidFill>
                  <a:srgbClr val="FFFFFF"/>
                </a:solidFill>
                <a:latin typeface="Calibri" panose="020F0502020204030204" pitchFamily="34" charset="0"/>
                <a:ea typeface="Calibri" panose="020F0502020204030204" pitchFamily="34" charset="-122"/>
                <a:cs typeface="Calibri" panose="020F0502020204030204" pitchFamily="34" charset="-120"/>
              </a:rPr>
              <a:t>Nükleer Enerji</a:t>
            </a:r>
            <a:endParaRPr lang="en-US" sz="3600" dirty="0"/>
          </a:p>
        </p:txBody>
      </p:sp>
      <p:sp>
        <p:nvSpPr>
          <p:cNvPr id="5" name="Text 3"/>
          <p:cNvSpPr/>
          <p:nvPr/>
        </p:nvSpPr>
        <p:spPr>
          <a:xfrm>
            <a:off x="274320" y="4206240"/>
            <a:ext cx="8595360" cy="731520"/>
          </a:xfrm>
          <a:prstGeom prst="rect">
            <a:avLst/>
          </a:prstGeom>
          <a:noFill/>
        </p:spPr>
        <p:txBody>
          <a:bodyPr wrap="square" rtlCol="0" anchor="ctr"/>
          <a:lstStyle/>
          <a:p>
            <a:pPr marL="0" indent="0" algn="ctr">
              <a:buNone/>
            </a:pPr>
            <a:r>
              <a:rPr lang="en-US" sz="900" dirty="0">
                <a:solidFill>
                  <a:srgbClr val="E0E6ED"/>
                </a:solidFill>
                <a:latin typeface="Calibri" panose="020F0502020204030204" pitchFamily="34" charset="0"/>
                <a:ea typeface="Calibri" panose="020F0502020204030204" pitchFamily="34" charset="-122"/>
                <a:cs typeface="Calibri" panose="020F0502020204030204" pitchFamily="34" charset="-120"/>
              </a:rPr>
              <a:t>SAÜ EEM  |  Yenilenebilir ve Sürdürülebilir Enerji</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8F9FA"/>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922B21"/>
          </a:solidFill>
          <a:ln w="12700">
            <a:solidFill>
              <a:srgbClr val="922B21"/>
            </a:solidFill>
            <a:prstDash val="solid"/>
          </a:ln>
        </p:spPr>
        <p:txBody>
          <a:bodyPr/>
          <a:lstStyle/>
          <a:p>
            <a:endParaRPr lang="tr-TR"/>
          </a:p>
        </p:txBody>
      </p:sp>
      <p:sp>
        <p:nvSpPr>
          <p:cNvPr id="3" name="Shape 1"/>
          <p:cNvSpPr/>
          <p:nvPr/>
        </p:nvSpPr>
        <p:spPr>
          <a:xfrm>
            <a:off x="0" y="685800"/>
            <a:ext cx="9144000" cy="45720"/>
          </a:xfrm>
          <a:prstGeom prst="rect">
            <a:avLst/>
          </a:prstGeom>
          <a:solidFill>
            <a:srgbClr val="C8901A"/>
          </a:solidFill>
          <a:ln w="12700">
            <a:solidFill>
              <a:srgbClr val="C8901A"/>
            </a:solidFill>
            <a:prstDash val="solid"/>
          </a:ln>
        </p:spPr>
        <p:txBody>
          <a:bodyPr/>
          <a:lstStyle/>
          <a:p>
            <a:endParaRPr lang="tr-TR"/>
          </a:p>
        </p:txBody>
      </p:sp>
      <p:sp>
        <p:nvSpPr>
          <p:cNvPr id="4" name="Shape 2"/>
          <p:cNvSpPr/>
          <p:nvPr/>
        </p:nvSpPr>
        <p:spPr>
          <a:xfrm>
            <a:off x="0" y="4892040"/>
            <a:ext cx="9144000" cy="251460"/>
          </a:xfrm>
          <a:prstGeom prst="rect">
            <a:avLst/>
          </a:prstGeom>
          <a:solidFill>
            <a:srgbClr val="1B3A6B"/>
          </a:solidFill>
          <a:ln w="12700">
            <a:solidFill>
              <a:srgbClr val="1B3A6B"/>
            </a:solidFill>
            <a:prstDash val="solid"/>
          </a:ln>
        </p:spPr>
        <p:txBody>
          <a:bodyPr/>
          <a:lstStyle/>
          <a:p>
            <a:endParaRPr lang="tr-TR"/>
          </a:p>
        </p:txBody>
      </p:sp>
      <p:sp>
        <p:nvSpPr>
          <p:cNvPr id="5" name="Text 3"/>
          <p:cNvSpPr/>
          <p:nvPr/>
        </p:nvSpPr>
        <p:spPr>
          <a:xfrm>
            <a:off x="274320" y="4892040"/>
            <a:ext cx="8595360" cy="251460"/>
          </a:xfrm>
          <a:prstGeom prst="rect">
            <a:avLst/>
          </a:prstGeom>
          <a:noFill/>
        </p:spPr>
        <p:txBody>
          <a:bodyPr wrap="square" rtlCol="0" anchor="ctr"/>
          <a:lstStyle/>
          <a:p>
            <a:pPr marL="0" indent="0" algn="ctr">
              <a:buNone/>
            </a:pPr>
            <a:r>
              <a:rPr lang="en-US" sz="800" dirty="0">
                <a:solidFill>
                  <a:srgbClr val="E0E6ED"/>
                </a:solidFill>
                <a:latin typeface="Calibri" panose="020F0502020204030204" pitchFamily="34" charset="0"/>
                <a:ea typeface="Calibri" panose="020F0502020204030204" pitchFamily="34" charset="-122"/>
                <a:cs typeface="Calibri" panose="020F0502020204030204" pitchFamily="34" charset="-120"/>
              </a:rPr>
              <a:t>SAÜ EEM  |  İzmir Yenilenebilir Enerji Analizi</a:t>
            </a:r>
            <a:endParaRPr lang="en-US" sz="800" dirty="0"/>
          </a:p>
        </p:txBody>
      </p:sp>
      <p:sp>
        <p:nvSpPr>
          <p:cNvPr id="6" name="Text 4"/>
          <p:cNvSpPr/>
          <p:nvPr/>
        </p:nvSpPr>
        <p:spPr>
          <a:xfrm>
            <a:off x="274320" y="45720"/>
            <a:ext cx="8595360" cy="594360"/>
          </a:xfrm>
          <a:prstGeom prst="rect">
            <a:avLst/>
          </a:prstGeom>
          <a:noFill/>
        </p:spPr>
        <p:txBody>
          <a:bodyPr wrap="square" lIns="0" tIns="0" rIns="0" bIns="0" rtlCol="0" anchor="ctr"/>
          <a:lstStyle/>
          <a:p>
            <a:pPr marL="0" indent="0" algn="l">
              <a:buNone/>
            </a:pPr>
            <a:r>
              <a:rPr lang="en-US" sz="1800" b="1" dirty="0">
                <a:solidFill>
                  <a:srgbClr val="FFFFFF"/>
                </a:solidFill>
                <a:latin typeface="Calibri" panose="020F0502020204030204" pitchFamily="34" charset="0"/>
                <a:ea typeface="Calibri" panose="020F0502020204030204" pitchFamily="34" charset="-122"/>
                <a:cs typeface="Calibri" panose="020F0502020204030204" pitchFamily="34" charset="-120"/>
              </a:rPr>
              <a:t>Nükleer Enerji — Nedir? Nesilleri? Avantaj / Dezavantaj</a:t>
            </a:r>
            <a:endParaRPr lang="en-US" sz="1800" dirty="0"/>
          </a:p>
        </p:txBody>
      </p:sp>
      <p:sp>
        <p:nvSpPr>
          <p:cNvPr id="7" name="Text 5"/>
          <p:cNvSpPr/>
          <p:nvPr/>
        </p:nvSpPr>
        <p:spPr>
          <a:xfrm>
            <a:off x="320040" y="777240"/>
            <a:ext cx="8503920" cy="320040"/>
          </a:xfrm>
          <a:prstGeom prst="rect">
            <a:avLst/>
          </a:prstGeom>
          <a:noFill/>
        </p:spPr>
        <p:txBody>
          <a:bodyPr wrap="square" rtlCol="0" anchor="ctr"/>
          <a:lstStyle/>
          <a:p>
            <a:pPr marL="0" indent="0">
              <a:buNone/>
            </a:pPr>
            <a:r>
              <a:rPr lang="en-US" sz="1200" b="1" dirty="0">
                <a:solidFill>
                  <a:srgbClr val="922B21"/>
                </a:solidFill>
                <a:latin typeface="Calibri" panose="020F0502020204030204" pitchFamily="34" charset="0"/>
                <a:ea typeface="Calibri" panose="020F0502020204030204" pitchFamily="34" charset="-122"/>
                <a:cs typeface="Calibri" panose="020F0502020204030204" pitchFamily="34" charset="-120"/>
              </a:rPr>
              <a:t>Nükleer Enerji Nedir?</a:t>
            </a:r>
            <a:endParaRPr lang="en-US" sz="1200" dirty="0"/>
          </a:p>
        </p:txBody>
      </p:sp>
      <p:sp>
        <p:nvSpPr>
          <p:cNvPr id="8" name="Text 6"/>
          <p:cNvSpPr/>
          <p:nvPr/>
        </p:nvSpPr>
        <p:spPr>
          <a:xfrm>
            <a:off x="320040" y="1097280"/>
            <a:ext cx="8503920" cy="411480"/>
          </a:xfrm>
          <a:prstGeom prst="rect">
            <a:avLst/>
          </a:prstGeom>
          <a:noFill/>
        </p:spPr>
        <p:txBody>
          <a:bodyPr wrap="square" rtlCol="0" anchor="ctr"/>
          <a:lstStyle/>
          <a:p>
            <a:pPr marL="0" indent="0" algn="just">
              <a:buNone/>
            </a:pPr>
            <a:r>
              <a:rPr lang="en-US" sz="1000" dirty="0">
                <a:solidFill>
                  <a:srgbClr val="212121"/>
                </a:solidFill>
                <a:latin typeface="Calibri" panose="020F0502020204030204" pitchFamily="34" charset="0"/>
                <a:ea typeface="Calibri" panose="020F0502020204030204" pitchFamily="34" charset="-122"/>
                <a:cs typeface="Calibri" panose="020F0502020204030204" pitchFamily="34" charset="-120"/>
              </a:rPr>
              <a:t>Uranyum-235 veya plütonyum-239 gibi ağır atom çekirdeklerinin fisyonu (parçalanması) ile açığa çıkan ısı enerjisinin buhar türbini aracılığıyla elektriğe dönüştürülmesidir. Fisyon reaksiyonu zincirleme sürer ve kontrollü biçimde yönetilir.</a:t>
            </a:r>
            <a:endParaRPr lang="en-US" sz="1000" dirty="0"/>
          </a:p>
        </p:txBody>
      </p:sp>
      <p:sp>
        <p:nvSpPr>
          <p:cNvPr id="9" name="Shape 7"/>
          <p:cNvSpPr/>
          <p:nvPr/>
        </p:nvSpPr>
        <p:spPr>
          <a:xfrm>
            <a:off x="320040" y="1600200"/>
            <a:ext cx="2011680" cy="1417320"/>
          </a:xfrm>
          <a:prstGeom prst="rect">
            <a:avLst/>
          </a:prstGeom>
          <a:solidFill>
            <a:srgbClr val="922B21">
              <a:alpha val="15000"/>
            </a:srgbClr>
          </a:solidFill>
          <a:ln w="12700">
            <a:solidFill>
              <a:srgbClr val="922B21"/>
            </a:solidFill>
            <a:prstDash val="solid"/>
          </a:ln>
        </p:spPr>
        <p:txBody>
          <a:bodyPr/>
          <a:lstStyle/>
          <a:p>
            <a:endParaRPr lang="tr-TR"/>
          </a:p>
        </p:txBody>
      </p:sp>
      <p:sp>
        <p:nvSpPr>
          <p:cNvPr id="10" name="Shape 8"/>
          <p:cNvSpPr/>
          <p:nvPr/>
        </p:nvSpPr>
        <p:spPr>
          <a:xfrm>
            <a:off x="320040" y="1600200"/>
            <a:ext cx="2011680" cy="301752"/>
          </a:xfrm>
          <a:prstGeom prst="rect">
            <a:avLst/>
          </a:prstGeom>
          <a:solidFill>
            <a:srgbClr val="922B21"/>
          </a:solidFill>
          <a:ln w="12700">
            <a:solidFill>
              <a:srgbClr val="922B21"/>
            </a:solidFill>
            <a:prstDash val="solid"/>
          </a:ln>
        </p:spPr>
        <p:txBody>
          <a:bodyPr/>
          <a:lstStyle/>
          <a:p>
            <a:endParaRPr lang="tr-TR"/>
          </a:p>
        </p:txBody>
      </p:sp>
      <p:sp>
        <p:nvSpPr>
          <p:cNvPr id="11" name="Text 9"/>
          <p:cNvSpPr/>
          <p:nvPr/>
        </p:nvSpPr>
        <p:spPr>
          <a:xfrm>
            <a:off x="356616" y="1600200"/>
            <a:ext cx="1938528" cy="301752"/>
          </a:xfrm>
          <a:prstGeom prst="rect">
            <a:avLst/>
          </a:prstGeom>
          <a:noFill/>
        </p:spPr>
        <p:txBody>
          <a:bodyPr wrap="square" rtlCol="0" anchor="ctr"/>
          <a:lstStyle/>
          <a:p>
            <a:pPr marL="0" indent="0" algn="ctr">
              <a:buNone/>
            </a:pPr>
            <a:r>
              <a:rPr lang="en-US" sz="950" b="1" dirty="0">
                <a:solidFill>
                  <a:srgbClr val="FFFFFF"/>
                </a:solidFill>
                <a:latin typeface="Calibri" panose="020F0502020204030204" pitchFamily="34" charset="0"/>
                <a:ea typeface="Calibri" panose="020F0502020204030204" pitchFamily="34" charset="-122"/>
                <a:cs typeface="Calibri" panose="020F0502020204030204" pitchFamily="34" charset="-120"/>
              </a:rPr>
              <a:t>Nesil I (1950–70)</a:t>
            </a:r>
            <a:endParaRPr lang="en-US" sz="950" dirty="0"/>
          </a:p>
        </p:txBody>
      </p:sp>
      <p:sp>
        <p:nvSpPr>
          <p:cNvPr id="12" name="Text 10"/>
          <p:cNvSpPr/>
          <p:nvPr/>
        </p:nvSpPr>
        <p:spPr>
          <a:xfrm>
            <a:off x="411480" y="1920240"/>
            <a:ext cx="1828800" cy="1051560"/>
          </a:xfrm>
          <a:prstGeom prst="rect">
            <a:avLst/>
          </a:prstGeom>
          <a:noFill/>
        </p:spPr>
        <p:txBody>
          <a:bodyPr wrap="square" rtlCol="0" anchor="t"/>
          <a:lstStyle/>
          <a:p>
            <a:pPr marL="0" indent="0" algn="l">
              <a:spcAft>
                <a:spcPts val="200"/>
              </a:spcAft>
              <a:buNone/>
            </a:pPr>
            <a:r>
              <a:rPr lang="en-US" sz="900" dirty="0">
                <a:solidFill>
                  <a:srgbClr val="212121"/>
                </a:solidFill>
                <a:latin typeface="Calibri" panose="020F0502020204030204" pitchFamily="34" charset="0"/>
                <a:ea typeface="Calibri" panose="020F0502020204030204" pitchFamily="34" charset="-122"/>
                <a:cs typeface="Calibri" panose="020F0502020204030204" pitchFamily="34" charset="-120"/>
              </a:rPr>
              <a:t>İlk prototip</a:t>
            </a:r>
            <a:endParaRPr lang="en-US" sz="900" dirty="0"/>
          </a:p>
          <a:p>
            <a:pPr marL="0" indent="0" algn="l">
              <a:spcAft>
                <a:spcPts val="200"/>
              </a:spcAft>
              <a:buNone/>
            </a:pPr>
            <a:r>
              <a:rPr lang="en-US" sz="900" dirty="0">
                <a:solidFill>
                  <a:srgbClr val="212121"/>
                </a:solidFill>
                <a:latin typeface="Calibri" panose="020F0502020204030204" pitchFamily="34" charset="0"/>
                <a:ea typeface="Calibri" panose="020F0502020204030204" pitchFamily="34" charset="-122"/>
                <a:cs typeface="Calibri" panose="020F0502020204030204" pitchFamily="34" charset="-120"/>
              </a:rPr>
              <a:t>tesisler</a:t>
            </a:r>
            <a:endParaRPr lang="en-US" sz="900" dirty="0"/>
          </a:p>
          <a:p>
            <a:pPr marL="0" indent="0" algn="l">
              <a:spcAft>
                <a:spcPts val="200"/>
              </a:spcAft>
              <a:buNone/>
            </a:pPr>
            <a:r>
              <a:rPr lang="en-US" sz="900" dirty="0">
                <a:solidFill>
                  <a:srgbClr val="212121"/>
                </a:solidFill>
                <a:latin typeface="Calibri" panose="020F0502020204030204" pitchFamily="34" charset="0"/>
                <a:ea typeface="Calibri" panose="020F0502020204030204" pitchFamily="34" charset="-122"/>
                <a:cs typeface="Calibri" panose="020F0502020204030204" pitchFamily="34" charset="-120"/>
              </a:rPr>
              <a:t>Düşük verim</a:t>
            </a:r>
            <a:endParaRPr lang="en-US" sz="900" dirty="0"/>
          </a:p>
          <a:p>
            <a:pPr marL="0" indent="0" algn="l">
              <a:spcAft>
                <a:spcPts val="200"/>
              </a:spcAft>
              <a:buNone/>
            </a:pPr>
            <a:r>
              <a:rPr lang="en-US" sz="900" dirty="0">
                <a:solidFill>
                  <a:srgbClr val="212121"/>
                </a:solidFill>
                <a:latin typeface="Calibri" panose="020F0502020204030204" pitchFamily="34" charset="0"/>
                <a:ea typeface="Calibri" panose="020F0502020204030204" pitchFamily="34" charset="-122"/>
                <a:cs typeface="Calibri" panose="020F0502020204030204" pitchFamily="34" charset="-120"/>
              </a:rPr>
              <a:t>Hizmet dışı</a:t>
            </a:r>
            <a:endParaRPr lang="en-US" sz="900" dirty="0"/>
          </a:p>
        </p:txBody>
      </p:sp>
      <p:sp>
        <p:nvSpPr>
          <p:cNvPr id="13" name="Shape 11"/>
          <p:cNvSpPr/>
          <p:nvPr/>
        </p:nvSpPr>
        <p:spPr>
          <a:xfrm>
            <a:off x="2514600" y="1600200"/>
            <a:ext cx="2011680" cy="1417320"/>
          </a:xfrm>
          <a:prstGeom prst="rect">
            <a:avLst/>
          </a:prstGeom>
          <a:solidFill>
            <a:srgbClr val="7B241C">
              <a:alpha val="15000"/>
            </a:srgbClr>
          </a:solidFill>
          <a:ln w="12700">
            <a:solidFill>
              <a:srgbClr val="7B241C"/>
            </a:solidFill>
            <a:prstDash val="solid"/>
          </a:ln>
        </p:spPr>
        <p:txBody>
          <a:bodyPr/>
          <a:lstStyle/>
          <a:p>
            <a:endParaRPr lang="tr-TR"/>
          </a:p>
        </p:txBody>
      </p:sp>
      <p:sp>
        <p:nvSpPr>
          <p:cNvPr id="14" name="Shape 12"/>
          <p:cNvSpPr/>
          <p:nvPr/>
        </p:nvSpPr>
        <p:spPr>
          <a:xfrm>
            <a:off x="2514600" y="1600200"/>
            <a:ext cx="2011680" cy="301752"/>
          </a:xfrm>
          <a:prstGeom prst="rect">
            <a:avLst/>
          </a:prstGeom>
          <a:solidFill>
            <a:srgbClr val="7B241C"/>
          </a:solidFill>
          <a:ln w="12700">
            <a:solidFill>
              <a:srgbClr val="7B241C"/>
            </a:solidFill>
            <a:prstDash val="solid"/>
          </a:ln>
        </p:spPr>
        <p:txBody>
          <a:bodyPr/>
          <a:lstStyle/>
          <a:p>
            <a:endParaRPr lang="tr-TR"/>
          </a:p>
        </p:txBody>
      </p:sp>
      <p:sp>
        <p:nvSpPr>
          <p:cNvPr id="15" name="Text 13"/>
          <p:cNvSpPr/>
          <p:nvPr/>
        </p:nvSpPr>
        <p:spPr>
          <a:xfrm>
            <a:off x="2551176" y="1600200"/>
            <a:ext cx="1938528" cy="301752"/>
          </a:xfrm>
          <a:prstGeom prst="rect">
            <a:avLst/>
          </a:prstGeom>
          <a:noFill/>
        </p:spPr>
        <p:txBody>
          <a:bodyPr wrap="square" rtlCol="0" anchor="ctr"/>
          <a:lstStyle/>
          <a:p>
            <a:pPr marL="0" indent="0" algn="ctr">
              <a:buNone/>
            </a:pPr>
            <a:r>
              <a:rPr lang="en-US" sz="950" b="1" dirty="0">
                <a:solidFill>
                  <a:srgbClr val="FFFFFF"/>
                </a:solidFill>
                <a:latin typeface="Calibri" panose="020F0502020204030204" pitchFamily="34" charset="0"/>
                <a:ea typeface="Calibri" panose="020F0502020204030204" pitchFamily="34" charset="-122"/>
                <a:cs typeface="Calibri" panose="020F0502020204030204" pitchFamily="34" charset="-120"/>
              </a:rPr>
              <a:t>Nesil II (1970–90)</a:t>
            </a:r>
            <a:endParaRPr lang="en-US" sz="950" dirty="0"/>
          </a:p>
        </p:txBody>
      </p:sp>
      <p:sp>
        <p:nvSpPr>
          <p:cNvPr id="16" name="Text 14"/>
          <p:cNvSpPr/>
          <p:nvPr/>
        </p:nvSpPr>
        <p:spPr>
          <a:xfrm>
            <a:off x="2606040" y="1920240"/>
            <a:ext cx="1828800" cy="1051560"/>
          </a:xfrm>
          <a:prstGeom prst="rect">
            <a:avLst/>
          </a:prstGeom>
          <a:noFill/>
        </p:spPr>
        <p:txBody>
          <a:bodyPr wrap="square" rtlCol="0" anchor="t"/>
          <a:lstStyle/>
          <a:p>
            <a:pPr marL="0" indent="0" algn="l">
              <a:spcAft>
                <a:spcPts val="200"/>
              </a:spcAft>
              <a:buNone/>
            </a:pPr>
            <a:r>
              <a:rPr lang="en-US" sz="900" dirty="0">
                <a:solidFill>
                  <a:srgbClr val="212121"/>
                </a:solidFill>
                <a:latin typeface="Calibri" panose="020F0502020204030204" pitchFamily="34" charset="0"/>
                <a:ea typeface="Calibri" panose="020F0502020204030204" pitchFamily="34" charset="-122"/>
                <a:cs typeface="Calibri" panose="020F0502020204030204" pitchFamily="34" charset="-120"/>
              </a:rPr>
              <a:t>PWR / BWR /</a:t>
            </a:r>
            <a:endParaRPr lang="en-US" sz="900" dirty="0"/>
          </a:p>
          <a:p>
            <a:pPr marL="0" indent="0" algn="l">
              <a:spcAft>
                <a:spcPts val="200"/>
              </a:spcAft>
              <a:buNone/>
            </a:pPr>
            <a:r>
              <a:rPr lang="en-US" sz="900" dirty="0">
                <a:solidFill>
                  <a:srgbClr val="212121"/>
                </a:solidFill>
                <a:latin typeface="Calibri" panose="020F0502020204030204" pitchFamily="34" charset="0"/>
                <a:ea typeface="Calibri" panose="020F0502020204030204" pitchFamily="34" charset="-122"/>
                <a:cs typeface="Calibri" panose="020F0502020204030204" pitchFamily="34" charset="-120"/>
              </a:rPr>
              <a:t>CANDU</a:t>
            </a:r>
            <a:endParaRPr lang="en-US" sz="900" dirty="0"/>
          </a:p>
          <a:p>
            <a:pPr marL="0" indent="0" algn="l">
              <a:spcAft>
                <a:spcPts val="200"/>
              </a:spcAft>
              <a:buNone/>
            </a:pPr>
            <a:r>
              <a:rPr lang="en-US" sz="900" dirty="0">
                <a:solidFill>
                  <a:srgbClr val="212121"/>
                </a:solidFill>
                <a:latin typeface="Calibri" panose="020F0502020204030204" pitchFamily="34" charset="0"/>
                <a:ea typeface="Calibri" panose="020F0502020204030204" pitchFamily="34" charset="-122"/>
                <a:cs typeface="Calibri" panose="020F0502020204030204" pitchFamily="34" charset="-120"/>
              </a:rPr>
              <a:t>Aktif güvenlik</a:t>
            </a:r>
            <a:endParaRPr lang="en-US" sz="900" dirty="0"/>
          </a:p>
          <a:p>
            <a:pPr marL="0" indent="0" algn="l">
              <a:spcAft>
                <a:spcPts val="200"/>
              </a:spcAft>
              <a:buNone/>
            </a:pPr>
            <a:r>
              <a:rPr lang="en-US" sz="900" dirty="0">
                <a:solidFill>
                  <a:srgbClr val="212121"/>
                </a:solidFill>
                <a:latin typeface="Calibri" panose="020F0502020204030204" pitchFamily="34" charset="0"/>
                <a:ea typeface="Calibri" panose="020F0502020204030204" pitchFamily="34" charset="-122"/>
                <a:cs typeface="Calibri" panose="020F0502020204030204" pitchFamily="34" charset="-120"/>
              </a:rPr>
              <a:t>Mevcut filo</a:t>
            </a:r>
            <a:endParaRPr lang="en-US" sz="900" dirty="0"/>
          </a:p>
        </p:txBody>
      </p:sp>
      <p:sp>
        <p:nvSpPr>
          <p:cNvPr id="17" name="Shape 15"/>
          <p:cNvSpPr/>
          <p:nvPr/>
        </p:nvSpPr>
        <p:spPr>
          <a:xfrm>
            <a:off x="4709160" y="1600200"/>
            <a:ext cx="2011680" cy="1417320"/>
          </a:xfrm>
          <a:prstGeom prst="rect">
            <a:avLst/>
          </a:prstGeom>
          <a:solidFill>
            <a:srgbClr val="C0392B">
              <a:alpha val="15000"/>
            </a:srgbClr>
          </a:solidFill>
          <a:ln w="12700">
            <a:solidFill>
              <a:srgbClr val="C0392B"/>
            </a:solidFill>
            <a:prstDash val="solid"/>
          </a:ln>
        </p:spPr>
        <p:txBody>
          <a:bodyPr/>
          <a:lstStyle/>
          <a:p>
            <a:endParaRPr lang="tr-TR"/>
          </a:p>
        </p:txBody>
      </p:sp>
      <p:sp>
        <p:nvSpPr>
          <p:cNvPr id="18" name="Shape 16"/>
          <p:cNvSpPr/>
          <p:nvPr/>
        </p:nvSpPr>
        <p:spPr>
          <a:xfrm>
            <a:off x="4709160" y="1600200"/>
            <a:ext cx="2011680" cy="301752"/>
          </a:xfrm>
          <a:prstGeom prst="rect">
            <a:avLst/>
          </a:prstGeom>
          <a:solidFill>
            <a:srgbClr val="C0392B"/>
          </a:solidFill>
          <a:ln w="12700">
            <a:solidFill>
              <a:srgbClr val="C0392B"/>
            </a:solidFill>
            <a:prstDash val="solid"/>
          </a:ln>
        </p:spPr>
        <p:txBody>
          <a:bodyPr/>
          <a:lstStyle/>
          <a:p>
            <a:endParaRPr lang="tr-TR"/>
          </a:p>
        </p:txBody>
      </p:sp>
      <p:sp>
        <p:nvSpPr>
          <p:cNvPr id="19" name="Text 17"/>
          <p:cNvSpPr/>
          <p:nvPr/>
        </p:nvSpPr>
        <p:spPr>
          <a:xfrm>
            <a:off x="4745736" y="1600200"/>
            <a:ext cx="1938528" cy="301752"/>
          </a:xfrm>
          <a:prstGeom prst="rect">
            <a:avLst/>
          </a:prstGeom>
          <a:noFill/>
        </p:spPr>
        <p:txBody>
          <a:bodyPr wrap="square" rtlCol="0" anchor="ctr"/>
          <a:lstStyle/>
          <a:p>
            <a:pPr marL="0" indent="0" algn="ctr">
              <a:buNone/>
            </a:pPr>
            <a:r>
              <a:rPr lang="en-US" sz="950" b="1" dirty="0">
                <a:solidFill>
                  <a:srgbClr val="FFFFFF"/>
                </a:solidFill>
                <a:latin typeface="Calibri" panose="020F0502020204030204" pitchFamily="34" charset="0"/>
                <a:ea typeface="Calibri" panose="020F0502020204030204" pitchFamily="34" charset="-122"/>
                <a:cs typeface="Calibri" panose="020F0502020204030204" pitchFamily="34" charset="-120"/>
              </a:rPr>
              <a:t>Nesil III (1990–)</a:t>
            </a:r>
            <a:endParaRPr lang="en-US" sz="950" dirty="0"/>
          </a:p>
        </p:txBody>
      </p:sp>
      <p:sp>
        <p:nvSpPr>
          <p:cNvPr id="20" name="Text 18"/>
          <p:cNvSpPr/>
          <p:nvPr/>
        </p:nvSpPr>
        <p:spPr>
          <a:xfrm>
            <a:off x="4800600" y="1920240"/>
            <a:ext cx="1828800" cy="1051560"/>
          </a:xfrm>
          <a:prstGeom prst="rect">
            <a:avLst/>
          </a:prstGeom>
          <a:noFill/>
        </p:spPr>
        <p:txBody>
          <a:bodyPr wrap="square" rtlCol="0" anchor="t"/>
          <a:lstStyle/>
          <a:p>
            <a:pPr marL="0" indent="0" algn="l">
              <a:spcAft>
                <a:spcPts val="200"/>
              </a:spcAft>
              <a:buNone/>
            </a:pPr>
            <a:r>
              <a:rPr lang="en-US" sz="900" dirty="0">
                <a:solidFill>
                  <a:srgbClr val="212121"/>
                </a:solidFill>
                <a:latin typeface="Calibri" panose="020F0502020204030204" pitchFamily="34" charset="0"/>
                <a:ea typeface="Calibri" panose="020F0502020204030204" pitchFamily="34" charset="-122"/>
                <a:cs typeface="Calibri" panose="020F0502020204030204" pitchFamily="34" charset="-120"/>
              </a:rPr>
              <a:t>VVER-1200</a:t>
            </a:r>
            <a:endParaRPr lang="en-US" sz="900" dirty="0"/>
          </a:p>
          <a:p>
            <a:pPr marL="0" indent="0" algn="l">
              <a:spcAft>
                <a:spcPts val="200"/>
              </a:spcAft>
              <a:buNone/>
            </a:pPr>
            <a:r>
              <a:rPr lang="en-US" sz="900" dirty="0">
                <a:solidFill>
                  <a:srgbClr val="212121"/>
                </a:solidFill>
                <a:latin typeface="Calibri" panose="020F0502020204030204" pitchFamily="34" charset="0"/>
                <a:ea typeface="Calibri" panose="020F0502020204030204" pitchFamily="34" charset="-122"/>
                <a:cs typeface="Calibri" panose="020F0502020204030204" pitchFamily="34" charset="-120"/>
              </a:rPr>
              <a:t>AP1000</a:t>
            </a:r>
            <a:endParaRPr lang="en-US" sz="900" dirty="0"/>
          </a:p>
          <a:p>
            <a:pPr marL="0" indent="0" algn="l">
              <a:spcAft>
                <a:spcPts val="200"/>
              </a:spcAft>
              <a:buNone/>
            </a:pPr>
            <a:r>
              <a:rPr lang="en-US" sz="900" dirty="0">
                <a:solidFill>
                  <a:srgbClr val="212121"/>
                </a:solidFill>
                <a:latin typeface="Calibri" panose="020F0502020204030204" pitchFamily="34" charset="0"/>
                <a:ea typeface="Calibri" panose="020F0502020204030204" pitchFamily="34" charset="-122"/>
                <a:cs typeface="Calibri" panose="020F0502020204030204" pitchFamily="34" charset="-120"/>
              </a:rPr>
              <a:t>Pasif güvenlik</a:t>
            </a:r>
            <a:endParaRPr lang="en-US" sz="900" dirty="0"/>
          </a:p>
          <a:p>
            <a:pPr marL="0" indent="0" algn="l">
              <a:spcAft>
                <a:spcPts val="200"/>
              </a:spcAft>
              <a:buNone/>
            </a:pPr>
            <a:r>
              <a:rPr lang="en-US" sz="900" dirty="0">
                <a:solidFill>
                  <a:srgbClr val="212121"/>
                </a:solidFill>
                <a:latin typeface="Calibri" panose="020F0502020204030204" pitchFamily="34" charset="0"/>
                <a:ea typeface="Calibri" panose="020F0502020204030204" pitchFamily="34" charset="-122"/>
                <a:cs typeface="Calibri" panose="020F0502020204030204" pitchFamily="34" charset="-120"/>
              </a:rPr>
              <a:t>Akkuyu NGS</a:t>
            </a:r>
            <a:endParaRPr lang="en-US" sz="900" dirty="0"/>
          </a:p>
        </p:txBody>
      </p:sp>
      <p:sp>
        <p:nvSpPr>
          <p:cNvPr id="21" name="Shape 19"/>
          <p:cNvSpPr/>
          <p:nvPr/>
        </p:nvSpPr>
        <p:spPr>
          <a:xfrm>
            <a:off x="6903720" y="1600200"/>
            <a:ext cx="2011680" cy="1417320"/>
          </a:xfrm>
          <a:prstGeom prst="rect">
            <a:avLst/>
          </a:prstGeom>
          <a:solidFill>
            <a:srgbClr val="E74C3C">
              <a:alpha val="15000"/>
            </a:srgbClr>
          </a:solidFill>
          <a:ln w="12700">
            <a:solidFill>
              <a:srgbClr val="E74C3C"/>
            </a:solidFill>
            <a:prstDash val="solid"/>
          </a:ln>
        </p:spPr>
        <p:txBody>
          <a:bodyPr/>
          <a:lstStyle/>
          <a:p>
            <a:endParaRPr lang="tr-TR"/>
          </a:p>
        </p:txBody>
      </p:sp>
      <p:sp>
        <p:nvSpPr>
          <p:cNvPr id="22" name="Shape 20"/>
          <p:cNvSpPr/>
          <p:nvPr/>
        </p:nvSpPr>
        <p:spPr>
          <a:xfrm>
            <a:off x="6903720" y="1600200"/>
            <a:ext cx="2011680" cy="301752"/>
          </a:xfrm>
          <a:prstGeom prst="rect">
            <a:avLst/>
          </a:prstGeom>
          <a:solidFill>
            <a:srgbClr val="E74C3C"/>
          </a:solidFill>
          <a:ln w="12700">
            <a:solidFill>
              <a:srgbClr val="E74C3C"/>
            </a:solidFill>
            <a:prstDash val="solid"/>
          </a:ln>
        </p:spPr>
        <p:txBody>
          <a:bodyPr/>
          <a:lstStyle/>
          <a:p>
            <a:endParaRPr lang="tr-TR"/>
          </a:p>
        </p:txBody>
      </p:sp>
      <p:sp>
        <p:nvSpPr>
          <p:cNvPr id="23" name="Text 21"/>
          <p:cNvSpPr/>
          <p:nvPr/>
        </p:nvSpPr>
        <p:spPr>
          <a:xfrm>
            <a:off x="6940296" y="1600200"/>
            <a:ext cx="1938528" cy="301752"/>
          </a:xfrm>
          <a:prstGeom prst="rect">
            <a:avLst/>
          </a:prstGeom>
          <a:noFill/>
        </p:spPr>
        <p:txBody>
          <a:bodyPr wrap="square" rtlCol="0" anchor="ctr"/>
          <a:lstStyle/>
          <a:p>
            <a:pPr marL="0" indent="0" algn="ctr">
              <a:buNone/>
            </a:pPr>
            <a:r>
              <a:rPr lang="en-US" sz="950" b="1" dirty="0">
                <a:solidFill>
                  <a:srgbClr val="FFFFFF"/>
                </a:solidFill>
                <a:latin typeface="Calibri" panose="020F0502020204030204" pitchFamily="34" charset="0"/>
                <a:ea typeface="Calibri" panose="020F0502020204030204" pitchFamily="34" charset="-122"/>
                <a:cs typeface="Calibri" panose="020F0502020204030204" pitchFamily="34" charset="-120"/>
              </a:rPr>
              <a:t>Nesil IV (2030+)</a:t>
            </a:r>
            <a:endParaRPr lang="en-US" sz="950" dirty="0"/>
          </a:p>
        </p:txBody>
      </p:sp>
      <p:sp>
        <p:nvSpPr>
          <p:cNvPr id="24" name="Text 22"/>
          <p:cNvSpPr/>
          <p:nvPr/>
        </p:nvSpPr>
        <p:spPr>
          <a:xfrm>
            <a:off x="6995160" y="1920240"/>
            <a:ext cx="1828800" cy="1051560"/>
          </a:xfrm>
          <a:prstGeom prst="rect">
            <a:avLst/>
          </a:prstGeom>
          <a:noFill/>
        </p:spPr>
        <p:txBody>
          <a:bodyPr wrap="square" rtlCol="0" anchor="t"/>
          <a:lstStyle/>
          <a:p>
            <a:pPr marL="0" indent="0" algn="l">
              <a:spcAft>
                <a:spcPts val="200"/>
              </a:spcAft>
              <a:buNone/>
            </a:pPr>
            <a:r>
              <a:rPr lang="en-US" sz="900" dirty="0">
                <a:solidFill>
                  <a:srgbClr val="212121"/>
                </a:solidFill>
                <a:latin typeface="Calibri" panose="020F0502020204030204" pitchFamily="34" charset="0"/>
                <a:ea typeface="Calibri" panose="020F0502020204030204" pitchFamily="34" charset="-122"/>
                <a:cs typeface="Calibri" panose="020F0502020204030204" pitchFamily="34" charset="-120"/>
              </a:rPr>
              <a:t>SMR / Erimiş Tuz</a:t>
            </a:r>
            <a:endParaRPr lang="en-US" sz="900" dirty="0"/>
          </a:p>
          <a:p>
            <a:pPr marL="0" indent="0" algn="l">
              <a:spcAft>
                <a:spcPts val="200"/>
              </a:spcAft>
              <a:buNone/>
            </a:pPr>
            <a:r>
              <a:rPr lang="en-US" sz="900" dirty="0">
                <a:solidFill>
                  <a:srgbClr val="212121"/>
                </a:solidFill>
                <a:latin typeface="Calibri" panose="020F0502020204030204" pitchFamily="34" charset="0"/>
                <a:ea typeface="Calibri" panose="020F0502020204030204" pitchFamily="34" charset="-122"/>
                <a:cs typeface="Calibri" panose="020F0502020204030204" pitchFamily="34" charset="-120"/>
              </a:rPr>
              <a:t>Atık geri dön.</a:t>
            </a:r>
            <a:endParaRPr lang="en-US" sz="900" dirty="0"/>
          </a:p>
          <a:p>
            <a:pPr marL="0" indent="0" algn="l">
              <a:spcAft>
                <a:spcPts val="200"/>
              </a:spcAft>
              <a:buNone/>
            </a:pPr>
            <a:r>
              <a:rPr lang="en-US" sz="900" dirty="0">
                <a:solidFill>
                  <a:srgbClr val="212121"/>
                </a:solidFill>
                <a:latin typeface="Calibri" panose="020F0502020204030204" pitchFamily="34" charset="0"/>
                <a:ea typeface="Calibri" panose="020F0502020204030204" pitchFamily="34" charset="-122"/>
                <a:cs typeface="Calibri" panose="020F0502020204030204" pitchFamily="34" charset="-120"/>
              </a:rPr>
              <a:t>H₂ üretimi</a:t>
            </a:r>
            <a:endParaRPr lang="en-US" sz="900" dirty="0"/>
          </a:p>
          <a:p>
            <a:pPr marL="0" indent="0" algn="l">
              <a:spcAft>
                <a:spcPts val="200"/>
              </a:spcAft>
              <a:buNone/>
            </a:pPr>
            <a:r>
              <a:rPr lang="en-US" sz="900" dirty="0">
                <a:solidFill>
                  <a:srgbClr val="212121"/>
                </a:solidFill>
                <a:latin typeface="Calibri" panose="020F0502020204030204" pitchFamily="34" charset="0"/>
                <a:ea typeface="Calibri" panose="020F0502020204030204" pitchFamily="34" charset="-122"/>
                <a:cs typeface="Calibri" panose="020F0502020204030204" pitchFamily="34" charset="-120"/>
              </a:rPr>
              <a:t>AR-GE aşaması</a:t>
            </a:r>
            <a:endParaRPr lang="en-US" sz="900" dirty="0"/>
          </a:p>
        </p:txBody>
      </p:sp>
      <p:sp>
        <p:nvSpPr>
          <p:cNvPr id="25" name="Shape 23"/>
          <p:cNvSpPr/>
          <p:nvPr/>
        </p:nvSpPr>
        <p:spPr>
          <a:xfrm>
            <a:off x="320040" y="3108960"/>
            <a:ext cx="4183380" cy="1554480"/>
          </a:xfrm>
          <a:prstGeom prst="rect">
            <a:avLst/>
          </a:prstGeom>
          <a:solidFill>
            <a:srgbClr val="D5F5E3"/>
          </a:solidFill>
          <a:ln w="6350">
            <a:solidFill>
              <a:srgbClr val="E0E6ED"/>
            </a:solidFill>
            <a:prstDash val="solid"/>
          </a:ln>
        </p:spPr>
        <p:txBody>
          <a:bodyPr/>
          <a:lstStyle/>
          <a:p>
            <a:endParaRPr lang="tr-TR"/>
          </a:p>
        </p:txBody>
      </p:sp>
      <p:sp>
        <p:nvSpPr>
          <p:cNvPr id="26" name="Shape 24"/>
          <p:cNvSpPr/>
          <p:nvPr/>
        </p:nvSpPr>
        <p:spPr>
          <a:xfrm>
            <a:off x="320040" y="3108960"/>
            <a:ext cx="4183380" cy="292608"/>
          </a:xfrm>
          <a:prstGeom prst="rect">
            <a:avLst/>
          </a:prstGeom>
          <a:solidFill>
            <a:srgbClr val="1E8449"/>
          </a:solidFill>
          <a:ln w="12700">
            <a:solidFill>
              <a:srgbClr val="1E8449"/>
            </a:solidFill>
            <a:prstDash val="solid"/>
          </a:ln>
        </p:spPr>
        <p:txBody>
          <a:bodyPr/>
          <a:lstStyle/>
          <a:p>
            <a:endParaRPr lang="tr-TR"/>
          </a:p>
        </p:txBody>
      </p:sp>
      <p:sp>
        <p:nvSpPr>
          <p:cNvPr id="27" name="Text 25"/>
          <p:cNvSpPr/>
          <p:nvPr/>
        </p:nvSpPr>
        <p:spPr>
          <a:xfrm>
            <a:off x="365760" y="3127248"/>
            <a:ext cx="4091940" cy="274320"/>
          </a:xfrm>
          <a:prstGeom prst="rect">
            <a:avLst/>
          </a:prstGeom>
          <a:noFill/>
        </p:spPr>
        <p:txBody>
          <a:bodyPr wrap="square" rtlCol="0" anchor="ctr"/>
          <a:lstStyle/>
          <a:p>
            <a:pPr marL="0" indent="0" algn="ctr">
              <a:buNone/>
            </a:pPr>
            <a:r>
              <a:rPr lang="en-US" sz="1000" b="1" dirty="0">
                <a:solidFill>
                  <a:srgbClr val="FFFFFF"/>
                </a:solidFill>
                <a:latin typeface="Calibri" panose="020F0502020204030204" pitchFamily="34" charset="0"/>
                <a:ea typeface="Calibri" panose="020F0502020204030204" pitchFamily="34" charset="-122"/>
                <a:cs typeface="Calibri" panose="020F0502020204030204" pitchFamily="34" charset="-120"/>
              </a:rPr>
              <a:t>✅  Avantajlar</a:t>
            </a:r>
            <a:endParaRPr lang="en-US" sz="1000" dirty="0"/>
          </a:p>
        </p:txBody>
      </p:sp>
      <p:sp>
        <p:nvSpPr>
          <p:cNvPr id="28" name="Text 26"/>
          <p:cNvSpPr/>
          <p:nvPr/>
        </p:nvSpPr>
        <p:spPr>
          <a:xfrm>
            <a:off x="411480" y="3438144"/>
            <a:ext cx="4000500" cy="1152144"/>
          </a:xfrm>
          <a:prstGeom prst="rect">
            <a:avLst/>
          </a:prstGeom>
          <a:noFill/>
        </p:spPr>
        <p:txBody>
          <a:bodyPr wrap="square" rtlCol="0" anchor="t"/>
          <a:lstStyle/>
          <a:p>
            <a:pPr marL="0" indent="0" algn="l">
              <a:spcAft>
                <a:spcPts val="300"/>
              </a:spcAft>
              <a:buNone/>
            </a:pPr>
            <a:r>
              <a:rPr lang="en-US" sz="950" dirty="0">
                <a:solidFill>
                  <a:srgbClr val="212121"/>
                </a:solidFill>
                <a:latin typeface="Calibri" panose="020F0502020204030204" pitchFamily="34" charset="0"/>
                <a:ea typeface="Calibri" panose="020F0502020204030204" pitchFamily="34" charset="-122"/>
                <a:cs typeface="Calibri" panose="020F0502020204030204" pitchFamily="34" charset="-120"/>
              </a:rPr>
              <a:t>• En yüksek CF: %90+ (hava bağımsız)
• En düşük CO₂: ~12 g CO₂/kWh (rüzgarla eşit)
• Küçük arazi kullanımı (GES'ten 75x, RES'ten 360x)
• 60–80 yıl işletme ömrü
• Enerji arz güvenliği ve baz yük kapasitesi</a:t>
            </a:r>
            <a:endParaRPr lang="en-US" sz="950" dirty="0"/>
          </a:p>
        </p:txBody>
      </p:sp>
      <p:sp>
        <p:nvSpPr>
          <p:cNvPr id="29" name="Shape 27"/>
          <p:cNvSpPr/>
          <p:nvPr/>
        </p:nvSpPr>
        <p:spPr>
          <a:xfrm>
            <a:off x="4640580" y="3108960"/>
            <a:ext cx="4183380" cy="1554480"/>
          </a:xfrm>
          <a:prstGeom prst="rect">
            <a:avLst/>
          </a:prstGeom>
          <a:solidFill>
            <a:srgbClr val="FDEDEC"/>
          </a:solidFill>
          <a:ln w="6350">
            <a:solidFill>
              <a:srgbClr val="E0E6ED"/>
            </a:solidFill>
            <a:prstDash val="solid"/>
          </a:ln>
        </p:spPr>
        <p:txBody>
          <a:bodyPr/>
          <a:lstStyle/>
          <a:p>
            <a:endParaRPr lang="tr-TR"/>
          </a:p>
        </p:txBody>
      </p:sp>
      <p:sp>
        <p:nvSpPr>
          <p:cNvPr id="30" name="Shape 28"/>
          <p:cNvSpPr/>
          <p:nvPr/>
        </p:nvSpPr>
        <p:spPr>
          <a:xfrm>
            <a:off x="4640580" y="3108960"/>
            <a:ext cx="4183380" cy="292608"/>
          </a:xfrm>
          <a:prstGeom prst="rect">
            <a:avLst/>
          </a:prstGeom>
          <a:solidFill>
            <a:srgbClr val="922B21"/>
          </a:solidFill>
          <a:ln w="12700">
            <a:solidFill>
              <a:srgbClr val="922B21"/>
            </a:solidFill>
            <a:prstDash val="solid"/>
          </a:ln>
        </p:spPr>
        <p:txBody>
          <a:bodyPr/>
          <a:lstStyle/>
          <a:p>
            <a:endParaRPr lang="tr-TR"/>
          </a:p>
        </p:txBody>
      </p:sp>
      <p:sp>
        <p:nvSpPr>
          <p:cNvPr id="31" name="Text 29"/>
          <p:cNvSpPr/>
          <p:nvPr/>
        </p:nvSpPr>
        <p:spPr>
          <a:xfrm>
            <a:off x="4686300" y="3127248"/>
            <a:ext cx="4091940" cy="274320"/>
          </a:xfrm>
          <a:prstGeom prst="rect">
            <a:avLst/>
          </a:prstGeom>
          <a:noFill/>
        </p:spPr>
        <p:txBody>
          <a:bodyPr wrap="square" rtlCol="0" anchor="ctr"/>
          <a:lstStyle/>
          <a:p>
            <a:pPr marL="0" indent="0" algn="ctr">
              <a:buNone/>
            </a:pPr>
            <a:r>
              <a:rPr lang="en-US" sz="1000" b="1" dirty="0">
                <a:solidFill>
                  <a:srgbClr val="FFFFFF"/>
                </a:solidFill>
                <a:latin typeface="Calibri" panose="020F0502020204030204" pitchFamily="34" charset="0"/>
                <a:ea typeface="Calibri" panose="020F0502020204030204" pitchFamily="34" charset="-122"/>
                <a:cs typeface="Calibri" panose="020F0502020204030204" pitchFamily="34" charset="-120"/>
              </a:rPr>
              <a:t>❌  Dezavantajlar</a:t>
            </a:r>
            <a:endParaRPr lang="en-US" sz="1000" dirty="0"/>
          </a:p>
        </p:txBody>
      </p:sp>
      <p:sp>
        <p:nvSpPr>
          <p:cNvPr id="32" name="Text 30"/>
          <p:cNvSpPr/>
          <p:nvPr/>
        </p:nvSpPr>
        <p:spPr>
          <a:xfrm>
            <a:off x="4732020" y="3438144"/>
            <a:ext cx="4000500" cy="1152144"/>
          </a:xfrm>
          <a:prstGeom prst="rect">
            <a:avLst/>
          </a:prstGeom>
          <a:noFill/>
        </p:spPr>
        <p:txBody>
          <a:bodyPr wrap="square" rtlCol="0" anchor="t"/>
          <a:lstStyle/>
          <a:p>
            <a:pPr marL="0" indent="0" algn="l">
              <a:spcAft>
                <a:spcPts val="300"/>
              </a:spcAft>
              <a:buNone/>
            </a:pPr>
            <a:r>
              <a:rPr lang="en-US" sz="950" dirty="0">
                <a:solidFill>
                  <a:srgbClr val="212121"/>
                </a:solidFill>
                <a:latin typeface="Calibri" panose="020F0502020204030204" pitchFamily="34" charset="0"/>
                <a:ea typeface="Calibri" panose="020F0502020204030204" pitchFamily="34" charset="-122"/>
                <a:cs typeface="Calibri" panose="020F0502020204030204" pitchFamily="34" charset="-120"/>
              </a:rPr>
              <a:t>• Çok yüksek yatırım: 6–12 M$/MW
• GPBT: 30–40 yıl (en yavaş geri ödeme)
• Nükleer atık: binlerce yıl depolama
• Kaza riski ve kamuoyu kabulü sorunu
</a:t>
            </a:r>
            <a:r>
              <a:rPr lang="en-US" sz="950" b="1" dirty="0">
                <a:solidFill>
                  <a:srgbClr val="922B21"/>
                </a:solidFill>
                <a:latin typeface="Calibri" panose="020F0502020204030204" pitchFamily="34" charset="0"/>
                <a:ea typeface="Calibri" panose="020F0502020204030204" pitchFamily="34" charset="-122"/>
                <a:cs typeface="Calibri" panose="020F0502020204030204" pitchFamily="34" charset="-120"/>
              </a:rPr>
              <a:t>• İzmir: aktif fay + 4,5M nüfus → UYGUN DEĞİL</a:t>
            </a:r>
            <a:endParaRPr lang="en-US" sz="9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Shape 17"/>
          <p:cNvSpPr/>
          <p:nvPr/>
        </p:nvSpPr>
        <p:spPr>
          <a:xfrm>
            <a:off x="250190" y="858520"/>
            <a:ext cx="4779645" cy="3459480"/>
          </a:xfrm>
          <a:prstGeom prst="rect">
            <a:avLst/>
          </a:prstGeom>
          <a:solidFill>
            <a:srgbClr val="FDEDEC"/>
          </a:solidFill>
          <a:ln w="12700">
            <a:solidFill>
              <a:srgbClr val="922B21"/>
            </a:solidFill>
            <a:prstDash val="solid"/>
          </a:ln>
        </p:spPr>
        <p:txBody>
          <a:bodyPr/>
          <a:lstStyle/>
          <a:p>
            <a:endParaRPr lang="tr-TR"/>
          </a:p>
        </p:txBody>
      </p:sp>
      <p:sp>
        <p:nvSpPr>
          <p:cNvPr id="2" name="Shape 0"/>
          <p:cNvSpPr/>
          <p:nvPr/>
        </p:nvSpPr>
        <p:spPr>
          <a:xfrm>
            <a:off x="0" y="0"/>
            <a:ext cx="9144000" cy="685800"/>
          </a:xfrm>
          <a:prstGeom prst="rect">
            <a:avLst/>
          </a:prstGeom>
          <a:solidFill>
            <a:srgbClr val="922B21"/>
          </a:solidFill>
          <a:ln w="12700">
            <a:solidFill>
              <a:srgbClr val="922B21"/>
            </a:solidFill>
            <a:prstDash val="solid"/>
          </a:ln>
        </p:spPr>
        <p:txBody>
          <a:bodyPr/>
          <a:lstStyle/>
          <a:p>
            <a:endParaRPr lang="tr-TR"/>
          </a:p>
        </p:txBody>
      </p:sp>
      <p:sp>
        <p:nvSpPr>
          <p:cNvPr id="3" name="Shape 1"/>
          <p:cNvSpPr/>
          <p:nvPr/>
        </p:nvSpPr>
        <p:spPr>
          <a:xfrm>
            <a:off x="0" y="685800"/>
            <a:ext cx="9144000" cy="45720"/>
          </a:xfrm>
          <a:prstGeom prst="rect">
            <a:avLst/>
          </a:prstGeom>
          <a:solidFill>
            <a:srgbClr val="C8901A"/>
          </a:solidFill>
          <a:ln w="12700">
            <a:solidFill>
              <a:srgbClr val="C8901A"/>
            </a:solidFill>
            <a:prstDash val="solid"/>
          </a:ln>
        </p:spPr>
        <p:txBody>
          <a:bodyPr/>
          <a:lstStyle/>
          <a:p>
            <a:endParaRPr lang="tr-TR"/>
          </a:p>
        </p:txBody>
      </p:sp>
      <p:sp>
        <p:nvSpPr>
          <p:cNvPr id="6" name="Text 4"/>
          <p:cNvSpPr/>
          <p:nvPr/>
        </p:nvSpPr>
        <p:spPr>
          <a:xfrm>
            <a:off x="274320" y="45720"/>
            <a:ext cx="8595360" cy="594360"/>
          </a:xfrm>
          <a:prstGeom prst="rect">
            <a:avLst/>
          </a:prstGeom>
          <a:noFill/>
        </p:spPr>
        <p:txBody>
          <a:bodyPr wrap="square" lIns="0" tIns="0" rIns="0" bIns="0" rtlCol="0" anchor="ctr"/>
          <a:lstStyle/>
          <a:p>
            <a:pPr marL="0" indent="0" algn="l">
              <a:buNone/>
            </a:pPr>
            <a:r>
              <a:rPr lang="en-US" altLang="tr-TR" sz="1800" dirty="0">
                <a:solidFill>
                  <a:schemeClr val="bg1"/>
                </a:solidFill>
              </a:rPr>
              <a:t>K</a:t>
            </a:r>
            <a:r>
              <a:rPr lang="en-US" altLang="en-US" sz="1800" dirty="0">
                <a:solidFill>
                  <a:schemeClr val="bg1"/>
                </a:solidFill>
              </a:rPr>
              <a:t>üçü</a:t>
            </a:r>
            <a:r>
              <a:rPr lang="en-US" altLang="tr-TR" sz="1800" dirty="0">
                <a:solidFill>
                  <a:schemeClr val="bg1"/>
                </a:solidFill>
              </a:rPr>
              <a:t>k Mod</a:t>
            </a:r>
            <a:r>
              <a:rPr lang="en-US" altLang="en-US" sz="1800" dirty="0">
                <a:solidFill>
                  <a:schemeClr val="bg1"/>
                </a:solidFill>
              </a:rPr>
              <a:t>ü</a:t>
            </a:r>
            <a:r>
              <a:rPr lang="en-US" altLang="tr-TR" sz="1800" dirty="0">
                <a:solidFill>
                  <a:schemeClr val="bg1"/>
                </a:solidFill>
              </a:rPr>
              <a:t>ler Reakt</a:t>
            </a:r>
            <a:r>
              <a:rPr lang="en-US" altLang="en-US" sz="1800" dirty="0">
                <a:solidFill>
                  <a:schemeClr val="bg1"/>
                </a:solidFill>
              </a:rPr>
              <a:t>ö</a:t>
            </a:r>
            <a:r>
              <a:rPr lang="en-US" altLang="tr-TR" sz="1800" dirty="0">
                <a:solidFill>
                  <a:schemeClr val="bg1"/>
                </a:solidFill>
              </a:rPr>
              <a:t>rler (SMR - Small Modular Reactors)</a:t>
            </a:r>
            <a:endParaRPr lang="en-US" altLang="tr-TR" sz="1800" dirty="0">
              <a:solidFill>
                <a:schemeClr val="bg1"/>
              </a:solidFill>
            </a:endParaRPr>
          </a:p>
        </p:txBody>
      </p:sp>
      <p:sp>
        <p:nvSpPr>
          <p:cNvPr id="4" name="Shape 2"/>
          <p:cNvSpPr/>
          <p:nvPr/>
        </p:nvSpPr>
        <p:spPr>
          <a:xfrm>
            <a:off x="0" y="4892040"/>
            <a:ext cx="9144000" cy="251460"/>
          </a:xfrm>
          <a:prstGeom prst="rect">
            <a:avLst/>
          </a:prstGeom>
          <a:solidFill>
            <a:srgbClr val="1B3A6B"/>
          </a:solidFill>
          <a:ln w="12700">
            <a:solidFill>
              <a:srgbClr val="1B3A6B"/>
            </a:solidFill>
            <a:prstDash val="solid"/>
          </a:ln>
        </p:spPr>
        <p:txBody>
          <a:bodyPr/>
          <a:lstStyle/>
          <a:p>
            <a:endParaRPr lang="tr-TR"/>
          </a:p>
        </p:txBody>
      </p:sp>
      <p:sp>
        <p:nvSpPr>
          <p:cNvPr id="5" name="Text 3"/>
          <p:cNvSpPr/>
          <p:nvPr/>
        </p:nvSpPr>
        <p:spPr>
          <a:xfrm>
            <a:off x="274320" y="4892040"/>
            <a:ext cx="8595360" cy="251460"/>
          </a:xfrm>
          <a:prstGeom prst="rect">
            <a:avLst/>
          </a:prstGeom>
          <a:noFill/>
        </p:spPr>
        <p:txBody>
          <a:bodyPr wrap="square" rtlCol="0" anchor="ctr"/>
          <a:lstStyle/>
          <a:p>
            <a:pPr marL="0" indent="0" algn="ctr">
              <a:buNone/>
            </a:pPr>
            <a:r>
              <a:rPr lang="en-US" sz="800" dirty="0">
                <a:solidFill>
                  <a:srgbClr val="E0E6ED"/>
                </a:solidFill>
                <a:latin typeface="Calibri" panose="020F0502020204030204" pitchFamily="34" charset="0"/>
                <a:ea typeface="Calibri" panose="020F0502020204030204" pitchFamily="34" charset="-122"/>
                <a:cs typeface="Calibri" panose="020F0502020204030204" pitchFamily="34" charset="-120"/>
              </a:rPr>
              <a:t>SAÜ EEM  |  İzmir Yenilenebilir Enerji Analizi</a:t>
            </a:r>
            <a:endParaRPr lang="en-US" sz="800" dirty="0"/>
          </a:p>
        </p:txBody>
      </p:sp>
      <p:sp>
        <p:nvSpPr>
          <p:cNvPr id="8" name="Metin Kutusu 7"/>
          <p:cNvSpPr txBox="1"/>
          <p:nvPr/>
        </p:nvSpPr>
        <p:spPr>
          <a:xfrm>
            <a:off x="222250" y="873125"/>
            <a:ext cx="4916170" cy="3829685"/>
          </a:xfrm>
          <a:prstGeom prst="rect">
            <a:avLst/>
          </a:prstGeom>
          <a:noFill/>
        </p:spPr>
        <p:txBody>
          <a:bodyPr wrap="square" rtlCol="0">
            <a:noAutofit/>
          </a:bodyPr>
          <a:lstStyle/>
          <a:p>
            <a:r>
              <a:rPr lang="tr-TR" altLang="en-US" sz="1100"/>
              <a:t>Ç</a:t>
            </a:r>
            <a:r>
              <a:rPr lang="en-US" altLang="tr-TR" sz="1100"/>
              <a:t>al</a:t>
            </a:r>
            <a:r>
              <a:rPr lang="en-US" altLang="en-US" sz="1100"/>
              <a:t>ış</a:t>
            </a:r>
            <a:r>
              <a:rPr lang="en-US" altLang="tr-TR" sz="1100"/>
              <a:t>ma prensibi olarak geleneksel b</a:t>
            </a:r>
            <a:r>
              <a:rPr lang="en-US" altLang="en-US" sz="1100"/>
              <a:t>ü</a:t>
            </a:r>
            <a:r>
              <a:rPr lang="en-US" altLang="tr-TR" sz="1100"/>
              <a:t>y</a:t>
            </a:r>
            <a:r>
              <a:rPr lang="en-US" altLang="en-US" sz="1100"/>
              <a:t>ü</a:t>
            </a:r>
            <a:r>
              <a:rPr lang="en-US" altLang="tr-TR" sz="1100"/>
              <a:t>k n</a:t>
            </a:r>
            <a:r>
              <a:rPr lang="en-US" altLang="en-US" sz="1100"/>
              <a:t>ü</a:t>
            </a:r>
            <a:r>
              <a:rPr lang="en-US" altLang="tr-TR" sz="1100"/>
              <a:t>kleer santrallere </a:t>
            </a:r>
            <a:r>
              <a:rPr lang="en-US" altLang="en-US" sz="1100"/>
              <a:t>ç</a:t>
            </a:r>
            <a:r>
              <a:rPr lang="en-US" altLang="tr-TR" sz="1100"/>
              <a:t>ok benzer, ancak </a:t>
            </a:r>
            <a:r>
              <a:rPr lang="en-US" altLang="en-US" sz="1100"/>
              <a:t>ö</a:t>
            </a:r>
            <a:r>
              <a:rPr lang="en-US" altLang="tr-TR" sz="1100"/>
              <a:t>l</a:t>
            </a:r>
            <a:r>
              <a:rPr lang="en-US" altLang="en-US" sz="1100"/>
              <a:t>ç</a:t>
            </a:r>
            <a:r>
              <a:rPr lang="en-US" altLang="tr-TR" sz="1100"/>
              <a:t>ekleri, </a:t>
            </a:r>
            <a:r>
              <a:rPr lang="en-US" altLang="en-US" sz="1100"/>
              <a:t>ü</a:t>
            </a:r>
            <a:r>
              <a:rPr lang="en-US" altLang="tr-TR" sz="1100"/>
              <a:t>retim </a:t>
            </a:r>
            <a:r>
              <a:rPr lang="en-US" altLang="en-US" sz="1100"/>
              <a:t>ş</a:t>
            </a:r>
            <a:r>
              <a:rPr lang="en-US" altLang="tr-TR" sz="1100"/>
              <a:t>ekilleri ve g</a:t>
            </a:r>
            <a:r>
              <a:rPr lang="en-US" altLang="en-US" sz="1100"/>
              <a:t>ü</a:t>
            </a:r>
            <a:r>
              <a:rPr lang="en-US" altLang="tr-TR" sz="1100"/>
              <a:t>venlik tasar</a:t>
            </a:r>
            <a:r>
              <a:rPr lang="en-US" altLang="en-US" sz="1100"/>
              <a:t>ı</a:t>
            </a:r>
            <a:r>
              <a:rPr lang="en-US" altLang="tr-TR" sz="1100"/>
              <a:t>mlar</a:t>
            </a:r>
            <a:r>
              <a:rPr lang="en-US" altLang="en-US" sz="1100"/>
              <a:t>ı</a:t>
            </a:r>
            <a:r>
              <a:rPr lang="en-US" altLang="tr-TR" sz="1100"/>
              <a:t> a</a:t>
            </a:r>
            <a:r>
              <a:rPr lang="en-US" altLang="en-US" sz="1100"/>
              <a:t>çı</a:t>
            </a:r>
            <a:r>
              <a:rPr lang="en-US" altLang="tr-TR" sz="1100"/>
              <a:t>s</a:t>
            </a:r>
            <a:r>
              <a:rPr lang="en-US" altLang="en-US" sz="1100"/>
              <a:t>ı</a:t>
            </a:r>
            <a:r>
              <a:rPr lang="en-US" altLang="tr-TR" sz="1100"/>
              <a:t>ndan devrim niteli</a:t>
            </a:r>
            <a:r>
              <a:rPr lang="en-US" altLang="en-US" sz="1100"/>
              <a:t>ğ</a:t>
            </a:r>
            <a:r>
              <a:rPr lang="en-US" altLang="tr-TR" sz="1100"/>
              <a:t>inde farkl</a:t>
            </a:r>
            <a:r>
              <a:rPr lang="en-US" altLang="en-US" sz="1100"/>
              <a:t>ı</a:t>
            </a:r>
            <a:r>
              <a:rPr lang="en-US" altLang="tr-TR" sz="1100"/>
              <a:t>l</a:t>
            </a:r>
            <a:r>
              <a:rPr lang="en-US" altLang="en-US" sz="1100"/>
              <a:t>ı</a:t>
            </a:r>
            <a:r>
              <a:rPr lang="en-US" altLang="tr-TR" sz="1100"/>
              <a:t>klara sahiptir.</a:t>
            </a:r>
            <a:endParaRPr lang="en-US" altLang="tr-TR" sz="1100"/>
          </a:p>
          <a:p>
            <a:endParaRPr lang="en-US" altLang="tr-TR" sz="1100"/>
          </a:p>
          <a:p>
            <a:r>
              <a:rPr lang="en-US" altLang="tr-TR" sz="1100"/>
              <a:t>Enerji sistemleri ve </a:t>
            </a:r>
            <a:r>
              <a:rPr lang="en-US" altLang="en-US" sz="1100"/>
              <a:t>ş</a:t>
            </a:r>
            <a:r>
              <a:rPr lang="en-US" altLang="tr-TR" sz="1100"/>
              <a:t>ebeke analizleri perspektifinden bak</a:t>
            </a:r>
            <a:r>
              <a:rPr lang="en-US" altLang="en-US" sz="1100"/>
              <a:t>ı</a:t>
            </a:r>
            <a:r>
              <a:rPr lang="en-US" altLang="tr-TR" sz="1100"/>
              <a:t>ld</a:t>
            </a:r>
            <a:r>
              <a:rPr lang="en-US" altLang="en-US" sz="1100"/>
              <a:t>ığı</a:t>
            </a:r>
            <a:r>
              <a:rPr lang="en-US" altLang="tr-TR" sz="1100"/>
              <a:t>nda SMR'ler, </a:t>
            </a:r>
            <a:r>
              <a:rPr lang="en-US" altLang="en-US" sz="1100"/>
              <a:t>ö</a:t>
            </a:r>
            <a:r>
              <a:rPr lang="en-US" altLang="tr-TR" sz="1100"/>
              <a:t>zellikle yenilenebilir enerji kaynaklar</a:t>
            </a:r>
            <a:r>
              <a:rPr lang="en-US" altLang="en-US" sz="1100"/>
              <a:t>ı</a:t>
            </a:r>
            <a:r>
              <a:rPr lang="en-US" altLang="tr-TR" sz="1100"/>
              <a:t>n</a:t>
            </a:r>
            <a:r>
              <a:rPr lang="en-US" altLang="en-US" sz="1100"/>
              <a:t>ı</a:t>
            </a:r>
            <a:r>
              <a:rPr lang="en-US" altLang="tr-TR" sz="1100"/>
              <a:t>n (g</a:t>
            </a:r>
            <a:r>
              <a:rPr lang="en-US" altLang="en-US" sz="1100"/>
              <a:t>ü</a:t>
            </a:r>
            <a:r>
              <a:rPr lang="en-US" altLang="tr-TR" sz="1100"/>
              <a:t>ne</a:t>
            </a:r>
            <a:r>
              <a:rPr lang="en-US" altLang="en-US" sz="1100"/>
              <a:t>ş</a:t>
            </a:r>
            <a:r>
              <a:rPr lang="en-US" altLang="tr-TR" sz="1100"/>
              <a:t>, r</a:t>
            </a:r>
            <a:r>
              <a:rPr lang="en-US" altLang="en-US" sz="1100"/>
              <a:t>ü</a:t>
            </a:r>
            <a:r>
              <a:rPr lang="en-US" altLang="tr-TR" sz="1100"/>
              <a:t>zgar veya mikro-HES gibi) dalgal</a:t>
            </a:r>
            <a:r>
              <a:rPr lang="en-US" altLang="en-US" sz="1100"/>
              <a:t>ı</a:t>
            </a:r>
            <a:r>
              <a:rPr lang="en-US" altLang="tr-TR" sz="1100"/>
              <a:t> </a:t>
            </a:r>
            <a:r>
              <a:rPr lang="en-US" altLang="en-US" sz="1100"/>
              <a:t>ü</a:t>
            </a:r>
            <a:r>
              <a:rPr lang="en-US" altLang="tr-TR" sz="1100"/>
              <a:t>retimini dengelemek ve </a:t>
            </a:r>
            <a:r>
              <a:rPr lang="en-US" altLang="en-US" sz="1100"/>
              <a:t>ş</a:t>
            </a:r>
            <a:r>
              <a:rPr lang="en-US" altLang="tr-TR" sz="1100"/>
              <a:t>ebekeye baz y</a:t>
            </a:r>
            <a:r>
              <a:rPr lang="en-US" altLang="en-US" sz="1100"/>
              <a:t>ü</a:t>
            </a:r>
            <a:r>
              <a:rPr lang="en-US" altLang="tr-TR" sz="1100"/>
              <a:t>k sa</a:t>
            </a:r>
            <a:r>
              <a:rPr lang="en-US" altLang="en-US" sz="1100"/>
              <a:t>ğ</a:t>
            </a:r>
            <a:r>
              <a:rPr lang="en-US" altLang="tr-TR" sz="1100"/>
              <a:t>lamak i</a:t>
            </a:r>
            <a:r>
              <a:rPr lang="en-US" altLang="en-US" sz="1100"/>
              <a:t>ç</a:t>
            </a:r>
            <a:r>
              <a:rPr lang="en-US" altLang="tr-TR" sz="1100"/>
              <a:t>in tasarlanm</a:t>
            </a:r>
            <a:r>
              <a:rPr lang="en-US" altLang="en-US" sz="1100"/>
              <a:t>ış</a:t>
            </a:r>
            <a:r>
              <a:rPr lang="en-US" altLang="tr-TR" sz="1100"/>
              <a:t>, esnek ve kompakt g</a:t>
            </a:r>
            <a:r>
              <a:rPr lang="en-US" altLang="en-US" sz="1100"/>
              <a:t>üç</a:t>
            </a:r>
            <a:r>
              <a:rPr lang="en-US" altLang="tr-TR" sz="1100"/>
              <a:t> </a:t>
            </a:r>
            <a:r>
              <a:rPr lang="en-US" altLang="en-US" sz="1100"/>
              <a:t>ü</a:t>
            </a:r>
            <a:r>
              <a:rPr lang="en-US" altLang="tr-TR" sz="1100"/>
              <a:t>niteleridir. Kapasiteleri genellikle 300 MW(e) ve alt</a:t>
            </a:r>
            <a:r>
              <a:rPr lang="en-US" altLang="en-US" sz="1100"/>
              <a:t>ı</a:t>
            </a:r>
            <a:r>
              <a:rPr lang="en-US" altLang="tr-TR" sz="1100"/>
              <a:t>ndad</a:t>
            </a:r>
            <a:r>
              <a:rPr lang="en-US" altLang="en-US" sz="1100"/>
              <a:t>ı</a:t>
            </a:r>
            <a:r>
              <a:rPr lang="en-US" altLang="tr-TR" sz="1100"/>
              <a:t>r</a:t>
            </a:r>
            <a:r>
              <a:rPr lang="tr-TR" altLang="en-US" sz="1100"/>
              <a:t>.</a:t>
            </a:r>
            <a:endParaRPr lang="tr-TR" altLang="en-US" sz="1100"/>
          </a:p>
          <a:p>
            <a:endParaRPr lang="en-US" altLang="tr-TR" sz="1100" b="1"/>
          </a:p>
          <a:p>
            <a:r>
              <a:rPr lang="en-US" altLang="tr-TR" sz="1100" b="1"/>
              <a:t>SMR'leri "Farkl</a:t>
            </a:r>
            <a:r>
              <a:rPr lang="en-US" altLang="en-US" sz="1100" b="1"/>
              <a:t>ı</a:t>
            </a:r>
            <a:r>
              <a:rPr lang="en-US" altLang="tr-TR" sz="1100" b="1"/>
              <a:t>" Yapan Nedir?</a:t>
            </a:r>
            <a:endParaRPr lang="en-US" altLang="tr-TR" sz="1100" b="1"/>
          </a:p>
          <a:p>
            <a:r>
              <a:rPr lang="en-US" altLang="tr-TR" sz="1100"/>
              <a:t>Mod</a:t>
            </a:r>
            <a:r>
              <a:rPr lang="en-US" altLang="en-US" sz="1100"/>
              <a:t>ü</a:t>
            </a:r>
            <a:r>
              <a:rPr lang="en-US" altLang="tr-TR" sz="1100"/>
              <a:t>lerlik: Sahada in</a:t>
            </a:r>
            <a:r>
              <a:rPr lang="en-US" altLang="en-US" sz="1100"/>
              <a:t>ş</a:t>
            </a:r>
            <a:r>
              <a:rPr lang="en-US" altLang="tr-TR" sz="1100"/>
              <a:t>a edilmek yerine fabrikalarda standart mod</a:t>
            </a:r>
            <a:r>
              <a:rPr lang="en-US" altLang="en-US" sz="1100"/>
              <a:t>ü</a:t>
            </a:r>
            <a:r>
              <a:rPr lang="en-US" altLang="tr-TR" sz="1100"/>
              <a:t>ller halinde (PCB veya motor s</a:t>
            </a:r>
            <a:r>
              <a:rPr lang="en-US" altLang="en-US" sz="1100"/>
              <a:t>ü</a:t>
            </a:r>
            <a:r>
              <a:rPr lang="en-US" altLang="tr-TR" sz="1100"/>
              <a:t>r</a:t>
            </a:r>
            <a:r>
              <a:rPr lang="en-US" altLang="en-US" sz="1100"/>
              <a:t>ü</a:t>
            </a:r>
            <a:r>
              <a:rPr lang="en-US" altLang="tr-TR" sz="1100"/>
              <a:t>c</a:t>
            </a:r>
            <a:r>
              <a:rPr lang="en-US" altLang="en-US" sz="1100"/>
              <a:t>ü</a:t>
            </a:r>
            <a:r>
              <a:rPr lang="en-US" altLang="tr-TR" sz="1100"/>
              <a:t> kartlar</a:t>
            </a:r>
            <a:r>
              <a:rPr lang="en-US" altLang="en-US" sz="1100"/>
              <a:t>ı</a:t>
            </a:r>
            <a:r>
              <a:rPr lang="en-US" altLang="tr-TR" sz="1100"/>
              <a:t> gibi d</a:t>
            </a:r>
            <a:r>
              <a:rPr lang="en-US" altLang="en-US" sz="1100"/>
              <a:t>üşü</a:t>
            </a:r>
            <a:r>
              <a:rPr lang="en-US" altLang="tr-TR" sz="1100"/>
              <a:t>nebilirsin) </a:t>
            </a:r>
            <a:r>
              <a:rPr lang="en-US" altLang="en-US" sz="1100"/>
              <a:t>ü</a:t>
            </a:r>
            <a:r>
              <a:rPr lang="en-US" altLang="tr-TR" sz="1100"/>
              <a:t>retilirler. T</a:t>
            </a:r>
            <a:r>
              <a:rPr lang="en-US" altLang="en-US" sz="1100"/>
              <a:t>ı</a:t>
            </a:r>
            <a:r>
              <a:rPr lang="en-US" altLang="tr-TR" sz="1100"/>
              <a:t>ra veya trene y</a:t>
            </a:r>
            <a:r>
              <a:rPr lang="en-US" altLang="en-US" sz="1100"/>
              <a:t>ü</a:t>
            </a:r>
            <a:r>
              <a:rPr lang="en-US" altLang="tr-TR" sz="1100"/>
              <a:t>klenip sahaya getirilir ve birbirine ba</a:t>
            </a:r>
            <a:r>
              <a:rPr lang="en-US" altLang="en-US" sz="1100"/>
              <a:t>ğ</a:t>
            </a:r>
            <a:r>
              <a:rPr lang="en-US" altLang="tr-TR" sz="1100"/>
              <a:t>lan</a:t>
            </a:r>
            <a:r>
              <a:rPr lang="en-US" altLang="en-US" sz="1100"/>
              <a:t>ı</a:t>
            </a:r>
            <a:r>
              <a:rPr lang="en-US" altLang="tr-TR" sz="1100"/>
              <a:t>rlar.</a:t>
            </a:r>
            <a:endParaRPr lang="en-US" altLang="tr-TR" sz="1100"/>
          </a:p>
          <a:p>
            <a:endParaRPr lang="en-US" altLang="tr-TR" sz="1100"/>
          </a:p>
          <a:p>
            <a:r>
              <a:rPr lang="en-US" altLang="en-US" sz="1100"/>
              <a:t>Ö</a:t>
            </a:r>
            <a:r>
              <a:rPr lang="en-US" altLang="tr-TR" sz="1100"/>
              <a:t>l</a:t>
            </a:r>
            <a:r>
              <a:rPr lang="en-US" altLang="en-US" sz="1100"/>
              <a:t>ç</a:t>
            </a:r>
            <a:r>
              <a:rPr lang="en-US" altLang="tr-TR" sz="1100"/>
              <a:t>eklenebilirlik: Ba</a:t>
            </a:r>
            <a:r>
              <a:rPr lang="en-US" altLang="en-US" sz="1100"/>
              <a:t>ş</a:t>
            </a:r>
            <a:r>
              <a:rPr lang="en-US" altLang="tr-TR" sz="1100"/>
              <a:t>lang</a:t>
            </a:r>
            <a:r>
              <a:rPr lang="en-US" altLang="en-US" sz="1100"/>
              <a:t>ıç</a:t>
            </a:r>
            <a:r>
              <a:rPr lang="en-US" altLang="tr-TR" sz="1100"/>
              <a:t>ta 50 MW'l</a:t>
            </a:r>
            <a:r>
              <a:rPr lang="en-US" altLang="en-US" sz="1100"/>
              <a:t>ı</a:t>
            </a:r>
            <a:r>
              <a:rPr lang="en-US" altLang="tr-TR" sz="1100"/>
              <a:t>k tek bir mod</a:t>
            </a:r>
            <a:r>
              <a:rPr lang="en-US" altLang="en-US" sz="1100"/>
              <a:t>ü</a:t>
            </a:r>
            <a:r>
              <a:rPr lang="en-US" altLang="tr-TR" sz="1100"/>
              <a:t>l kurup, enerji talebi artt</a:t>
            </a:r>
            <a:r>
              <a:rPr lang="en-US" altLang="en-US" sz="1100"/>
              <a:t>ı</a:t>
            </a:r>
            <a:r>
              <a:rPr lang="en-US" altLang="tr-TR" sz="1100"/>
              <a:t>k</a:t>
            </a:r>
            <a:r>
              <a:rPr lang="en-US" altLang="en-US" sz="1100"/>
              <a:t>ç</a:t>
            </a:r>
            <a:r>
              <a:rPr lang="en-US" altLang="tr-TR" sz="1100"/>
              <a:t>a yan</a:t>
            </a:r>
            <a:r>
              <a:rPr lang="en-US" altLang="en-US" sz="1100"/>
              <a:t>ı</a:t>
            </a:r>
            <a:r>
              <a:rPr lang="en-US" altLang="tr-TR" sz="1100"/>
              <a:t>na yeni mod</a:t>
            </a:r>
            <a:r>
              <a:rPr lang="en-US" altLang="en-US" sz="1100"/>
              <a:t>ü</a:t>
            </a:r>
            <a:r>
              <a:rPr lang="en-US" altLang="tr-TR" sz="1100"/>
              <a:t>ller ekleyerek kapasite art</a:t>
            </a:r>
            <a:r>
              <a:rPr lang="en-US" altLang="en-US" sz="1100"/>
              <a:t>ı</a:t>
            </a:r>
            <a:r>
              <a:rPr lang="en-US" altLang="tr-TR" sz="1100"/>
              <a:t>r</a:t>
            </a:r>
            <a:r>
              <a:rPr lang="en-US" altLang="en-US" sz="1100"/>
              <a:t>ı</a:t>
            </a:r>
            <a:r>
              <a:rPr lang="en-US" altLang="tr-TR" sz="1100"/>
              <a:t>labilir.</a:t>
            </a:r>
            <a:endParaRPr lang="en-US" altLang="tr-TR" sz="1100"/>
          </a:p>
          <a:p>
            <a:endParaRPr lang="en-US" altLang="tr-TR" sz="1100"/>
          </a:p>
          <a:p>
            <a:r>
              <a:rPr lang="en-US" altLang="tr-TR" sz="1100"/>
              <a:t>Pasif G</a:t>
            </a:r>
            <a:r>
              <a:rPr lang="en-US" altLang="en-US" sz="1100"/>
              <a:t>ü</a:t>
            </a:r>
            <a:r>
              <a:rPr lang="en-US" altLang="tr-TR" sz="1100"/>
              <a:t>venlik: </a:t>
            </a:r>
            <a:r>
              <a:rPr lang="en-US" altLang="en-US" sz="1100"/>
              <a:t>İ</a:t>
            </a:r>
            <a:r>
              <a:rPr lang="en-US" altLang="tr-TR" sz="1100"/>
              <a:t>nsan m</a:t>
            </a:r>
            <a:r>
              <a:rPr lang="en-US" altLang="en-US" sz="1100"/>
              <a:t>ü</a:t>
            </a:r>
            <a:r>
              <a:rPr lang="en-US" altLang="tr-TR" sz="1100"/>
              <a:t>dahalesi veya harici AC g</a:t>
            </a:r>
            <a:r>
              <a:rPr lang="en-US" altLang="en-US" sz="1100"/>
              <a:t>ü</a:t>
            </a:r>
            <a:r>
              <a:rPr lang="en-US" altLang="tr-TR" sz="1100"/>
              <a:t>c</a:t>
            </a:r>
            <a:r>
              <a:rPr lang="en-US" altLang="en-US" sz="1100"/>
              <a:t>ü</a:t>
            </a:r>
            <a:r>
              <a:rPr lang="en-US" altLang="tr-TR" sz="1100"/>
              <a:t> gerektirmeden, sadece yer</a:t>
            </a:r>
            <a:r>
              <a:rPr lang="en-US" altLang="en-US" sz="1100"/>
              <a:t>ç</a:t>
            </a:r>
            <a:r>
              <a:rPr lang="en-US" altLang="tr-TR" sz="1100"/>
              <a:t>ekimi ve do</a:t>
            </a:r>
            <a:r>
              <a:rPr lang="en-US" altLang="en-US" sz="1100"/>
              <a:t>ğ</a:t>
            </a:r>
            <a:r>
              <a:rPr lang="en-US" altLang="tr-TR" sz="1100"/>
              <a:t>al konveksiyon kurallar</a:t>
            </a:r>
            <a:r>
              <a:rPr lang="en-US" altLang="en-US" sz="1100"/>
              <a:t>ı</a:t>
            </a:r>
            <a:r>
              <a:rPr lang="en-US" altLang="tr-TR" sz="1100"/>
              <a:t>yla acil durumlarda kendi kendini so</a:t>
            </a:r>
            <a:r>
              <a:rPr lang="en-US" altLang="en-US" sz="1100"/>
              <a:t>ğ</a:t>
            </a:r>
            <a:r>
              <a:rPr lang="en-US" altLang="tr-TR" sz="1100"/>
              <a:t>utabilirler. </a:t>
            </a:r>
            <a:endParaRPr lang="en-US" altLang="tr-TR" sz="1100"/>
          </a:p>
        </p:txBody>
      </p:sp>
      <p:pic>
        <p:nvPicPr>
          <p:cNvPr id="9" name="Resim 8"/>
          <p:cNvPicPr>
            <a:picLocks noChangeAspect="1"/>
          </p:cNvPicPr>
          <p:nvPr/>
        </p:nvPicPr>
        <p:blipFill>
          <a:blip r:embed="rId1"/>
          <a:stretch>
            <a:fillRect/>
          </a:stretch>
        </p:blipFill>
        <p:spPr>
          <a:xfrm>
            <a:off x="5138420" y="1078865"/>
            <a:ext cx="3729990" cy="2801620"/>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8F9FA"/>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486000"/>
          </a:xfrm>
          <a:prstGeom prst="rect">
            <a:avLst/>
          </a:prstGeom>
          <a:solidFill>
            <a:srgbClr val="922B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86000"/>
            <a:ext cx="9144000" cy="32400"/>
          </a:xfrm>
          <a:prstGeom prst="rect">
            <a:avLst/>
          </a:prstGeom>
          <a:solidFill>
            <a:srgbClr val="C890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4860000"/>
            <a:ext cx="9144000" cy="2844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80000" y="4860000"/>
            <a:ext cx="8784000" cy="284400"/>
          </a:xfrm>
          <a:prstGeom prst="rect">
            <a:avLst/>
          </a:prstGeom>
          <a:noFill/>
        </p:spPr>
        <p:txBody>
          <a:bodyPr wrap="square">
            <a:spAutoFit/>
          </a:bodyPr>
          <a:lstStyle/>
          <a:p>
            <a:pPr algn="ctr"/>
            <a:r>
              <a:rPr sz="850" b="0" i="0">
                <a:solidFill>
                  <a:srgbClr val="FFFFFF"/>
                </a:solidFill>
                <a:latin typeface="Calibri" panose="020F0502020204030204"/>
              </a:rPr>
              <a:t>SAÜ EEM  |  İzmir Yenilenebilir Enerji Analizi</a:t>
            </a:r>
            <a:endParaRPr sz="850" b="0" i="0">
              <a:solidFill>
                <a:srgbClr val="FFFFFF"/>
              </a:solidFill>
              <a:latin typeface="Calibri" panose="020F0502020204030204"/>
            </a:endParaRPr>
          </a:p>
        </p:txBody>
      </p:sp>
      <p:sp>
        <p:nvSpPr>
          <p:cNvPr id="6" name="TextBox 5"/>
          <p:cNvSpPr txBox="1"/>
          <p:nvPr/>
        </p:nvSpPr>
        <p:spPr>
          <a:xfrm>
            <a:off x="216000" y="18000"/>
            <a:ext cx="8640000" cy="450000"/>
          </a:xfrm>
          <a:prstGeom prst="rect">
            <a:avLst/>
          </a:prstGeom>
          <a:noFill/>
        </p:spPr>
        <p:txBody>
          <a:bodyPr wrap="square">
            <a:spAutoFit/>
          </a:bodyPr>
          <a:lstStyle/>
          <a:p>
            <a:pPr algn="l"/>
            <a:r>
              <a:rPr sz="1700" b="1" i="0">
                <a:solidFill>
                  <a:srgbClr val="FFFFFF"/>
                </a:solidFill>
                <a:latin typeface="Calibri" panose="020F0502020204030204"/>
              </a:rPr>
              <a:t>Nükleer Enerji — Yer Seçimi Kriterleri ve Soğutma Sistemleri</a:t>
            </a:r>
            <a:endParaRPr sz="1700" b="1" i="0">
              <a:solidFill>
                <a:srgbClr val="FFFFFF"/>
              </a:solidFill>
              <a:latin typeface="Calibri" panose="020F0502020204030204"/>
            </a:endParaRPr>
          </a:p>
        </p:txBody>
      </p:sp>
      <p:sp>
        <p:nvSpPr>
          <p:cNvPr id="7" name="Rectangle 6"/>
          <p:cNvSpPr/>
          <p:nvPr/>
        </p:nvSpPr>
        <p:spPr>
          <a:xfrm>
            <a:off x="125730" y="558165"/>
            <a:ext cx="4319905" cy="522605"/>
          </a:xfrm>
          <a:prstGeom prst="rect">
            <a:avLst/>
          </a:prstGeom>
          <a:solidFill>
            <a:srgbClr val="922B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79705" y="727710"/>
            <a:ext cx="4175760" cy="352425"/>
          </a:xfrm>
          <a:prstGeom prst="rect">
            <a:avLst/>
          </a:prstGeom>
          <a:noFill/>
        </p:spPr>
        <p:txBody>
          <a:bodyPr wrap="square">
            <a:noAutofit/>
          </a:bodyPr>
          <a:lstStyle/>
          <a:p>
            <a:pPr algn="l"/>
            <a:r>
              <a:rPr sz="1150" b="1" i="0">
                <a:solidFill>
                  <a:srgbClr val="FFFFFF"/>
                </a:solidFill>
                <a:latin typeface="Calibri" panose="020F0502020204030204"/>
              </a:rPr>
              <a:t>IAEA SSG-9 Yer Seçimi Kriterleri</a:t>
            </a:r>
            <a:endParaRPr sz="1150" b="1" i="0">
              <a:solidFill>
                <a:srgbClr val="FFFFFF"/>
              </a:solidFill>
              <a:latin typeface="Calibri" panose="020F0502020204030204"/>
            </a:endParaRPr>
          </a:p>
        </p:txBody>
      </p:sp>
      <p:sp>
        <p:nvSpPr>
          <p:cNvPr id="9" name="Rectangle 8"/>
          <p:cNvSpPr/>
          <p:nvPr/>
        </p:nvSpPr>
        <p:spPr>
          <a:xfrm>
            <a:off x="125999" y="1137414"/>
            <a:ext cx="4320000" cy="234000"/>
          </a:xfrm>
          <a:prstGeom prst="rect">
            <a:avLst/>
          </a:prstGeom>
          <a:solidFill>
            <a:srgbClr val="FDEDEC"/>
          </a:solidFill>
          <a:ln w="6350">
            <a:solidFill>
              <a:srgbClr val="922B2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80000" y="1079849"/>
            <a:ext cx="1152000" cy="198000"/>
          </a:xfrm>
          <a:prstGeom prst="rect">
            <a:avLst/>
          </a:prstGeom>
          <a:noFill/>
        </p:spPr>
        <p:txBody>
          <a:bodyPr wrap="square">
            <a:spAutoFit/>
          </a:bodyPr>
          <a:lstStyle/>
          <a:p>
            <a:pPr algn="l"/>
            <a:r>
              <a:rPr sz="950" b="1" i="0">
                <a:solidFill>
                  <a:srgbClr val="922B21"/>
                </a:solidFill>
                <a:latin typeface="Calibri" panose="020F0502020204030204"/>
              </a:rPr>
              <a:t>Jeolojik Kararlılık</a:t>
            </a:r>
            <a:endParaRPr sz="950" b="1" i="0">
              <a:solidFill>
                <a:srgbClr val="922B21"/>
              </a:solidFill>
              <a:latin typeface="Calibri" panose="020F0502020204030204"/>
            </a:endParaRPr>
          </a:p>
        </p:txBody>
      </p:sp>
      <p:sp>
        <p:nvSpPr>
          <p:cNvPr id="11" name="TextBox 10"/>
          <p:cNvSpPr txBox="1"/>
          <p:nvPr/>
        </p:nvSpPr>
        <p:spPr>
          <a:xfrm>
            <a:off x="1332000" y="1079849"/>
            <a:ext cx="1512000" cy="198000"/>
          </a:xfrm>
          <a:prstGeom prst="rect">
            <a:avLst/>
          </a:prstGeom>
          <a:noFill/>
        </p:spPr>
        <p:txBody>
          <a:bodyPr wrap="square">
            <a:spAutoFit/>
          </a:bodyPr>
          <a:lstStyle/>
          <a:p>
            <a:pPr algn="l"/>
            <a:r>
              <a:rPr sz="900" b="0" i="0">
                <a:solidFill>
                  <a:srgbClr val="333333"/>
                </a:solidFill>
                <a:latin typeface="Calibri" panose="020F0502020204030204"/>
              </a:rPr>
              <a:t>Aktif faydan min. 8 km mesafe</a:t>
            </a:r>
            <a:endParaRPr sz="900" b="0" i="0">
              <a:solidFill>
                <a:srgbClr val="333333"/>
              </a:solidFill>
              <a:latin typeface="Calibri" panose="020F0502020204030204"/>
            </a:endParaRPr>
          </a:p>
        </p:txBody>
      </p:sp>
      <p:sp>
        <p:nvSpPr>
          <p:cNvPr id="12" name="TextBox 11"/>
          <p:cNvSpPr txBox="1"/>
          <p:nvPr/>
        </p:nvSpPr>
        <p:spPr>
          <a:xfrm>
            <a:off x="2880000" y="1079849"/>
            <a:ext cx="1512000" cy="198000"/>
          </a:xfrm>
          <a:prstGeom prst="rect">
            <a:avLst/>
          </a:prstGeom>
          <a:noFill/>
        </p:spPr>
        <p:txBody>
          <a:bodyPr wrap="square">
            <a:spAutoFit/>
          </a:bodyPr>
          <a:lstStyle/>
          <a:p>
            <a:pPr algn="l"/>
            <a:r>
              <a:rPr sz="900" b="1" i="0">
                <a:solidFill>
                  <a:srgbClr val="222222"/>
                </a:solidFill>
                <a:latin typeface="Calibri" panose="020F0502020204030204"/>
              </a:rPr>
              <a:t>İzmir: ❌  İzmir Fayı üzerinde</a:t>
            </a:r>
            <a:endParaRPr sz="900" b="1" i="0">
              <a:solidFill>
                <a:srgbClr val="222222"/>
              </a:solidFill>
              <a:latin typeface="Calibri" panose="020F0502020204030204"/>
            </a:endParaRPr>
          </a:p>
        </p:txBody>
      </p:sp>
      <p:sp>
        <p:nvSpPr>
          <p:cNvPr id="13" name="Rectangle 12"/>
          <p:cNvSpPr/>
          <p:nvPr/>
        </p:nvSpPr>
        <p:spPr>
          <a:xfrm>
            <a:off x="125999" y="1389415"/>
            <a:ext cx="4320000" cy="234000"/>
          </a:xfrm>
          <a:prstGeom prst="rect">
            <a:avLst/>
          </a:prstGeom>
          <a:solidFill>
            <a:srgbClr val="FDEDEC"/>
          </a:solidFill>
          <a:ln w="6350">
            <a:solidFill>
              <a:srgbClr val="E74C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80000" y="1331849"/>
            <a:ext cx="1152000" cy="198000"/>
          </a:xfrm>
          <a:prstGeom prst="rect">
            <a:avLst/>
          </a:prstGeom>
          <a:noFill/>
        </p:spPr>
        <p:txBody>
          <a:bodyPr wrap="square">
            <a:spAutoFit/>
          </a:bodyPr>
          <a:lstStyle/>
          <a:p>
            <a:pPr algn="l"/>
            <a:r>
              <a:rPr sz="950" b="1" i="0">
                <a:solidFill>
                  <a:srgbClr val="E74C3C"/>
                </a:solidFill>
                <a:latin typeface="Calibri" panose="020F0502020204030204"/>
              </a:rPr>
              <a:t>Sismik Risk</a:t>
            </a:r>
            <a:endParaRPr sz="950" b="1" i="0">
              <a:solidFill>
                <a:srgbClr val="E74C3C"/>
              </a:solidFill>
              <a:latin typeface="Calibri" panose="020F0502020204030204"/>
            </a:endParaRPr>
          </a:p>
        </p:txBody>
      </p:sp>
      <p:sp>
        <p:nvSpPr>
          <p:cNvPr id="15" name="TextBox 14"/>
          <p:cNvSpPr txBox="1"/>
          <p:nvPr/>
        </p:nvSpPr>
        <p:spPr>
          <a:xfrm>
            <a:off x="1332000" y="1331849"/>
            <a:ext cx="1512000" cy="198000"/>
          </a:xfrm>
          <a:prstGeom prst="rect">
            <a:avLst/>
          </a:prstGeom>
          <a:noFill/>
        </p:spPr>
        <p:txBody>
          <a:bodyPr wrap="square">
            <a:spAutoFit/>
          </a:bodyPr>
          <a:lstStyle/>
          <a:p>
            <a:pPr algn="l"/>
            <a:r>
              <a:rPr sz="900" b="0" i="0">
                <a:solidFill>
                  <a:srgbClr val="333333"/>
                </a:solidFill>
                <a:latin typeface="Calibri" panose="020F0502020204030204"/>
              </a:rPr>
              <a:t>PGA &lt; 0,3g (tasarım tabanı)</a:t>
            </a:r>
            <a:endParaRPr sz="900" b="0" i="0">
              <a:solidFill>
                <a:srgbClr val="333333"/>
              </a:solidFill>
              <a:latin typeface="Calibri" panose="020F0502020204030204"/>
            </a:endParaRPr>
          </a:p>
        </p:txBody>
      </p:sp>
      <p:sp>
        <p:nvSpPr>
          <p:cNvPr id="16" name="TextBox 15"/>
          <p:cNvSpPr txBox="1"/>
          <p:nvPr/>
        </p:nvSpPr>
        <p:spPr>
          <a:xfrm>
            <a:off x="2880000" y="1331849"/>
            <a:ext cx="1512000" cy="198000"/>
          </a:xfrm>
          <a:prstGeom prst="rect">
            <a:avLst/>
          </a:prstGeom>
          <a:noFill/>
        </p:spPr>
        <p:txBody>
          <a:bodyPr wrap="square">
            <a:spAutoFit/>
          </a:bodyPr>
          <a:lstStyle/>
          <a:p>
            <a:pPr algn="l"/>
            <a:r>
              <a:rPr sz="900" b="1" i="0">
                <a:solidFill>
                  <a:srgbClr val="222222"/>
                </a:solidFill>
                <a:latin typeface="Calibri" panose="020F0502020204030204"/>
              </a:rPr>
              <a:t>İzmir: ❌  PGA &gt; 0,5g bölge</a:t>
            </a:r>
            <a:endParaRPr sz="900" b="1" i="0">
              <a:solidFill>
                <a:srgbClr val="222222"/>
              </a:solidFill>
              <a:latin typeface="Calibri" panose="020F0502020204030204"/>
            </a:endParaRPr>
          </a:p>
        </p:txBody>
      </p:sp>
      <p:sp>
        <p:nvSpPr>
          <p:cNvPr id="17" name="Rectangle 16"/>
          <p:cNvSpPr/>
          <p:nvPr/>
        </p:nvSpPr>
        <p:spPr>
          <a:xfrm>
            <a:off x="125999" y="1641415"/>
            <a:ext cx="4320000" cy="234000"/>
          </a:xfrm>
          <a:prstGeom prst="rect">
            <a:avLst/>
          </a:prstGeom>
          <a:solidFill>
            <a:srgbClr val="FDEDEC"/>
          </a:solidFill>
          <a:ln w="6350">
            <a:solidFill>
              <a:srgbClr val="C039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80000" y="1583849"/>
            <a:ext cx="1152000" cy="198000"/>
          </a:xfrm>
          <a:prstGeom prst="rect">
            <a:avLst/>
          </a:prstGeom>
          <a:noFill/>
        </p:spPr>
        <p:txBody>
          <a:bodyPr wrap="square">
            <a:spAutoFit/>
          </a:bodyPr>
          <a:lstStyle/>
          <a:p>
            <a:pPr algn="l"/>
            <a:r>
              <a:rPr sz="950" b="1" i="0">
                <a:solidFill>
                  <a:srgbClr val="C0392B"/>
                </a:solidFill>
                <a:latin typeface="Calibri" panose="020F0502020204030204"/>
              </a:rPr>
              <a:t>Nüfus Yoğunluğu</a:t>
            </a:r>
            <a:endParaRPr sz="950" b="1" i="0">
              <a:solidFill>
                <a:srgbClr val="C0392B"/>
              </a:solidFill>
              <a:latin typeface="Calibri" panose="020F0502020204030204"/>
            </a:endParaRPr>
          </a:p>
        </p:txBody>
      </p:sp>
      <p:sp>
        <p:nvSpPr>
          <p:cNvPr id="19" name="TextBox 18"/>
          <p:cNvSpPr txBox="1"/>
          <p:nvPr/>
        </p:nvSpPr>
        <p:spPr>
          <a:xfrm>
            <a:off x="1332000" y="1583849"/>
            <a:ext cx="1512000" cy="198000"/>
          </a:xfrm>
          <a:prstGeom prst="rect">
            <a:avLst/>
          </a:prstGeom>
          <a:noFill/>
        </p:spPr>
        <p:txBody>
          <a:bodyPr wrap="square">
            <a:spAutoFit/>
          </a:bodyPr>
          <a:lstStyle/>
          <a:p>
            <a:pPr algn="l"/>
            <a:r>
              <a:rPr sz="900" b="0" i="0">
                <a:solidFill>
                  <a:srgbClr val="333333"/>
                </a:solidFill>
                <a:latin typeface="Calibri" panose="020F0502020204030204"/>
              </a:rPr>
              <a:t>10 km EPZ içinde az nüfus</a:t>
            </a:r>
            <a:endParaRPr sz="900" b="0" i="0">
              <a:solidFill>
                <a:srgbClr val="333333"/>
              </a:solidFill>
              <a:latin typeface="Calibri" panose="020F0502020204030204"/>
            </a:endParaRPr>
          </a:p>
        </p:txBody>
      </p:sp>
      <p:sp>
        <p:nvSpPr>
          <p:cNvPr id="20" name="TextBox 19"/>
          <p:cNvSpPr txBox="1"/>
          <p:nvPr/>
        </p:nvSpPr>
        <p:spPr>
          <a:xfrm>
            <a:off x="2880000" y="1583849"/>
            <a:ext cx="1512000" cy="198000"/>
          </a:xfrm>
          <a:prstGeom prst="rect">
            <a:avLst/>
          </a:prstGeom>
          <a:noFill/>
        </p:spPr>
        <p:txBody>
          <a:bodyPr wrap="square">
            <a:spAutoFit/>
          </a:bodyPr>
          <a:lstStyle/>
          <a:p>
            <a:pPr algn="l"/>
            <a:r>
              <a:rPr sz="900" b="1" i="0">
                <a:solidFill>
                  <a:srgbClr val="222222"/>
                </a:solidFill>
                <a:latin typeface="Calibri" panose="020F0502020204030204"/>
              </a:rPr>
              <a:t>İzmir: ❌  4,5M metropol</a:t>
            </a:r>
            <a:endParaRPr sz="900" b="1" i="0">
              <a:solidFill>
                <a:srgbClr val="222222"/>
              </a:solidFill>
              <a:latin typeface="Calibri" panose="020F0502020204030204"/>
            </a:endParaRPr>
          </a:p>
        </p:txBody>
      </p:sp>
      <p:sp>
        <p:nvSpPr>
          <p:cNvPr id="21" name="Rectangle 20"/>
          <p:cNvSpPr/>
          <p:nvPr/>
        </p:nvSpPr>
        <p:spPr>
          <a:xfrm>
            <a:off x="125999" y="1893414"/>
            <a:ext cx="4320000" cy="234000"/>
          </a:xfrm>
          <a:prstGeom prst="rect">
            <a:avLst/>
          </a:prstGeom>
          <a:solidFill>
            <a:srgbClr val="FEF9E7"/>
          </a:solidFill>
          <a:ln w="6350">
            <a:solidFill>
              <a:srgbClr val="E67E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80000" y="1835849"/>
            <a:ext cx="1152000" cy="198000"/>
          </a:xfrm>
          <a:prstGeom prst="rect">
            <a:avLst/>
          </a:prstGeom>
          <a:noFill/>
        </p:spPr>
        <p:txBody>
          <a:bodyPr wrap="square">
            <a:spAutoFit/>
          </a:bodyPr>
          <a:lstStyle/>
          <a:p>
            <a:pPr algn="l"/>
            <a:r>
              <a:rPr sz="950" b="1" i="0">
                <a:solidFill>
                  <a:srgbClr val="E67E22"/>
                </a:solidFill>
                <a:latin typeface="Calibri" panose="020F0502020204030204"/>
              </a:rPr>
              <a:t>Soğutma Suyu</a:t>
            </a:r>
            <a:endParaRPr sz="950" b="1" i="0">
              <a:solidFill>
                <a:srgbClr val="E67E22"/>
              </a:solidFill>
              <a:latin typeface="Calibri" panose="020F0502020204030204"/>
            </a:endParaRPr>
          </a:p>
        </p:txBody>
      </p:sp>
      <p:sp>
        <p:nvSpPr>
          <p:cNvPr id="23" name="TextBox 22"/>
          <p:cNvSpPr txBox="1"/>
          <p:nvPr/>
        </p:nvSpPr>
        <p:spPr>
          <a:xfrm>
            <a:off x="1332000" y="1835849"/>
            <a:ext cx="1512000" cy="198000"/>
          </a:xfrm>
          <a:prstGeom prst="rect">
            <a:avLst/>
          </a:prstGeom>
          <a:noFill/>
        </p:spPr>
        <p:txBody>
          <a:bodyPr wrap="square">
            <a:spAutoFit/>
          </a:bodyPr>
          <a:lstStyle/>
          <a:p>
            <a:pPr algn="l"/>
            <a:r>
              <a:rPr sz="900" b="0" i="0">
                <a:solidFill>
                  <a:srgbClr val="333333"/>
                </a:solidFill>
                <a:latin typeface="Calibri" panose="020F0502020204030204"/>
              </a:rPr>
              <a:t>Min. 30–50 m³/s kesintisiz</a:t>
            </a:r>
            <a:endParaRPr sz="900" b="0" i="0">
              <a:solidFill>
                <a:srgbClr val="333333"/>
              </a:solidFill>
              <a:latin typeface="Calibri" panose="020F0502020204030204"/>
            </a:endParaRPr>
          </a:p>
        </p:txBody>
      </p:sp>
      <p:sp>
        <p:nvSpPr>
          <p:cNvPr id="24" name="TextBox 23"/>
          <p:cNvSpPr txBox="1"/>
          <p:nvPr/>
        </p:nvSpPr>
        <p:spPr>
          <a:xfrm>
            <a:off x="2880000" y="1835849"/>
            <a:ext cx="1512000" cy="198000"/>
          </a:xfrm>
          <a:prstGeom prst="rect">
            <a:avLst/>
          </a:prstGeom>
          <a:noFill/>
        </p:spPr>
        <p:txBody>
          <a:bodyPr wrap="square">
            <a:spAutoFit/>
          </a:bodyPr>
          <a:lstStyle/>
          <a:p>
            <a:pPr algn="l"/>
            <a:r>
              <a:rPr sz="900" b="0" i="0">
                <a:solidFill>
                  <a:srgbClr val="222222"/>
                </a:solidFill>
                <a:latin typeface="Calibri" panose="020F0502020204030204"/>
              </a:rPr>
              <a:t>İzmir: ⚠️  Körfez ekosistemi</a:t>
            </a:r>
            <a:endParaRPr sz="900" b="0" i="0">
              <a:solidFill>
                <a:srgbClr val="222222"/>
              </a:solidFill>
              <a:latin typeface="Calibri" panose="020F0502020204030204"/>
            </a:endParaRPr>
          </a:p>
        </p:txBody>
      </p:sp>
      <p:sp>
        <p:nvSpPr>
          <p:cNvPr id="25" name="Rectangle 24"/>
          <p:cNvSpPr/>
          <p:nvPr/>
        </p:nvSpPr>
        <p:spPr>
          <a:xfrm>
            <a:off x="126634" y="2162559"/>
            <a:ext cx="4320000" cy="234000"/>
          </a:xfrm>
          <a:prstGeom prst="rect">
            <a:avLst/>
          </a:prstGeom>
          <a:solidFill>
            <a:srgbClr val="D5F5E3"/>
          </a:solidFill>
          <a:ln w="6350">
            <a:solidFill>
              <a:srgbClr val="1E844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80000" y="2087849"/>
            <a:ext cx="1152000" cy="198000"/>
          </a:xfrm>
          <a:prstGeom prst="rect">
            <a:avLst/>
          </a:prstGeom>
          <a:noFill/>
        </p:spPr>
        <p:txBody>
          <a:bodyPr wrap="square">
            <a:spAutoFit/>
          </a:bodyPr>
          <a:lstStyle/>
          <a:p>
            <a:pPr algn="l"/>
            <a:r>
              <a:rPr sz="950" b="1" i="0">
                <a:solidFill>
                  <a:srgbClr val="1E8449"/>
                </a:solidFill>
                <a:latin typeface="Calibri" panose="020F0502020204030204"/>
              </a:rPr>
              <a:t>Ulaşım</a:t>
            </a:r>
            <a:endParaRPr sz="950" b="1" i="0">
              <a:solidFill>
                <a:srgbClr val="1E8449"/>
              </a:solidFill>
              <a:latin typeface="Calibri" panose="020F0502020204030204"/>
            </a:endParaRPr>
          </a:p>
        </p:txBody>
      </p:sp>
      <p:sp>
        <p:nvSpPr>
          <p:cNvPr id="27" name="TextBox 26"/>
          <p:cNvSpPr txBox="1"/>
          <p:nvPr/>
        </p:nvSpPr>
        <p:spPr>
          <a:xfrm>
            <a:off x="1332000" y="2163414"/>
            <a:ext cx="1512000" cy="198000"/>
          </a:xfrm>
          <a:prstGeom prst="rect">
            <a:avLst/>
          </a:prstGeom>
          <a:noFill/>
        </p:spPr>
        <p:txBody>
          <a:bodyPr wrap="square">
            <a:spAutoFit/>
          </a:bodyPr>
          <a:lstStyle/>
          <a:p>
            <a:pPr algn="l"/>
            <a:r>
              <a:rPr sz="900" b="0" i="0">
                <a:solidFill>
                  <a:srgbClr val="333333"/>
                </a:solidFill>
                <a:latin typeface="Calibri" panose="020F0502020204030204"/>
              </a:rPr>
              <a:t>Karayolu, demiryolu erişim</a:t>
            </a:r>
            <a:endParaRPr sz="900" b="0" i="0">
              <a:solidFill>
                <a:srgbClr val="333333"/>
              </a:solidFill>
              <a:latin typeface="Calibri" panose="020F0502020204030204"/>
            </a:endParaRPr>
          </a:p>
        </p:txBody>
      </p:sp>
      <p:sp>
        <p:nvSpPr>
          <p:cNvPr id="28" name="TextBox 27"/>
          <p:cNvSpPr txBox="1"/>
          <p:nvPr/>
        </p:nvSpPr>
        <p:spPr>
          <a:xfrm>
            <a:off x="2880000" y="2087849"/>
            <a:ext cx="1512000" cy="198000"/>
          </a:xfrm>
          <a:prstGeom prst="rect">
            <a:avLst/>
          </a:prstGeom>
          <a:noFill/>
        </p:spPr>
        <p:txBody>
          <a:bodyPr wrap="square">
            <a:spAutoFit/>
          </a:bodyPr>
          <a:lstStyle/>
          <a:p>
            <a:pPr algn="l"/>
            <a:r>
              <a:rPr sz="900" b="0" i="0">
                <a:solidFill>
                  <a:srgbClr val="222222"/>
                </a:solidFill>
                <a:latin typeface="Calibri" panose="020F0502020204030204"/>
              </a:rPr>
              <a:t>İzmir: ✅  İyi altyapı</a:t>
            </a:r>
            <a:endParaRPr sz="900" b="0" i="0">
              <a:solidFill>
                <a:srgbClr val="222222"/>
              </a:solidFill>
              <a:latin typeface="Calibri" panose="020F0502020204030204"/>
            </a:endParaRPr>
          </a:p>
        </p:txBody>
      </p:sp>
      <p:sp>
        <p:nvSpPr>
          <p:cNvPr id="29" name="Rectangle 28"/>
          <p:cNvSpPr/>
          <p:nvPr/>
        </p:nvSpPr>
        <p:spPr>
          <a:xfrm>
            <a:off x="125730" y="2397125"/>
            <a:ext cx="4319905" cy="360045"/>
          </a:xfrm>
          <a:prstGeom prst="rect">
            <a:avLst/>
          </a:prstGeom>
          <a:solidFill>
            <a:srgbClr val="FDEDEC"/>
          </a:solidFill>
          <a:ln w="6350">
            <a:solidFill>
              <a:srgbClr val="922B2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79705" y="2339975"/>
            <a:ext cx="1003935" cy="237490"/>
          </a:xfrm>
          <a:prstGeom prst="rect">
            <a:avLst/>
          </a:prstGeom>
          <a:noFill/>
        </p:spPr>
        <p:txBody>
          <a:bodyPr wrap="square">
            <a:spAutoFit/>
          </a:bodyPr>
          <a:lstStyle/>
          <a:p>
            <a:pPr algn="l"/>
            <a:r>
              <a:rPr sz="950" b="1" i="0">
                <a:solidFill>
                  <a:srgbClr val="922B21"/>
                </a:solidFill>
                <a:latin typeface="Calibri" panose="020F0502020204030204"/>
              </a:rPr>
              <a:t>Toprak Taşıma</a:t>
            </a:r>
            <a:endParaRPr sz="950" b="1" i="0">
              <a:solidFill>
                <a:srgbClr val="922B21"/>
              </a:solidFill>
              <a:latin typeface="Calibri" panose="020F0502020204030204"/>
            </a:endParaRPr>
          </a:p>
        </p:txBody>
      </p:sp>
      <p:sp>
        <p:nvSpPr>
          <p:cNvPr id="31" name="TextBox 30"/>
          <p:cNvSpPr txBox="1"/>
          <p:nvPr/>
        </p:nvSpPr>
        <p:spPr>
          <a:xfrm>
            <a:off x="1332000" y="2339849"/>
            <a:ext cx="1512000" cy="198000"/>
          </a:xfrm>
          <a:prstGeom prst="rect">
            <a:avLst/>
          </a:prstGeom>
          <a:noFill/>
        </p:spPr>
        <p:txBody>
          <a:bodyPr wrap="square">
            <a:spAutoFit/>
          </a:bodyPr>
          <a:lstStyle/>
          <a:p>
            <a:pPr algn="l"/>
            <a:r>
              <a:rPr sz="900" b="0" i="0">
                <a:solidFill>
                  <a:srgbClr val="333333"/>
                </a:solidFill>
                <a:latin typeface="Calibri" panose="020F0502020204030204"/>
              </a:rPr>
              <a:t>Temel zemin min. 50 MPa dayanım</a:t>
            </a:r>
            <a:endParaRPr sz="900" b="0" i="0">
              <a:solidFill>
                <a:srgbClr val="333333"/>
              </a:solidFill>
              <a:latin typeface="Calibri" panose="020F0502020204030204"/>
            </a:endParaRPr>
          </a:p>
        </p:txBody>
      </p:sp>
      <p:sp>
        <p:nvSpPr>
          <p:cNvPr id="32" name="TextBox 31"/>
          <p:cNvSpPr txBox="1"/>
          <p:nvPr/>
        </p:nvSpPr>
        <p:spPr>
          <a:xfrm>
            <a:off x="2880000" y="2339849"/>
            <a:ext cx="1512000" cy="198000"/>
          </a:xfrm>
          <a:prstGeom prst="rect">
            <a:avLst/>
          </a:prstGeom>
          <a:noFill/>
        </p:spPr>
        <p:txBody>
          <a:bodyPr wrap="square">
            <a:spAutoFit/>
          </a:bodyPr>
          <a:lstStyle/>
          <a:p>
            <a:pPr algn="l"/>
            <a:r>
              <a:rPr sz="900" b="1" i="0">
                <a:solidFill>
                  <a:srgbClr val="222222"/>
                </a:solidFill>
                <a:latin typeface="Calibri" panose="020F0502020204030204"/>
              </a:rPr>
              <a:t>İzmir: ❌  Alüvyon zemin riski</a:t>
            </a:r>
            <a:endParaRPr sz="900" b="1" i="0">
              <a:solidFill>
                <a:srgbClr val="222222"/>
              </a:solidFill>
              <a:latin typeface="Calibri" panose="020F0502020204030204"/>
            </a:endParaRPr>
          </a:p>
        </p:txBody>
      </p:sp>
      <p:sp>
        <p:nvSpPr>
          <p:cNvPr id="33" name="Rectangle 32"/>
          <p:cNvSpPr/>
          <p:nvPr/>
        </p:nvSpPr>
        <p:spPr>
          <a:xfrm>
            <a:off x="4608000" y="558000"/>
            <a:ext cx="4230000" cy="151200"/>
          </a:xfrm>
          <a:prstGeom prst="rect">
            <a:avLst/>
          </a:prstGeom>
          <a:solidFill>
            <a:srgbClr val="922B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662000" y="485825"/>
            <a:ext cx="4068000" cy="136800"/>
          </a:xfrm>
          <a:prstGeom prst="rect">
            <a:avLst/>
          </a:prstGeom>
          <a:noFill/>
        </p:spPr>
        <p:txBody>
          <a:bodyPr wrap="square">
            <a:spAutoFit/>
          </a:bodyPr>
          <a:lstStyle/>
          <a:p>
            <a:pPr algn="l"/>
            <a:r>
              <a:rPr sz="1150" b="1" i="0">
                <a:solidFill>
                  <a:srgbClr val="FFFFFF"/>
                </a:solidFill>
                <a:latin typeface="Calibri" panose="020F0502020204030204"/>
              </a:rPr>
              <a:t>Reaktör Soğutma Sistemi Tipleri</a:t>
            </a:r>
            <a:endParaRPr sz="1150" b="1" i="0">
              <a:solidFill>
                <a:srgbClr val="FFFFFF"/>
              </a:solidFill>
              <a:latin typeface="Calibri" panose="020F0502020204030204"/>
            </a:endParaRPr>
          </a:p>
        </p:txBody>
      </p:sp>
      <p:sp>
        <p:nvSpPr>
          <p:cNvPr id="35" name="Rectangle 34"/>
          <p:cNvSpPr/>
          <p:nvPr/>
        </p:nvSpPr>
        <p:spPr>
          <a:xfrm>
            <a:off x="4608000" y="737999"/>
            <a:ext cx="4230000" cy="522000"/>
          </a:xfrm>
          <a:prstGeom prst="rect">
            <a:avLst/>
          </a:prstGeom>
          <a:solidFill>
            <a:srgbClr val="D6EAF8"/>
          </a:solidFill>
          <a:ln w="12700">
            <a:solidFill>
              <a:srgbClr val="2471A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4608000" y="737999"/>
            <a:ext cx="4230000" cy="162000"/>
          </a:xfrm>
          <a:prstGeom prst="rect">
            <a:avLst/>
          </a:prstGeom>
          <a:solidFill>
            <a:srgbClr val="2471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644000" y="702020"/>
            <a:ext cx="4158000" cy="245110"/>
          </a:xfrm>
          <a:prstGeom prst="rect">
            <a:avLst/>
          </a:prstGeom>
          <a:noFill/>
        </p:spPr>
        <p:txBody>
          <a:bodyPr wrap="square">
            <a:spAutoFit/>
          </a:bodyPr>
          <a:lstStyle/>
          <a:p>
            <a:pPr algn="ctr"/>
            <a:r>
              <a:rPr sz="1000" b="1" i="0">
                <a:solidFill>
                  <a:srgbClr val="FFFFFF"/>
                </a:solidFill>
                <a:latin typeface="Calibri" panose="020F0502020204030204"/>
              </a:rPr>
              <a:t>Once-through</a:t>
            </a:r>
            <a:endParaRPr sz="1000" b="1" i="0">
              <a:solidFill>
                <a:srgbClr val="FFFFFF"/>
              </a:solidFill>
              <a:latin typeface="Calibri" panose="020F0502020204030204"/>
            </a:endParaRPr>
          </a:p>
        </p:txBody>
      </p:sp>
      <p:sp>
        <p:nvSpPr>
          <p:cNvPr id="38" name="TextBox 37"/>
          <p:cNvSpPr txBox="1"/>
          <p:nvPr/>
        </p:nvSpPr>
        <p:spPr>
          <a:xfrm>
            <a:off x="4662000" y="917999"/>
            <a:ext cx="4121999" cy="324000"/>
          </a:xfrm>
          <a:prstGeom prst="rect">
            <a:avLst/>
          </a:prstGeom>
          <a:noFill/>
        </p:spPr>
        <p:txBody>
          <a:bodyPr wrap="square">
            <a:spAutoFit/>
          </a:bodyPr>
          <a:lstStyle/>
          <a:p>
            <a:pPr algn="l"/>
            <a:r>
              <a:rPr sz="900" b="0" i="0">
                <a:solidFill>
                  <a:srgbClr val="212121"/>
                </a:solidFill>
                <a:latin typeface="Calibri" panose="020F0502020204030204"/>
              </a:rPr>
              <a:t>30–50 m³/s sürekli su
En verimli soğutma
Termal kirlilik riski
Kıyı konumu gerekli
Akkuyu: Akdeniz kıyısı</a:t>
            </a:r>
            <a:endParaRPr sz="900" b="0" i="0">
              <a:solidFill>
                <a:srgbClr val="212121"/>
              </a:solidFill>
              <a:latin typeface="Calibri" panose="020F0502020204030204"/>
            </a:endParaRPr>
          </a:p>
        </p:txBody>
      </p:sp>
      <p:sp>
        <p:nvSpPr>
          <p:cNvPr id="39" name="Rectangle 38"/>
          <p:cNvSpPr/>
          <p:nvPr/>
        </p:nvSpPr>
        <p:spPr>
          <a:xfrm>
            <a:off x="4608000" y="1278000"/>
            <a:ext cx="4230000" cy="522000"/>
          </a:xfrm>
          <a:prstGeom prst="rect">
            <a:avLst/>
          </a:prstGeom>
          <a:solidFill>
            <a:srgbClr val="E8F8F5"/>
          </a:solidFill>
          <a:ln w="12700">
            <a:solidFill>
              <a:srgbClr val="1D6A7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4608000" y="1278000"/>
            <a:ext cx="4230000" cy="162000"/>
          </a:xfrm>
          <a:prstGeom prst="rect">
            <a:avLst/>
          </a:prstGeom>
          <a:solidFill>
            <a:srgbClr val="1D6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626220" y="1212810"/>
            <a:ext cx="4158000" cy="245110"/>
          </a:xfrm>
          <a:prstGeom prst="rect">
            <a:avLst/>
          </a:prstGeom>
          <a:noFill/>
        </p:spPr>
        <p:txBody>
          <a:bodyPr wrap="square">
            <a:spAutoFit/>
          </a:bodyPr>
          <a:lstStyle/>
          <a:p>
            <a:pPr algn="ctr"/>
            <a:r>
              <a:rPr sz="1000" b="1" i="0">
                <a:solidFill>
                  <a:srgbClr val="FFFFFF"/>
                </a:solidFill>
                <a:latin typeface="Calibri" panose="020F0502020204030204"/>
              </a:rPr>
              <a:t>Soğutma Kulesi</a:t>
            </a:r>
            <a:endParaRPr sz="1000" b="1" i="0">
              <a:solidFill>
                <a:srgbClr val="FFFFFF"/>
              </a:solidFill>
              <a:latin typeface="Calibri" panose="020F0502020204030204"/>
            </a:endParaRPr>
          </a:p>
        </p:txBody>
      </p:sp>
      <p:sp>
        <p:nvSpPr>
          <p:cNvPr id="42" name="TextBox 41"/>
          <p:cNvSpPr txBox="1"/>
          <p:nvPr/>
        </p:nvSpPr>
        <p:spPr>
          <a:xfrm>
            <a:off x="4662000" y="1458000"/>
            <a:ext cx="4121999" cy="324000"/>
          </a:xfrm>
          <a:prstGeom prst="rect">
            <a:avLst/>
          </a:prstGeom>
          <a:noFill/>
        </p:spPr>
        <p:txBody>
          <a:bodyPr wrap="square">
            <a:spAutoFit/>
          </a:bodyPr>
          <a:lstStyle/>
          <a:p>
            <a:pPr algn="l"/>
            <a:r>
              <a:rPr sz="900" b="0" i="0">
                <a:solidFill>
                  <a:srgbClr val="212121"/>
                </a:solidFill>
                <a:latin typeface="Calibri" panose="020F0502020204030204"/>
              </a:rPr>
              <a:t>Su buharlaşması ile soğutma
Daha az su tüketimi
Sis/nem üretir
İç kara tesisler için
Türkiye'de yaygın</a:t>
            </a:r>
            <a:endParaRPr sz="900" b="0" i="0">
              <a:solidFill>
                <a:srgbClr val="212121"/>
              </a:solidFill>
              <a:latin typeface="Calibri" panose="020F0502020204030204"/>
            </a:endParaRPr>
          </a:p>
        </p:txBody>
      </p:sp>
      <p:sp>
        <p:nvSpPr>
          <p:cNvPr id="43" name="Rectangle 42"/>
          <p:cNvSpPr/>
          <p:nvPr/>
        </p:nvSpPr>
        <p:spPr>
          <a:xfrm>
            <a:off x="4608000" y="1818000"/>
            <a:ext cx="4230000" cy="522000"/>
          </a:xfrm>
          <a:prstGeom prst="rect">
            <a:avLst/>
          </a:prstGeom>
          <a:solidFill>
            <a:srgbClr val="F5EEF8"/>
          </a:solidFill>
          <a:ln w="12700">
            <a:solidFill>
              <a:srgbClr val="6C348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4608000" y="1818000"/>
            <a:ext cx="4230000" cy="162000"/>
          </a:xfrm>
          <a:prstGeom prst="rect">
            <a:avLst/>
          </a:prstGeom>
          <a:solidFill>
            <a:srgbClr val="6C34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4644000" y="1764239"/>
            <a:ext cx="4158000" cy="398780"/>
          </a:xfrm>
          <a:prstGeom prst="rect">
            <a:avLst/>
          </a:prstGeom>
          <a:noFill/>
        </p:spPr>
        <p:txBody>
          <a:bodyPr wrap="square">
            <a:spAutoFit/>
          </a:bodyPr>
          <a:lstStyle/>
          <a:p>
            <a:pPr algn="ctr"/>
            <a:r>
              <a:rPr sz="1000" b="1" i="0">
                <a:solidFill>
                  <a:srgbClr val="FFFFFF"/>
                </a:solidFill>
                <a:latin typeface="Calibri" panose="020F0502020204030204"/>
              </a:rPr>
              <a:t>Kuru Soğutma
</a:t>
            </a:r>
            <a:endParaRPr sz="1000" b="1" i="0">
              <a:solidFill>
                <a:srgbClr val="FFFFFF"/>
              </a:solidFill>
              <a:latin typeface="Calibri" panose="020F0502020204030204"/>
            </a:endParaRPr>
          </a:p>
        </p:txBody>
      </p:sp>
      <p:sp>
        <p:nvSpPr>
          <p:cNvPr id="46" name="TextBox 45"/>
          <p:cNvSpPr txBox="1"/>
          <p:nvPr/>
        </p:nvSpPr>
        <p:spPr>
          <a:xfrm>
            <a:off x="4662000" y="1998000"/>
            <a:ext cx="4121999" cy="324000"/>
          </a:xfrm>
          <a:prstGeom prst="rect">
            <a:avLst/>
          </a:prstGeom>
          <a:noFill/>
        </p:spPr>
        <p:txBody>
          <a:bodyPr wrap="square">
            <a:spAutoFit/>
          </a:bodyPr>
          <a:lstStyle/>
          <a:p>
            <a:pPr algn="l"/>
            <a:r>
              <a:rPr sz="900" b="0" i="0">
                <a:solidFill>
                  <a:srgbClr val="212121"/>
                </a:solidFill>
                <a:latin typeface="Calibri" panose="020F0502020204030204"/>
              </a:rPr>
              <a:t>Su gerektirmez
15–20% verim kaybı
Sıcak iklimlerde sorunlu
SMR için uygun
Maliyet yüksek</a:t>
            </a:r>
            <a:endParaRPr sz="900" b="0" i="0">
              <a:solidFill>
                <a:srgbClr val="212121"/>
              </a:solidFill>
              <a:latin typeface="Calibri" panose="020F0502020204030204"/>
            </a:endParaRPr>
          </a:p>
        </p:txBody>
      </p:sp>
      <p:sp>
        <p:nvSpPr>
          <p:cNvPr id="47" name="Rectangle 46"/>
          <p:cNvSpPr/>
          <p:nvPr/>
        </p:nvSpPr>
        <p:spPr>
          <a:xfrm>
            <a:off x="4608195" y="2357755"/>
            <a:ext cx="4229735" cy="1094740"/>
          </a:xfrm>
          <a:prstGeom prst="rect">
            <a:avLst/>
          </a:prstGeom>
          <a:solidFill>
            <a:srgbClr val="D5F5E3"/>
          </a:solidFill>
          <a:ln w="12700">
            <a:solidFill>
              <a:srgbClr val="1E844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4608195" y="2357755"/>
            <a:ext cx="4229735" cy="399415"/>
          </a:xfrm>
          <a:prstGeom prst="rect">
            <a:avLst/>
          </a:prstGeom>
          <a:solidFill>
            <a:srgbClr val="1E84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4643755" y="2357755"/>
            <a:ext cx="4157980" cy="415290"/>
          </a:xfrm>
          <a:prstGeom prst="rect">
            <a:avLst/>
          </a:prstGeom>
          <a:noFill/>
        </p:spPr>
        <p:txBody>
          <a:bodyPr wrap="square">
            <a:noAutofit/>
          </a:bodyPr>
          <a:lstStyle/>
          <a:p>
            <a:pPr algn="ctr"/>
            <a:r>
              <a:rPr sz="1000" b="1" i="0">
                <a:solidFill>
                  <a:srgbClr val="FFFFFF"/>
                </a:solidFill>
                <a:latin typeface="Calibri" panose="020F0502020204030204"/>
              </a:rPr>
              <a:t>Pasif Soğutma
(Nesil III+)</a:t>
            </a:r>
            <a:endParaRPr sz="1000" b="1" i="0">
              <a:solidFill>
                <a:srgbClr val="FFFFFF"/>
              </a:solidFill>
              <a:latin typeface="Calibri" panose="020F0502020204030204"/>
            </a:endParaRPr>
          </a:p>
        </p:txBody>
      </p:sp>
      <p:sp>
        <p:nvSpPr>
          <p:cNvPr id="50" name="TextBox 49"/>
          <p:cNvSpPr txBox="1"/>
          <p:nvPr/>
        </p:nvSpPr>
        <p:spPr>
          <a:xfrm>
            <a:off x="4662170" y="2686685"/>
            <a:ext cx="4121785" cy="487045"/>
          </a:xfrm>
          <a:prstGeom prst="rect">
            <a:avLst/>
          </a:prstGeom>
          <a:noFill/>
        </p:spPr>
        <p:txBody>
          <a:bodyPr wrap="square">
            <a:noAutofit/>
          </a:bodyPr>
          <a:lstStyle/>
          <a:p>
            <a:pPr algn="l"/>
            <a:r>
              <a:rPr sz="900" b="0" i="0">
                <a:solidFill>
                  <a:srgbClr val="212121"/>
                </a:solidFill>
                <a:latin typeface="Calibri" panose="020F0502020204030204"/>
              </a:rPr>
              <a:t>Yer çekimi + doğal sirk.
Güç kesintisinde çalışır
VVER-1200, AP1000
Fukushima dersi
En güvenli sistem</a:t>
            </a:r>
            <a:endParaRPr sz="900" b="0" i="0">
              <a:solidFill>
                <a:srgbClr val="212121"/>
              </a:solidFill>
              <a:latin typeface="Calibri" panose="020F0502020204030204"/>
            </a:endParaRPr>
          </a:p>
        </p:txBody>
      </p:sp>
      <p:sp>
        <p:nvSpPr>
          <p:cNvPr id="51" name="Rectangle 50"/>
          <p:cNvSpPr/>
          <p:nvPr/>
        </p:nvSpPr>
        <p:spPr>
          <a:xfrm>
            <a:off x="72390" y="3609975"/>
            <a:ext cx="8891905" cy="582295"/>
          </a:xfrm>
          <a:prstGeom prst="rect">
            <a:avLst/>
          </a:prstGeom>
          <a:solidFill>
            <a:srgbClr val="FDEDEC"/>
          </a:solidFill>
          <a:ln w="19050">
            <a:solidFill>
              <a:srgbClr val="922B2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289025" y="3663390"/>
            <a:ext cx="8676000" cy="342000"/>
          </a:xfrm>
          <a:prstGeom prst="rect">
            <a:avLst/>
          </a:prstGeom>
          <a:noFill/>
        </p:spPr>
        <p:txBody>
          <a:bodyPr wrap="square">
            <a:spAutoFit/>
          </a:bodyPr>
          <a:lstStyle/>
          <a:p>
            <a:pPr algn="l"/>
            <a:r>
              <a:rPr sz="1000" b="0" i="0">
                <a:solidFill>
                  <a:srgbClr val="922B21"/>
                </a:solidFill>
                <a:latin typeface="Calibri" panose="020F0502020204030204"/>
              </a:rPr>
              <a:t>⚠️  İzmir İçin Sonuç:  IAEA SSG-9 kriterlerine göre İzmir, nükleer santral yer seçiminde 6 kriterden 4'ünü karşılayamamaktadır. Aktif fay üzerindeki konum, 4,5 milyon nüfuslu metropol ve EPZ tahliye imkânsızlığı, 7130 Sayılı Kanun ve IAEA standardı çerçevesinde nükleer tesisi yasal ve teknik açıdan dışlamaktadır. Türkiye'nin nükleer kapasitesi tektonik açıdan kararlı Akkuyu (Mersin) bölgesinde planlanmaktadır.</a:t>
            </a:r>
            <a:endParaRPr sz="1000" b="0" i="0">
              <a:solidFill>
                <a:srgbClr val="922B21"/>
              </a:solidFill>
              <a:latin typeface="Calibri" panose="020F0502020204030204"/>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8F9FA"/>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486000"/>
          </a:xfrm>
          <a:prstGeom prst="rect">
            <a:avLst/>
          </a:prstGeom>
          <a:solidFill>
            <a:srgbClr val="922B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86000"/>
            <a:ext cx="9144000" cy="32400"/>
          </a:xfrm>
          <a:prstGeom prst="rect">
            <a:avLst/>
          </a:prstGeom>
          <a:solidFill>
            <a:srgbClr val="C890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4860000"/>
            <a:ext cx="9144000" cy="2844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80000" y="4860000"/>
            <a:ext cx="8784000" cy="284400"/>
          </a:xfrm>
          <a:prstGeom prst="rect">
            <a:avLst/>
          </a:prstGeom>
          <a:noFill/>
        </p:spPr>
        <p:txBody>
          <a:bodyPr wrap="square">
            <a:spAutoFit/>
          </a:bodyPr>
          <a:lstStyle/>
          <a:p>
            <a:pPr algn="ctr"/>
            <a:r>
              <a:rPr sz="850" b="0" i="0">
                <a:solidFill>
                  <a:srgbClr val="FFFFFF"/>
                </a:solidFill>
                <a:latin typeface="Calibri" panose="020F0502020204030204"/>
              </a:rPr>
              <a:t>SAÜ EEM  |  İzmir Yenilenebilir Enerji Analizi</a:t>
            </a:r>
            <a:endParaRPr sz="850" b="0" i="0">
              <a:solidFill>
                <a:srgbClr val="FFFFFF"/>
              </a:solidFill>
              <a:latin typeface="Calibri" panose="020F0502020204030204"/>
            </a:endParaRPr>
          </a:p>
        </p:txBody>
      </p:sp>
      <p:sp>
        <p:nvSpPr>
          <p:cNvPr id="6" name="TextBox 5"/>
          <p:cNvSpPr txBox="1"/>
          <p:nvPr/>
        </p:nvSpPr>
        <p:spPr>
          <a:xfrm>
            <a:off x="216000" y="18000"/>
            <a:ext cx="8640000" cy="450000"/>
          </a:xfrm>
          <a:prstGeom prst="rect">
            <a:avLst/>
          </a:prstGeom>
          <a:noFill/>
        </p:spPr>
        <p:txBody>
          <a:bodyPr wrap="square">
            <a:spAutoFit/>
          </a:bodyPr>
          <a:lstStyle/>
          <a:p>
            <a:pPr algn="l"/>
            <a:r>
              <a:rPr sz="1700" b="1" i="0">
                <a:solidFill>
                  <a:srgbClr val="FFFFFF"/>
                </a:solidFill>
                <a:latin typeface="Calibri" panose="020F0502020204030204"/>
              </a:rPr>
              <a:t>Nükleer Enerji — İzmir Aktif Fay Sistemleri ve Sismik Risk Haritası</a:t>
            </a:r>
            <a:endParaRPr sz="1700" b="1" i="0">
              <a:solidFill>
                <a:srgbClr val="FFFFFF"/>
              </a:solidFill>
              <a:latin typeface="Calibri" panose="020F0502020204030204"/>
            </a:endParaRPr>
          </a:p>
        </p:txBody>
      </p:sp>
      <p:pic>
        <p:nvPicPr>
          <p:cNvPr id="7" name="Picture 6" descr="image.png"/>
          <p:cNvPicPr>
            <a:picLocks noChangeAspect="1"/>
          </p:cNvPicPr>
          <p:nvPr/>
        </p:nvPicPr>
        <p:blipFill>
          <a:blip r:embed="rId1"/>
          <a:stretch>
            <a:fillRect/>
          </a:stretch>
        </p:blipFill>
        <p:spPr>
          <a:xfrm>
            <a:off x="125999" y="558000"/>
            <a:ext cx="8892000" cy="2358000"/>
          </a:xfrm>
          <a:prstGeom prst="rect">
            <a:avLst/>
          </a:prstGeom>
        </p:spPr>
      </p:pic>
      <p:sp>
        <p:nvSpPr>
          <p:cNvPr id="8" name="Rectangle 7"/>
          <p:cNvSpPr/>
          <p:nvPr/>
        </p:nvSpPr>
        <p:spPr>
          <a:xfrm>
            <a:off x="125730" y="2944495"/>
            <a:ext cx="8891905" cy="446405"/>
          </a:xfrm>
          <a:prstGeom prst="rect">
            <a:avLst/>
          </a:prstGeom>
          <a:solidFill>
            <a:srgbClr val="922B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79705" y="3017520"/>
            <a:ext cx="8639810" cy="290195"/>
          </a:xfrm>
          <a:prstGeom prst="rect">
            <a:avLst/>
          </a:prstGeom>
          <a:noFill/>
        </p:spPr>
        <p:txBody>
          <a:bodyPr wrap="square">
            <a:noAutofit/>
          </a:bodyPr>
          <a:lstStyle/>
          <a:p>
            <a:pPr algn="l"/>
            <a:r>
              <a:rPr sz="1100" b="1" i="0">
                <a:solidFill>
                  <a:srgbClr val="FFFFFF"/>
                </a:solidFill>
                <a:latin typeface="Calibri" panose="020F0502020204030204"/>
              </a:rPr>
              <a:t>Harita Yorumu ve İzmir İçin Çıkarımlar</a:t>
            </a:r>
            <a:endParaRPr sz="1100" b="1" i="0">
              <a:solidFill>
                <a:srgbClr val="FFFFFF"/>
              </a:solidFill>
              <a:latin typeface="Calibri" panose="020F0502020204030204"/>
            </a:endParaRPr>
          </a:p>
        </p:txBody>
      </p:sp>
      <p:sp>
        <p:nvSpPr>
          <p:cNvPr id="10" name="Rectangle 9"/>
          <p:cNvSpPr/>
          <p:nvPr/>
        </p:nvSpPr>
        <p:spPr>
          <a:xfrm>
            <a:off x="126365" y="3391535"/>
            <a:ext cx="8891905" cy="472440"/>
          </a:xfrm>
          <a:prstGeom prst="rect">
            <a:avLst/>
          </a:prstGeom>
          <a:solidFill>
            <a:srgbClr val="FDED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15780" y="3409269"/>
            <a:ext cx="8712000" cy="306000"/>
          </a:xfrm>
          <a:prstGeom prst="rect">
            <a:avLst/>
          </a:prstGeom>
          <a:noFill/>
        </p:spPr>
        <p:txBody>
          <a:bodyPr wrap="square">
            <a:spAutoFit/>
          </a:bodyPr>
          <a:lstStyle/>
          <a:p>
            <a:pPr algn="l"/>
            <a:r>
              <a:rPr sz="980" b="0" i="0">
                <a:solidFill>
                  <a:srgbClr val="1B3A6B"/>
                </a:solidFill>
                <a:latin typeface="Calibri" panose="020F0502020204030204"/>
              </a:rPr>
              <a:t>İzmir + Tuzla + Seferihisar fayları: Batı Anadolu Açılma Rejimi aktif kuşağı  |  30.10.2020 Seferihisar Mw 6,9: En son büyük deprem → NGS tasarım kriteri çok üstü  |  IAEA SSG-9: Aktif fay hattına min. 8 km → İzmir ili kriterini karşılayamaz  |  4,5 M nüfuslu EPZ: Tahliye operasyonel açıdan imkânsız → Yasal ve teknik eleme</a:t>
            </a:r>
            <a:endParaRPr sz="980" b="0" i="0">
              <a:solidFill>
                <a:srgbClr val="1B3A6B"/>
              </a:solidFill>
              <a:latin typeface="Calibri" panose="020F0502020204030204"/>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8F9FA"/>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922B21"/>
          </a:solidFill>
          <a:ln w="12700">
            <a:solidFill>
              <a:srgbClr val="922B21"/>
            </a:solidFill>
            <a:prstDash val="solid"/>
          </a:ln>
        </p:spPr>
        <p:txBody>
          <a:bodyPr/>
          <a:lstStyle/>
          <a:p>
            <a:endParaRPr lang="tr-TR"/>
          </a:p>
        </p:txBody>
      </p:sp>
      <p:sp>
        <p:nvSpPr>
          <p:cNvPr id="3" name="Shape 1"/>
          <p:cNvSpPr/>
          <p:nvPr/>
        </p:nvSpPr>
        <p:spPr>
          <a:xfrm>
            <a:off x="0" y="685800"/>
            <a:ext cx="9144000" cy="45720"/>
          </a:xfrm>
          <a:prstGeom prst="rect">
            <a:avLst/>
          </a:prstGeom>
          <a:solidFill>
            <a:srgbClr val="C8901A"/>
          </a:solidFill>
          <a:ln w="12700">
            <a:solidFill>
              <a:srgbClr val="C8901A"/>
            </a:solidFill>
            <a:prstDash val="solid"/>
          </a:ln>
        </p:spPr>
        <p:txBody>
          <a:bodyPr/>
          <a:lstStyle/>
          <a:p>
            <a:endParaRPr lang="tr-TR"/>
          </a:p>
        </p:txBody>
      </p:sp>
      <p:sp>
        <p:nvSpPr>
          <p:cNvPr id="4" name="Shape 2"/>
          <p:cNvSpPr/>
          <p:nvPr/>
        </p:nvSpPr>
        <p:spPr>
          <a:xfrm>
            <a:off x="0" y="4892040"/>
            <a:ext cx="9144000" cy="251460"/>
          </a:xfrm>
          <a:prstGeom prst="rect">
            <a:avLst/>
          </a:prstGeom>
          <a:solidFill>
            <a:srgbClr val="1B3A6B"/>
          </a:solidFill>
          <a:ln w="12700">
            <a:solidFill>
              <a:srgbClr val="1B3A6B"/>
            </a:solidFill>
            <a:prstDash val="solid"/>
          </a:ln>
        </p:spPr>
        <p:txBody>
          <a:bodyPr/>
          <a:lstStyle/>
          <a:p>
            <a:endParaRPr lang="tr-TR"/>
          </a:p>
        </p:txBody>
      </p:sp>
      <p:sp>
        <p:nvSpPr>
          <p:cNvPr id="5" name="Text 3"/>
          <p:cNvSpPr/>
          <p:nvPr/>
        </p:nvSpPr>
        <p:spPr>
          <a:xfrm>
            <a:off x="274320" y="4892040"/>
            <a:ext cx="8595360" cy="251460"/>
          </a:xfrm>
          <a:prstGeom prst="rect">
            <a:avLst/>
          </a:prstGeom>
          <a:noFill/>
        </p:spPr>
        <p:txBody>
          <a:bodyPr wrap="square" rtlCol="0" anchor="ctr"/>
          <a:lstStyle/>
          <a:p>
            <a:pPr marL="0" indent="0" algn="ctr">
              <a:buNone/>
            </a:pPr>
            <a:r>
              <a:rPr lang="en-US" sz="800" dirty="0">
                <a:solidFill>
                  <a:srgbClr val="E0E6ED"/>
                </a:solidFill>
                <a:latin typeface="Calibri" panose="020F0502020204030204" pitchFamily="34" charset="0"/>
                <a:ea typeface="Calibri" panose="020F0502020204030204" pitchFamily="34" charset="-122"/>
                <a:cs typeface="Calibri" panose="020F0502020204030204" pitchFamily="34" charset="-120"/>
              </a:rPr>
              <a:t>SAÜ EEM  |  İzmir Yenilenebilir Enerji Analizi</a:t>
            </a:r>
            <a:endParaRPr lang="en-US" sz="800" dirty="0"/>
          </a:p>
        </p:txBody>
      </p:sp>
      <p:sp>
        <p:nvSpPr>
          <p:cNvPr id="6" name="Text 4"/>
          <p:cNvSpPr/>
          <p:nvPr/>
        </p:nvSpPr>
        <p:spPr>
          <a:xfrm>
            <a:off x="274320" y="45720"/>
            <a:ext cx="8595360" cy="594360"/>
          </a:xfrm>
          <a:prstGeom prst="rect">
            <a:avLst/>
          </a:prstGeom>
          <a:noFill/>
        </p:spPr>
        <p:txBody>
          <a:bodyPr wrap="square" lIns="0" tIns="0" rIns="0" bIns="0" rtlCol="0" anchor="ctr"/>
          <a:lstStyle/>
          <a:p>
            <a:pPr marL="0" indent="0" algn="l">
              <a:buNone/>
            </a:pPr>
            <a:r>
              <a:rPr lang="en-US" sz="1800" b="1" dirty="0">
                <a:solidFill>
                  <a:srgbClr val="FFFFFF"/>
                </a:solidFill>
                <a:latin typeface="Calibri" panose="020F0502020204030204" pitchFamily="34" charset="0"/>
                <a:ea typeface="Calibri" panose="020F0502020204030204" pitchFamily="34" charset="-122"/>
                <a:cs typeface="Calibri" panose="020F0502020204030204" pitchFamily="34" charset="-120"/>
              </a:rPr>
              <a:t>Nükleer Enerji — İzmir Uygunluk Değerlendirmesi</a:t>
            </a:r>
            <a:endParaRPr lang="en-US" sz="1800" dirty="0"/>
          </a:p>
        </p:txBody>
      </p:sp>
      <p:sp>
        <p:nvSpPr>
          <p:cNvPr id="7" name="Shape 5"/>
          <p:cNvSpPr/>
          <p:nvPr/>
        </p:nvSpPr>
        <p:spPr>
          <a:xfrm>
            <a:off x="320040" y="777240"/>
            <a:ext cx="1920240" cy="914400"/>
          </a:xfrm>
          <a:prstGeom prst="rect">
            <a:avLst/>
          </a:prstGeom>
          <a:solidFill>
            <a:srgbClr val="922B21"/>
          </a:solidFill>
          <a:ln w="12700">
            <a:solidFill>
              <a:srgbClr val="922B21"/>
            </a:solidFill>
            <a:prstDash val="solid"/>
          </a:ln>
          <a:effectLst>
            <a:outerShdw blurRad="76200" dist="38100" dir="8100000" algn="bl" rotWithShape="0">
              <a:srgbClr val="000000">
                <a:alpha val="15000"/>
              </a:srgbClr>
            </a:outerShdw>
          </a:effectLst>
        </p:spPr>
        <p:txBody>
          <a:bodyPr/>
          <a:lstStyle/>
          <a:p>
            <a:endParaRPr lang="tr-TR"/>
          </a:p>
        </p:txBody>
      </p:sp>
      <p:sp>
        <p:nvSpPr>
          <p:cNvPr id="8" name="Text 6"/>
          <p:cNvSpPr/>
          <p:nvPr/>
        </p:nvSpPr>
        <p:spPr>
          <a:xfrm>
            <a:off x="320040" y="822960"/>
            <a:ext cx="1920240" cy="530352"/>
          </a:xfrm>
          <a:prstGeom prst="rect">
            <a:avLst/>
          </a:prstGeom>
          <a:noFill/>
        </p:spPr>
        <p:txBody>
          <a:bodyPr wrap="square" rtlCol="0" anchor="ctr"/>
          <a:lstStyle/>
          <a:p>
            <a:pPr marL="0" indent="0" algn="ctr">
              <a:buNone/>
            </a:pPr>
            <a:r>
              <a:rPr lang="en-US" sz="2800" b="1" dirty="0">
                <a:solidFill>
                  <a:srgbClr val="FFFFFF"/>
                </a:solidFill>
                <a:latin typeface="Calibri" panose="020F0502020204030204" pitchFamily="34" charset="0"/>
                <a:ea typeface="Calibri" panose="020F0502020204030204" pitchFamily="34" charset="-122"/>
                <a:cs typeface="Calibri" panose="020F0502020204030204" pitchFamily="34" charset="-120"/>
              </a:rPr>
              <a:t>~%90</a:t>
            </a:r>
            <a:endParaRPr lang="en-US" sz="2800" dirty="0"/>
          </a:p>
        </p:txBody>
      </p:sp>
      <p:sp>
        <p:nvSpPr>
          <p:cNvPr id="9" name="Text 7"/>
          <p:cNvSpPr/>
          <p:nvPr/>
        </p:nvSpPr>
        <p:spPr>
          <a:xfrm>
            <a:off x="320040" y="1325880"/>
            <a:ext cx="1920240" cy="347472"/>
          </a:xfrm>
          <a:prstGeom prst="rect">
            <a:avLst/>
          </a:prstGeom>
          <a:noFill/>
        </p:spPr>
        <p:txBody>
          <a:bodyPr wrap="square" rtlCol="0" anchor="ctr"/>
          <a:lstStyle/>
          <a:p>
            <a:pPr marL="0" indent="0" algn="ctr">
              <a:buNone/>
            </a:pPr>
            <a:r>
              <a:rPr lang="en-US" sz="1000" dirty="0">
                <a:solidFill>
                  <a:srgbClr val="D6EAF8"/>
                </a:solidFill>
                <a:latin typeface="Calibri" panose="020F0502020204030204" pitchFamily="34" charset="0"/>
                <a:ea typeface="Calibri" panose="020F0502020204030204" pitchFamily="34" charset="-122"/>
                <a:cs typeface="Calibri" panose="020F0502020204030204" pitchFamily="34" charset="-120"/>
              </a:rPr>
              <a:t>Kapasite Faktörü (CF)</a:t>
            </a:r>
            <a:endParaRPr lang="en-US" sz="1000" dirty="0"/>
          </a:p>
          <a:p>
            <a:pPr marL="0" indent="0" algn="ctr">
              <a:buNone/>
            </a:pPr>
            <a:r>
              <a:rPr lang="en-US" sz="1000" dirty="0">
                <a:solidFill>
                  <a:srgbClr val="D6EAF8"/>
                </a:solidFill>
                <a:latin typeface="Calibri" panose="020F0502020204030204" pitchFamily="34" charset="0"/>
                <a:ea typeface="Calibri" panose="020F0502020204030204" pitchFamily="34" charset="-122"/>
                <a:cs typeface="Calibri" panose="020F0502020204030204" pitchFamily="34" charset="-120"/>
              </a:rPr>
              <a:t>Küresel ortalama</a:t>
            </a:r>
            <a:endParaRPr lang="en-US" sz="1000" dirty="0"/>
          </a:p>
        </p:txBody>
      </p:sp>
      <p:sp>
        <p:nvSpPr>
          <p:cNvPr id="10" name="Shape 8"/>
          <p:cNvSpPr/>
          <p:nvPr/>
        </p:nvSpPr>
        <p:spPr>
          <a:xfrm>
            <a:off x="2377440" y="777240"/>
            <a:ext cx="1920240" cy="914400"/>
          </a:xfrm>
          <a:prstGeom prst="rect">
            <a:avLst/>
          </a:prstGeom>
          <a:solidFill>
            <a:srgbClr val="7B241C"/>
          </a:solidFill>
          <a:ln w="12700">
            <a:solidFill>
              <a:srgbClr val="7B241C"/>
            </a:solidFill>
            <a:prstDash val="solid"/>
          </a:ln>
          <a:effectLst>
            <a:outerShdw blurRad="76200" dist="38100" dir="8100000" algn="bl" rotWithShape="0">
              <a:srgbClr val="000000">
                <a:alpha val="15000"/>
              </a:srgbClr>
            </a:outerShdw>
          </a:effectLst>
        </p:spPr>
        <p:txBody>
          <a:bodyPr/>
          <a:lstStyle/>
          <a:p>
            <a:endParaRPr lang="tr-TR"/>
          </a:p>
        </p:txBody>
      </p:sp>
      <p:sp>
        <p:nvSpPr>
          <p:cNvPr id="11" name="Text 9"/>
          <p:cNvSpPr/>
          <p:nvPr/>
        </p:nvSpPr>
        <p:spPr>
          <a:xfrm>
            <a:off x="2377440" y="822960"/>
            <a:ext cx="1920240" cy="530352"/>
          </a:xfrm>
          <a:prstGeom prst="rect">
            <a:avLst/>
          </a:prstGeom>
          <a:noFill/>
        </p:spPr>
        <p:txBody>
          <a:bodyPr wrap="square" rtlCol="0" anchor="ctr"/>
          <a:lstStyle/>
          <a:p>
            <a:pPr marL="0" indent="0" algn="ctr">
              <a:buNone/>
            </a:pPr>
            <a:r>
              <a:rPr lang="en-US" sz="2800" b="1" dirty="0">
                <a:solidFill>
                  <a:srgbClr val="FFFFFF"/>
                </a:solidFill>
                <a:latin typeface="Calibri" panose="020F0502020204030204" pitchFamily="34" charset="0"/>
                <a:ea typeface="Calibri" panose="020F0502020204030204" pitchFamily="34" charset="-122"/>
                <a:cs typeface="Calibri" panose="020F0502020204030204" pitchFamily="34" charset="-120"/>
              </a:rPr>
              <a:t>6–10</a:t>
            </a:r>
            <a:endParaRPr lang="en-US" sz="2800" dirty="0"/>
          </a:p>
        </p:txBody>
      </p:sp>
      <p:sp>
        <p:nvSpPr>
          <p:cNvPr id="12" name="Text 10"/>
          <p:cNvSpPr/>
          <p:nvPr/>
        </p:nvSpPr>
        <p:spPr>
          <a:xfrm>
            <a:off x="2377440" y="1325880"/>
            <a:ext cx="1920240" cy="347472"/>
          </a:xfrm>
          <a:prstGeom prst="rect">
            <a:avLst/>
          </a:prstGeom>
          <a:noFill/>
        </p:spPr>
        <p:txBody>
          <a:bodyPr wrap="square" rtlCol="0" anchor="ctr"/>
          <a:lstStyle/>
          <a:p>
            <a:pPr marL="0" indent="0" algn="ctr">
              <a:buNone/>
            </a:pPr>
            <a:r>
              <a:rPr lang="en-US" sz="1000" dirty="0">
                <a:solidFill>
                  <a:srgbClr val="D6EAF8"/>
                </a:solidFill>
                <a:latin typeface="Calibri" panose="020F0502020204030204" pitchFamily="34" charset="0"/>
                <a:ea typeface="Calibri" panose="020F0502020204030204" pitchFamily="34" charset="-122"/>
                <a:cs typeface="Calibri" panose="020F0502020204030204" pitchFamily="34" charset="-120"/>
              </a:rPr>
              <a:t>EPBT (Yıl)</a:t>
            </a:r>
            <a:endParaRPr lang="en-US" sz="1000" dirty="0"/>
          </a:p>
          <a:p>
            <a:pPr marL="0" indent="0" algn="ctr">
              <a:buNone/>
            </a:pPr>
            <a:r>
              <a:rPr lang="en-US" sz="1000" dirty="0">
                <a:solidFill>
                  <a:srgbClr val="D6EAF8"/>
                </a:solidFill>
                <a:latin typeface="Calibri" panose="020F0502020204030204" pitchFamily="34" charset="0"/>
                <a:ea typeface="Calibri" panose="020F0502020204030204" pitchFamily="34" charset="-122"/>
                <a:cs typeface="Calibri" panose="020F0502020204030204" pitchFamily="34" charset="-120"/>
              </a:rPr>
              <a:t>Enerji Geri Ödeme</a:t>
            </a:r>
            <a:endParaRPr lang="en-US" sz="1000" dirty="0"/>
          </a:p>
        </p:txBody>
      </p:sp>
      <p:sp>
        <p:nvSpPr>
          <p:cNvPr id="13" name="Shape 11"/>
          <p:cNvSpPr/>
          <p:nvPr/>
        </p:nvSpPr>
        <p:spPr>
          <a:xfrm>
            <a:off x="4434840" y="777240"/>
            <a:ext cx="1920240" cy="914400"/>
          </a:xfrm>
          <a:prstGeom prst="rect">
            <a:avLst/>
          </a:prstGeom>
          <a:solidFill>
            <a:srgbClr val="1D6A72"/>
          </a:solidFill>
          <a:ln w="12700">
            <a:solidFill>
              <a:srgbClr val="1D6A72"/>
            </a:solidFill>
            <a:prstDash val="solid"/>
          </a:ln>
          <a:effectLst>
            <a:outerShdw blurRad="76200" dist="38100" dir="8100000" algn="bl" rotWithShape="0">
              <a:srgbClr val="000000">
                <a:alpha val="15000"/>
              </a:srgbClr>
            </a:outerShdw>
          </a:effectLst>
        </p:spPr>
        <p:txBody>
          <a:bodyPr/>
          <a:lstStyle/>
          <a:p>
            <a:endParaRPr lang="tr-TR"/>
          </a:p>
        </p:txBody>
      </p:sp>
      <p:sp>
        <p:nvSpPr>
          <p:cNvPr id="14" name="Text 12"/>
          <p:cNvSpPr/>
          <p:nvPr/>
        </p:nvSpPr>
        <p:spPr>
          <a:xfrm>
            <a:off x="4434840" y="822960"/>
            <a:ext cx="1920240" cy="530352"/>
          </a:xfrm>
          <a:prstGeom prst="rect">
            <a:avLst/>
          </a:prstGeom>
          <a:noFill/>
        </p:spPr>
        <p:txBody>
          <a:bodyPr wrap="square" rtlCol="0" anchor="ctr"/>
          <a:lstStyle/>
          <a:p>
            <a:pPr marL="0" indent="0" algn="ctr">
              <a:buNone/>
            </a:pPr>
            <a:r>
              <a:rPr lang="en-US" sz="2800" b="1" dirty="0">
                <a:solidFill>
                  <a:srgbClr val="FFFFFF"/>
                </a:solidFill>
                <a:latin typeface="Calibri" panose="020F0502020204030204" pitchFamily="34" charset="0"/>
                <a:ea typeface="Calibri" panose="020F0502020204030204" pitchFamily="34" charset="-122"/>
                <a:cs typeface="Calibri" panose="020F0502020204030204" pitchFamily="34" charset="-120"/>
              </a:rPr>
              <a:t>30–40</a:t>
            </a:r>
            <a:endParaRPr lang="en-US" sz="2800" dirty="0"/>
          </a:p>
        </p:txBody>
      </p:sp>
      <p:sp>
        <p:nvSpPr>
          <p:cNvPr id="15" name="Text 13"/>
          <p:cNvSpPr/>
          <p:nvPr/>
        </p:nvSpPr>
        <p:spPr>
          <a:xfrm>
            <a:off x="4434840" y="1325880"/>
            <a:ext cx="1920240" cy="347472"/>
          </a:xfrm>
          <a:prstGeom prst="rect">
            <a:avLst/>
          </a:prstGeom>
          <a:noFill/>
        </p:spPr>
        <p:txBody>
          <a:bodyPr wrap="square" rtlCol="0" anchor="ctr"/>
          <a:lstStyle/>
          <a:p>
            <a:pPr marL="0" indent="0" algn="ctr">
              <a:buNone/>
            </a:pPr>
            <a:r>
              <a:rPr lang="en-US" sz="1000" dirty="0">
                <a:solidFill>
                  <a:srgbClr val="D6EAF8"/>
                </a:solidFill>
                <a:latin typeface="Calibri" panose="020F0502020204030204" pitchFamily="34" charset="0"/>
                <a:ea typeface="Calibri" panose="020F0502020204030204" pitchFamily="34" charset="-122"/>
                <a:cs typeface="Calibri" panose="020F0502020204030204" pitchFamily="34" charset="-120"/>
              </a:rPr>
              <a:t>GPBT (Yıl)</a:t>
            </a:r>
            <a:endParaRPr lang="en-US" sz="1000" dirty="0"/>
          </a:p>
          <a:p>
            <a:pPr marL="0" indent="0" algn="ctr">
              <a:buNone/>
            </a:pPr>
            <a:r>
              <a:rPr lang="en-US" sz="1000" dirty="0">
                <a:solidFill>
                  <a:srgbClr val="D6EAF8"/>
                </a:solidFill>
                <a:latin typeface="Calibri" panose="020F0502020204030204" pitchFamily="34" charset="0"/>
                <a:ea typeface="Calibri" panose="020F0502020204030204" pitchFamily="34" charset="-122"/>
                <a:cs typeface="Calibri" panose="020F0502020204030204" pitchFamily="34" charset="-120"/>
              </a:rPr>
              <a:t>Finansal Geri Ödeme</a:t>
            </a:r>
            <a:endParaRPr lang="en-US" sz="1000" dirty="0"/>
          </a:p>
        </p:txBody>
      </p:sp>
      <p:sp>
        <p:nvSpPr>
          <p:cNvPr id="16" name="Shape 14"/>
          <p:cNvSpPr/>
          <p:nvPr/>
        </p:nvSpPr>
        <p:spPr>
          <a:xfrm>
            <a:off x="6492240" y="777240"/>
            <a:ext cx="1920240" cy="914400"/>
          </a:xfrm>
          <a:prstGeom prst="rect">
            <a:avLst/>
          </a:prstGeom>
          <a:solidFill>
            <a:srgbClr val="922B21"/>
          </a:solidFill>
          <a:ln w="12700">
            <a:solidFill>
              <a:srgbClr val="922B21"/>
            </a:solidFill>
            <a:prstDash val="solid"/>
          </a:ln>
          <a:effectLst>
            <a:outerShdw blurRad="76200" dist="38100" dir="8100000" algn="bl" rotWithShape="0">
              <a:srgbClr val="000000">
                <a:alpha val="15000"/>
              </a:srgbClr>
            </a:outerShdw>
          </a:effectLst>
        </p:spPr>
        <p:txBody>
          <a:bodyPr/>
          <a:lstStyle/>
          <a:p>
            <a:endParaRPr lang="tr-TR"/>
          </a:p>
        </p:txBody>
      </p:sp>
      <p:sp>
        <p:nvSpPr>
          <p:cNvPr id="17" name="Text 15"/>
          <p:cNvSpPr/>
          <p:nvPr/>
        </p:nvSpPr>
        <p:spPr>
          <a:xfrm>
            <a:off x="6492240" y="822960"/>
            <a:ext cx="1920240" cy="530352"/>
          </a:xfrm>
          <a:prstGeom prst="rect">
            <a:avLst/>
          </a:prstGeom>
          <a:noFill/>
        </p:spPr>
        <p:txBody>
          <a:bodyPr wrap="square" rtlCol="0" anchor="ctr"/>
          <a:lstStyle/>
          <a:p>
            <a:pPr marL="0" indent="0" algn="ctr">
              <a:buNone/>
            </a:pPr>
            <a:r>
              <a:rPr lang="en-US" sz="2800" b="1" dirty="0">
                <a:solidFill>
                  <a:srgbClr val="FFFFFF"/>
                </a:solidFill>
                <a:latin typeface="Calibri" panose="020F0502020204030204" pitchFamily="34" charset="0"/>
                <a:ea typeface="Calibri" panose="020F0502020204030204" pitchFamily="34" charset="-122"/>
                <a:cs typeface="Calibri" panose="020F0502020204030204" pitchFamily="34" charset="-120"/>
              </a:rPr>
              <a:t>ELENDI</a:t>
            </a:r>
            <a:endParaRPr lang="en-US" sz="2800" dirty="0"/>
          </a:p>
        </p:txBody>
      </p:sp>
      <p:sp>
        <p:nvSpPr>
          <p:cNvPr id="18" name="Text 16"/>
          <p:cNvSpPr/>
          <p:nvPr/>
        </p:nvSpPr>
        <p:spPr>
          <a:xfrm>
            <a:off x="6492240" y="1325880"/>
            <a:ext cx="1920240" cy="347472"/>
          </a:xfrm>
          <a:prstGeom prst="rect">
            <a:avLst/>
          </a:prstGeom>
          <a:noFill/>
        </p:spPr>
        <p:txBody>
          <a:bodyPr wrap="square" rtlCol="0" anchor="ctr"/>
          <a:lstStyle/>
          <a:p>
            <a:pPr marL="0" indent="0" algn="ctr">
              <a:buNone/>
            </a:pPr>
            <a:r>
              <a:rPr lang="en-US" sz="1000" dirty="0">
                <a:solidFill>
                  <a:srgbClr val="D6EAF8"/>
                </a:solidFill>
                <a:latin typeface="Calibri" panose="020F0502020204030204" pitchFamily="34" charset="0"/>
                <a:ea typeface="Calibri" panose="020F0502020204030204" pitchFamily="34" charset="-122"/>
                <a:cs typeface="Calibri" panose="020F0502020204030204" pitchFamily="34" charset="-120"/>
              </a:rPr>
              <a:t>İzmir için</a:t>
            </a:r>
            <a:endParaRPr lang="en-US" sz="1000" dirty="0"/>
          </a:p>
          <a:p>
            <a:pPr marL="0" indent="0" algn="ctr">
              <a:buNone/>
            </a:pPr>
            <a:r>
              <a:rPr lang="en-US" sz="1000" dirty="0">
                <a:solidFill>
                  <a:srgbClr val="D6EAF8"/>
                </a:solidFill>
                <a:latin typeface="Calibri" panose="020F0502020204030204" pitchFamily="34" charset="0"/>
                <a:ea typeface="Calibri" panose="020F0502020204030204" pitchFamily="34" charset="-122"/>
                <a:cs typeface="Calibri" panose="020F0502020204030204" pitchFamily="34" charset="-120"/>
              </a:rPr>
              <a:t>Uygun DEĞİL</a:t>
            </a:r>
            <a:endParaRPr lang="en-US" sz="1000" dirty="0"/>
          </a:p>
        </p:txBody>
      </p:sp>
      <p:graphicFrame>
        <p:nvGraphicFramePr>
          <p:cNvPr id="19" name="Table 0"/>
          <p:cNvGraphicFramePr>
            <a:graphicFrameLocks noGrp="1"/>
          </p:cNvGraphicFramePr>
          <p:nvPr/>
        </p:nvGraphicFramePr>
        <p:xfrm>
          <a:off x="320040" y="1828800"/>
          <a:ext cx="8503920" cy="1737360"/>
        </p:xfrm>
        <a:graphic>
          <a:graphicData uri="http://schemas.openxmlformats.org/drawingml/2006/table">
            <a:tbl>
              <a:tblPr/>
              <a:tblGrid>
                <a:gridCol w="2560320"/>
                <a:gridCol w="3657600"/>
                <a:gridCol w="2286000"/>
              </a:tblGrid>
              <a:tr h="347472">
                <a:tc>
                  <a:txBody>
                    <a:bodyPr/>
                    <a:lstStyle/>
                    <a:p>
                      <a:pPr marL="0" indent="0" algn="ctr">
                        <a:buNone/>
                      </a:pPr>
                      <a:r>
                        <a:rPr lang="en-US" sz="1000" b="1" dirty="0">
                          <a:solidFill>
                            <a:srgbClr val="FFFFFF"/>
                          </a:solidFill>
                          <a:latin typeface="Calibri" panose="020F0502020204030204" pitchFamily="34" charset="0"/>
                          <a:ea typeface="Calibri" panose="020F0502020204030204" pitchFamily="34" charset="-122"/>
                          <a:cs typeface="Calibri" panose="020F0502020204030204" pitchFamily="34" charset="-120"/>
                        </a:rPr>
                        <a:t>Risk Faktörü</a:t>
                      </a:r>
                      <a:endParaRPr lang="en-US" sz="1000" dirty="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E0E6ED"/>
                      </a:solidFill>
                      <a:prstDash val="solid"/>
                      <a:round/>
                      <a:headEnd type="none" w="med" len="med"/>
                      <a:tailEnd type="none" w="med" len="med"/>
                    </a:lnL>
                    <a:lnR w="6350" cap="flat" cmpd="sng" algn="ctr">
                      <a:solidFill>
                        <a:srgbClr val="E0E6ED"/>
                      </a:solidFill>
                      <a:prstDash val="solid"/>
                      <a:round/>
                      <a:headEnd type="none" w="med" len="med"/>
                      <a:tailEnd type="none" w="med" len="med"/>
                    </a:lnR>
                    <a:lnT w="6350" cap="flat" cmpd="sng" algn="ctr">
                      <a:solidFill>
                        <a:srgbClr val="E0E6ED"/>
                      </a:solidFill>
                      <a:prstDash val="solid"/>
                      <a:round/>
                      <a:headEnd type="none" w="med" len="med"/>
                      <a:tailEnd type="none" w="med" len="med"/>
                    </a:lnT>
                    <a:lnB w="6350" cap="flat" cmpd="sng" algn="ctr">
                      <a:solidFill>
                        <a:srgbClr val="E0E6ED"/>
                      </a:solidFill>
                      <a:prstDash val="solid"/>
                      <a:round/>
                      <a:headEnd type="none" w="med" len="med"/>
                      <a:tailEnd type="none" w="med" len="med"/>
                    </a:lnB>
                    <a:solidFill>
                      <a:srgbClr val="922B21"/>
                    </a:solidFill>
                  </a:tcPr>
                </a:tc>
                <a:tc>
                  <a:txBody>
                    <a:bodyPr/>
                    <a:lstStyle/>
                    <a:p>
                      <a:pPr marL="0" indent="0" algn="ctr">
                        <a:buNone/>
                      </a:pPr>
                      <a:r>
                        <a:rPr lang="en-US" sz="1000" b="1" dirty="0">
                          <a:solidFill>
                            <a:srgbClr val="FFFFFF"/>
                          </a:solidFill>
                          <a:latin typeface="Calibri" panose="020F0502020204030204" pitchFamily="34" charset="0"/>
                          <a:ea typeface="Calibri" panose="020F0502020204030204" pitchFamily="34" charset="-122"/>
                          <a:cs typeface="Calibri" panose="020F0502020204030204" pitchFamily="34" charset="-120"/>
                        </a:rPr>
                        <a:t>İzmir Durumu</a:t>
                      </a:r>
                      <a:endParaRPr lang="en-US" sz="1000" dirty="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E0E6ED"/>
                      </a:solidFill>
                      <a:prstDash val="solid"/>
                      <a:round/>
                      <a:headEnd type="none" w="med" len="med"/>
                      <a:tailEnd type="none" w="med" len="med"/>
                    </a:lnL>
                    <a:lnR w="6350" cap="flat" cmpd="sng" algn="ctr">
                      <a:solidFill>
                        <a:srgbClr val="E0E6ED"/>
                      </a:solidFill>
                      <a:prstDash val="solid"/>
                      <a:round/>
                      <a:headEnd type="none" w="med" len="med"/>
                      <a:tailEnd type="none" w="med" len="med"/>
                    </a:lnR>
                    <a:lnT w="6350" cap="flat" cmpd="sng" algn="ctr">
                      <a:solidFill>
                        <a:srgbClr val="E0E6ED"/>
                      </a:solidFill>
                      <a:prstDash val="solid"/>
                      <a:round/>
                      <a:headEnd type="none" w="med" len="med"/>
                      <a:tailEnd type="none" w="med" len="med"/>
                    </a:lnT>
                    <a:lnB w="6350" cap="flat" cmpd="sng" algn="ctr">
                      <a:solidFill>
                        <a:srgbClr val="E0E6ED"/>
                      </a:solidFill>
                      <a:prstDash val="solid"/>
                      <a:round/>
                      <a:headEnd type="none" w="med" len="med"/>
                      <a:tailEnd type="none" w="med" len="med"/>
                    </a:lnB>
                    <a:solidFill>
                      <a:srgbClr val="922B21"/>
                    </a:solidFill>
                  </a:tcPr>
                </a:tc>
                <a:tc>
                  <a:txBody>
                    <a:bodyPr/>
                    <a:lstStyle/>
                    <a:p>
                      <a:pPr marL="0" indent="0" algn="ctr">
                        <a:buNone/>
                      </a:pPr>
                      <a:r>
                        <a:rPr lang="en-US" sz="1000" b="1" dirty="0">
                          <a:solidFill>
                            <a:srgbClr val="FFFFFF"/>
                          </a:solidFill>
                          <a:latin typeface="Calibri" panose="020F0502020204030204" pitchFamily="34" charset="0"/>
                          <a:ea typeface="Calibri" panose="020F0502020204030204" pitchFamily="34" charset="-122"/>
                          <a:cs typeface="Calibri" panose="020F0502020204030204" pitchFamily="34" charset="-120"/>
                        </a:rPr>
                        <a:t>Standart / Kriter</a:t>
                      </a:r>
                      <a:endParaRPr lang="en-US" sz="1000" dirty="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E0E6ED"/>
                      </a:solidFill>
                      <a:prstDash val="solid"/>
                      <a:round/>
                      <a:headEnd type="none" w="med" len="med"/>
                      <a:tailEnd type="none" w="med" len="med"/>
                    </a:lnL>
                    <a:lnR w="6350" cap="flat" cmpd="sng" algn="ctr">
                      <a:solidFill>
                        <a:srgbClr val="E0E6ED"/>
                      </a:solidFill>
                      <a:prstDash val="solid"/>
                      <a:round/>
                      <a:headEnd type="none" w="med" len="med"/>
                      <a:tailEnd type="none" w="med" len="med"/>
                    </a:lnR>
                    <a:lnT w="6350" cap="flat" cmpd="sng" algn="ctr">
                      <a:solidFill>
                        <a:srgbClr val="E0E6ED"/>
                      </a:solidFill>
                      <a:prstDash val="solid"/>
                      <a:round/>
                      <a:headEnd type="none" w="med" len="med"/>
                      <a:tailEnd type="none" w="med" len="med"/>
                    </a:lnT>
                    <a:lnB w="6350" cap="flat" cmpd="sng" algn="ctr">
                      <a:solidFill>
                        <a:srgbClr val="E0E6ED"/>
                      </a:solidFill>
                      <a:prstDash val="solid"/>
                      <a:round/>
                      <a:headEnd type="none" w="med" len="med"/>
                      <a:tailEnd type="none" w="med" len="med"/>
                    </a:lnB>
                    <a:solidFill>
                      <a:srgbClr val="922B21"/>
                    </a:solidFill>
                  </a:tcPr>
                </a:tc>
              </a:tr>
              <a:tr h="347472">
                <a:tc>
                  <a:txBody>
                    <a:bodyPr/>
                    <a:lstStyle/>
                    <a:p>
                      <a:pPr marL="0" indent="0" algn="l">
                        <a:buNone/>
                      </a:pPr>
                      <a:r>
                        <a:rPr lang="en-US" sz="950" dirty="0">
                          <a:solidFill>
                            <a:srgbClr val="212121"/>
                          </a:solidFill>
                          <a:latin typeface="Calibri" panose="020F0502020204030204" pitchFamily="34" charset="0"/>
                          <a:ea typeface="Calibri" panose="020F0502020204030204" pitchFamily="34" charset="-122"/>
                          <a:cs typeface="Calibri" panose="020F0502020204030204" pitchFamily="34" charset="-120"/>
                        </a:rPr>
                        <a:t>Depremsellik</a:t>
                      </a:r>
                      <a:endParaRPr lang="en-US" sz="950" dirty="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E0E6ED"/>
                      </a:solidFill>
                      <a:prstDash val="solid"/>
                      <a:round/>
                      <a:headEnd type="none" w="med" len="med"/>
                      <a:tailEnd type="none" w="med" len="med"/>
                    </a:lnL>
                    <a:lnR w="6350" cap="flat" cmpd="sng" algn="ctr">
                      <a:solidFill>
                        <a:srgbClr val="E0E6ED"/>
                      </a:solidFill>
                      <a:prstDash val="solid"/>
                      <a:round/>
                      <a:headEnd type="none" w="med" len="med"/>
                      <a:tailEnd type="none" w="med" len="med"/>
                    </a:lnR>
                    <a:lnT w="6350" cap="flat" cmpd="sng" algn="ctr">
                      <a:solidFill>
                        <a:srgbClr val="E0E6ED"/>
                      </a:solidFill>
                      <a:prstDash val="solid"/>
                      <a:round/>
                      <a:headEnd type="none" w="med" len="med"/>
                      <a:tailEnd type="none" w="med" len="med"/>
                    </a:lnT>
                    <a:lnB w="6350" cap="flat" cmpd="sng" algn="ctr">
                      <a:solidFill>
                        <a:srgbClr val="E0E6ED"/>
                      </a:solidFill>
                      <a:prstDash val="solid"/>
                      <a:round/>
                      <a:headEnd type="none" w="med" len="med"/>
                      <a:tailEnd type="none" w="med" len="med"/>
                    </a:lnB>
                    <a:solidFill>
                      <a:srgbClr val="F4F6F8"/>
                    </a:solidFill>
                  </a:tcPr>
                </a:tc>
                <a:tc>
                  <a:txBody>
                    <a:bodyPr/>
                    <a:lstStyle/>
                    <a:p>
                      <a:pPr marL="0" indent="0" algn="ctr">
                        <a:buNone/>
                      </a:pPr>
                      <a:r>
                        <a:rPr lang="en-US" sz="950" dirty="0">
                          <a:solidFill>
                            <a:srgbClr val="212121"/>
                          </a:solidFill>
                          <a:latin typeface="Calibri" panose="020F0502020204030204" pitchFamily="34" charset="0"/>
                          <a:ea typeface="Calibri" panose="020F0502020204030204" pitchFamily="34" charset="-122"/>
                          <a:cs typeface="Calibri" panose="020F0502020204030204" pitchFamily="34" charset="-120"/>
                        </a:rPr>
                        <a:t>İzmir + Tuzla + Seferihisar Fayı; 30.10.2020 Mw 6,9</a:t>
                      </a:r>
                      <a:endParaRPr lang="en-US" sz="950" dirty="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E0E6ED"/>
                      </a:solidFill>
                      <a:prstDash val="solid"/>
                      <a:round/>
                      <a:headEnd type="none" w="med" len="med"/>
                      <a:tailEnd type="none" w="med" len="med"/>
                    </a:lnL>
                    <a:lnR w="6350" cap="flat" cmpd="sng" algn="ctr">
                      <a:solidFill>
                        <a:srgbClr val="E0E6ED"/>
                      </a:solidFill>
                      <a:prstDash val="solid"/>
                      <a:round/>
                      <a:headEnd type="none" w="med" len="med"/>
                      <a:tailEnd type="none" w="med" len="med"/>
                    </a:lnR>
                    <a:lnT w="6350" cap="flat" cmpd="sng" algn="ctr">
                      <a:solidFill>
                        <a:srgbClr val="E0E6ED"/>
                      </a:solidFill>
                      <a:prstDash val="solid"/>
                      <a:round/>
                      <a:headEnd type="none" w="med" len="med"/>
                      <a:tailEnd type="none" w="med" len="med"/>
                    </a:lnT>
                    <a:lnB w="6350" cap="flat" cmpd="sng" algn="ctr">
                      <a:solidFill>
                        <a:srgbClr val="E0E6ED"/>
                      </a:solidFill>
                      <a:prstDash val="solid"/>
                      <a:round/>
                      <a:headEnd type="none" w="med" len="med"/>
                      <a:tailEnd type="none" w="med" len="med"/>
                    </a:lnB>
                    <a:solidFill>
                      <a:srgbClr val="F4F6F8"/>
                    </a:solidFill>
                  </a:tcPr>
                </a:tc>
                <a:tc>
                  <a:txBody>
                    <a:bodyPr/>
                    <a:lstStyle/>
                    <a:p>
                      <a:pPr marL="0" indent="0" algn="ctr">
                        <a:buNone/>
                      </a:pPr>
                      <a:r>
                        <a:rPr lang="en-US" sz="950" dirty="0">
                          <a:solidFill>
                            <a:srgbClr val="212121"/>
                          </a:solidFill>
                          <a:latin typeface="Calibri" panose="020F0502020204030204" pitchFamily="34" charset="0"/>
                          <a:ea typeface="Calibri" panose="020F0502020204030204" pitchFamily="34" charset="-122"/>
                          <a:cs typeface="Calibri" panose="020F0502020204030204" pitchFamily="34" charset="-120"/>
                        </a:rPr>
                        <a:t>IAEA SSG-9: Aktif faya min. 8 km zorunlu</a:t>
                      </a:r>
                      <a:endParaRPr lang="en-US" sz="950" dirty="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E0E6ED"/>
                      </a:solidFill>
                      <a:prstDash val="solid"/>
                      <a:round/>
                      <a:headEnd type="none" w="med" len="med"/>
                      <a:tailEnd type="none" w="med" len="med"/>
                    </a:lnL>
                    <a:lnR w="6350" cap="flat" cmpd="sng" algn="ctr">
                      <a:solidFill>
                        <a:srgbClr val="E0E6ED"/>
                      </a:solidFill>
                      <a:prstDash val="solid"/>
                      <a:round/>
                      <a:headEnd type="none" w="med" len="med"/>
                      <a:tailEnd type="none" w="med" len="med"/>
                    </a:lnR>
                    <a:lnT w="6350" cap="flat" cmpd="sng" algn="ctr">
                      <a:solidFill>
                        <a:srgbClr val="E0E6ED"/>
                      </a:solidFill>
                      <a:prstDash val="solid"/>
                      <a:round/>
                      <a:headEnd type="none" w="med" len="med"/>
                      <a:tailEnd type="none" w="med" len="med"/>
                    </a:lnT>
                    <a:lnB w="6350" cap="flat" cmpd="sng" algn="ctr">
                      <a:solidFill>
                        <a:srgbClr val="E0E6ED"/>
                      </a:solidFill>
                      <a:prstDash val="solid"/>
                      <a:round/>
                      <a:headEnd type="none" w="med" len="med"/>
                      <a:tailEnd type="none" w="med" len="med"/>
                    </a:lnB>
                    <a:solidFill>
                      <a:srgbClr val="F4F6F8"/>
                    </a:solidFill>
                  </a:tcPr>
                </a:tc>
              </a:tr>
              <a:tr h="347472">
                <a:tc>
                  <a:txBody>
                    <a:bodyPr/>
                    <a:lstStyle/>
                    <a:p>
                      <a:pPr marL="0" indent="0" algn="l">
                        <a:buNone/>
                      </a:pPr>
                      <a:r>
                        <a:rPr lang="en-US" sz="950" dirty="0">
                          <a:solidFill>
                            <a:srgbClr val="212121"/>
                          </a:solidFill>
                          <a:latin typeface="Calibri" panose="020F0502020204030204" pitchFamily="34" charset="0"/>
                          <a:ea typeface="Calibri" panose="020F0502020204030204" pitchFamily="34" charset="-122"/>
                          <a:cs typeface="Calibri" panose="020F0502020204030204" pitchFamily="34" charset="-120"/>
                        </a:rPr>
                        <a:t>Nüfus / Tahliye</a:t>
                      </a:r>
                      <a:endParaRPr lang="en-US" sz="950" dirty="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E0E6ED"/>
                      </a:solidFill>
                      <a:prstDash val="solid"/>
                      <a:round/>
                      <a:headEnd type="none" w="med" len="med"/>
                      <a:tailEnd type="none" w="med" len="med"/>
                    </a:lnL>
                    <a:lnR w="6350" cap="flat" cmpd="sng" algn="ctr">
                      <a:solidFill>
                        <a:srgbClr val="E0E6ED"/>
                      </a:solidFill>
                      <a:prstDash val="solid"/>
                      <a:round/>
                      <a:headEnd type="none" w="med" len="med"/>
                      <a:tailEnd type="none" w="med" len="med"/>
                    </a:lnR>
                    <a:lnT w="6350" cap="flat" cmpd="sng" algn="ctr">
                      <a:solidFill>
                        <a:srgbClr val="E0E6ED"/>
                      </a:solidFill>
                      <a:prstDash val="solid"/>
                      <a:round/>
                      <a:headEnd type="none" w="med" len="med"/>
                      <a:tailEnd type="none" w="med" len="med"/>
                    </a:lnT>
                    <a:lnB w="6350" cap="flat" cmpd="sng" algn="ctr">
                      <a:solidFill>
                        <a:srgbClr val="E0E6ED"/>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212121"/>
                          </a:solidFill>
                          <a:latin typeface="Calibri" panose="020F0502020204030204" pitchFamily="34" charset="0"/>
                          <a:ea typeface="Calibri" panose="020F0502020204030204" pitchFamily="34" charset="-122"/>
                          <a:cs typeface="Calibri" panose="020F0502020204030204" pitchFamily="34" charset="-120"/>
                        </a:rPr>
                        <a:t>4,5 milyon nüfus; 30 km yarıçapta milyonlarca kişi</a:t>
                      </a:r>
                      <a:endParaRPr lang="en-US" sz="950" dirty="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E0E6ED"/>
                      </a:solidFill>
                      <a:prstDash val="solid"/>
                      <a:round/>
                      <a:headEnd type="none" w="med" len="med"/>
                      <a:tailEnd type="none" w="med" len="med"/>
                    </a:lnL>
                    <a:lnR w="6350" cap="flat" cmpd="sng" algn="ctr">
                      <a:solidFill>
                        <a:srgbClr val="E0E6ED"/>
                      </a:solidFill>
                      <a:prstDash val="solid"/>
                      <a:round/>
                      <a:headEnd type="none" w="med" len="med"/>
                      <a:tailEnd type="none" w="med" len="med"/>
                    </a:lnR>
                    <a:lnT w="6350" cap="flat" cmpd="sng" algn="ctr">
                      <a:solidFill>
                        <a:srgbClr val="E0E6ED"/>
                      </a:solidFill>
                      <a:prstDash val="solid"/>
                      <a:round/>
                      <a:headEnd type="none" w="med" len="med"/>
                      <a:tailEnd type="none" w="med" len="med"/>
                    </a:lnT>
                    <a:lnB w="6350" cap="flat" cmpd="sng" algn="ctr">
                      <a:solidFill>
                        <a:srgbClr val="E0E6ED"/>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212121"/>
                          </a:solidFill>
                          <a:latin typeface="Calibri" panose="020F0502020204030204" pitchFamily="34" charset="0"/>
                          <a:ea typeface="Calibri" panose="020F0502020204030204" pitchFamily="34" charset="-122"/>
                          <a:cs typeface="Calibri" panose="020F0502020204030204" pitchFamily="34" charset="-120"/>
                        </a:rPr>
                        <a:t>EPZ tahliye planı operasyonel değil</a:t>
                      </a:r>
                      <a:endParaRPr lang="en-US" sz="950" dirty="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E0E6ED"/>
                      </a:solidFill>
                      <a:prstDash val="solid"/>
                      <a:round/>
                      <a:headEnd type="none" w="med" len="med"/>
                      <a:tailEnd type="none" w="med" len="med"/>
                    </a:lnL>
                    <a:lnR w="6350" cap="flat" cmpd="sng" algn="ctr">
                      <a:solidFill>
                        <a:srgbClr val="E0E6ED"/>
                      </a:solidFill>
                      <a:prstDash val="solid"/>
                      <a:round/>
                      <a:headEnd type="none" w="med" len="med"/>
                      <a:tailEnd type="none" w="med" len="med"/>
                    </a:lnR>
                    <a:lnT w="6350" cap="flat" cmpd="sng" algn="ctr">
                      <a:solidFill>
                        <a:srgbClr val="E0E6ED"/>
                      </a:solidFill>
                      <a:prstDash val="solid"/>
                      <a:round/>
                      <a:headEnd type="none" w="med" len="med"/>
                      <a:tailEnd type="none" w="med" len="med"/>
                    </a:lnT>
                    <a:lnB w="6350" cap="flat" cmpd="sng" algn="ctr">
                      <a:solidFill>
                        <a:srgbClr val="E0E6ED"/>
                      </a:solidFill>
                      <a:prstDash val="solid"/>
                      <a:round/>
                      <a:headEnd type="none" w="med" len="med"/>
                      <a:tailEnd type="none" w="med" len="med"/>
                    </a:lnB>
                    <a:solidFill>
                      <a:srgbClr val="FFFFFF"/>
                    </a:solidFill>
                  </a:tcPr>
                </a:tc>
              </a:tr>
              <a:tr h="347472">
                <a:tc>
                  <a:txBody>
                    <a:bodyPr/>
                    <a:lstStyle/>
                    <a:p>
                      <a:pPr marL="0" indent="0" algn="l">
                        <a:buNone/>
                      </a:pPr>
                      <a:r>
                        <a:rPr lang="en-US" sz="950" dirty="0">
                          <a:solidFill>
                            <a:srgbClr val="212121"/>
                          </a:solidFill>
                          <a:latin typeface="Calibri" panose="020F0502020204030204" pitchFamily="34" charset="0"/>
                          <a:ea typeface="Calibri" panose="020F0502020204030204" pitchFamily="34" charset="-122"/>
                          <a:cs typeface="Calibri" panose="020F0502020204030204" pitchFamily="34" charset="-120"/>
                        </a:rPr>
                        <a:t>Jeopolitik</a:t>
                      </a:r>
                      <a:endParaRPr lang="en-US" sz="950" dirty="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E0E6ED"/>
                      </a:solidFill>
                      <a:prstDash val="solid"/>
                      <a:round/>
                      <a:headEnd type="none" w="med" len="med"/>
                      <a:tailEnd type="none" w="med" len="med"/>
                    </a:lnL>
                    <a:lnR w="6350" cap="flat" cmpd="sng" algn="ctr">
                      <a:solidFill>
                        <a:srgbClr val="E0E6ED"/>
                      </a:solidFill>
                      <a:prstDash val="solid"/>
                      <a:round/>
                      <a:headEnd type="none" w="med" len="med"/>
                      <a:tailEnd type="none" w="med" len="med"/>
                    </a:lnR>
                    <a:lnT w="6350" cap="flat" cmpd="sng" algn="ctr">
                      <a:solidFill>
                        <a:srgbClr val="E0E6ED"/>
                      </a:solidFill>
                      <a:prstDash val="solid"/>
                      <a:round/>
                      <a:headEnd type="none" w="med" len="med"/>
                      <a:tailEnd type="none" w="med" len="med"/>
                    </a:lnT>
                    <a:lnB w="6350" cap="flat" cmpd="sng" algn="ctr">
                      <a:solidFill>
                        <a:srgbClr val="E0E6ED"/>
                      </a:solidFill>
                      <a:prstDash val="solid"/>
                      <a:round/>
                      <a:headEnd type="none" w="med" len="med"/>
                      <a:tailEnd type="none" w="med" len="med"/>
                    </a:lnB>
                    <a:solidFill>
                      <a:srgbClr val="F4F6F8"/>
                    </a:solidFill>
                  </a:tcPr>
                </a:tc>
                <a:tc>
                  <a:txBody>
                    <a:bodyPr/>
                    <a:lstStyle/>
                    <a:p>
                      <a:pPr marL="0" indent="0" algn="ctr">
                        <a:buNone/>
                      </a:pPr>
                      <a:r>
                        <a:rPr lang="en-US" sz="950" dirty="0">
                          <a:solidFill>
                            <a:srgbClr val="212121"/>
                          </a:solidFill>
                          <a:latin typeface="Calibri" panose="020F0502020204030204" pitchFamily="34" charset="0"/>
                          <a:ea typeface="Calibri" panose="020F0502020204030204" pitchFamily="34" charset="-122"/>
                          <a:cs typeface="Calibri" panose="020F0502020204030204" pitchFamily="34" charset="-120"/>
                        </a:rPr>
                        <a:t>Ege kıyısı; Yunanistan kara suları tartışmaları</a:t>
                      </a:r>
                      <a:endParaRPr lang="en-US" sz="950" dirty="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E0E6ED"/>
                      </a:solidFill>
                      <a:prstDash val="solid"/>
                      <a:round/>
                      <a:headEnd type="none" w="med" len="med"/>
                      <a:tailEnd type="none" w="med" len="med"/>
                    </a:lnL>
                    <a:lnR w="6350" cap="flat" cmpd="sng" algn="ctr">
                      <a:solidFill>
                        <a:srgbClr val="E0E6ED"/>
                      </a:solidFill>
                      <a:prstDash val="solid"/>
                      <a:round/>
                      <a:headEnd type="none" w="med" len="med"/>
                      <a:tailEnd type="none" w="med" len="med"/>
                    </a:lnR>
                    <a:lnT w="6350" cap="flat" cmpd="sng" algn="ctr">
                      <a:solidFill>
                        <a:srgbClr val="E0E6ED"/>
                      </a:solidFill>
                      <a:prstDash val="solid"/>
                      <a:round/>
                      <a:headEnd type="none" w="med" len="med"/>
                      <a:tailEnd type="none" w="med" len="med"/>
                    </a:lnT>
                    <a:lnB w="6350" cap="flat" cmpd="sng" algn="ctr">
                      <a:solidFill>
                        <a:srgbClr val="E0E6ED"/>
                      </a:solidFill>
                      <a:prstDash val="solid"/>
                      <a:round/>
                      <a:headEnd type="none" w="med" len="med"/>
                      <a:tailEnd type="none" w="med" len="med"/>
                    </a:lnB>
                    <a:solidFill>
                      <a:srgbClr val="F4F6F8"/>
                    </a:solidFill>
                  </a:tcPr>
                </a:tc>
                <a:tc>
                  <a:txBody>
                    <a:bodyPr/>
                    <a:lstStyle/>
                    <a:p>
                      <a:pPr marL="0" indent="0" algn="ctr">
                        <a:buNone/>
                      </a:pPr>
                      <a:r>
                        <a:rPr lang="en-US" sz="950" dirty="0">
                          <a:solidFill>
                            <a:srgbClr val="212121"/>
                          </a:solidFill>
                          <a:latin typeface="Calibri" panose="020F0502020204030204" pitchFamily="34" charset="0"/>
                          <a:ea typeface="Calibri" panose="020F0502020204030204" pitchFamily="34" charset="-122"/>
                          <a:cs typeface="Calibri" panose="020F0502020204030204" pitchFamily="34" charset="-120"/>
                        </a:rPr>
                        <a:t>Espoo Sözleşmesi sınır ötesi ÇED</a:t>
                      </a:r>
                      <a:endParaRPr lang="en-US" sz="950" dirty="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E0E6ED"/>
                      </a:solidFill>
                      <a:prstDash val="solid"/>
                      <a:round/>
                      <a:headEnd type="none" w="med" len="med"/>
                      <a:tailEnd type="none" w="med" len="med"/>
                    </a:lnL>
                    <a:lnR w="6350" cap="flat" cmpd="sng" algn="ctr">
                      <a:solidFill>
                        <a:srgbClr val="E0E6ED"/>
                      </a:solidFill>
                      <a:prstDash val="solid"/>
                      <a:round/>
                      <a:headEnd type="none" w="med" len="med"/>
                      <a:tailEnd type="none" w="med" len="med"/>
                    </a:lnR>
                    <a:lnT w="6350" cap="flat" cmpd="sng" algn="ctr">
                      <a:solidFill>
                        <a:srgbClr val="E0E6ED"/>
                      </a:solidFill>
                      <a:prstDash val="solid"/>
                      <a:round/>
                      <a:headEnd type="none" w="med" len="med"/>
                      <a:tailEnd type="none" w="med" len="med"/>
                    </a:lnT>
                    <a:lnB w="6350" cap="flat" cmpd="sng" algn="ctr">
                      <a:solidFill>
                        <a:srgbClr val="E0E6ED"/>
                      </a:solidFill>
                      <a:prstDash val="solid"/>
                      <a:round/>
                      <a:headEnd type="none" w="med" len="med"/>
                      <a:tailEnd type="none" w="med" len="med"/>
                    </a:lnB>
                    <a:solidFill>
                      <a:srgbClr val="F4F6F8"/>
                    </a:solidFill>
                  </a:tcPr>
                </a:tc>
              </a:tr>
              <a:tr h="347472">
                <a:tc>
                  <a:txBody>
                    <a:bodyPr/>
                    <a:lstStyle/>
                    <a:p>
                      <a:pPr marL="0" indent="0" algn="l">
                        <a:buNone/>
                      </a:pPr>
                      <a:r>
                        <a:rPr lang="en-US" sz="950" dirty="0">
                          <a:solidFill>
                            <a:srgbClr val="212121"/>
                          </a:solidFill>
                          <a:latin typeface="Calibri" panose="020F0502020204030204" pitchFamily="34" charset="0"/>
                          <a:ea typeface="Calibri" panose="020F0502020204030204" pitchFamily="34" charset="-122"/>
                          <a:cs typeface="Calibri" panose="020F0502020204030204" pitchFamily="34" charset="-120"/>
                        </a:rPr>
                        <a:t>Sosyal Kabul</a:t>
                      </a:r>
                      <a:endParaRPr lang="en-US" sz="950" dirty="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E0E6ED"/>
                      </a:solidFill>
                      <a:prstDash val="solid"/>
                      <a:round/>
                      <a:headEnd type="none" w="med" len="med"/>
                      <a:tailEnd type="none" w="med" len="med"/>
                    </a:lnL>
                    <a:lnR w="6350" cap="flat" cmpd="sng" algn="ctr">
                      <a:solidFill>
                        <a:srgbClr val="E0E6ED"/>
                      </a:solidFill>
                      <a:prstDash val="solid"/>
                      <a:round/>
                      <a:headEnd type="none" w="med" len="med"/>
                      <a:tailEnd type="none" w="med" len="med"/>
                    </a:lnR>
                    <a:lnT w="6350" cap="flat" cmpd="sng" algn="ctr">
                      <a:solidFill>
                        <a:srgbClr val="E0E6ED"/>
                      </a:solidFill>
                      <a:prstDash val="solid"/>
                      <a:round/>
                      <a:headEnd type="none" w="med" len="med"/>
                      <a:tailEnd type="none" w="med" len="med"/>
                    </a:lnT>
                    <a:lnB w="6350" cap="flat" cmpd="sng" algn="ctr">
                      <a:solidFill>
                        <a:srgbClr val="E0E6ED"/>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212121"/>
                          </a:solidFill>
                          <a:latin typeface="Calibri" panose="020F0502020204030204" pitchFamily="34" charset="0"/>
                          <a:ea typeface="Calibri" panose="020F0502020204030204" pitchFamily="34" charset="-122"/>
                          <a:cs typeface="Calibri" panose="020F0502020204030204" pitchFamily="34" charset="-120"/>
                        </a:rPr>
                        <a:t>Yüksek çevre bilinci; sivil muhalefet yoğun</a:t>
                      </a:r>
                      <a:endParaRPr lang="en-US" sz="950" dirty="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E0E6ED"/>
                      </a:solidFill>
                      <a:prstDash val="solid"/>
                      <a:round/>
                      <a:headEnd type="none" w="med" len="med"/>
                      <a:tailEnd type="none" w="med" len="med"/>
                    </a:lnL>
                    <a:lnR w="6350" cap="flat" cmpd="sng" algn="ctr">
                      <a:solidFill>
                        <a:srgbClr val="E0E6ED"/>
                      </a:solidFill>
                      <a:prstDash val="solid"/>
                      <a:round/>
                      <a:headEnd type="none" w="med" len="med"/>
                      <a:tailEnd type="none" w="med" len="med"/>
                    </a:lnR>
                    <a:lnT w="6350" cap="flat" cmpd="sng" algn="ctr">
                      <a:solidFill>
                        <a:srgbClr val="E0E6ED"/>
                      </a:solidFill>
                      <a:prstDash val="solid"/>
                      <a:round/>
                      <a:headEnd type="none" w="med" len="med"/>
                      <a:tailEnd type="none" w="med" len="med"/>
                    </a:lnT>
                    <a:lnB w="6350" cap="flat" cmpd="sng" algn="ctr">
                      <a:solidFill>
                        <a:srgbClr val="E0E6ED"/>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212121"/>
                          </a:solidFill>
                          <a:latin typeface="Calibri" panose="020F0502020204030204" pitchFamily="34" charset="0"/>
                          <a:ea typeface="Calibri" panose="020F0502020204030204" pitchFamily="34" charset="-122"/>
                          <a:cs typeface="Calibri" panose="020F0502020204030204" pitchFamily="34" charset="-120"/>
                        </a:rPr>
                        <a:t>IEA: Sosyal onay zorunlu koşul</a:t>
                      </a:r>
                      <a:endParaRPr lang="en-US" sz="950" dirty="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E0E6ED"/>
                      </a:solidFill>
                      <a:prstDash val="solid"/>
                      <a:round/>
                      <a:headEnd type="none" w="med" len="med"/>
                      <a:tailEnd type="none" w="med" len="med"/>
                    </a:lnL>
                    <a:lnR w="6350" cap="flat" cmpd="sng" algn="ctr">
                      <a:solidFill>
                        <a:srgbClr val="E0E6ED"/>
                      </a:solidFill>
                      <a:prstDash val="solid"/>
                      <a:round/>
                      <a:headEnd type="none" w="med" len="med"/>
                      <a:tailEnd type="none" w="med" len="med"/>
                    </a:lnR>
                    <a:lnT w="6350" cap="flat" cmpd="sng" algn="ctr">
                      <a:solidFill>
                        <a:srgbClr val="E0E6ED"/>
                      </a:solidFill>
                      <a:prstDash val="solid"/>
                      <a:round/>
                      <a:headEnd type="none" w="med" len="med"/>
                      <a:tailEnd type="none" w="med" len="med"/>
                    </a:lnT>
                    <a:lnB w="6350" cap="flat" cmpd="sng" algn="ctr">
                      <a:solidFill>
                        <a:srgbClr val="E0E6ED"/>
                      </a:solidFill>
                      <a:prstDash val="solid"/>
                      <a:round/>
                      <a:headEnd type="none" w="med" len="med"/>
                      <a:tailEnd type="none" w="med" len="med"/>
                    </a:lnB>
                    <a:solidFill>
                      <a:srgbClr val="FFFFFF"/>
                    </a:solidFill>
                  </a:tcPr>
                </a:tc>
              </a:tr>
            </a:tbl>
          </a:graphicData>
        </a:graphic>
      </p:graphicFrame>
      <p:sp>
        <p:nvSpPr>
          <p:cNvPr id="20" name="Shape 17"/>
          <p:cNvSpPr/>
          <p:nvPr/>
        </p:nvSpPr>
        <p:spPr>
          <a:xfrm>
            <a:off x="320040" y="3651022"/>
            <a:ext cx="8503920" cy="1131290"/>
          </a:xfrm>
          <a:prstGeom prst="rect">
            <a:avLst/>
          </a:prstGeom>
          <a:solidFill>
            <a:srgbClr val="FDEDEC"/>
          </a:solidFill>
          <a:ln w="12700">
            <a:solidFill>
              <a:srgbClr val="922B21"/>
            </a:solidFill>
            <a:prstDash val="solid"/>
          </a:ln>
        </p:spPr>
        <p:txBody>
          <a:bodyPr/>
          <a:lstStyle/>
          <a:p>
            <a:endParaRPr lang="tr-TR"/>
          </a:p>
        </p:txBody>
      </p:sp>
      <p:sp>
        <p:nvSpPr>
          <p:cNvPr id="21" name="Text 18"/>
          <p:cNvSpPr/>
          <p:nvPr/>
        </p:nvSpPr>
        <p:spPr>
          <a:xfrm>
            <a:off x="502920" y="3337560"/>
            <a:ext cx="8229600" cy="1371600"/>
          </a:xfrm>
          <a:prstGeom prst="rect">
            <a:avLst/>
          </a:prstGeom>
          <a:noFill/>
        </p:spPr>
        <p:txBody>
          <a:bodyPr wrap="square" rtlCol="0" anchor="ctr"/>
          <a:lstStyle/>
          <a:p>
            <a:pPr marL="0" indent="0">
              <a:buNone/>
            </a:pPr>
            <a:r>
              <a:rPr lang="en-US" sz="1200" b="1" dirty="0">
                <a:solidFill>
                  <a:srgbClr val="922B21"/>
                </a:solidFill>
                <a:latin typeface="Calibri" panose="020F0502020204030204" pitchFamily="34" charset="0"/>
                <a:ea typeface="Calibri" panose="020F0502020204030204" pitchFamily="34" charset="-122"/>
                <a:cs typeface="Calibri" panose="020F0502020204030204" pitchFamily="34" charset="-120"/>
              </a:rPr>
              <a:t>⚠️  SONUÇ: İzmir'de Nükleer Santral UYGUN DEĞİLDİR
</a:t>
            </a:r>
            <a:r>
              <a:rPr lang="en-US" sz="1000" dirty="0">
                <a:solidFill>
                  <a:srgbClr val="212121"/>
                </a:solidFill>
                <a:latin typeface="Calibri" panose="020F0502020204030204" pitchFamily="34" charset="0"/>
                <a:ea typeface="Calibri" panose="020F0502020204030204" pitchFamily="34" charset="-122"/>
                <a:cs typeface="Calibri" panose="020F0502020204030204" pitchFamily="34" charset="-120"/>
              </a:rPr>
              <a:t>7130 Sayılı Nükleer Güvenlik Kanunu ve IAEA SSG-9 kriterleri; İzmir'in aktif fay yapısı,
4,5 milyon nüfuslu metropol yapısı ve EPZ tahliye imkânsızlığı nedeniyle nükleer santral
kurulumunu yasal ve teknik açıdan dışlamaktadır. </a:t>
            </a:r>
            <a:r>
              <a:rPr lang="en-US" sz="1000" b="1" dirty="0">
                <a:solidFill>
                  <a:srgbClr val="922B21"/>
                </a:solidFill>
                <a:latin typeface="Calibri" panose="020F0502020204030204" pitchFamily="34" charset="0"/>
                <a:ea typeface="Calibri" panose="020F0502020204030204" pitchFamily="34" charset="-122"/>
                <a:cs typeface="Calibri" panose="020F0502020204030204" pitchFamily="34" charset="-120"/>
              </a:rPr>
              <a:t>Türkiye'nin nükleer kapasitesi Akkuyu NGS (Mersin) ile sağlanmaktadır.</a:t>
            </a:r>
            <a:endParaRPr lang="en-US" sz="12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Resim 1" descr="grafik 3"/>
          <p:cNvPicPr>
            <a:picLocks noChangeAspect="1"/>
          </p:cNvPicPr>
          <p:nvPr/>
        </p:nvPicPr>
        <p:blipFill>
          <a:blip r:embed="rId1"/>
          <a:stretch>
            <a:fillRect/>
          </a:stretch>
        </p:blipFill>
        <p:spPr>
          <a:xfrm>
            <a:off x="275590" y="1019175"/>
            <a:ext cx="6645275" cy="3684270"/>
          </a:xfrm>
          <a:prstGeom prst="rect">
            <a:avLst/>
          </a:prstGeom>
        </p:spPr>
      </p:pic>
      <p:sp>
        <p:nvSpPr>
          <p:cNvPr id="3" name="Shape 0"/>
          <p:cNvSpPr/>
          <p:nvPr/>
        </p:nvSpPr>
        <p:spPr>
          <a:xfrm>
            <a:off x="0" y="0"/>
            <a:ext cx="9144000" cy="685800"/>
          </a:xfrm>
          <a:prstGeom prst="rect">
            <a:avLst/>
          </a:prstGeom>
          <a:solidFill>
            <a:srgbClr val="922B21"/>
          </a:solidFill>
          <a:ln w="12700">
            <a:solidFill>
              <a:srgbClr val="922B21"/>
            </a:solidFill>
            <a:prstDash val="solid"/>
          </a:ln>
        </p:spPr>
        <p:txBody>
          <a:bodyPr/>
          <a:p>
            <a:endParaRPr lang="tr-TR"/>
          </a:p>
        </p:txBody>
      </p:sp>
      <p:sp>
        <p:nvSpPr>
          <p:cNvPr id="4" name="Shape 1"/>
          <p:cNvSpPr/>
          <p:nvPr/>
        </p:nvSpPr>
        <p:spPr>
          <a:xfrm>
            <a:off x="0" y="685800"/>
            <a:ext cx="9144000" cy="45720"/>
          </a:xfrm>
          <a:prstGeom prst="rect">
            <a:avLst/>
          </a:prstGeom>
          <a:solidFill>
            <a:srgbClr val="C8901A"/>
          </a:solidFill>
          <a:ln w="12700">
            <a:solidFill>
              <a:srgbClr val="C8901A"/>
            </a:solidFill>
            <a:prstDash val="solid"/>
          </a:ln>
        </p:spPr>
        <p:txBody>
          <a:bodyPr/>
          <a:p>
            <a:endParaRPr lang="tr-TR"/>
          </a:p>
        </p:txBody>
      </p:sp>
      <p:sp>
        <p:nvSpPr>
          <p:cNvPr id="6" name="Text 4"/>
          <p:cNvSpPr/>
          <p:nvPr/>
        </p:nvSpPr>
        <p:spPr>
          <a:xfrm>
            <a:off x="274320" y="45720"/>
            <a:ext cx="8595360" cy="594360"/>
          </a:xfrm>
          <a:prstGeom prst="rect">
            <a:avLst/>
          </a:prstGeom>
          <a:noFill/>
        </p:spPr>
        <p:txBody>
          <a:bodyPr wrap="square" lIns="0" tIns="0" rIns="0" bIns="0" rtlCol="0" anchor="ctr"/>
          <a:p>
            <a:pPr marL="0" indent="0" algn="l">
              <a:buNone/>
            </a:pPr>
            <a:r>
              <a:rPr lang="en-US" sz="1800" b="1" dirty="0">
                <a:solidFill>
                  <a:srgbClr val="FFFFFF"/>
                </a:solidFill>
                <a:latin typeface="Calibri" panose="020F0502020204030204" pitchFamily="34" charset="0"/>
                <a:ea typeface="Calibri" panose="020F0502020204030204" pitchFamily="34" charset="-122"/>
                <a:cs typeface="Calibri" panose="020F0502020204030204" pitchFamily="34" charset="-120"/>
              </a:rPr>
              <a:t>Nükleer Enerji — İzmir Uygunluk Değerlendirmesi</a:t>
            </a:r>
            <a:endParaRPr lang="en-US" sz="1800" dirty="0"/>
          </a:p>
        </p:txBody>
      </p:sp>
      <p:sp>
        <p:nvSpPr>
          <p:cNvPr id="5" name="Shape 2"/>
          <p:cNvSpPr/>
          <p:nvPr/>
        </p:nvSpPr>
        <p:spPr>
          <a:xfrm>
            <a:off x="0" y="4892040"/>
            <a:ext cx="9144000" cy="251460"/>
          </a:xfrm>
          <a:prstGeom prst="rect">
            <a:avLst/>
          </a:prstGeom>
          <a:solidFill>
            <a:srgbClr val="1B3A6B"/>
          </a:solidFill>
          <a:ln w="12700">
            <a:solidFill>
              <a:srgbClr val="1B3A6B"/>
            </a:solidFill>
            <a:prstDash val="solid"/>
          </a:ln>
        </p:spPr>
        <p:txBody>
          <a:bodyPr/>
          <a:p>
            <a:endParaRPr lang="tr-TR"/>
          </a:p>
        </p:txBody>
      </p:sp>
      <p:sp>
        <p:nvSpPr>
          <p:cNvPr id="7" name="Text 3"/>
          <p:cNvSpPr/>
          <p:nvPr/>
        </p:nvSpPr>
        <p:spPr>
          <a:xfrm>
            <a:off x="274320" y="4892040"/>
            <a:ext cx="8595360" cy="251460"/>
          </a:xfrm>
          <a:prstGeom prst="rect">
            <a:avLst/>
          </a:prstGeom>
          <a:noFill/>
        </p:spPr>
        <p:txBody>
          <a:bodyPr wrap="square" rtlCol="0" anchor="ctr"/>
          <a:p>
            <a:pPr marL="0" indent="0" algn="ctr">
              <a:buNone/>
            </a:pPr>
            <a:r>
              <a:rPr lang="en-US" sz="800" dirty="0">
                <a:solidFill>
                  <a:srgbClr val="E0E6ED"/>
                </a:solidFill>
                <a:latin typeface="Calibri" panose="020F0502020204030204" pitchFamily="34" charset="0"/>
                <a:ea typeface="Calibri" panose="020F0502020204030204" pitchFamily="34" charset="-122"/>
                <a:cs typeface="Calibri" panose="020F0502020204030204" pitchFamily="34" charset="-120"/>
              </a:rPr>
              <a:t>SAÜ EEM  |  İzmir Yenilenebilir Enerji Analizi</a:t>
            </a:r>
            <a:endParaRPr lang="en-US" sz="800" dirty="0"/>
          </a:p>
        </p:txBody>
      </p:sp>
      <p:sp>
        <p:nvSpPr>
          <p:cNvPr id="8" name="Metin Kutusu 7"/>
          <p:cNvSpPr txBox="1"/>
          <p:nvPr/>
        </p:nvSpPr>
        <p:spPr>
          <a:xfrm>
            <a:off x="7177405" y="1239520"/>
            <a:ext cx="1692275" cy="3091815"/>
          </a:xfrm>
          <a:prstGeom prst="rect">
            <a:avLst/>
          </a:prstGeom>
          <a:noFill/>
        </p:spPr>
        <p:txBody>
          <a:bodyPr wrap="square" rtlCol="0">
            <a:spAutoFit/>
          </a:bodyPr>
          <a:p>
            <a:r>
              <a:rPr lang="en-US" altLang="tr-TR" sz="1500"/>
              <a:t>1000 MW'l</a:t>
            </a:r>
            <a:r>
              <a:rPr lang="" altLang="en-US" sz="1500"/>
              <a:t>ı</a:t>
            </a:r>
            <a:r>
              <a:rPr lang="en-US" altLang="tr-TR" sz="1500"/>
              <a:t>k n</a:t>
            </a:r>
            <a:r>
              <a:rPr lang="en-US" altLang="en-US" sz="1500"/>
              <a:t>ü</a:t>
            </a:r>
            <a:r>
              <a:rPr lang="en-US" altLang="tr-TR" sz="1500"/>
              <a:t>kleer santral </a:t>
            </a:r>
            <a:r>
              <a:rPr lang="" altLang="en-US" sz="1500"/>
              <a:t>İ</a:t>
            </a:r>
            <a:r>
              <a:rPr lang="en-US" altLang="tr-TR" sz="1500"/>
              <a:t>zmir'in s</a:t>
            </a:r>
            <a:r>
              <a:rPr lang="en-US" altLang="en-US" sz="1500"/>
              <a:t>ü</a:t>
            </a:r>
            <a:r>
              <a:rPr lang="en-US" altLang="tr-TR" sz="1500"/>
              <a:t>rekli baz y</a:t>
            </a:r>
            <a:r>
              <a:rPr lang="en-US" altLang="en-US" sz="1500"/>
              <a:t>ü</a:t>
            </a:r>
            <a:r>
              <a:rPr lang="en-US" altLang="tr-TR" sz="1500"/>
              <a:t>k</a:t>
            </a:r>
            <a:r>
              <a:rPr lang="en-US" altLang="en-US" sz="1500"/>
              <a:t>ü</a:t>
            </a:r>
            <a:r>
              <a:rPr lang="en-US" altLang="tr-TR" sz="1500"/>
              <a:t>n</a:t>
            </a:r>
            <a:r>
              <a:rPr lang="en-US" altLang="en-US" sz="1500"/>
              <a:t>ü</a:t>
            </a:r>
            <a:r>
              <a:rPr lang="en-US" altLang="tr-TR" sz="1500"/>
              <a:t> kar</a:t>
            </a:r>
            <a:r>
              <a:rPr lang="" altLang="en-US" sz="1500"/>
              <a:t>şı</a:t>
            </a:r>
            <a:r>
              <a:rPr lang="en-US" altLang="tr-TR" sz="1500"/>
              <a:t>larken; g</a:t>
            </a:r>
            <a:r>
              <a:rPr lang="en-US" altLang="en-US" sz="1500"/>
              <a:t>ü</a:t>
            </a:r>
            <a:r>
              <a:rPr lang="en-US" altLang="tr-TR" sz="1500"/>
              <a:t>n i</a:t>
            </a:r>
            <a:r>
              <a:rPr lang="" altLang="en-US" sz="1500"/>
              <a:t>ç</a:t>
            </a:r>
            <a:r>
              <a:rPr lang="en-US" altLang="tr-TR" sz="1500"/>
              <a:t>inde 4000 MW'a ula</a:t>
            </a:r>
            <a:r>
              <a:rPr lang="" altLang="en-US" sz="1500"/>
              <a:t>ş</a:t>
            </a:r>
            <a:r>
              <a:rPr lang="en-US" altLang="tr-TR" sz="1500"/>
              <a:t>an de</a:t>
            </a:r>
            <a:r>
              <a:rPr lang="" altLang="en-US" sz="1500"/>
              <a:t>ğ</a:t>
            </a:r>
            <a:r>
              <a:rPr lang="en-US" altLang="tr-TR" sz="1500"/>
              <a:t>i</a:t>
            </a:r>
            <a:r>
              <a:rPr lang="" altLang="en-US" sz="1500"/>
              <a:t>ş</a:t>
            </a:r>
            <a:r>
              <a:rPr lang="en-US" altLang="tr-TR" sz="1500"/>
              <a:t>ken talebi dengelemek i</a:t>
            </a:r>
            <a:r>
              <a:rPr lang="" altLang="en-US" sz="1500"/>
              <a:t>ç</a:t>
            </a:r>
            <a:r>
              <a:rPr lang="en-US" altLang="tr-TR" sz="1500"/>
              <a:t>in mikro-HES gibi esnek enerji kaynaklar</a:t>
            </a:r>
            <a:r>
              <a:rPr lang="" altLang="en-US" sz="1500"/>
              <a:t>ı</a:t>
            </a:r>
            <a:r>
              <a:rPr lang="en-US" altLang="tr-TR" sz="1500"/>
              <a:t>na ihtiya</a:t>
            </a:r>
            <a:r>
              <a:rPr lang="" altLang="en-US" sz="1500"/>
              <a:t>ç</a:t>
            </a:r>
            <a:r>
              <a:rPr lang="en-US" altLang="tr-TR" sz="1500"/>
              <a:t> duyulmaktad</a:t>
            </a:r>
            <a:r>
              <a:rPr lang="tr-TR" altLang="en-US" sz="1500"/>
              <a:t>ır.</a:t>
            </a:r>
            <a:endParaRPr lang="tr-TR" altLang="en-US" sz="150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1B3A6B"/>
        </a:solidFill>
        <a:effectLst/>
      </p:bgPr>
    </p:bg>
    <p:spTree>
      <p:nvGrpSpPr>
        <p:cNvPr id="1" name=""/>
        <p:cNvGrpSpPr/>
        <p:nvPr/>
      </p:nvGrpSpPr>
      <p:grpSpPr>
        <a:xfrm>
          <a:off x="0" y="0"/>
          <a:ext cx="0" cy="0"/>
          <a:chOff x="0" y="0"/>
          <a:chExt cx="0" cy="0"/>
        </a:xfrm>
      </p:grpSpPr>
      <p:sp>
        <p:nvSpPr>
          <p:cNvPr id="2" name="Shape 0"/>
          <p:cNvSpPr/>
          <p:nvPr/>
        </p:nvSpPr>
        <p:spPr>
          <a:xfrm>
            <a:off x="0" y="4114800"/>
            <a:ext cx="9144000" cy="1028700"/>
          </a:xfrm>
          <a:prstGeom prst="rect">
            <a:avLst/>
          </a:prstGeom>
          <a:solidFill>
            <a:srgbClr val="1B3A6B"/>
          </a:solidFill>
          <a:ln w="12700">
            <a:solidFill>
              <a:srgbClr val="1B3A6B"/>
            </a:solidFill>
            <a:prstDash val="solid"/>
          </a:ln>
        </p:spPr>
        <p:txBody>
          <a:bodyPr/>
          <a:lstStyle/>
          <a:p>
            <a:endParaRPr lang="tr-TR"/>
          </a:p>
        </p:txBody>
      </p:sp>
      <p:sp>
        <p:nvSpPr>
          <p:cNvPr id="3" name="Shape 1"/>
          <p:cNvSpPr/>
          <p:nvPr/>
        </p:nvSpPr>
        <p:spPr>
          <a:xfrm>
            <a:off x="0" y="4114800"/>
            <a:ext cx="137160" cy="1028700"/>
          </a:xfrm>
          <a:prstGeom prst="rect">
            <a:avLst/>
          </a:prstGeom>
          <a:solidFill>
            <a:srgbClr val="C8901A"/>
          </a:solidFill>
          <a:ln w="12700">
            <a:solidFill>
              <a:srgbClr val="C8901A"/>
            </a:solidFill>
            <a:prstDash val="solid"/>
          </a:ln>
        </p:spPr>
        <p:txBody>
          <a:bodyPr/>
          <a:lstStyle/>
          <a:p>
            <a:endParaRPr lang="tr-TR"/>
          </a:p>
        </p:txBody>
      </p:sp>
      <p:sp>
        <p:nvSpPr>
          <p:cNvPr id="4" name="Text 2"/>
          <p:cNvSpPr/>
          <p:nvPr/>
        </p:nvSpPr>
        <p:spPr>
          <a:xfrm>
            <a:off x="457200" y="914400"/>
            <a:ext cx="8229600" cy="2560320"/>
          </a:xfrm>
          <a:prstGeom prst="rect">
            <a:avLst/>
          </a:prstGeom>
          <a:noFill/>
        </p:spPr>
        <p:txBody>
          <a:bodyPr wrap="square" rtlCol="0" anchor="ctr"/>
          <a:lstStyle/>
          <a:p>
            <a:pPr marL="0" indent="0" algn="ctr">
              <a:buNone/>
            </a:pPr>
            <a:r>
              <a:rPr lang="en-US" sz="3600" b="1" dirty="0">
                <a:solidFill>
                  <a:srgbClr val="FFFFFF"/>
                </a:solidFill>
                <a:latin typeface="Calibri" panose="020F0502020204030204" pitchFamily="34" charset="0"/>
                <a:ea typeface="Calibri" panose="020F0502020204030204" pitchFamily="34" charset="-122"/>
                <a:cs typeface="Calibri" panose="020F0502020204030204" pitchFamily="34" charset="-120"/>
              </a:rPr>
              <a:t>Karşılaştırma</a:t>
            </a:r>
            <a:endParaRPr lang="en-US" sz="3600" dirty="0"/>
          </a:p>
          <a:p>
            <a:pPr marL="0" indent="0" algn="ctr">
              <a:buNone/>
            </a:pPr>
            <a:r>
              <a:rPr lang="en-US" sz="3600" b="1" dirty="0">
                <a:solidFill>
                  <a:srgbClr val="FFFFFF"/>
                </a:solidFill>
                <a:latin typeface="Calibri" panose="020F0502020204030204" pitchFamily="34" charset="0"/>
                <a:ea typeface="Calibri" panose="020F0502020204030204" pitchFamily="34" charset="-122"/>
                <a:cs typeface="Calibri" panose="020F0502020204030204" pitchFamily="34" charset="-120"/>
              </a:rPr>
              <a:t>ve Sonuç</a:t>
            </a:r>
            <a:endParaRPr lang="en-US" sz="3600" dirty="0"/>
          </a:p>
        </p:txBody>
      </p:sp>
      <p:sp>
        <p:nvSpPr>
          <p:cNvPr id="5" name="Text 3"/>
          <p:cNvSpPr/>
          <p:nvPr/>
        </p:nvSpPr>
        <p:spPr>
          <a:xfrm>
            <a:off x="274320" y="4206240"/>
            <a:ext cx="8595360" cy="731520"/>
          </a:xfrm>
          <a:prstGeom prst="rect">
            <a:avLst/>
          </a:prstGeom>
          <a:noFill/>
        </p:spPr>
        <p:txBody>
          <a:bodyPr wrap="square" rtlCol="0" anchor="ctr"/>
          <a:lstStyle/>
          <a:p>
            <a:pPr marL="0" indent="0" algn="ctr">
              <a:buNone/>
            </a:pPr>
            <a:r>
              <a:rPr lang="en-US" sz="900" dirty="0">
                <a:solidFill>
                  <a:srgbClr val="E0E6ED"/>
                </a:solidFill>
                <a:latin typeface="Calibri" panose="020F0502020204030204" pitchFamily="34" charset="0"/>
                <a:ea typeface="Calibri" panose="020F0502020204030204" pitchFamily="34" charset="-122"/>
                <a:cs typeface="Calibri" panose="020F0502020204030204" pitchFamily="34" charset="-120"/>
              </a:rPr>
              <a:t>SAÜ EEM  |  Yenilenebilir ve Sürdürülebilir Enerji</a:t>
            </a:r>
            <a:endParaRPr lang="en-US" sz="9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8F9FA"/>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B3A6B"/>
          </a:solidFill>
          <a:ln w="12700">
            <a:solidFill>
              <a:srgbClr val="1B3A6B"/>
            </a:solidFill>
            <a:prstDash val="solid"/>
          </a:ln>
        </p:spPr>
        <p:txBody>
          <a:bodyPr/>
          <a:lstStyle/>
          <a:p>
            <a:endParaRPr lang="tr-TR"/>
          </a:p>
        </p:txBody>
      </p:sp>
      <p:sp>
        <p:nvSpPr>
          <p:cNvPr id="3" name="Shape 1"/>
          <p:cNvSpPr/>
          <p:nvPr/>
        </p:nvSpPr>
        <p:spPr>
          <a:xfrm>
            <a:off x="0" y="685800"/>
            <a:ext cx="9144000" cy="45720"/>
          </a:xfrm>
          <a:prstGeom prst="rect">
            <a:avLst/>
          </a:prstGeom>
          <a:solidFill>
            <a:srgbClr val="C8901A"/>
          </a:solidFill>
          <a:ln w="12700">
            <a:solidFill>
              <a:srgbClr val="C8901A"/>
            </a:solidFill>
            <a:prstDash val="solid"/>
          </a:ln>
        </p:spPr>
        <p:txBody>
          <a:bodyPr/>
          <a:lstStyle/>
          <a:p>
            <a:endParaRPr lang="tr-TR"/>
          </a:p>
        </p:txBody>
      </p:sp>
      <p:sp>
        <p:nvSpPr>
          <p:cNvPr id="4" name="Shape 2"/>
          <p:cNvSpPr/>
          <p:nvPr/>
        </p:nvSpPr>
        <p:spPr>
          <a:xfrm>
            <a:off x="0" y="4892040"/>
            <a:ext cx="9144000" cy="251460"/>
          </a:xfrm>
          <a:prstGeom prst="rect">
            <a:avLst/>
          </a:prstGeom>
          <a:solidFill>
            <a:srgbClr val="1B3A6B"/>
          </a:solidFill>
          <a:ln w="12700">
            <a:solidFill>
              <a:srgbClr val="1B3A6B"/>
            </a:solidFill>
            <a:prstDash val="solid"/>
          </a:ln>
        </p:spPr>
        <p:txBody>
          <a:bodyPr/>
          <a:lstStyle/>
          <a:p>
            <a:endParaRPr lang="tr-TR"/>
          </a:p>
        </p:txBody>
      </p:sp>
      <p:sp>
        <p:nvSpPr>
          <p:cNvPr id="5" name="Text 3"/>
          <p:cNvSpPr/>
          <p:nvPr/>
        </p:nvSpPr>
        <p:spPr>
          <a:xfrm>
            <a:off x="274320" y="4892040"/>
            <a:ext cx="8595360" cy="251460"/>
          </a:xfrm>
          <a:prstGeom prst="rect">
            <a:avLst/>
          </a:prstGeom>
          <a:noFill/>
        </p:spPr>
        <p:txBody>
          <a:bodyPr wrap="square" rtlCol="0" anchor="ctr"/>
          <a:lstStyle/>
          <a:p>
            <a:pPr marL="0" indent="0" algn="ctr">
              <a:buNone/>
            </a:pPr>
            <a:r>
              <a:rPr lang="en-US" sz="800" dirty="0">
                <a:solidFill>
                  <a:srgbClr val="E0E6ED"/>
                </a:solidFill>
                <a:latin typeface="Calibri" panose="020F0502020204030204" pitchFamily="34" charset="0"/>
                <a:ea typeface="Calibri" panose="020F0502020204030204" pitchFamily="34" charset="-122"/>
                <a:cs typeface="Calibri" panose="020F0502020204030204" pitchFamily="34" charset="-120"/>
              </a:rPr>
              <a:t>SAÜ EEM  |  İzmir Yenilenebilir Enerji Analizi</a:t>
            </a:r>
            <a:endParaRPr lang="en-US" sz="800" dirty="0"/>
          </a:p>
        </p:txBody>
      </p:sp>
      <p:sp>
        <p:nvSpPr>
          <p:cNvPr id="6" name="Text 4"/>
          <p:cNvSpPr/>
          <p:nvPr/>
        </p:nvSpPr>
        <p:spPr>
          <a:xfrm>
            <a:off x="274320" y="45720"/>
            <a:ext cx="8595360" cy="594360"/>
          </a:xfrm>
          <a:prstGeom prst="rect">
            <a:avLst/>
          </a:prstGeom>
          <a:noFill/>
        </p:spPr>
        <p:txBody>
          <a:bodyPr wrap="square" lIns="0" tIns="0" rIns="0" bIns="0" rtlCol="0" anchor="ctr"/>
          <a:lstStyle/>
          <a:p>
            <a:pPr marL="0" indent="0" algn="l">
              <a:buNone/>
            </a:pPr>
            <a:r>
              <a:rPr lang="en-US" sz="1800" b="1" dirty="0">
                <a:solidFill>
                  <a:srgbClr val="FFFFFF"/>
                </a:solidFill>
                <a:latin typeface="Calibri" panose="020F0502020204030204" pitchFamily="34" charset="0"/>
                <a:ea typeface="Calibri" panose="020F0502020204030204" pitchFamily="34" charset="-122"/>
                <a:cs typeface="Calibri" panose="020F0502020204030204" pitchFamily="34" charset="-120"/>
              </a:rPr>
              <a:t>Dört Kaynak Karşılaştırmalı Analiz Tablosu</a:t>
            </a:r>
            <a:endParaRPr lang="en-US" sz="1800" dirty="0"/>
          </a:p>
        </p:txBody>
      </p:sp>
      <p:graphicFrame>
        <p:nvGraphicFramePr>
          <p:cNvPr id="19" name="Table 0"/>
          <p:cNvGraphicFramePr>
            <a:graphicFrameLocks noGrp="1"/>
          </p:cNvGraphicFramePr>
          <p:nvPr/>
        </p:nvGraphicFramePr>
        <p:xfrm>
          <a:off x="320040" y="795528"/>
          <a:ext cx="8503920" cy="2686050"/>
        </p:xfrm>
        <a:graphic>
          <a:graphicData uri="http://schemas.openxmlformats.org/drawingml/2006/table">
            <a:tbl>
              <a:tblPr/>
              <a:tblGrid>
                <a:gridCol w="2286000"/>
                <a:gridCol w="1554480"/>
                <a:gridCol w="1737360"/>
                <a:gridCol w="1828800"/>
                <a:gridCol w="1097280"/>
              </a:tblGrid>
              <a:tr h="298450">
                <a:tc>
                  <a:txBody>
                    <a:bodyPr/>
                    <a:lstStyle/>
                    <a:p>
                      <a:pPr marL="0" indent="0" algn="ctr">
                        <a:buNone/>
                      </a:pPr>
                      <a:r>
                        <a:rPr lang="en-US" sz="1000" b="1" dirty="0">
                          <a:solidFill>
                            <a:srgbClr val="FFFFFF"/>
                          </a:solidFill>
                          <a:latin typeface="Calibri" panose="020F0502020204030204" pitchFamily="34" charset="0"/>
                          <a:ea typeface="Calibri" panose="020F0502020204030204" pitchFamily="34" charset="-122"/>
                          <a:cs typeface="Calibri" panose="020F0502020204030204" pitchFamily="34" charset="-120"/>
                        </a:rPr>
                        <a:t>Gösterge</a:t>
                      </a:r>
                      <a:endParaRPr lang="en-US" sz="1000" dirty="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E0E6ED"/>
                      </a:solidFill>
                      <a:prstDash val="solid"/>
                      <a:round/>
                      <a:headEnd type="none" w="med" len="med"/>
                      <a:tailEnd type="none" w="med" len="med"/>
                    </a:lnL>
                    <a:lnR w="6350" cap="flat" cmpd="sng" algn="ctr">
                      <a:solidFill>
                        <a:srgbClr val="E0E6ED"/>
                      </a:solidFill>
                      <a:prstDash val="solid"/>
                      <a:round/>
                      <a:headEnd type="none" w="med" len="med"/>
                      <a:tailEnd type="none" w="med" len="med"/>
                    </a:lnR>
                    <a:lnT w="6350" cap="flat" cmpd="sng" algn="ctr">
                      <a:solidFill>
                        <a:srgbClr val="E0E6ED"/>
                      </a:solidFill>
                      <a:prstDash val="solid"/>
                      <a:round/>
                      <a:headEnd type="none" w="med" len="med"/>
                      <a:tailEnd type="none" w="med" len="med"/>
                    </a:lnT>
                    <a:lnB w="6350" cap="flat" cmpd="sng" algn="ctr">
                      <a:solidFill>
                        <a:srgbClr val="E0E6ED"/>
                      </a:solidFill>
                      <a:prstDash val="solid"/>
                      <a:round/>
                      <a:headEnd type="none" w="med" len="med"/>
                      <a:tailEnd type="none" w="med" len="med"/>
                    </a:lnB>
                    <a:solidFill>
                      <a:srgbClr val="1B3A6B"/>
                    </a:solidFill>
                  </a:tcPr>
                </a:tc>
                <a:tc>
                  <a:txBody>
                    <a:bodyPr/>
                    <a:lstStyle/>
                    <a:p>
                      <a:pPr marL="0" indent="0" algn="ctr">
                        <a:buNone/>
                      </a:pPr>
                      <a:r>
                        <a:rPr lang="en-US" sz="1000" b="1" dirty="0">
                          <a:solidFill>
                            <a:srgbClr val="FFFFFF"/>
                          </a:solidFill>
                          <a:latin typeface="Calibri" panose="020F0502020204030204" pitchFamily="34" charset="0"/>
                          <a:ea typeface="Calibri" panose="020F0502020204030204" pitchFamily="34" charset="-122"/>
                          <a:cs typeface="Calibri" panose="020F0502020204030204" pitchFamily="34" charset="-120"/>
                        </a:rPr>
                        <a:t>GES (50 MWp)</a:t>
                      </a:r>
                      <a:endParaRPr lang="en-US" sz="1000" dirty="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E0E6ED"/>
                      </a:solidFill>
                      <a:prstDash val="solid"/>
                      <a:round/>
                      <a:headEnd type="none" w="med" len="med"/>
                      <a:tailEnd type="none" w="med" len="med"/>
                    </a:lnL>
                    <a:lnR w="6350" cap="flat" cmpd="sng" algn="ctr">
                      <a:solidFill>
                        <a:srgbClr val="E0E6ED"/>
                      </a:solidFill>
                      <a:prstDash val="solid"/>
                      <a:round/>
                      <a:headEnd type="none" w="med" len="med"/>
                      <a:tailEnd type="none" w="med" len="med"/>
                    </a:lnR>
                    <a:lnT w="6350" cap="flat" cmpd="sng" algn="ctr">
                      <a:solidFill>
                        <a:srgbClr val="E0E6ED"/>
                      </a:solidFill>
                      <a:prstDash val="solid"/>
                      <a:round/>
                      <a:headEnd type="none" w="med" len="med"/>
                      <a:tailEnd type="none" w="med" len="med"/>
                    </a:lnT>
                    <a:lnB w="6350" cap="flat" cmpd="sng" algn="ctr">
                      <a:solidFill>
                        <a:srgbClr val="E0E6ED"/>
                      </a:solidFill>
                      <a:prstDash val="solid"/>
                      <a:round/>
                      <a:headEnd type="none" w="med" len="med"/>
                      <a:tailEnd type="none" w="med" len="med"/>
                    </a:lnB>
                    <a:solidFill>
                      <a:srgbClr val="1B3A6B"/>
                    </a:solidFill>
                  </a:tcPr>
                </a:tc>
                <a:tc>
                  <a:txBody>
                    <a:bodyPr/>
                    <a:lstStyle/>
                    <a:p>
                      <a:pPr marL="0" indent="0" algn="ctr">
                        <a:buNone/>
                      </a:pPr>
                      <a:r>
                        <a:rPr lang="en-US" sz="1000" b="1" dirty="0">
                          <a:solidFill>
                            <a:srgbClr val="FFFFFF"/>
                          </a:solidFill>
                          <a:latin typeface="Calibri" panose="020F0502020204030204" pitchFamily="34" charset="0"/>
                          <a:ea typeface="Calibri" panose="020F0502020204030204" pitchFamily="34" charset="-122"/>
                          <a:cs typeface="Calibri" panose="020F0502020204030204" pitchFamily="34" charset="-120"/>
                        </a:rPr>
                        <a:t>RES (34,5 MW)</a:t>
                      </a:r>
                      <a:endParaRPr lang="en-US" sz="1000" dirty="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E0E6ED"/>
                      </a:solidFill>
                      <a:prstDash val="solid"/>
                      <a:round/>
                      <a:headEnd type="none" w="med" len="med"/>
                      <a:tailEnd type="none" w="med" len="med"/>
                    </a:lnL>
                    <a:lnR w="6350" cap="flat" cmpd="sng" algn="ctr">
                      <a:solidFill>
                        <a:srgbClr val="E0E6ED"/>
                      </a:solidFill>
                      <a:prstDash val="solid"/>
                      <a:round/>
                      <a:headEnd type="none" w="med" len="med"/>
                      <a:tailEnd type="none" w="med" len="med"/>
                    </a:lnR>
                    <a:lnT w="6350" cap="flat" cmpd="sng" algn="ctr">
                      <a:solidFill>
                        <a:srgbClr val="E0E6ED"/>
                      </a:solidFill>
                      <a:prstDash val="solid"/>
                      <a:round/>
                      <a:headEnd type="none" w="med" len="med"/>
                      <a:tailEnd type="none" w="med" len="med"/>
                    </a:lnT>
                    <a:lnB w="6350" cap="flat" cmpd="sng" algn="ctr">
                      <a:solidFill>
                        <a:srgbClr val="E0E6ED"/>
                      </a:solidFill>
                      <a:prstDash val="solid"/>
                      <a:round/>
                      <a:headEnd type="none" w="med" len="med"/>
                      <a:tailEnd type="none" w="med" len="med"/>
                    </a:lnB>
                    <a:solidFill>
                      <a:srgbClr val="1B3A6B"/>
                    </a:solidFill>
                  </a:tcPr>
                </a:tc>
                <a:tc>
                  <a:txBody>
                    <a:bodyPr/>
                    <a:lstStyle/>
                    <a:p>
                      <a:pPr marL="0" indent="0" algn="ctr">
                        <a:buNone/>
                      </a:pPr>
                      <a:r>
                        <a:rPr lang="en-US" sz="1000" b="1" dirty="0">
                          <a:solidFill>
                            <a:srgbClr val="FFFFFF"/>
                          </a:solidFill>
                          <a:latin typeface="Calibri" panose="020F0502020204030204" pitchFamily="34" charset="0"/>
                          <a:ea typeface="Calibri" panose="020F0502020204030204" pitchFamily="34" charset="-122"/>
                          <a:cs typeface="Calibri" panose="020F0502020204030204" pitchFamily="34" charset="-120"/>
                        </a:rPr>
                        <a:t>Mikro-HES (2 MW)</a:t>
                      </a:r>
                      <a:endParaRPr lang="en-US" sz="1000" dirty="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E0E6ED"/>
                      </a:solidFill>
                      <a:prstDash val="solid"/>
                      <a:round/>
                      <a:headEnd type="none" w="med" len="med"/>
                      <a:tailEnd type="none" w="med" len="med"/>
                    </a:lnL>
                    <a:lnR w="6350" cap="flat" cmpd="sng" algn="ctr">
                      <a:solidFill>
                        <a:srgbClr val="E0E6ED"/>
                      </a:solidFill>
                      <a:prstDash val="solid"/>
                      <a:round/>
                      <a:headEnd type="none" w="med" len="med"/>
                      <a:tailEnd type="none" w="med" len="med"/>
                    </a:lnR>
                    <a:lnT w="6350" cap="flat" cmpd="sng" algn="ctr">
                      <a:solidFill>
                        <a:srgbClr val="E0E6ED"/>
                      </a:solidFill>
                      <a:prstDash val="solid"/>
                      <a:round/>
                      <a:headEnd type="none" w="med" len="med"/>
                      <a:tailEnd type="none" w="med" len="med"/>
                    </a:lnT>
                    <a:lnB w="6350" cap="flat" cmpd="sng" algn="ctr">
                      <a:solidFill>
                        <a:srgbClr val="E0E6ED"/>
                      </a:solidFill>
                      <a:prstDash val="solid"/>
                      <a:round/>
                      <a:headEnd type="none" w="med" len="med"/>
                      <a:tailEnd type="none" w="med" len="med"/>
                    </a:lnB>
                    <a:solidFill>
                      <a:srgbClr val="1B3A6B"/>
                    </a:solidFill>
                  </a:tcPr>
                </a:tc>
                <a:tc>
                  <a:txBody>
                    <a:bodyPr/>
                    <a:lstStyle/>
                    <a:p>
                      <a:pPr marL="0" indent="0" algn="ctr">
                        <a:buNone/>
                      </a:pPr>
                      <a:r>
                        <a:rPr lang="en-US" sz="1000" b="1" dirty="0">
                          <a:solidFill>
                            <a:srgbClr val="FFFFFF"/>
                          </a:solidFill>
                          <a:latin typeface="Calibri" panose="020F0502020204030204" pitchFamily="34" charset="0"/>
                          <a:ea typeface="Calibri" panose="020F0502020204030204" pitchFamily="34" charset="-122"/>
                          <a:cs typeface="Calibri" panose="020F0502020204030204" pitchFamily="34" charset="-120"/>
                        </a:rPr>
                        <a:t>Nükleer</a:t>
                      </a:r>
                      <a:endParaRPr lang="en-US" sz="1000" dirty="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E0E6ED"/>
                      </a:solidFill>
                      <a:prstDash val="solid"/>
                      <a:round/>
                      <a:headEnd type="none" w="med" len="med"/>
                      <a:tailEnd type="none" w="med" len="med"/>
                    </a:lnL>
                    <a:lnR w="6350" cap="flat" cmpd="sng" algn="ctr">
                      <a:solidFill>
                        <a:srgbClr val="E0E6ED"/>
                      </a:solidFill>
                      <a:prstDash val="solid"/>
                      <a:round/>
                      <a:headEnd type="none" w="med" len="med"/>
                      <a:tailEnd type="none" w="med" len="med"/>
                    </a:lnR>
                    <a:lnT w="6350" cap="flat" cmpd="sng" algn="ctr">
                      <a:solidFill>
                        <a:srgbClr val="E0E6ED"/>
                      </a:solidFill>
                      <a:prstDash val="solid"/>
                      <a:round/>
                      <a:headEnd type="none" w="med" len="med"/>
                      <a:tailEnd type="none" w="med" len="med"/>
                    </a:lnT>
                    <a:lnB w="6350" cap="flat" cmpd="sng" algn="ctr">
                      <a:solidFill>
                        <a:srgbClr val="E0E6ED"/>
                      </a:solidFill>
                      <a:prstDash val="solid"/>
                      <a:round/>
                      <a:headEnd type="none" w="med" len="med"/>
                      <a:tailEnd type="none" w="med" len="med"/>
                    </a:lnB>
                    <a:solidFill>
                      <a:srgbClr val="1B3A6B"/>
                    </a:solidFill>
                  </a:tcPr>
                </a:tc>
              </a:tr>
              <a:tr h="298450">
                <a:tc>
                  <a:txBody>
                    <a:bodyPr/>
                    <a:lstStyle/>
                    <a:p>
                      <a:pPr marL="0" indent="0" algn="l">
                        <a:buNone/>
                      </a:pPr>
                      <a:r>
                        <a:rPr lang="en-US" sz="950" dirty="0">
                          <a:solidFill>
                            <a:srgbClr val="212121"/>
                          </a:solidFill>
                          <a:latin typeface="Calibri" panose="020F0502020204030204" pitchFamily="34" charset="0"/>
                          <a:ea typeface="Calibri" panose="020F0502020204030204" pitchFamily="34" charset="-122"/>
                          <a:cs typeface="Calibri" panose="020F0502020204030204" pitchFamily="34" charset="-120"/>
                        </a:rPr>
                        <a:t>Kapasite Faktörü</a:t>
                      </a:r>
                      <a:endParaRPr lang="en-US" sz="950" dirty="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E0E6ED"/>
                      </a:solidFill>
                      <a:prstDash val="solid"/>
                      <a:round/>
                      <a:headEnd type="none" w="med" len="med"/>
                      <a:tailEnd type="none" w="med" len="med"/>
                    </a:lnL>
                    <a:lnR w="6350" cap="flat" cmpd="sng" algn="ctr">
                      <a:solidFill>
                        <a:srgbClr val="E0E6ED"/>
                      </a:solidFill>
                      <a:prstDash val="solid"/>
                      <a:round/>
                      <a:headEnd type="none" w="med" len="med"/>
                      <a:tailEnd type="none" w="med" len="med"/>
                    </a:lnR>
                    <a:lnT w="6350" cap="flat" cmpd="sng" algn="ctr">
                      <a:solidFill>
                        <a:srgbClr val="E0E6ED"/>
                      </a:solidFill>
                      <a:prstDash val="solid"/>
                      <a:round/>
                      <a:headEnd type="none" w="med" len="med"/>
                      <a:tailEnd type="none" w="med" len="med"/>
                    </a:lnT>
                    <a:lnB w="6350" cap="flat" cmpd="sng" algn="ctr">
                      <a:solidFill>
                        <a:srgbClr val="E0E6ED"/>
                      </a:solidFill>
                      <a:prstDash val="solid"/>
                      <a:round/>
                      <a:headEnd type="none" w="med" len="med"/>
                      <a:tailEnd type="none" w="med" len="med"/>
                    </a:lnB>
                    <a:solidFill>
                      <a:srgbClr val="F4F6F8"/>
                    </a:solidFill>
                  </a:tcPr>
                </a:tc>
                <a:tc>
                  <a:txBody>
                    <a:bodyPr/>
                    <a:lstStyle/>
                    <a:p>
                      <a:pPr marL="0" indent="0" algn="ctr">
                        <a:buNone/>
                      </a:pPr>
                      <a:r>
                        <a:rPr lang="en-US" sz="950" dirty="0">
                          <a:solidFill>
                            <a:srgbClr val="212121"/>
                          </a:solidFill>
                          <a:latin typeface="Calibri" panose="020F0502020204030204" pitchFamily="34" charset="0"/>
                          <a:ea typeface="Calibri" panose="020F0502020204030204" pitchFamily="34" charset="-122"/>
                          <a:cs typeface="Calibri" panose="020F0502020204030204" pitchFamily="34" charset="-120"/>
                        </a:rPr>
                        <a:t>%15,9</a:t>
                      </a:r>
                      <a:endParaRPr lang="en-US" sz="950" dirty="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E0E6ED"/>
                      </a:solidFill>
                      <a:prstDash val="solid"/>
                      <a:round/>
                      <a:headEnd type="none" w="med" len="med"/>
                      <a:tailEnd type="none" w="med" len="med"/>
                    </a:lnL>
                    <a:lnR w="6350" cap="flat" cmpd="sng" algn="ctr">
                      <a:solidFill>
                        <a:srgbClr val="E0E6ED"/>
                      </a:solidFill>
                      <a:prstDash val="solid"/>
                      <a:round/>
                      <a:headEnd type="none" w="med" len="med"/>
                      <a:tailEnd type="none" w="med" len="med"/>
                    </a:lnR>
                    <a:lnT w="6350" cap="flat" cmpd="sng" algn="ctr">
                      <a:solidFill>
                        <a:srgbClr val="E0E6ED"/>
                      </a:solidFill>
                      <a:prstDash val="solid"/>
                      <a:round/>
                      <a:headEnd type="none" w="med" len="med"/>
                      <a:tailEnd type="none" w="med" len="med"/>
                    </a:lnT>
                    <a:lnB w="6350" cap="flat" cmpd="sng" algn="ctr">
                      <a:solidFill>
                        <a:srgbClr val="E0E6ED"/>
                      </a:solidFill>
                      <a:prstDash val="solid"/>
                      <a:round/>
                      <a:headEnd type="none" w="med" len="med"/>
                      <a:tailEnd type="none" w="med" len="med"/>
                    </a:lnB>
                    <a:solidFill>
                      <a:srgbClr val="F4F6F8"/>
                    </a:solidFill>
                  </a:tcPr>
                </a:tc>
                <a:tc>
                  <a:txBody>
                    <a:bodyPr/>
                    <a:lstStyle/>
                    <a:p>
                      <a:pPr marL="0" indent="0" algn="ctr">
                        <a:buNone/>
                      </a:pPr>
                      <a:r>
                        <a:rPr lang="en-US" sz="950" dirty="0">
                          <a:solidFill>
                            <a:srgbClr val="212121"/>
                          </a:solidFill>
                          <a:latin typeface="Calibri" panose="020F0502020204030204" pitchFamily="34" charset="0"/>
                          <a:ea typeface="Calibri" panose="020F0502020204030204" pitchFamily="34" charset="-122"/>
                          <a:cs typeface="Calibri" panose="020F0502020204030204" pitchFamily="34" charset="-120"/>
                        </a:rPr>
                        <a:t>%40,0 ★</a:t>
                      </a:r>
                      <a:endParaRPr lang="en-US" sz="950" dirty="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E0E6ED"/>
                      </a:solidFill>
                      <a:prstDash val="solid"/>
                      <a:round/>
                      <a:headEnd type="none" w="med" len="med"/>
                      <a:tailEnd type="none" w="med" len="med"/>
                    </a:lnL>
                    <a:lnR w="6350" cap="flat" cmpd="sng" algn="ctr">
                      <a:solidFill>
                        <a:srgbClr val="E0E6ED"/>
                      </a:solidFill>
                      <a:prstDash val="solid"/>
                      <a:round/>
                      <a:headEnd type="none" w="med" len="med"/>
                      <a:tailEnd type="none" w="med" len="med"/>
                    </a:lnR>
                    <a:lnT w="6350" cap="flat" cmpd="sng" algn="ctr">
                      <a:solidFill>
                        <a:srgbClr val="E0E6ED"/>
                      </a:solidFill>
                      <a:prstDash val="solid"/>
                      <a:round/>
                      <a:headEnd type="none" w="med" len="med"/>
                      <a:tailEnd type="none" w="med" len="med"/>
                    </a:lnT>
                    <a:lnB w="6350" cap="flat" cmpd="sng" algn="ctr">
                      <a:solidFill>
                        <a:srgbClr val="E0E6ED"/>
                      </a:solidFill>
                      <a:prstDash val="solid"/>
                      <a:round/>
                      <a:headEnd type="none" w="med" len="med"/>
                      <a:tailEnd type="none" w="med" len="med"/>
                    </a:lnB>
                    <a:solidFill>
                      <a:srgbClr val="F4F6F8"/>
                    </a:solidFill>
                  </a:tcPr>
                </a:tc>
                <a:tc>
                  <a:txBody>
                    <a:bodyPr/>
                    <a:lstStyle/>
                    <a:p>
                      <a:pPr marL="0" indent="0" algn="ctr">
                        <a:buNone/>
                      </a:pPr>
                      <a:r>
                        <a:rPr lang="en-US" sz="950" dirty="0">
                          <a:solidFill>
                            <a:srgbClr val="212121"/>
                          </a:solidFill>
                          <a:latin typeface="Calibri" panose="020F0502020204030204" pitchFamily="34" charset="0"/>
                          <a:ea typeface="Calibri" panose="020F0502020204030204" pitchFamily="34" charset="-122"/>
                          <a:cs typeface="Calibri" panose="020F0502020204030204" pitchFamily="34" charset="-120"/>
                        </a:rPr>
                        <a:t>%31,4</a:t>
                      </a:r>
                      <a:endParaRPr lang="en-US" sz="950" dirty="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E0E6ED"/>
                      </a:solidFill>
                      <a:prstDash val="solid"/>
                      <a:round/>
                      <a:headEnd type="none" w="med" len="med"/>
                      <a:tailEnd type="none" w="med" len="med"/>
                    </a:lnL>
                    <a:lnR w="6350" cap="flat" cmpd="sng" algn="ctr">
                      <a:solidFill>
                        <a:srgbClr val="E0E6ED"/>
                      </a:solidFill>
                      <a:prstDash val="solid"/>
                      <a:round/>
                      <a:headEnd type="none" w="med" len="med"/>
                      <a:tailEnd type="none" w="med" len="med"/>
                    </a:lnR>
                    <a:lnT w="6350" cap="flat" cmpd="sng" algn="ctr">
                      <a:solidFill>
                        <a:srgbClr val="E0E6ED"/>
                      </a:solidFill>
                      <a:prstDash val="solid"/>
                      <a:round/>
                      <a:headEnd type="none" w="med" len="med"/>
                      <a:tailEnd type="none" w="med" len="med"/>
                    </a:lnT>
                    <a:lnB w="6350" cap="flat" cmpd="sng" algn="ctr">
                      <a:solidFill>
                        <a:srgbClr val="E0E6ED"/>
                      </a:solidFill>
                      <a:prstDash val="solid"/>
                      <a:round/>
                      <a:headEnd type="none" w="med" len="med"/>
                      <a:tailEnd type="none" w="med" len="med"/>
                    </a:lnB>
                    <a:solidFill>
                      <a:srgbClr val="F4F6F8"/>
                    </a:solidFill>
                  </a:tcPr>
                </a:tc>
                <a:tc>
                  <a:txBody>
                    <a:bodyPr/>
                    <a:lstStyle/>
                    <a:p>
                      <a:pPr marL="0" indent="0" algn="ctr">
                        <a:buNone/>
                      </a:pPr>
                      <a:r>
                        <a:rPr lang="en-US" sz="950" dirty="0">
                          <a:solidFill>
                            <a:srgbClr val="212121"/>
                          </a:solidFill>
                          <a:latin typeface="Calibri" panose="020F0502020204030204" pitchFamily="34" charset="0"/>
                          <a:ea typeface="Calibri" panose="020F0502020204030204" pitchFamily="34" charset="-122"/>
                          <a:cs typeface="Calibri" panose="020F0502020204030204" pitchFamily="34" charset="-120"/>
                        </a:rPr>
                        <a:t>~%90 (teorik)</a:t>
                      </a:r>
                      <a:endParaRPr lang="en-US" sz="950" dirty="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E0E6ED"/>
                      </a:solidFill>
                      <a:prstDash val="solid"/>
                      <a:round/>
                      <a:headEnd type="none" w="med" len="med"/>
                      <a:tailEnd type="none" w="med" len="med"/>
                    </a:lnL>
                    <a:lnR w="6350" cap="flat" cmpd="sng" algn="ctr">
                      <a:solidFill>
                        <a:srgbClr val="E0E6ED"/>
                      </a:solidFill>
                      <a:prstDash val="solid"/>
                      <a:round/>
                      <a:headEnd type="none" w="med" len="med"/>
                      <a:tailEnd type="none" w="med" len="med"/>
                    </a:lnR>
                    <a:lnT w="6350" cap="flat" cmpd="sng" algn="ctr">
                      <a:solidFill>
                        <a:srgbClr val="E0E6ED"/>
                      </a:solidFill>
                      <a:prstDash val="solid"/>
                      <a:round/>
                      <a:headEnd type="none" w="med" len="med"/>
                      <a:tailEnd type="none" w="med" len="med"/>
                    </a:lnT>
                    <a:lnB w="6350" cap="flat" cmpd="sng" algn="ctr">
                      <a:solidFill>
                        <a:srgbClr val="E0E6ED"/>
                      </a:solidFill>
                      <a:prstDash val="solid"/>
                      <a:round/>
                      <a:headEnd type="none" w="med" len="med"/>
                      <a:tailEnd type="none" w="med" len="med"/>
                    </a:lnB>
                    <a:solidFill>
                      <a:srgbClr val="F4F6F8"/>
                    </a:solidFill>
                  </a:tcPr>
                </a:tc>
              </a:tr>
              <a:tr h="298450">
                <a:tc>
                  <a:txBody>
                    <a:bodyPr/>
                    <a:lstStyle/>
                    <a:p>
                      <a:pPr marL="0" indent="0" algn="l">
                        <a:buNone/>
                      </a:pPr>
                      <a:r>
                        <a:rPr lang="en-US" sz="950" dirty="0">
                          <a:solidFill>
                            <a:srgbClr val="212121"/>
                          </a:solidFill>
                          <a:latin typeface="Calibri" panose="020F0502020204030204" pitchFamily="34" charset="0"/>
                          <a:ea typeface="Calibri" panose="020F0502020204030204" pitchFamily="34" charset="-122"/>
                          <a:cs typeface="Calibri" panose="020F0502020204030204" pitchFamily="34" charset="-120"/>
                        </a:rPr>
                        <a:t>Yıllık Üretim</a:t>
                      </a:r>
                      <a:endParaRPr lang="en-US" sz="950" dirty="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E0E6ED"/>
                      </a:solidFill>
                      <a:prstDash val="solid"/>
                      <a:round/>
                      <a:headEnd type="none" w="med" len="med"/>
                      <a:tailEnd type="none" w="med" len="med"/>
                    </a:lnL>
                    <a:lnR w="6350" cap="flat" cmpd="sng" algn="ctr">
                      <a:solidFill>
                        <a:srgbClr val="E0E6ED"/>
                      </a:solidFill>
                      <a:prstDash val="solid"/>
                      <a:round/>
                      <a:headEnd type="none" w="med" len="med"/>
                      <a:tailEnd type="none" w="med" len="med"/>
                    </a:lnR>
                    <a:lnT w="6350" cap="flat" cmpd="sng" algn="ctr">
                      <a:solidFill>
                        <a:srgbClr val="E0E6ED"/>
                      </a:solidFill>
                      <a:prstDash val="solid"/>
                      <a:round/>
                      <a:headEnd type="none" w="med" len="med"/>
                      <a:tailEnd type="none" w="med" len="med"/>
                    </a:lnT>
                    <a:lnB w="6350" cap="flat" cmpd="sng" algn="ctr">
                      <a:solidFill>
                        <a:srgbClr val="E0E6ED"/>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212121"/>
                          </a:solidFill>
                          <a:latin typeface="Calibri" panose="020F0502020204030204" pitchFamily="34" charset="0"/>
                          <a:ea typeface="Calibri" panose="020F0502020204030204" pitchFamily="34" charset="-122"/>
                          <a:cs typeface="Calibri" panose="020F0502020204030204" pitchFamily="34" charset="-120"/>
                        </a:rPr>
                        <a:t>69.800 MWh</a:t>
                      </a:r>
                      <a:endParaRPr lang="en-US" sz="950" dirty="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E0E6ED"/>
                      </a:solidFill>
                      <a:prstDash val="solid"/>
                      <a:round/>
                      <a:headEnd type="none" w="med" len="med"/>
                      <a:tailEnd type="none" w="med" len="med"/>
                    </a:lnL>
                    <a:lnR w="6350" cap="flat" cmpd="sng" algn="ctr">
                      <a:solidFill>
                        <a:srgbClr val="E0E6ED"/>
                      </a:solidFill>
                      <a:prstDash val="solid"/>
                      <a:round/>
                      <a:headEnd type="none" w="med" len="med"/>
                      <a:tailEnd type="none" w="med" len="med"/>
                    </a:lnR>
                    <a:lnT w="6350" cap="flat" cmpd="sng" algn="ctr">
                      <a:solidFill>
                        <a:srgbClr val="E0E6ED"/>
                      </a:solidFill>
                      <a:prstDash val="solid"/>
                      <a:round/>
                      <a:headEnd type="none" w="med" len="med"/>
                      <a:tailEnd type="none" w="med" len="med"/>
                    </a:lnT>
                    <a:lnB w="6350" cap="flat" cmpd="sng" algn="ctr">
                      <a:solidFill>
                        <a:srgbClr val="E0E6ED"/>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212121"/>
                          </a:solidFill>
                          <a:latin typeface="Calibri" panose="020F0502020204030204" pitchFamily="34" charset="0"/>
                          <a:ea typeface="Calibri" panose="020F0502020204030204" pitchFamily="34" charset="-122"/>
                          <a:cs typeface="Calibri" panose="020F0502020204030204" pitchFamily="34" charset="-120"/>
                        </a:rPr>
                        <a:t>120.900 MWh ★</a:t>
                      </a:r>
                      <a:endParaRPr lang="en-US" sz="950" dirty="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E0E6ED"/>
                      </a:solidFill>
                      <a:prstDash val="solid"/>
                      <a:round/>
                      <a:headEnd type="none" w="med" len="med"/>
                      <a:tailEnd type="none" w="med" len="med"/>
                    </a:lnL>
                    <a:lnR w="6350" cap="flat" cmpd="sng" algn="ctr">
                      <a:solidFill>
                        <a:srgbClr val="E0E6ED"/>
                      </a:solidFill>
                      <a:prstDash val="solid"/>
                      <a:round/>
                      <a:headEnd type="none" w="med" len="med"/>
                      <a:tailEnd type="none" w="med" len="med"/>
                    </a:lnR>
                    <a:lnT w="6350" cap="flat" cmpd="sng" algn="ctr">
                      <a:solidFill>
                        <a:srgbClr val="E0E6ED"/>
                      </a:solidFill>
                      <a:prstDash val="solid"/>
                      <a:round/>
                      <a:headEnd type="none" w="med" len="med"/>
                      <a:tailEnd type="none" w="med" len="med"/>
                    </a:lnT>
                    <a:lnB w="6350" cap="flat" cmpd="sng" algn="ctr">
                      <a:solidFill>
                        <a:srgbClr val="E0E6ED"/>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212121"/>
                          </a:solidFill>
                          <a:latin typeface="Calibri" panose="020F0502020204030204" pitchFamily="34" charset="0"/>
                          <a:ea typeface="Calibri" panose="020F0502020204030204" pitchFamily="34" charset="-122"/>
                          <a:cs typeface="Calibri" panose="020F0502020204030204" pitchFamily="34" charset="-120"/>
                        </a:rPr>
                        <a:t>5.500 MWh</a:t>
                      </a:r>
                      <a:endParaRPr lang="en-US" sz="950" dirty="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E0E6ED"/>
                      </a:solidFill>
                      <a:prstDash val="solid"/>
                      <a:round/>
                      <a:headEnd type="none" w="med" len="med"/>
                      <a:tailEnd type="none" w="med" len="med"/>
                    </a:lnL>
                    <a:lnR w="6350" cap="flat" cmpd="sng" algn="ctr">
                      <a:solidFill>
                        <a:srgbClr val="E0E6ED"/>
                      </a:solidFill>
                      <a:prstDash val="solid"/>
                      <a:round/>
                      <a:headEnd type="none" w="med" len="med"/>
                      <a:tailEnd type="none" w="med" len="med"/>
                    </a:lnR>
                    <a:lnT w="6350" cap="flat" cmpd="sng" algn="ctr">
                      <a:solidFill>
                        <a:srgbClr val="E0E6ED"/>
                      </a:solidFill>
                      <a:prstDash val="solid"/>
                      <a:round/>
                      <a:headEnd type="none" w="med" len="med"/>
                      <a:tailEnd type="none" w="med" len="med"/>
                    </a:lnT>
                    <a:lnB w="6350" cap="flat" cmpd="sng" algn="ctr">
                      <a:solidFill>
                        <a:srgbClr val="E0E6ED"/>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212121"/>
                          </a:solidFill>
                          <a:latin typeface="Calibri" panose="020F0502020204030204" pitchFamily="34" charset="0"/>
                          <a:ea typeface="Calibri" panose="020F0502020204030204" pitchFamily="34" charset="-122"/>
                          <a:cs typeface="Calibri" panose="020F0502020204030204" pitchFamily="34" charset="-120"/>
                        </a:rPr>
                        <a:t>—</a:t>
                      </a:r>
                      <a:endParaRPr lang="en-US" sz="950" dirty="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E0E6ED"/>
                      </a:solidFill>
                      <a:prstDash val="solid"/>
                      <a:round/>
                      <a:headEnd type="none" w="med" len="med"/>
                      <a:tailEnd type="none" w="med" len="med"/>
                    </a:lnL>
                    <a:lnR w="6350" cap="flat" cmpd="sng" algn="ctr">
                      <a:solidFill>
                        <a:srgbClr val="E0E6ED"/>
                      </a:solidFill>
                      <a:prstDash val="solid"/>
                      <a:round/>
                      <a:headEnd type="none" w="med" len="med"/>
                      <a:tailEnd type="none" w="med" len="med"/>
                    </a:lnR>
                    <a:lnT w="6350" cap="flat" cmpd="sng" algn="ctr">
                      <a:solidFill>
                        <a:srgbClr val="E0E6ED"/>
                      </a:solidFill>
                      <a:prstDash val="solid"/>
                      <a:round/>
                      <a:headEnd type="none" w="med" len="med"/>
                      <a:tailEnd type="none" w="med" len="med"/>
                    </a:lnT>
                    <a:lnB w="6350" cap="flat" cmpd="sng" algn="ctr">
                      <a:solidFill>
                        <a:srgbClr val="E0E6ED"/>
                      </a:solidFill>
                      <a:prstDash val="solid"/>
                      <a:round/>
                      <a:headEnd type="none" w="med" len="med"/>
                      <a:tailEnd type="none" w="med" len="med"/>
                    </a:lnB>
                    <a:solidFill>
                      <a:srgbClr val="FFFFFF"/>
                    </a:solidFill>
                  </a:tcPr>
                </a:tc>
              </a:tr>
              <a:tr h="298450">
                <a:tc>
                  <a:txBody>
                    <a:bodyPr/>
                    <a:lstStyle/>
                    <a:p>
                      <a:pPr marL="0" indent="0" algn="l">
                        <a:buNone/>
                      </a:pPr>
                      <a:r>
                        <a:rPr lang="en-US" sz="950" dirty="0">
                          <a:solidFill>
                            <a:srgbClr val="212121"/>
                          </a:solidFill>
                          <a:latin typeface="Calibri" panose="020F0502020204030204" pitchFamily="34" charset="0"/>
                          <a:ea typeface="Calibri" panose="020F0502020204030204" pitchFamily="34" charset="-122"/>
                          <a:cs typeface="Calibri" panose="020F0502020204030204" pitchFamily="34" charset="-120"/>
                        </a:rPr>
                        <a:t>Karşılanan Hane</a:t>
                      </a:r>
                      <a:endParaRPr lang="en-US" sz="950" dirty="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E0E6ED"/>
                      </a:solidFill>
                      <a:prstDash val="solid"/>
                      <a:round/>
                      <a:headEnd type="none" w="med" len="med"/>
                      <a:tailEnd type="none" w="med" len="med"/>
                    </a:lnL>
                    <a:lnR w="6350" cap="flat" cmpd="sng" algn="ctr">
                      <a:solidFill>
                        <a:srgbClr val="E0E6ED"/>
                      </a:solidFill>
                      <a:prstDash val="solid"/>
                      <a:round/>
                      <a:headEnd type="none" w="med" len="med"/>
                      <a:tailEnd type="none" w="med" len="med"/>
                    </a:lnR>
                    <a:lnT w="6350" cap="flat" cmpd="sng" algn="ctr">
                      <a:solidFill>
                        <a:srgbClr val="E0E6ED"/>
                      </a:solidFill>
                      <a:prstDash val="solid"/>
                      <a:round/>
                      <a:headEnd type="none" w="med" len="med"/>
                      <a:tailEnd type="none" w="med" len="med"/>
                    </a:lnT>
                    <a:lnB w="6350" cap="flat" cmpd="sng" algn="ctr">
                      <a:solidFill>
                        <a:srgbClr val="E0E6ED"/>
                      </a:solidFill>
                      <a:prstDash val="solid"/>
                      <a:round/>
                      <a:headEnd type="none" w="med" len="med"/>
                      <a:tailEnd type="none" w="med" len="med"/>
                    </a:lnB>
                    <a:solidFill>
                      <a:srgbClr val="F4F6F8"/>
                    </a:solidFill>
                  </a:tcPr>
                </a:tc>
                <a:tc>
                  <a:txBody>
                    <a:bodyPr/>
                    <a:lstStyle/>
                    <a:p>
                      <a:pPr marL="0" indent="0" algn="ctr">
                        <a:buNone/>
                      </a:pPr>
                      <a:r>
                        <a:rPr lang="en-US" sz="950" dirty="0">
                          <a:solidFill>
                            <a:srgbClr val="212121"/>
                          </a:solidFill>
                          <a:latin typeface="Calibri" panose="020F0502020204030204" pitchFamily="34" charset="0"/>
                          <a:ea typeface="Calibri" panose="020F0502020204030204" pitchFamily="34" charset="-122"/>
                          <a:cs typeface="Calibri" panose="020F0502020204030204" pitchFamily="34" charset="-120"/>
                        </a:rPr>
                        <a:t>~19.900</a:t>
                      </a:r>
                      <a:endParaRPr lang="en-US" sz="950" dirty="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E0E6ED"/>
                      </a:solidFill>
                      <a:prstDash val="solid"/>
                      <a:round/>
                      <a:headEnd type="none" w="med" len="med"/>
                      <a:tailEnd type="none" w="med" len="med"/>
                    </a:lnL>
                    <a:lnR w="6350" cap="flat" cmpd="sng" algn="ctr">
                      <a:solidFill>
                        <a:srgbClr val="E0E6ED"/>
                      </a:solidFill>
                      <a:prstDash val="solid"/>
                      <a:round/>
                      <a:headEnd type="none" w="med" len="med"/>
                      <a:tailEnd type="none" w="med" len="med"/>
                    </a:lnR>
                    <a:lnT w="6350" cap="flat" cmpd="sng" algn="ctr">
                      <a:solidFill>
                        <a:srgbClr val="E0E6ED"/>
                      </a:solidFill>
                      <a:prstDash val="solid"/>
                      <a:round/>
                      <a:headEnd type="none" w="med" len="med"/>
                      <a:tailEnd type="none" w="med" len="med"/>
                    </a:lnT>
                    <a:lnB w="6350" cap="flat" cmpd="sng" algn="ctr">
                      <a:solidFill>
                        <a:srgbClr val="E0E6ED"/>
                      </a:solidFill>
                      <a:prstDash val="solid"/>
                      <a:round/>
                      <a:headEnd type="none" w="med" len="med"/>
                      <a:tailEnd type="none" w="med" len="med"/>
                    </a:lnB>
                    <a:solidFill>
                      <a:srgbClr val="F4F6F8"/>
                    </a:solidFill>
                  </a:tcPr>
                </a:tc>
                <a:tc>
                  <a:txBody>
                    <a:bodyPr/>
                    <a:lstStyle/>
                    <a:p>
                      <a:pPr marL="0" indent="0" algn="ctr">
                        <a:buNone/>
                      </a:pPr>
                      <a:r>
                        <a:rPr lang="en-US" sz="950" dirty="0">
                          <a:solidFill>
                            <a:srgbClr val="212121"/>
                          </a:solidFill>
                          <a:latin typeface="Calibri" panose="020F0502020204030204" pitchFamily="34" charset="0"/>
                          <a:ea typeface="Calibri" panose="020F0502020204030204" pitchFamily="34" charset="-122"/>
                          <a:cs typeface="Calibri" panose="020F0502020204030204" pitchFamily="34" charset="-120"/>
                        </a:rPr>
                        <a:t>~34.500 ★</a:t>
                      </a:r>
                      <a:endParaRPr lang="en-US" sz="950" dirty="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E0E6ED"/>
                      </a:solidFill>
                      <a:prstDash val="solid"/>
                      <a:round/>
                      <a:headEnd type="none" w="med" len="med"/>
                      <a:tailEnd type="none" w="med" len="med"/>
                    </a:lnL>
                    <a:lnR w="6350" cap="flat" cmpd="sng" algn="ctr">
                      <a:solidFill>
                        <a:srgbClr val="E0E6ED"/>
                      </a:solidFill>
                      <a:prstDash val="solid"/>
                      <a:round/>
                      <a:headEnd type="none" w="med" len="med"/>
                      <a:tailEnd type="none" w="med" len="med"/>
                    </a:lnR>
                    <a:lnT w="6350" cap="flat" cmpd="sng" algn="ctr">
                      <a:solidFill>
                        <a:srgbClr val="E0E6ED"/>
                      </a:solidFill>
                      <a:prstDash val="solid"/>
                      <a:round/>
                      <a:headEnd type="none" w="med" len="med"/>
                      <a:tailEnd type="none" w="med" len="med"/>
                    </a:lnT>
                    <a:lnB w="6350" cap="flat" cmpd="sng" algn="ctr">
                      <a:solidFill>
                        <a:srgbClr val="E0E6ED"/>
                      </a:solidFill>
                      <a:prstDash val="solid"/>
                      <a:round/>
                      <a:headEnd type="none" w="med" len="med"/>
                      <a:tailEnd type="none" w="med" len="med"/>
                    </a:lnB>
                    <a:solidFill>
                      <a:srgbClr val="F4F6F8"/>
                    </a:solidFill>
                  </a:tcPr>
                </a:tc>
                <a:tc>
                  <a:txBody>
                    <a:bodyPr/>
                    <a:lstStyle/>
                    <a:p>
                      <a:pPr marL="0" indent="0" algn="ctr">
                        <a:buNone/>
                      </a:pPr>
                      <a:r>
                        <a:rPr lang="en-US" sz="950" dirty="0">
                          <a:solidFill>
                            <a:srgbClr val="212121"/>
                          </a:solidFill>
                          <a:latin typeface="Calibri" panose="020F0502020204030204" pitchFamily="34" charset="0"/>
                          <a:ea typeface="Calibri" panose="020F0502020204030204" pitchFamily="34" charset="-122"/>
                          <a:cs typeface="Calibri" panose="020F0502020204030204" pitchFamily="34" charset="-120"/>
                        </a:rPr>
                        <a:t>~1.570</a:t>
                      </a:r>
                      <a:endParaRPr lang="en-US" sz="950" dirty="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E0E6ED"/>
                      </a:solidFill>
                      <a:prstDash val="solid"/>
                      <a:round/>
                      <a:headEnd type="none" w="med" len="med"/>
                      <a:tailEnd type="none" w="med" len="med"/>
                    </a:lnL>
                    <a:lnR w="6350" cap="flat" cmpd="sng" algn="ctr">
                      <a:solidFill>
                        <a:srgbClr val="E0E6ED"/>
                      </a:solidFill>
                      <a:prstDash val="solid"/>
                      <a:round/>
                      <a:headEnd type="none" w="med" len="med"/>
                      <a:tailEnd type="none" w="med" len="med"/>
                    </a:lnR>
                    <a:lnT w="6350" cap="flat" cmpd="sng" algn="ctr">
                      <a:solidFill>
                        <a:srgbClr val="E0E6ED"/>
                      </a:solidFill>
                      <a:prstDash val="solid"/>
                      <a:round/>
                      <a:headEnd type="none" w="med" len="med"/>
                      <a:tailEnd type="none" w="med" len="med"/>
                    </a:lnT>
                    <a:lnB w="6350" cap="flat" cmpd="sng" algn="ctr">
                      <a:solidFill>
                        <a:srgbClr val="E0E6ED"/>
                      </a:solidFill>
                      <a:prstDash val="solid"/>
                      <a:round/>
                      <a:headEnd type="none" w="med" len="med"/>
                      <a:tailEnd type="none" w="med" len="med"/>
                    </a:lnB>
                    <a:solidFill>
                      <a:srgbClr val="F4F6F8"/>
                    </a:solidFill>
                  </a:tcPr>
                </a:tc>
                <a:tc>
                  <a:txBody>
                    <a:bodyPr/>
                    <a:lstStyle/>
                    <a:p>
                      <a:pPr marL="0" indent="0" algn="ctr">
                        <a:buNone/>
                      </a:pPr>
                      <a:r>
                        <a:rPr lang="en-US" sz="950" dirty="0">
                          <a:solidFill>
                            <a:srgbClr val="212121"/>
                          </a:solidFill>
                          <a:latin typeface="Calibri" panose="020F0502020204030204" pitchFamily="34" charset="0"/>
                          <a:ea typeface="Calibri" panose="020F0502020204030204" pitchFamily="34" charset="-122"/>
                          <a:cs typeface="Calibri" panose="020F0502020204030204" pitchFamily="34" charset="-120"/>
                        </a:rPr>
                        <a:t>—</a:t>
                      </a:r>
                      <a:endParaRPr lang="en-US" sz="950" dirty="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E0E6ED"/>
                      </a:solidFill>
                      <a:prstDash val="solid"/>
                      <a:round/>
                      <a:headEnd type="none" w="med" len="med"/>
                      <a:tailEnd type="none" w="med" len="med"/>
                    </a:lnL>
                    <a:lnR w="6350" cap="flat" cmpd="sng" algn="ctr">
                      <a:solidFill>
                        <a:srgbClr val="E0E6ED"/>
                      </a:solidFill>
                      <a:prstDash val="solid"/>
                      <a:round/>
                      <a:headEnd type="none" w="med" len="med"/>
                      <a:tailEnd type="none" w="med" len="med"/>
                    </a:lnR>
                    <a:lnT w="6350" cap="flat" cmpd="sng" algn="ctr">
                      <a:solidFill>
                        <a:srgbClr val="E0E6ED"/>
                      </a:solidFill>
                      <a:prstDash val="solid"/>
                      <a:round/>
                      <a:headEnd type="none" w="med" len="med"/>
                      <a:tailEnd type="none" w="med" len="med"/>
                    </a:lnT>
                    <a:lnB w="6350" cap="flat" cmpd="sng" algn="ctr">
                      <a:solidFill>
                        <a:srgbClr val="E0E6ED"/>
                      </a:solidFill>
                      <a:prstDash val="solid"/>
                      <a:round/>
                      <a:headEnd type="none" w="med" len="med"/>
                      <a:tailEnd type="none" w="med" len="med"/>
                    </a:lnB>
                    <a:solidFill>
                      <a:srgbClr val="F4F6F8"/>
                    </a:solidFill>
                  </a:tcPr>
                </a:tc>
              </a:tr>
              <a:tr h="298450">
                <a:tc>
                  <a:txBody>
                    <a:bodyPr/>
                    <a:lstStyle/>
                    <a:p>
                      <a:pPr marL="0" indent="0" algn="l">
                        <a:buNone/>
                      </a:pPr>
                      <a:r>
                        <a:rPr lang="en-US" sz="950" dirty="0">
                          <a:solidFill>
                            <a:srgbClr val="212121"/>
                          </a:solidFill>
                          <a:latin typeface="Calibri" panose="020F0502020204030204" pitchFamily="34" charset="0"/>
                          <a:ea typeface="Calibri" panose="020F0502020204030204" pitchFamily="34" charset="-122"/>
                          <a:cs typeface="Calibri" panose="020F0502020204030204" pitchFamily="34" charset="-120"/>
                        </a:rPr>
                        <a:t>CO₂ Tasarrufu</a:t>
                      </a:r>
                      <a:endParaRPr lang="en-US" sz="950" dirty="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E0E6ED"/>
                      </a:solidFill>
                      <a:prstDash val="solid"/>
                      <a:round/>
                      <a:headEnd type="none" w="med" len="med"/>
                      <a:tailEnd type="none" w="med" len="med"/>
                    </a:lnL>
                    <a:lnR w="6350" cap="flat" cmpd="sng" algn="ctr">
                      <a:solidFill>
                        <a:srgbClr val="E0E6ED"/>
                      </a:solidFill>
                      <a:prstDash val="solid"/>
                      <a:round/>
                      <a:headEnd type="none" w="med" len="med"/>
                      <a:tailEnd type="none" w="med" len="med"/>
                    </a:lnR>
                    <a:lnT w="6350" cap="flat" cmpd="sng" algn="ctr">
                      <a:solidFill>
                        <a:srgbClr val="E0E6ED"/>
                      </a:solidFill>
                      <a:prstDash val="solid"/>
                      <a:round/>
                      <a:headEnd type="none" w="med" len="med"/>
                      <a:tailEnd type="none" w="med" len="med"/>
                    </a:lnT>
                    <a:lnB w="6350" cap="flat" cmpd="sng" algn="ctr">
                      <a:solidFill>
                        <a:srgbClr val="E0E6ED"/>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212121"/>
                          </a:solidFill>
                          <a:latin typeface="Calibri" panose="020F0502020204030204" pitchFamily="34" charset="0"/>
                          <a:ea typeface="Calibri" panose="020F0502020204030204" pitchFamily="34" charset="-122"/>
                          <a:cs typeface="Calibri" panose="020F0502020204030204" pitchFamily="34" charset="-120"/>
                        </a:rPr>
                        <a:t>~32.806 ton/yıl</a:t>
                      </a:r>
                      <a:endParaRPr lang="en-US" sz="950" dirty="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E0E6ED"/>
                      </a:solidFill>
                      <a:prstDash val="solid"/>
                      <a:round/>
                      <a:headEnd type="none" w="med" len="med"/>
                      <a:tailEnd type="none" w="med" len="med"/>
                    </a:lnL>
                    <a:lnR w="6350" cap="flat" cmpd="sng" algn="ctr">
                      <a:solidFill>
                        <a:srgbClr val="E0E6ED"/>
                      </a:solidFill>
                      <a:prstDash val="solid"/>
                      <a:round/>
                      <a:headEnd type="none" w="med" len="med"/>
                      <a:tailEnd type="none" w="med" len="med"/>
                    </a:lnR>
                    <a:lnT w="6350" cap="flat" cmpd="sng" algn="ctr">
                      <a:solidFill>
                        <a:srgbClr val="E0E6ED"/>
                      </a:solidFill>
                      <a:prstDash val="solid"/>
                      <a:round/>
                      <a:headEnd type="none" w="med" len="med"/>
                      <a:tailEnd type="none" w="med" len="med"/>
                    </a:lnT>
                    <a:lnB w="6350" cap="flat" cmpd="sng" algn="ctr">
                      <a:solidFill>
                        <a:srgbClr val="E0E6ED"/>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212121"/>
                          </a:solidFill>
                          <a:latin typeface="Calibri" panose="020F0502020204030204" pitchFamily="34" charset="0"/>
                          <a:ea typeface="Calibri" panose="020F0502020204030204" pitchFamily="34" charset="-122"/>
                          <a:cs typeface="Calibri" panose="020F0502020204030204" pitchFamily="34" charset="-120"/>
                        </a:rPr>
                        <a:t>~56.823 ton/yıl ★</a:t>
                      </a:r>
                      <a:endParaRPr lang="en-US" sz="950" dirty="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E0E6ED"/>
                      </a:solidFill>
                      <a:prstDash val="solid"/>
                      <a:round/>
                      <a:headEnd type="none" w="med" len="med"/>
                      <a:tailEnd type="none" w="med" len="med"/>
                    </a:lnL>
                    <a:lnR w="6350" cap="flat" cmpd="sng" algn="ctr">
                      <a:solidFill>
                        <a:srgbClr val="E0E6ED"/>
                      </a:solidFill>
                      <a:prstDash val="solid"/>
                      <a:round/>
                      <a:headEnd type="none" w="med" len="med"/>
                      <a:tailEnd type="none" w="med" len="med"/>
                    </a:lnR>
                    <a:lnT w="6350" cap="flat" cmpd="sng" algn="ctr">
                      <a:solidFill>
                        <a:srgbClr val="E0E6ED"/>
                      </a:solidFill>
                      <a:prstDash val="solid"/>
                      <a:round/>
                      <a:headEnd type="none" w="med" len="med"/>
                      <a:tailEnd type="none" w="med" len="med"/>
                    </a:lnT>
                    <a:lnB w="6350" cap="flat" cmpd="sng" algn="ctr">
                      <a:solidFill>
                        <a:srgbClr val="E0E6ED"/>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212121"/>
                          </a:solidFill>
                          <a:latin typeface="Calibri" panose="020F0502020204030204" pitchFamily="34" charset="0"/>
                          <a:ea typeface="Calibri" panose="020F0502020204030204" pitchFamily="34" charset="-122"/>
                          <a:cs typeface="Calibri" panose="020F0502020204030204" pitchFamily="34" charset="-120"/>
                        </a:rPr>
                        <a:t>~2.585 ton/yıl</a:t>
                      </a:r>
                      <a:endParaRPr lang="en-US" sz="950" dirty="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E0E6ED"/>
                      </a:solidFill>
                      <a:prstDash val="solid"/>
                      <a:round/>
                      <a:headEnd type="none" w="med" len="med"/>
                      <a:tailEnd type="none" w="med" len="med"/>
                    </a:lnL>
                    <a:lnR w="6350" cap="flat" cmpd="sng" algn="ctr">
                      <a:solidFill>
                        <a:srgbClr val="E0E6ED"/>
                      </a:solidFill>
                      <a:prstDash val="solid"/>
                      <a:round/>
                      <a:headEnd type="none" w="med" len="med"/>
                      <a:tailEnd type="none" w="med" len="med"/>
                    </a:lnR>
                    <a:lnT w="6350" cap="flat" cmpd="sng" algn="ctr">
                      <a:solidFill>
                        <a:srgbClr val="E0E6ED"/>
                      </a:solidFill>
                      <a:prstDash val="solid"/>
                      <a:round/>
                      <a:headEnd type="none" w="med" len="med"/>
                      <a:tailEnd type="none" w="med" len="med"/>
                    </a:lnT>
                    <a:lnB w="6350" cap="flat" cmpd="sng" algn="ctr">
                      <a:solidFill>
                        <a:srgbClr val="E0E6ED"/>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212121"/>
                          </a:solidFill>
                          <a:latin typeface="Calibri" panose="020F0502020204030204" pitchFamily="34" charset="0"/>
                          <a:ea typeface="Calibri" panose="020F0502020204030204" pitchFamily="34" charset="-122"/>
                          <a:cs typeface="Calibri" panose="020F0502020204030204" pitchFamily="34" charset="-120"/>
                        </a:rPr>
                        <a:t>—</a:t>
                      </a:r>
                      <a:endParaRPr lang="en-US" sz="950" dirty="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E0E6ED"/>
                      </a:solidFill>
                      <a:prstDash val="solid"/>
                      <a:round/>
                      <a:headEnd type="none" w="med" len="med"/>
                      <a:tailEnd type="none" w="med" len="med"/>
                    </a:lnL>
                    <a:lnR w="6350" cap="flat" cmpd="sng" algn="ctr">
                      <a:solidFill>
                        <a:srgbClr val="E0E6ED"/>
                      </a:solidFill>
                      <a:prstDash val="solid"/>
                      <a:round/>
                      <a:headEnd type="none" w="med" len="med"/>
                      <a:tailEnd type="none" w="med" len="med"/>
                    </a:lnR>
                    <a:lnT w="6350" cap="flat" cmpd="sng" algn="ctr">
                      <a:solidFill>
                        <a:srgbClr val="E0E6ED"/>
                      </a:solidFill>
                      <a:prstDash val="solid"/>
                      <a:round/>
                      <a:headEnd type="none" w="med" len="med"/>
                      <a:tailEnd type="none" w="med" len="med"/>
                    </a:lnT>
                    <a:lnB w="6350" cap="flat" cmpd="sng" algn="ctr">
                      <a:solidFill>
                        <a:srgbClr val="E0E6ED"/>
                      </a:solidFill>
                      <a:prstDash val="solid"/>
                      <a:round/>
                      <a:headEnd type="none" w="med" len="med"/>
                      <a:tailEnd type="none" w="med" len="med"/>
                    </a:lnB>
                    <a:solidFill>
                      <a:srgbClr val="FFFFFF"/>
                    </a:solidFill>
                  </a:tcPr>
                </a:tc>
              </a:tr>
              <a:tr h="298450">
                <a:tc>
                  <a:txBody>
                    <a:bodyPr/>
                    <a:lstStyle/>
                    <a:p>
                      <a:pPr marL="0" indent="0" algn="l">
                        <a:buNone/>
                      </a:pPr>
                      <a:r>
                        <a:rPr lang="en-US" sz="950" dirty="0">
                          <a:solidFill>
                            <a:srgbClr val="212121"/>
                          </a:solidFill>
                          <a:latin typeface="Calibri" panose="020F0502020204030204" pitchFamily="34" charset="0"/>
                          <a:ea typeface="Calibri" panose="020F0502020204030204" pitchFamily="34" charset="-122"/>
                          <a:cs typeface="Calibri" panose="020F0502020204030204" pitchFamily="34" charset="-120"/>
                        </a:rPr>
                        <a:t>EPBT</a:t>
                      </a:r>
                      <a:endParaRPr lang="en-US" sz="950" dirty="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E0E6ED"/>
                      </a:solidFill>
                      <a:prstDash val="solid"/>
                      <a:round/>
                      <a:headEnd type="none" w="med" len="med"/>
                      <a:tailEnd type="none" w="med" len="med"/>
                    </a:lnL>
                    <a:lnR w="6350" cap="flat" cmpd="sng" algn="ctr">
                      <a:solidFill>
                        <a:srgbClr val="E0E6ED"/>
                      </a:solidFill>
                      <a:prstDash val="solid"/>
                      <a:round/>
                      <a:headEnd type="none" w="med" len="med"/>
                      <a:tailEnd type="none" w="med" len="med"/>
                    </a:lnR>
                    <a:lnT w="6350" cap="flat" cmpd="sng" algn="ctr">
                      <a:solidFill>
                        <a:srgbClr val="E0E6ED"/>
                      </a:solidFill>
                      <a:prstDash val="solid"/>
                      <a:round/>
                      <a:headEnd type="none" w="med" len="med"/>
                      <a:tailEnd type="none" w="med" len="med"/>
                    </a:lnT>
                    <a:lnB w="6350" cap="flat" cmpd="sng" algn="ctr">
                      <a:solidFill>
                        <a:srgbClr val="E0E6ED"/>
                      </a:solidFill>
                      <a:prstDash val="solid"/>
                      <a:round/>
                      <a:headEnd type="none" w="med" len="med"/>
                      <a:tailEnd type="none" w="med" len="med"/>
                    </a:lnB>
                    <a:solidFill>
                      <a:srgbClr val="F4F6F8"/>
                    </a:solidFill>
                  </a:tcPr>
                </a:tc>
                <a:tc>
                  <a:txBody>
                    <a:bodyPr/>
                    <a:lstStyle/>
                    <a:p>
                      <a:pPr marL="0" indent="0" algn="ctr">
                        <a:buNone/>
                      </a:pPr>
                      <a:r>
                        <a:rPr lang="en-US" sz="950" dirty="0">
                          <a:solidFill>
                            <a:srgbClr val="212121"/>
                          </a:solidFill>
                          <a:latin typeface="Calibri" panose="020F0502020204030204" pitchFamily="34" charset="0"/>
                          <a:ea typeface="Calibri" panose="020F0502020204030204" pitchFamily="34" charset="-122"/>
                          <a:cs typeface="Calibri" panose="020F0502020204030204" pitchFamily="34" charset="-120"/>
                        </a:rPr>
                        <a:t>1,5–2,5 yıl</a:t>
                      </a:r>
                      <a:endParaRPr lang="en-US" sz="950" dirty="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E0E6ED"/>
                      </a:solidFill>
                      <a:prstDash val="solid"/>
                      <a:round/>
                      <a:headEnd type="none" w="med" len="med"/>
                      <a:tailEnd type="none" w="med" len="med"/>
                    </a:lnL>
                    <a:lnR w="6350" cap="flat" cmpd="sng" algn="ctr">
                      <a:solidFill>
                        <a:srgbClr val="E0E6ED"/>
                      </a:solidFill>
                      <a:prstDash val="solid"/>
                      <a:round/>
                      <a:headEnd type="none" w="med" len="med"/>
                      <a:tailEnd type="none" w="med" len="med"/>
                    </a:lnR>
                    <a:lnT w="6350" cap="flat" cmpd="sng" algn="ctr">
                      <a:solidFill>
                        <a:srgbClr val="E0E6ED"/>
                      </a:solidFill>
                      <a:prstDash val="solid"/>
                      <a:round/>
                      <a:headEnd type="none" w="med" len="med"/>
                      <a:tailEnd type="none" w="med" len="med"/>
                    </a:lnT>
                    <a:lnB w="6350" cap="flat" cmpd="sng" algn="ctr">
                      <a:solidFill>
                        <a:srgbClr val="E0E6ED"/>
                      </a:solidFill>
                      <a:prstDash val="solid"/>
                      <a:round/>
                      <a:headEnd type="none" w="med" len="med"/>
                      <a:tailEnd type="none" w="med" len="med"/>
                    </a:lnB>
                    <a:solidFill>
                      <a:srgbClr val="F4F6F8"/>
                    </a:solidFill>
                  </a:tcPr>
                </a:tc>
                <a:tc>
                  <a:txBody>
                    <a:bodyPr/>
                    <a:lstStyle/>
                    <a:p>
                      <a:pPr marL="0" indent="0" algn="ctr">
                        <a:buNone/>
                      </a:pPr>
                      <a:r>
                        <a:rPr lang="en-US" sz="950" dirty="0">
                          <a:solidFill>
                            <a:srgbClr val="212121"/>
                          </a:solidFill>
                          <a:latin typeface="Calibri" panose="020F0502020204030204" pitchFamily="34" charset="0"/>
                          <a:ea typeface="Calibri" panose="020F0502020204030204" pitchFamily="34" charset="-122"/>
                          <a:cs typeface="Calibri" panose="020F0502020204030204" pitchFamily="34" charset="-120"/>
                        </a:rPr>
                        <a:t>~0,5 yıl ★</a:t>
                      </a:r>
                      <a:endParaRPr lang="en-US" sz="950" dirty="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E0E6ED"/>
                      </a:solidFill>
                      <a:prstDash val="solid"/>
                      <a:round/>
                      <a:headEnd type="none" w="med" len="med"/>
                      <a:tailEnd type="none" w="med" len="med"/>
                    </a:lnL>
                    <a:lnR w="6350" cap="flat" cmpd="sng" algn="ctr">
                      <a:solidFill>
                        <a:srgbClr val="E0E6ED"/>
                      </a:solidFill>
                      <a:prstDash val="solid"/>
                      <a:round/>
                      <a:headEnd type="none" w="med" len="med"/>
                      <a:tailEnd type="none" w="med" len="med"/>
                    </a:lnR>
                    <a:lnT w="6350" cap="flat" cmpd="sng" algn="ctr">
                      <a:solidFill>
                        <a:srgbClr val="E0E6ED"/>
                      </a:solidFill>
                      <a:prstDash val="solid"/>
                      <a:round/>
                      <a:headEnd type="none" w="med" len="med"/>
                      <a:tailEnd type="none" w="med" len="med"/>
                    </a:lnT>
                    <a:lnB w="6350" cap="flat" cmpd="sng" algn="ctr">
                      <a:solidFill>
                        <a:srgbClr val="E0E6ED"/>
                      </a:solidFill>
                      <a:prstDash val="solid"/>
                      <a:round/>
                      <a:headEnd type="none" w="med" len="med"/>
                      <a:tailEnd type="none" w="med" len="med"/>
                    </a:lnB>
                    <a:solidFill>
                      <a:srgbClr val="F4F6F8"/>
                    </a:solidFill>
                  </a:tcPr>
                </a:tc>
                <a:tc>
                  <a:txBody>
                    <a:bodyPr/>
                    <a:lstStyle/>
                    <a:p>
                      <a:pPr marL="0" indent="0" algn="ctr">
                        <a:buNone/>
                      </a:pPr>
                      <a:r>
                        <a:rPr lang="en-US" sz="950" dirty="0">
                          <a:solidFill>
                            <a:srgbClr val="212121"/>
                          </a:solidFill>
                          <a:latin typeface="Calibri" panose="020F0502020204030204" pitchFamily="34" charset="0"/>
                          <a:ea typeface="Calibri" panose="020F0502020204030204" pitchFamily="34" charset="-122"/>
                          <a:cs typeface="Calibri" panose="020F0502020204030204" pitchFamily="34" charset="-120"/>
                        </a:rPr>
                        <a:t>0,5–1,5 yıl</a:t>
                      </a:r>
                      <a:endParaRPr lang="en-US" sz="950" dirty="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E0E6ED"/>
                      </a:solidFill>
                      <a:prstDash val="solid"/>
                      <a:round/>
                      <a:headEnd type="none" w="med" len="med"/>
                      <a:tailEnd type="none" w="med" len="med"/>
                    </a:lnL>
                    <a:lnR w="6350" cap="flat" cmpd="sng" algn="ctr">
                      <a:solidFill>
                        <a:srgbClr val="E0E6ED"/>
                      </a:solidFill>
                      <a:prstDash val="solid"/>
                      <a:round/>
                      <a:headEnd type="none" w="med" len="med"/>
                      <a:tailEnd type="none" w="med" len="med"/>
                    </a:lnR>
                    <a:lnT w="6350" cap="flat" cmpd="sng" algn="ctr">
                      <a:solidFill>
                        <a:srgbClr val="E0E6ED"/>
                      </a:solidFill>
                      <a:prstDash val="solid"/>
                      <a:round/>
                      <a:headEnd type="none" w="med" len="med"/>
                      <a:tailEnd type="none" w="med" len="med"/>
                    </a:lnT>
                    <a:lnB w="6350" cap="flat" cmpd="sng" algn="ctr">
                      <a:solidFill>
                        <a:srgbClr val="E0E6ED"/>
                      </a:solidFill>
                      <a:prstDash val="solid"/>
                      <a:round/>
                      <a:headEnd type="none" w="med" len="med"/>
                      <a:tailEnd type="none" w="med" len="med"/>
                    </a:lnB>
                    <a:solidFill>
                      <a:srgbClr val="F4F6F8"/>
                    </a:solidFill>
                  </a:tcPr>
                </a:tc>
                <a:tc>
                  <a:txBody>
                    <a:bodyPr/>
                    <a:lstStyle/>
                    <a:p>
                      <a:pPr marL="0" indent="0" algn="ctr">
                        <a:buNone/>
                      </a:pPr>
                      <a:r>
                        <a:rPr lang="en-US" sz="950" dirty="0">
                          <a:solidFill>
                            <a:srgbClr val="212121"/>
                          </a:solidFill>
                          <a:latin typeface="Calibri" panose="020F0502020204030204" pitchFamily="34" charset="0"/>
                          <a:ea typeface="Calibri" panose="020F0502020204030204" pitchFamily="34" charset="-122"/>
                          <a:cs typeface="Calibri" panose="020F0502020204030204" pitchFamily="34" charset="-120"/>
                        </a:rPr>
                        <a:t>6–10 yıl</a:t>
                      </a:r>
                      <a:endParaRPr lang="en-US" sz="950" dirty="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E0E6ED"/>
                      </a:solidFill>
                      <a:prstDash val="solid"/>
                      <a:round/>
                      <a:headEnd type="none" w="med" len="med"/>
                      <a:tailEnd type="none" w="med" len="med"/>
                    </a:lnL>
                    <a:lnR w="6350" cap="flat" cmpd="sng" algn="ctr">
                      <a:solidFill>
                        <a:srgbClr val="E0E6ED"/>
                      </a:solidFill>
                      <a:prstDash val="solid"/>
                      <a:round/>
                      <a:headEnd type="none" w="med" len="med"/>
                      <a:tailEnd type="none" w="med" len="med"/>
                    </a:lnR>
                    <a:lnT w="6350" cap="flat" cmpd="sng" algn="ctr">
                      <a:solidFill>
                        <a:srgbClr val="E0E6ED"/>
                      </a:solidFill>
                      <a:prstDash val="solid"/>
                      <a:round/>
                      <a:headEnd type="none" w="med" len="med"/>
                      <a:tailEnd type="none" w="med" len="med"/>
                    </a:lnT>
                    <a:lnB w="6350" cap="flat" cmpd="sng" algn="ctr">
                      <a:solidFill>
                        <a:srgbClr val="E0E6ED"/>
                      </a:solidFill>
                      <a:prstDash val="solid"/>
                      <a:round/>
                      <a:headEnd type="none" w="med" len="med"/>
                      <a:tailEnd type="none" w="med" len="med"/>
                    </a:lnB>
                    <a:solidFill>
                      <a:srgbClr val="F4F6F8"/>
                    </a:solidFill>
                  </a:tcPr>
                </a:tc>
              </a:tr>
              <a:tr h="298450">
                <a:tc>
                  <a:txBody>
                    <a:bodyPr/>
                    <a:lstStyle/>
                    <a:p>
                      <a:pPr marL="0" indent="0" algn="l">
                        <a:buNone/>
                      </a:pPr>
                      <a:r>
                        <a:rPr lang="en-US" sz="950" dirty="0">
                          <a:solidFill>
                            <a:srgbClr val="212121"/>
                          </a:solidFill>
                          <a:latin typeface="Calibri" panose="020F0502020204030204" pitchFamily="34" charset="0"/>
                          <a:ea typeface="Calibri" panose="020F0502020204030204" pitchFamily="34" charset="-122"/>
                          <a:cs typeface="Calibri" panose="020F0502020204030204" pitchFamily="34" charset="-120"/>
                        </a:rPr>
                        <a:t>GPBT</a:t>
                      </a:r>
                      <a:endParaRPr lang="en-US" sz="950" dirty="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E0E6ED"/>
                      </a:solidFill>
                      <a:prstDash val="solid"/>
                      <a:round/>
                      <a:headEnd type="none" w="med" len="med"/>
                      <a:tailEnd type="none" w="med" len="med"/>
                    </a:lnL>
                    <a:lnR w="6350" cap="flat" cmpd="sng" algn="ctr">
                      <a:solidFill>
                        <a:srgbClr val="E0E6ED"/>
                      </a:solidFill>
                      <a:prstDash val="solid"/>
                      <a:round/>
                      <a:headEnd type="none" w="med" len="med"/>
                      <a:tailEnd type="none" w="med" len="med"/>
                    </a:lnR>
                    <a:lnT w="6350" cap="flat" cmpd="sng" algn="ctr">
                      <a:solidFill>
                        <a:srgbClr val="E0E6ED"/>
                      </a:solidFill>
                      <a:prstDash val="solid"/>
                      <a:round/>
                      <a:headEnd type="none" w="med" len="med"/>
                      <a:tailEnd type="none" w="med" len="med"/>
                    </a:lnT>
                    <a:lnB w="6350" cap="flat" cmpd="sng" algn="ctr">
                      <a:solidFill>
                        <a:srgbClr val="E0E6ED"/>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212121"/>
                          </a:solidFill>
                          <a:latin typeface="Calibri" panose="020F0502020204030204" pitchFamily="34" charset="0"/>
                          <a:ea typeface="Calibri" panose="020F0502020204030204" pitchFamily="34" charset="-122"/>
                          <a:cs typeface="Calibri" panose="020F0502020204030204" pitchFamily="34" charset="-120"/>
                        </a:rPr>
                        <a:t>8–12 yıl</a:t>
                      </a:r>
                      <a:endParaRPr lang="en-US" sz="950" dirty="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E0E6ED"/>
                      </a:solidFill>
                      <a:prstDash val="solid"/>
                      <a:round/>
                      <a:headEnd type="none" w="med" len="med"/>
                      <a:tailEnd type="none" w="med" len="med"/>
                    </a:lnL>
                    <a:lnR w="6350" cap="flat" cmpd="sng" algn="ctr">
                      <a:solidFill>
                        <a:srgbClr val="E0E6ED"/>
                      </a:solidFill>
                      <a:prstDash val="solid"/>
                      <a:round/>
                      <a:headEnd type="none" w="med" len="med"/>
                      <a:tailEnd type="none" w="med" len="med"/>
                    </a:lnR>
                    <a:lnT w="6350" cap="flat" cmpd="sng" algn="ctr">
                      <a:solidFill>
                        <a:srgbClr val="E0E6ED"/>
                      </a:solidFill>
                      <a:prstDash val="solid"/>
                      <a:round/>
                      <a:headEnd type="none" w="med" len="med"/>
                      <a:tailEnd type="none" w="med" len="med"/>
                    </a:lnT>
                    <a:lnB w="6350" cap="flat" cmpd="sng" algn="ctr">
                      <a:solidFill>
                        <a:srgbClr val="E0E6ED"/>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212121"/>
                          </a:solidFill>
                          <a:latin typeface="Calibri" panose="020F0502020204030204" pitchFamily="34" charset="0"/>
                          <a:ea typeface="Calibri" panose="020F0502020204030204" pitchFamily="34" charset="-122"/>
                          <a:cs typeface="Calibri" panose="020F0502020204030204" pitchFamily="34" charset="-120"/>
                        </a:rPr>
                        <a:t>7–10 yıl ★</a:t>
                      </a:r>
                      <a:endParaRPr lang="en-US" sz="950" dirty="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E0E6ED"/>
                      </a:solidFill>
                      <a:prstDash val="solid"/>
                      <a:round/>
                      <a:headEnd type="none" w="med" len="med"/>
                      <a:tailEnd type="none" w="med" len="med"/>
                    </a:lnL>
                    <a:lnR w="6350" cap="flat" cmpd="sng" algn="ctr">
                      <a:solidFill>
                        <a:srgbClr val="E0E6ED"/>
                      </a:solidFill>
                      <a:prstDash val="solid"/>
                      <a:round/>
                      <a:headEnd type="none" w="med" len="med"/>
                      <a:tailEnd type="none" w="med" len="med"/>
                    </a:lnR>
                    <a:lnT w="6350" cap="flat" cmpd="sng" algn="ctr">
                      <a:solidFill>
                        <a:srgbClr val="E0E6ED"/>
                      </a:solidFill>
                      <a:prstDash val="solid"/>
                      <a:round/>
                      <a:headEnd type="none" w="med" len="med"/>
                      <a:tailEnd type="none" w="med" len="med"/>
                    </a:lnT>
                    <a:lnB w="6350" cap="flat" cmpd="sng" algn="ctr">
                      <a:solidFill>
                        <a:srgbClr val="E0E6ED"/>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212121"/>
                          </a:solidFill>
                          <a:latin typeface="Calibri" panose="020F0502020204030204" pitchFamily="34" charset="0"/>
                          <a:ea typeface="Calibri" panose="020F0502020204030204" pitchFamily="34" charset="-122"/>
                          <a:cs typeface="Calibri" panose="020F0502020204030204" pitchFamily="34" charset="-120"/>
                        </a:rPr>
                        <a:t>12–18 yıl</a:t>
                      </a:r>
                      <a:endParaRPr lang="en-US" sz="950" dirty="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E0E6ED"/>
                      </a:solidFill>
                      <a:prstDash val="solid"/>
                      <a:round/>
                      <a:headEnd type="none" w="med" len="med"/>
                      <a:tailEnd type="none" w="med" len="med"/>
                    </a:lnL>
                    <a:lnR w="6350" cap="flat" cmpd="sng" algn="ctr">
                      <a:solidFill>
                        <a:srgbClr val="E0E6ED"/>
                      </a:solidFill>
                      <a:prstDash val="solid"/>
                      <a:round/>
                      <a:headEnd type="none" w="med" len="med"/>
                      <a:tailEnd type="none" w="med" len="med"/>
                    </a:lnR>
                    <a:lnT w="6350" cap="flat" cmpd="sng" algn="ctr">
                      <a:solidFill>
                        <a:srgbClr val="E0E6ED"/>
                      </a:solidFill>
                      <a:prstDash val="solid"/>
                      <a:round/>
                      <a:headEnd type="none" w="med" len="med"/>
                      <a:tailEnd type="none" w="med" len="med"/>
                    </a:lnT>
                    <a:lnB w="6350" cap="flat" cmpd="sng" algn="ctr">
                      <a:solidFill>
                        <a:srgbClr val="E0E6ED"/>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212121"/>
                          </a:solidFill>
                          <a:latin typeface="Calibri" panose="020F0502020204030204" pitchFamily="34" charset="0"/>
                          <a:ea typeface="Calibri" panose="020F0502020204030204" pitchFamily="34" charset="-122"/>
                          <a:cs typeface="Calibri" panose="020F0502020204030204" pitchFamily="34" charset="-120"/>
                        </a:rPr>
                        <a:t>30–40 yıl</a:t>
                      </a:r>
                      <a:endParaRPr lang="en-US" sz="950" dirty="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E0E6ED"/>
                      </a:solidFill>
                      <a:prstDash val="solid"/>
                      <a:round/>
                      <a:headEnd type="none" w="med" len="med"/>
                      <a:tailEnd type="none" w="med" len="med"/>
                    </a:lnL>
                    <a:lnR w="6350" cap="flat" cmpd="sng" algn="ctr">
                      <a:solidFill>
                        <a:srgbClr val="E0E6ED"/>
                      </a:solidFill>
                      <a:prstDash val="solid"/>
                      <a:round/>
                      <a:headEnd type="none" w="med" len="med"/>
                      <a:tailEnd type="none" w="med" len="med"/>
                    </a:lnR>
                    <a:lnT w="6350" cap="flat" cmpd="sng" algn="ctr">
                      <a:solidFill>
                        <a:srgbClr val="E0E6ED"/>
                      </a:solidFill>
                      <a:prstDash val="solid"/>
                      <a:round/>
                      <a:headEnd type="none" w="med" len="med"/>
                      <a:tailEnd type="none" w="med" len="med"/>
                    </a:lnT>
                    <a:lnB w="6350" cap="flat" cmpd="sng" algn="ctr">
                      <a:solidFill>
                        <a:srgbClr val="E0E6ED"/>
                      </a:solidFill>
                      <a:prstDash val="solid"/>
                      <a:round/>
                      <a:headEnd type="none" w="med" len="med"/>
                      <a:tailEnd type="none" w="med" len="med"/>
                    </a:lnB>
                    <a:solidFill>
                      <a:srgbClr val="FFFFFF"/>
                    </a:solidFill>
                  </a:tcPr>
                </a:tc>
              </a:tr>
              <a:tr h="298450">
                <a:tc>
                  <a:txBody>
                    <a:bodyPr/>
                    <a:lstStyle/>
                    <a:p>
                      <a:pPr marL="0" indent="0" algn="l">
                        <a:buNone/>
                      </a:pPr>
                      <a:r>
                        <a:rPr lang="en-US" sz="950" dirty="0">
                          <a:solidFill>
                            <a:srgbClr val="212121"/>
                          </a:solidFill>
                          <a:latin typeface="Calibri" panose="020F0502020204030204" pitchFamily="34" charset="0"/>
                          <a:ea typeface="Calibri" panose="020F0502020204030204" pitchFamily="34" charset="-122"/>
                          <a:cs typeface="Calibri" panose="020F0502020204030204" pitchFamily="34" charset="-120"/>
                        </a:rPr>
                        <a:t>YEKDEM Geliri/yıl</a:t>
                      </a:r>
                      <a:endParaRPr lang="en-US" sz="950" dirty="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E0E6ED"/>
                      </a:solidFill>
                      <a:prstDash val="solid"/>
                      <a:round/>
                      <a:headEnd type="none" w="med" len="med"/>
                      <a:tailEnd type="none" w="med" len="med"/>
                    </a:lnL>
                    <a:lnR w="6350" cap="flat" cmpd="sng" algn="ctr">
                      <a:solidFill>
                        <a:srgbClr val="E0E6ED"/>
                      </a:solidFill>
                      <a:prstDash val="solid"/>
                      <a:round/>
                      <a:headEnd type="none" w="med" len="med"/>
                      <a:tailEnd type="none" w="med" len="med"/>
                    </a:lnR>
                    <a:lnT w="6350" cap="flat" cmpd="sng" algn="ctr">
                      <a:solidFill>
                        <a:srgbClr val="E0E6ED"/>
                      </a:solidFill>
                      <a:prstDash val="solid"/>
                      <a:round/>
                      <a:headEnd type="none" w="med" len="med"/>
                      <a:tailEnd type="none" w="med" len="med"/>
                    </a:lnT>
                    <a:lnB w="6350" cap="flat" cmpd="sng" algn="ctr">
                      <a:solidFill>
                        <a:srgbClr val="E0E6ED"/>
                      </a:solidFill>
                      <a:prstDash val="solid"/>
                      <a:round/>
                      <a:headEnd type="none" w="med" len="med"/>
                      <a:tailEnd type="none" w="med" len="med"/>
                    </a:lnB>
                    <a:solidFill>
                      <a:srgbClr val="F4F6F8"/>
                    </a:solidFill>
                  </a:tcPr>
                </a:tc>
                <a:tc>
                  <a:txBody>
                    <a:bodyPr/>
                    <a:lstStyle/>
                    <a:p>
                      <a:pPr marL="0" indent="0" algn="ctr">
                        <a:buNone/>
                      </a:pPr>
                      <a:r>
                        <a:rPr lang="en-US" sz="950" dirty="0">
                          <a:solidFill>
                            <a:srgbClr val="212121"/>
                          </a:solidFill>
                          <a:latin typeface="Calibri" panose="020F0502020204030204" pitchFamily="34" charset="0"/>
                          <a:ea typeface="Calibri" panose="020F0502020204030204" pitchFamily="34" charset="-122"/>
                          <a:cs typeface="Calibri" panose="020F0502020204030204" pitchFamily="34" charset="-120"/>
                        </a:rPr>
                        <a:t>~8–9 M$/yıl</a:t>
                      </a:r>
                      <a:endParaRPr lang="en-US" sz="950" dirty="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E0E6ED"/>
                      </a:solidFill>
                      <a:prstDash val="solid"/>
                      <a:round/>
                      <a:headEnd type="none" w="med" len="med"/>
                      <a:tailEnd type="none" w="med" len="med"/>
                    </a:lnL>
                    <a:lnR w="6350" cap="flat" cmpd="sng" algn="ctr">
                      <a:solidFill>
                        <a:srgbClr val="E0E6ED"/>
                      </a:solidFill>
                      <a:prstDash val="solid"/>
                      <a:round/>
                      <a:headEnd type="none" w="med" len="med"/>
                      <a:tailEnd type="none" w="med" len="med"/>
                    </a:lnR>
                    <a:lnT w="6350" cap="flat" cmpd="sng" algn="ctr">
                      <a:solidFill>
                        <a:srgbClr val="E0E6ED"/>
                      </a:solidFill>
                      <a:prstDash val="solid"/>
                      <a:round/>
                      <a:headEnd type="none" w="med" len="med"/>
                      <a:tailEnd type="none" w="med" len="med"/>
                    </a:lnT>
                    <a:lnB w="6350" cap="flat" cmpd="sng" algn="ctr">
                      <a:solidFill>
                        <a:srgbClr val="E0E6ED"/>
                      </a:solidFill>
                      <a:prstDash val="solid"/>
                      <a:round/>
                      <a:headEnd type="none" w="med" len="med"/>
                      <a:tailEnd type="none" w="med" len="med"/>
                    </a:lnB>
                    <a:solidFill>
                      <a:srgbClr val="F4F6F8"/>
                    </a:solidFill>
                  </a:tcPr>
                </a:tc>
                <a:tc>
                  <a:txBody>
                    <a:bodyPr/>
                    <a:lstStyle/>
                    <a:p>
                      <a:pPr marL="0" indent="0" algn="ctr">
                        <a:buNone/>
                      </a:pPr>
                      <a:r>
                        <a:rPr lang="en-US" sz="950" dirty="0">
                          <a:solidFill>
                            <a:srgbClr val="212121"/>
                          </a:solidFill>
                          <a:latin typeface="Calibri" panose="020F0502020204030204" pitchFamily="34" charset="0"/>
                          <a:ea typeface="Calibri" panose="020F0502020204030204" pitchFamily="34" charset="-122"/>
                          <a:cs typeface="Calibri" panose="020F0502020204030204" pitchFamily="34" charset="-120"/>
                        </a:rPr>
                        <a:t>~12,9 M$/yıl ★</a:t>
                      </a:r>
                      <a:endParaRPr lang="en-US" sz="950" dirty="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E0E6ED"/>
                      </a:solidFill>
                      <a:prstDash val="solid"/>
                      <a:round/>
                      <a:headEnd type="none" w="med" len="med"/>
                      <a:tailEnd type="none" w="med" len="med"/>
                    </a:lnL>
                    <a:lnR w="6350" cap="flat" cmpd="sng" algn="ctr">
                      <a:solidFill>
                        <a:srgbClr val="E0E6ED"/>
                      </a:solidFill>
                      <a:prstDash val="solid"/>
                      <a:round/>
                      <a:headEnd type="none" w="med" len="med"/>
                      <a:tailEnd type="none" w="med" len="med"/>
                    </a:lnR>
                    <a:lnT w="6350" cap="flat" cmpd="sng" algn="ctr">
                      <a:solidFill>
                        <a:srgbClr val="E0E6ED"/>
                      </a:solidFill>
                      <a:prstDash val="solid"/>
                      <a:round/>
                      <a:headEnd type="none" w="med" len="med"/>
                      <a:tailEnd type="none" w="med" len="med"/>
                    </a:lnT>
                    <a:lnB w="6350" cap="flat" cmpd="sng" algn="ctr">
                      <a:solidFill>
                        <a:srgbClr val="E0E6ED"/>
                      </a:solidFill>
                      <a:prstDash val="solid"/>
                      <a:round/>
                      <a:headEnd type="none" w="med" len="med"/>
                      <a:tailEnd type="none" w="med" len="med"/>
                    </a:lnB>
                    <a:solidFill>
                      <a:srgbClr val="F4F6F8"/>
                    </a:solidFill>
                  </a:tcPr>
                </a:tc>
                <a:tc>
                  <a:txBody>
                    <a:bodyPr/>
                    <a:lstStyle/>
                    <a:p>
                      <a:pPr marL="0" indent="0" algn="ctr">
                        <a:buNone/>
                      </a:pPr>
                      <a:r>
                        <a:rPr lang="en-US" sz="950" dirty="0">
                          <a:solidFill>
                            <a:srgbClr val="212121"/>
                          </a:solidFill>
                          <a:latin typeface="Calibri" panose="020F0502020204030204" pitchFamily="34" charset="0"/>
                          <a:ea typeface="Calibri" panose="020F0502020204030204" pitchFamily="34" charset="-122"/>
                          <a:cs typeface="Calibri" panose="020F0502020204030204" pitchFamily="34" charset="-120"/>
                        </a:rPr>
                        <a:t>~0,27 M$/yıl</a:t>
                      </a:r>
                      <a:endParaRPr lang="en-US" sz="950" dirty="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E0E6ED"/>
                      </a:solidFill>
                      <a:prstDash val="solid"/>
                      <a:round/>
                      <a:headEnd type="none" w="med" len="med"/>
                      <a:tailEnd type="none" w="med" len="med"/>
                    </a:lnL>
                    <a:lnR w="6350" cap="flat" cmpd="sng" algn="ctr">
                      <a:solidFill>
                        <a:srgbClr val="E0E6ED"/>
                      </a:solidFill>
                      <a:prstDash val="solid"/>
                      <a:round/>
                      <a:headEnd type="none" w="med" len="med"/>
                      <a:tailEnd type="none" w="med" len="med"/>
                    </a:lnR>
                    <a:lnT w="6350" cap="flat" cmpd="sng" algn="ctr">
                      <a:solidFill>
                        <a:srgbClr val="E0E6ED"/>
                      </a:solidFill>
                      <a:prstDash val="solid"/>
                      <a:round/>
                      <a:headEnd type="none" w="med" len="med"/>
                      <a:tailEnd type="none" w="med" len="med"/>
                    </a:lnT>
                    <a:lnB w="6350" cap="flat" cmpd="sng" algn="ctr">
                      <a:solidFill>
                        <a:srgbClr val="E0E6ED"/>
                      </a:solidFill>
                      <a:prstDash val="solid"/>
                      <a:round/>
                      <a:headEnd type="none" w="med" len="med"/>
                      <a:tailEnd type="none" w="med" len="med"/>
                    </a:lnB>
                    <a:solidFill>
                      <a:srgbClr val="F4F6F8"/>
                    </a:solidFill>
                  </a:tcPr>
                </a:tc>
                <a:tc>
                  <a:txBody>
                    <a:bodyPr/>
                    <a:lstStyle/>
                    <a:p>
                      <a:pPr marL="0" indent="0" algn="ctr">
                        <a:buNone/>
                      </a:pPr>
                      <a:r>
                        <a:rPr lang="en-US" sz="950" dirty="0">
                          <a:solidFill>
                            <a:srgbClr val="212121"/>
                          </a:solidFill>
                          <a:latin typeface="Calibri" panose="020F0502020204030204" pitchFamily="34" charset="0"/>
                          <a:ea typeface="Calibri" panose="020F0502020204030204" pitchFamily="34" charset="-122"/>
                          <a:cs typeface="Calibri" panose="020F0502020204030204" pitchFamily="34" charset="-120"/>
                        </a:rPr>
                        <a:t>—</a:t>
                      </a:r>
                      <a:endParaRPr lang="en-US" sz="950" dirty="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E0E6ED"/>
                      </a:solidFill>
                      <a:prstDash val="solid"/>
                      <a:round/>
                      <a:headEnd type="none" w="med" len="med"/>
                      <a:tailEnd type="none" w="med" len="med"/>
                    </a:lnL>
                    <a:lnR w="6350" cap="flat" cmpd="sng" algn="ctr">
                      <a:solidFill>
                        <a:srgbClr val="E0E6ED"/>
                      </a:solidFill>
                      <a:prstDash val="solid"/>
                      <a:round/>
                      <a:headEnd type="none" w="med" len="med"/>
                      <a:tailEnd type="none" w="med" len="med"/>
                    </a:lnR>
                    <a:lnT w="6350" cap="flat" cmpd="sng" algn="ctr">
                      <a:solidFill>
                        <a:srgbClr val="E0E6ED"/>
                      </a:solidFill>
                      <a:prstDash val="solid"/>
                      <a:round/>
                      <a:headEnd type="none" w="med" len="med"/>
                      <a:tailEnd type="none" w="med" len="med"/>
                    </a:lnT>
                    <a:lnB w="6350" cap="flat" cmpd="sng" algn="ctr">
                      <a:solidFill>
                        <a:srgbClr val="E0E6ED"/>
                      </a:solidFill>
                      <a:prstDash val="solid"/>
                      <a:round/>
                      <a:headEnd type="none" w="med" len="med"/>
                      <a:tailEnd type="none" w="med" len="med"/>
                    </a:lnB>
                    <a:solidFill>
                      <a:srgbClr val="F4F6F8"/>
                    </a:solidFill>
                  </a:tcPr>
                </a:tc>
              </a:tr>
              <a:tr h="298450">
                <a:tc>
                  <a:txBody>
                    <a:bodyPr/>
                    <a:lstStyle/>
                    <a:p>
                      <a:pPr marL="0" indent="0" algn="l">
                        <a:buNone/>
                      </a:pPr>
                      <a:r>
                        <a:rPr lang="en-US" sz="950" dirty="0">
                          <a:solidFill>
                            <a:srgbClr val="212121"/>
                          </a:solidFill>
                          <a:latin typeface="Calibri" panose="020F0502020204030204" pitchFamily="34" charset="0"/>
                          <a:ea typeface="Calibri" panose="020F0502020204030204" pitchFamily="34" charset="-122"/>
                          <a:cs typeface="Calibri" panose="020F0502020204030204" pitchFamily="34" charset="-120"/>
                        </a:rPr>
                        <a:t>İzmir Uygunluğu</a:t>
                      </a:r>
                      <a:endParaRPr lang="en-US" sz="950" dirty="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E0E6ED"/>
                      </a:solidFill>
                      <a:prstDash val="solid"/>
                      <a:round/>
                      <a:headEnd type="none" w="med" len="med"/>
                      <a:tailEnd type="none" w="med" len="med"/>
                    </a:lnL>
                    <a:lnR w="6350" cap="flat" cmpd="sng" algn="ctr">
                      <a:solidFill>
                        <a:srgbClr val="E0E6ED"/>
                      </a:solidFill>
                      <a:prstDash val="solid"/>
                      <a:round/>
                      <a:headEnd type="none" w="med" len="med"/>
                      <a:tailEnd type="none" w="med" len="med"/>
                    </a:lnR>
                    <a:lnT w="6350" cap="flat" cmpd="sng" algn="ctr">
                      <a:solidFill>
                        <a:srgbClr val="E0E6ED"/>
                      </a:solidFill>
                      <a:prstDash val="solid"/>
                      <a:round/>
                      <a:headEnd type="none" w="med" len="med"/>
                      <a:tailEnd type="none" w="med" len="med"/>
                    </a:lnT>
                    <a:lnB w="6350" cap="flat" cmpd="sng" algn="ctr">
                      <a:solidFill>
                        <a:srgbClr val="E0E6ED"/>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212121"/>
                          </a:solidFill>
                          <a:latin typeface="Calibri" panose="020F0502020204030204" pitchFamily="34" charset="0"/>
                          <a:ea typeface="Calibri" panose="020F0502020204030204" pitchFamily="34" charset="-122"/>
                          <a:cs typeface="Calibri" panose="020F0502020204030204" pitchFamily="34" charset="-120"/>
                        </a:rPr>
                        <a:t>Çok İyi (★★★★)</a:t>
                      </a:r>
                      <a:endParaRPr lang="en-US" sz="950" dirty="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E0E6ED"/>
                      </a:solidFill>
                      <a:prstDash val="solid"/>
                      <a:round/>
                      <a:headEnd type="none" w="med" len="med"/>
                      <a:tailEnd type="none" w="med" len="med"/>
                    </a:lnL>
                    <a:lnR w="6350" cap="flat" cmpd="sng" algn="ctr">
                      <a:solidFill>
                        <a:srgbClr val="E0E6ED"/>
                      </a:solidFill>
                      <a:prstDash val="solid"/>
                      <a:round/>
                      <a:headEnd type="none" w="med" len="med"/>
                      <a:tailEnd type="none" w="med" len="med"/>
                    </a:lnR>
                    <a:lnT w="6350" cap="flat" cmpd="sng" algn="ctr">
                      <a:solidFill>
                        <a:srgbClr val="E0E6ED"/>
                      </a:solidFill>
                      <a:prstDash val="solid"/>
                      <a:round/>
                      <a:headEnd type="none" w="med" len="med"/>
                      <a:tailEnd type="none" w="med" len="med"/>
                    </a:lnT>
                    <a:lnB w="6350" cap="flat" cmpd="sng" algn="ctr">
                      <a:solidFill>
                        <a:srgbClr val="E0E6ED"/>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212121"/>
                          </a:solidFill>
                          <a:latin typeface="Calibri" panose="020F0502020204030204" pitchFamily="34" charset="0"/>
                          <a:ea typeface="Calibri" panose="020F0502020204030204" pitchFamily="34" charset="-122"/>
                          <a:cs typeface="Calibri" panose="020F0502020204030204" pitchFamily="34" charset="-120"/>
                        </a:rPr>
                        <a:t>EN UYGUN (★★★★★)</a:t>
                      </a:r>
                      <a:endParaRPr lang="en-US" sz="950" dirty="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E0E6ED"/>
                      </a:solidFill>
                      <a:prstDash val="solid"/>
                      <a:round/>
                      <a:headEnd type="none" w="med" len="med"/>
                      <a:tailEnd type="none" w="med" len="med"/>
                    </a:lnL>
                    <a:lnR w="6350" cap="flat" cmpd="sng" algn="ctr">
                      <a:solidFill>
                        <a:srgbClr val="E0E6ED"/>
                      </a:solidFill>
                      <a:prstDash val="solid"/>
                      <a:round/>
                      <a:headEnd type="none" w="med" len="med"/>
                      <a:tailEnd type="none" w="med" len="med"/>
                    </a:lnR>
                    <a:lnT w="6350" cap="flat" cmpd="sng" algn="ctr">
                      <a:solidFill>
                        <a:srgbClr val="E0E6ED"/>
                      </a:solidFill>
                      <a:prstDash val="solid"/>
                      <a:round/>
                      <a:headEnd type="none" w="med" len="med"/>
                      <a:tailEnd type="none" w="med" len="med"/>
                    </a:lnT>
                    <a:lnB w="6350" cap="flat" cmpd="sng" algn="ctr">
                      <a:solidFill>
                        <a:srgbClr val="E0E6ED"/>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212121"/>
                          </a:solidFill>
                          <a:latin typeface="Calibri" panose="020F0502020204030204" pitchFamily="34" charset="0"/>
                          <a:ea typeface="Calibri" panose="020F0502020204030204" pitchFamily="34" charset="-122"/>
                          <a:cs typeface="Calibri" panose="020F0502020204030204" pitchFamily="34" charset="-120"/>
                        </a:rPr>
                        <a:t>Sınırlı (★★★)</a:t>
                      </a:r>
                      <a:endParaRPr lang="en-US" sz="950" dirty="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E0E6ED"/>
                      </a:solidFill>
                      <a:prstDash val="solid"/>
                      <a:round/>
                      <a:headEnd type="none" w="med" len="med"/>
                      <a:tailEnd type="none" w="med" len="med"/>
                    </a:lnL>
                    <a:lnR w="6350" cap="flat" cmpd="sng" algn="ctr">
                      <a:solidFill>
                        <a:srgbClr val="E0E6ED"/>
                      </a:solidFill>
                      <a:prstDash val="solid"/>
                      <a:round/>
                      <a:headEnd type="none" w="med" len="med"/>
                      <a:tailEnd type="none" w="med" len="med"/>
                    </a:lnR>
                    <a:lnT w="6350" cap="flat" cmpd="sng" algn="ctr">
                      <a:solidFill>
                        <a:srgbClr val="E0E6ED"/>
                      </a:solidFill>
                      <a:prstDash val="solid"/>
                      <a:round/>
                      <a:headEnd type="none" w="med" len="med"/>
                      <a:tailEnd type="none" w="med" len="med"/>
                    </a:lnT>
                    <a:lnB w="6350" cap="flat" cmpd="sng" algn="ctr">
                      <a:solidFill>
                        <a:srgbClr val="E0E6ED"/>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212121"/>
                          </a:solidFill>
                          <a:latin typeface="Calibri" panose="020F0502020204030204" pitchFamily="34" charset="0"/>
                          <a:ea typeface="Calibri" panose="020F0502020204030204" pitchFamily="34" charset="-122"/>
                          <a:cs typeface="Calibri" panose="020F0502020204030204" pitchFamily="34" charset="-120"/>
                        </a:rPr>
                        <a:t>UYGUN DEĞİL ✗</a:t>
                      </a:r>
                      <a:endParaRPr lang="en-US" sz="950" dirty="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E0E6ED"/>
                      </a:solidFill>
                      <a:prstDash val="solid"/>
                      <a:round/>
                      <a:headEnd type="none" w="med" len="med"/>
                      <a:tailEnd type="none" w="med" len="med"/>
                    </a:lnL>
                    <a:lnR w="6350" cap="flat" cmpd="sng" algn="ctr">
                      <a:solidFill>
                        <a:srgbClr val="E0E6ED"/>
                      </a:solidFill>
                      <a:prstDash val="solid"/>
                      <a:round/>
                      <a:headEnd type="none" w="med" len="med"/>
                      <a:tailEnd type="none" w="med" len="med"/>
                    </a:lnR>
                    <a:lnT w="6350" cap="flat" cmpd="sng" algn="ctr">
                      <a:solidFill>
                        <a:srgbClr val="E0E6ED"/>
                      </a:solidFill>
                      <a:prstDash val="solid"/>
                      <a:round/>
                      <a:headEnd type="none" w="med" len="med"/>
                      <a:tailEnd type="none" w="med" len="med"/>
                    </a:lnT>
                    <a:lnB w="6350" cap="flat" cmpd="sng" algn="ctr">
                      <a:solidFill>
                        <a:srgbClr val="E0E6ED"/>
                      </a:solidFill>
                      <a:prstDash val="solid"/>
                      <a:round/>
                      <a:headEnd type="none" w="med" len="med"/>
                      <a:tailEnd type="none" w="med" len="med"/>
                    </a:lnB>
                    <a:solidFill>
                      <a:srgbClr val="FFFFFF"/>
                    </a:solidFill>
                  </a:tcPr>
                </a:tc>
              </a:tr>
            </a:tbl>
          </a:graphicData>
        </a:graphic>
      </p:graphicFrame>
      <p:graphicFrame>
        <p:nvGraphicFramePr>
          <p:cNvPr id="8" name="Chart 0"/>
          <p:cNvGraphicFramePr/>
          <p:nvPr/>
        </p:nvGraphicFramePr>
        <p:xfrm>
          <a:off x="517392" y="3559911"/>
          <a:ext cx="3344139" cy="1283398"/>
        </p:xfrm>
        <a:graphic>
          <a:graphicData uri="http://schemas.openxmlformats.org/drawingml/2006/chart">
            <c:chart xmlns:c="http://schemas.openxmlformats.org/drawingml/2006/chart" xmlns:r="http://schemas.openxmlformats.org/officeDocument/2006/relationships" r:id="rId1"/>
          </a:graphicData>
        </a:graphic>
      </p:graphicFrame>
      <p:graphicFrame>
        <p:nvGraphicFramePr>
          <p:cNvPr id="9" name="Chart 1"/>
          <p:cNvGraphicFramePr/>
          <p:nvPr/>
        </p:nvGraphicFramePr>
        <p:xfrm>
          <a:off x="4835136" y="3545586"/>
          <a:ext cx="3876989" cy="1268121"/>
        </p:xfrm>
        <a:graphic>
          <a:graphicData uri="http://schemas.openxmlformats.org/drawingml/2006/chart">
            <c:chart xmlns:c="http://schemas.openxmlformats.org/drawingml/2006/chart" xmlns:r="http://schemas.openxmlformats.org/officeDocument/2006/relationships" r:id="rId2"/>
          </a:graphicData>
        </a:graphic>
      </p:graphicFrame>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8F9FA"/>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B3A6B"/>
          </a:solidFill>
          <a:ln w="12700">
            <a:solidFill>
              <a:srgbClr val="1B3A6B"/>
            </a:solidFill>
            <a:prstDash val="solid"/>
          </a:ln>
        </p:spPr>
        <p:txBody>
          <a:bodyPr/>
          <a:lstStyle/>
          <a:p>
            <a:endParaRPr lang="tr-TR"/>
          </a:p>
        </p:txBody>
      </p:sp>
      <p:sp>
        <p:nvSpPr>
          <p:cNvPr id="3" name="Shape 1"/>
          <p:cNvSpPr/>
          <p:nvPr/>
        </p:nvSpPr>
        <p:spPr>
          <a:xfrm>
            <a:off x="0" y="685800"/>
            <a:ext cx="9144000" cy="45720"/>
          </a:xfrm>
          <a:prstGeom prst="rect">
            <a:avLst/>
          </a:prstGeom>
          <a:solidFill>
            <a:srgbClr val="C8901A"/>
          </a:solidFill>
          <a:ln w="12700">
            <a:solidFill>
              <a:srgbClr val="C8901A"/>
            </a:solidFill>
            <a:prstDash val="solid"/>
          </a:ln>
        </p:spPr>
        <p:txBody>
          <a:bodyPr/>
          <a:lstStyle/>
          <a:p>
            <a:endParaRPr lang="tr-TR"/>
          </a:p>
        </p:txBody>
      </p:sp>
      <p:sp>
        <p:nvSpPr>
          <p:cNvPr id="4" name="Shape 2"/>
          <p:cNvSpPr/>
          <p:nvPr/>
        </p:nvSpPr>
        <p:spPr>
          <a:xfrm>
            <a:off x="0" y="4892040"/>
            <a:ext cx="9144000" cy="251460"/>
          </a:xfrm>
          <a:prstGeom prst="rect">
            <a:avLst/>
          </a:prstGeom>
          <a:solidFill>
            <a:srgbClr val="1B3A6B"/>
          </a:solidFill>
          <a:ln w="12700">
            <a:solidFill>
              <a:srgbClr val="1B3A6B"/>
            </a:solidFill>
            <a:prstDash val="solid"/>
          </a:ln>
        </p:spPr>
        <p:txBody>
          <a:bodyPr/>
          <a:lstStyle/>
          <a:p>
            <a:endParaRPr lang="tr-TR"/>
          </a:p>
        </p:txBody>
      </p:sp>
      <p:sp>
        <p:nvSpPr>
          <p:cNvPr id="5" name="Text 3"/>
          <p:cNvSpPr/>
          <p:nvPr/>
        </p:nvSpPr>
        <p:spPr>
          <a:xfrm>
            <a:off x="274320" y="4892040"/>
            <a:ext cx="8595360" cy="251460"/>
          </a:xfrm>
          <a:prstGeom prst="rect">
            <a:avLst/>
          </a:prstGeom>
          <a:noFill/>
        </p:spPr>
        <p:txBody>
          <a:bodyPr wrap="square" rtlCol="0" anchor="ctr"/>
          <a:lstStyle/>
          <a:p>
            <a:pPr marL="0" indent="0" algn="ctr">
              <a:buNone/>
            </a:pPr>
            <a:r>
              <a:rPr lang="en-US" sz="800" dirty="0">
                <a:solidFill>
                  <a:srgbClr val="E0E6ED"/>
                </a:solidFill>
                <a:latin typeface="Calibri" panose="020F0502020204030204" pitchFamily="34" charset="0"/>
                <a:ea typeface="Calibri" panose="020F0502020204030204" pitchFamily="34" charset="-122"/>
                <a:cs typeface="Calibri" panose="020F0502020204030204" pitchFamily="34" charset="-120"/>
              </a:rPr>
              <a:t>SAÜ EEM  |  İzmir Yenilenebilir Enerji Analizi</a:t>
            </a:r>
            <a:endParaRPr lang="en-US" sz="800" dirty="0"/>
          </a:p>
        </p:txBody>
      </p:sp>
      <p:sp>
        <p:nvSpPr>
          <p:cNvPr id="6" name="Text 4"/>
          <p:cNvSpPr/>
          <p:nvPr/>
        </p:nvSpPr>
        <p:spPr>
          <a:xfrm>
            <a:off x="274320" y="45720"/>
            <a:ext cx="8595360" cy="594360"/>
          </a:xfrm>
          <a:prstGeom prst="rect">
            <a:avLst/>
          </a:prstGeom>
          <a:noFill/>
        </p:spPr>
        <p:txBody>
          <a:bodyPr wrap="square" lIns="0" tIns="0" rIns="0" bIns="0" rtlCol="0" anchor="ctr"/>
          <a:lstStyle/>
          <a:p>
            <a:pPr marL="0" indent="0" algn="l">
              <a:buNone/>
            </a:pPr>
            <a:r>
              <a:rPr lang="en-US" sz="1800" b="1" dirty="0">
                <a:solidFill>
                  <a:srgbClr val="FFFFFF"/>
                </a:solidFill>
                <a:latin typeface="Calibri" panose="020F0502020204030204" pitchFamily="34" charset="0"/>
                <a:ea typeface="Calibri" panose="020F0502020204030204" pitchFamily="34" charset="-122"/>
                <a:cs typeface="Calibri" panose="020F0502020204030204" pitchFamily="34" charset="-120"/>
              </a:rPr>
              <a:t>GPBT &amp; EPBT Karşılaştırması — Her Santral İçin</a:t>
            </a:r>
            <a:endParaRPr lang="en-US" sz="1800" dirty="0"/>
          </a:p>
        </p:txBody>
      </p:sp>
      <p:sp>
        <p:nvSpPr>
          <p:cNvPr id="7" name="Shape 5"/>
          <p:cNvSpPr/>
          <p:nvPr/>
        </p:nvSpPr>
        <p:spPr>
          <a:xfrm>
            <a:off x="320040" y="777240"/>
            <a:ext cx="8503920" cy="502920"/>
          </a:xfrm>
          <a:prstGeom prst="rect">
            <a:avLst/>
          </a:prstGeom>
          <a:solidFill>
            <a:srgbClr val="D6EAF8"/>
          </a:solidFill>
          <a:ln w="6350">
            <a:solidFill>
              <a:srgbClr val="E0E6ED"/>
            </a:solidFill>
            <a:prstDash val="solid"/>
          </a:ln>
        </p:spPr>
        <p:txBody>
          <a:bodyPr/>
          <a:lstStyle/>
          <a:p>
            <a:endParaRPr lang="tr-TR"/>
          </a:p>
        </p:txBody>
      </p:sp>
      <p:sp>
        <p:nvSpPr>
          <p:cNvPr id="8" name="Text 6"/>
          <p:cNvSpPr/>
          <p:nvPr/>
        </p:nvSpPr>
        <p:spPr>
          <a:xfrm>
            <a:off x="411480" y="795528"/>
            <a:ext cx="8321040" cy="457200"/>
          </a:xfrm>
          <a:prstGeom prst="rect">
            <a:avLst/>
          </a:prstGeom>
          <a:noFill/>
        </p:spPr>
        <p:txBody>
          <a:bodyPr wrap="square" rtlCol="0" anchor="ctr"/>
          <a:lstStyle/>
          <a:p>
            <a:pPr marL="0" indent="0">
              <a:buNone/>
            </a:pPr>
            <a:r>
              <a:rPr lang="en-US" sz="950" b="1" dirty="0">
                <a:solidFill>
                  <a:srgbClr val="212121"/>
                </a:solidFill>
                <a:latin typeface="Calibri" panose="020F0502020204030204" pitchFamily="34" charset="0"/>
                <a:ea typeface="Calibri" panose="020F0502020204030204" pitchFamily="34" charset="-122"/>
                <a:cs typeface="Calibri" panose="020F0502020204030204" pitchFamily="34" charset="-120"/>
              </a:rPr>
              <a:t>GPBT (Geri Ödeme Süresi): </a:t>
            </a:r>
            <a:r>
              <a:rPr lang="en-US" sz="950" dirty="0">
                <a:solidFill>
                  <a:srgbClr val="212121"/>
                </a:solidFill>
                <a:latin typeface="Calibri" panose="020F0502020204030204" pitchFamily="34" charset="0"/>
                <a:ea typeface="Calibri" panose="020F0502020204030204" pitchFamily="34" charset="-122"/>
                <a:cs typeface="Calibri" panose="020F0502020204030204" pitchFamily="34" charset="-120"/>
              </a:rPr>
              <a:t>Finansal yatırımın geri kazanıldığı süre (yıl).  </a:t>
            </a:r>
            <a:r>
              <a:rPr lang="en-US" sz="950" b="1" dirty="0">
                <a:solidFill>
                  <a:srgbClr val="212121"/>
                </a:solidFill>
                <a:latin typeface="Calibri" panose="020F0502020204030204" pitchFamily="34" charset="0"/>
                <a:ea typeface="Calibri" panose="020F0502020204030204" pitchFamily="34" charset="-122"/>
                <a:cs typeface="Calibri" panose="020F0502020204030204" pitchFamily="34" charset="-120"/>
              </a:rPr>
              <a:t>EPBT (Enerji Geri Ödeme Süresi): </a:t>
            </a:r>
            <a:r>
              <a:rPr lang="en-US" sz="950" dirty="0">
                <a:solidFill>
                  <a:srgbClr val="212121"/>
                </a:solidFill>
                <a:latin typeface="Calibri" panose="020F0502020204030204" pitchFamily="34" charset="0"/>
                <a:ea typeface="Calibri" panose="020F0502020204030204" pitchFamily="34" charset="-122"/>
                <a:cs typeface="Calibri" panose="020F0502020204030204" pitchFamily="34" charset="-120"/>
              </a:rPr>
              <a:t>Kurulum ve üretim için harcanan enerji miktarının, tesisin kendi üretimiyle karşılanması için gereken süre (yıl).</a:t>
            </a:r>
            <a:endParaRPr lang="en-US" sz="950" dirty="0"/>
          </a:p>
        </p:txBody>
      </p:sp>
      <p:sp>
        <p:nvSpPr>
          <p:cNvPr id="9" name="Shape 7"/>
          <p:cNvSpPr/>
          <p:nvPr/>
        </p:nvSpPr>
        <p:spPr>
          <a:xfrm>
            <a:off x="274320" y="1371600"/>
            <a:ext cx="2057400" cy="3520440"/>
          </a:xfrm>
          <a:prstGeom prst="rect">
            <a:avLst/>
          </a:prstGeom>
          <a:solidFill>
            <a:srgbClr val="FEF9E7"/>
          </a:solidFill>
          <a:ln w="12700">
            <a:solidFill>
              <a:srgbClr val="E67E22"/>
            </a:solidFill>
            <a:prstDash val="solid"/>
          </a:ln>
        </p:spPr>
        <p:txBody>
          <a:bodyPr/>
          <a:lstStyle/>
          <a:p>
            <a:endParaRPr lang="tr-TR"/>
          </a:p>
        </p:txBody>
      </p:sp>
      <p:sp>
        <p:nvSpPr>
          <p:cNvPr id="10" name="Shape 8"/>
          <p:cNvSpPr/>
          <p:nvPr/>
        </p:nvSpPr>
        <p:spPr>
          <a:xfrm>
            <a:off x="274320" y="1371600"/>
            <a:ext cx="2057400" cy="475488"/>
          </a:xfrm>
          <a:prstGeom prst="rect">
            <a:avLst/>
          </a:prstGeom>
          <a:solidFill>
            <a:srgbClr val="E67E22"/>
          </a:solidFill>
          <a:ln w="12700">
            <a:solidFill>
              <a:srgbClr val="E67E22"/>
            </a:solidFill>
            <a:prstDash val="solid"/>
          </a:ln>
        </p:spPr>
        <p:txBody>
          <a:bodyPr/>
          <a:lstStyle/>
          <a:p>
            <a:endParaRPr lang="tr-TR"/>
          </a:p>
        </p:txBody>
      </p:sp>
      <p:sp>
        <p:nvSpPr>
          <p:cNvPr id="11" name="Text 9"/>
          <p:cNvSpPr/>
          <p:nvPr/>
        </p:nvSpPr>
        <p:spPr>
          <a:xfrm>
            <a:off x="320040" y="1371600"/>
            <a:ext cx="1965960" cy="475488"/>
          </a:xfrm>
          <a:prstGeom prst="rect">
            <a:avLst/>
          </a:prstGeom>
          <a:noFill/>
        </p:spPr>
        <p:txBody>
          <a:bodyPr wrap="square" rtlCol="0" anchor="ctr"/>
          <a:lstStyle/>
          <a:p>
            <a:pPr marL="0" indent="0" algn="ctr">
              <a:buNone/>
            </a:pPr>
            <a:r>
              <a:rPr lang="en-US" sz="1100" b="1" dirty="0">
                <a:solidFill>
                  <a:srgbClr val="FFFFFF"/>
                </a:solidFill>
                <a:latin typeface="Calibri" panose="020F0502020204030204" pitchFamily="34" charset="0"/>
                <a:ea typeface="Calibri" panose="020F0502020204030204" pitchFamily="34" charset="-122"/>
                <a:cs typeface="Calibri" panose="020F0502020204030204" pitchFamily="34" charset="-120"/>
              </a:rPr>
              <a:t>GES</a:t>
            </a:r>
            <a:endParaRPr lang="en-US" sz="1100" dirty="0"/>
          </a:p>
          <a:p>
            <a:pPr marL="0" indent="0" algn="ctr">
              <a:buNone/>
            </a:pPr>
            <a:r>
              <a:rPr lang="en-US" sz="1100" b="1" dirty="0">
                <a:solidFill>
                  <a:srgbClr val="FFFFFF"/>
                </a:solidFill>
                <a:latin typeface="Calibri" panose="020F0502020204030204" pitchFamily="34" charset="0"/>
                <a:ea typeface="Calibri" panose="020F0502020204030204" pitchFamily="34" charset="-122"/>
                <a:cs typeface="Calibri" panose="020F0502020204030204" pitchFamily="34" charset="-120"/>
              </a:rPr>
              <a:t>(50 MWp)</a:t>
            </a:r>
            <a:endParaRPr lang="en-US" sz="1100" dirty="0"/>
          </a:p>
        </p:txBody>
      </p:sp>
      <p:sp>
        <p:nvSpPr>
          <p:cNvPr id="12" name="Text 10"/>
          <p:cNvSpPr/>
          <p:nvPr/>
        </p:nvSpPr>
        <p:spPr>
          <a:xfrm>
            <a:off x="365760" y="1938528"/>
            <a:ext cx="1874520" cy="274320"/>
          </a:xfrm>
          <a:prstGeom prst="rect">
            <a:avLst/>
          </a:prstGeom>
          <a:noFill/>
        </p:spPr>
        <p:txBody>
          <a:bodyPr wrap="square" rtlCol="0" anchor="ctr"/>
          <a:lstStyle/>
          <a:p>
            <a:pPr marL="0" indent="0">
              <a:buNone/>
            </a:pPr>
            <a:r>
              <a:rPr lang="en-US" sz="900" b="1" dirty="0">
                <a:solidFill>
                  <a:srgbClr val="E67E22"/>
                </a:solidFill>
                <a:latin typeface="Calibri" panose="020F0502020204030204" pitchFamily="34" charset="0"/>
                <a:ea typeface="Calibri" panose="020F0502020204030204" pitchFamily="34" charset="-122"/>
                <a:cs typeface="Calibri" panose="020F0502020204030204" pitchFamily="34" charset="-120"/>
              </a:rPr>
              <a:t>Kapasite Faktörü</a:t>
            </a:r>
            <a:endParaRPr lang="en-US" sz="900" dirty="0"/>
          </a:p>
        </p:txBody>
      </p:sp>
      <p:sp>
        <p:nvSpPr>
          <p:cNvPr id="13" name="Text 11"/>
          <p:cNvSpPr/>
          <p:nvPr/>
        </p:nvSpPr>
        <p:spPr>
          <a:xfrm>
            <a:off x="365760" y="2212848"/>
            <a:ext cx="1874520" cy="384048"/>
          </a:xfrm>
          <a:prstGeom prst="rect">
            <a:avLst/>
          </a:prstGeom>
          <a:noFill/>
        </p:spPr>
        <p:txBody>
          <a:bodyPr wrap="square" rtlCol="0" anchor="ctr"/>
          <a:lstStyle/>
          <a:p>
            <a:pPr marL="0" indent="0">
              <a:buNone/>
            </a:pPr>
            <a:r>
              <a:rPr lang="en-US" sz="1050" dirty="0">
                <a:solidFill>
                  <a:srgbClr val="212121"/>
                </a:solidFill>
                <a:latin typeface="Calibri" panose="020F0502020204030204" pitchFamily="34" charset="0"/>
                <a:ea typeface="Calibri" panose="020F0502020204030204" pitchFamily="34" charset="-122"/>
                <a:cs typeface="Calibri" panose="020F0502020204030204" pitchFamily="34" charset="-120"/>
              </a:rPr>
              <a:t>%15,9</a:t>
            </a:r>
            <a:endParaRPr lang="en-US" sz="1050" dirty="0"/>
          </a:p>
        </p:txBody>
      </p:sp>
      <p:sp>
        <p:nvSpPr>
          <p:cNvPr id="14" name="Text 12"/>
          <p:cNvSpPr/>
          <p:nvPr/>
        </p:nvSpPr>
        <p:spPr>
          <a:xfrm>
            <a:off x="365760" y="2651760"/>
            <a:ext cx="1874520" cy="274320"/>
          </a:xfrm>
          <a:prstGeom prst="rect">
            <a:avLst/>
          </a:prstGeom>
          <a:noFill/>
        </p:spPr>
        <p:txBody>
          <a:bodyPr wrap="square" rtlCol="0" anchor="ctr"/>
          <a:lstStyle/>
          <a:p>
            <a:pPr marL="0" indent="0">
              <a:buNone/>
            </a:pPr>
            <a:r>
              <a:rPr lang="en-US" sz="900" b="1" dirty="0">
                <a:solidFill>
                  <a:srgbClr val="E67E22"/>
                </a:solidFill>
                <a:latin typeface="Calibri" panose="020F0502020204030204" pitchFamily="34" charset="0"/>
                <a:ea typeface="Calibri" panose="020F0502020204030204" pitchFamily="34" charset="-122"/>
                <a:cs typeface="Calibri" panose="020F0502020204030204" pitchFamily="34" charset="-120"/>
              </a:rPr>
              <a:t>EPBT</a:t>
            </a:r>
            <a:endParaRPr lang="en-US" sz="900" dirty="0"/>
          </a:p>
        </p:txBody>
      </p:sp>
      <p:sp>
        <p:nvSpPr>
          <p:cNvPr id="15" name="Text 13"/>
          <p:cNvSpPr/>
          <p:nvPr/>
        </p:nvSpPr>
        <p:spPr>
          <a:xfrm>
            <a:off x="365760" y="2926080"/>
            <a:ext cx="1874520" cy="384048"/>
          </a:xfrm>
          <a:prstGeom prst="rect">
            <a:avLst/>
          </a:prstGeom>
          <a:noFill/>
        </p:spPr>
        <p:txBody>
          <a:bodyPr wrap="square" rtlCol="0" anchor="ctr"/>
          <a:lstStyle/>
          <a:p>
            <a:pPr marL="0" indent="0">
              <a:buNone/>
            </a:pPr>
            <a:r>
              <a:rPr lang="en-US" sz="1050" dirty="0">
                <a:solidFill>
                  <a:srgbClr val="212121"/>
                </a:solidFill>
                <a:latin typeface="Calibri" panose="020F0502020204030204" pitchFamily="34" charset="0"/>
                <a:ea typeface="Calibri" panose="020F0502020204030204" pitchFamily="34" charset="-122"/>
                <a:cs typeface="Calibri" panose="020F0502020204030204" pitchFamily="34" charset="-120"/>
              </a:rPr>
              <a:t>1,5–2,5 yıl</a:t>
            </a:r>
            <a:endParaRPr lang="en-US" sz="1050" dirty="0"/>
          </a:p>
        </p:txBody>
      </p:sp>
      <p:sp>
        <p:nvSpPr>
          <p:cNvPr id="16" name="Text 14"/>
          <p:cNvSpPr/>
          <p:nvPr/>
        </p:nvSpPr>
        <p:spPr>
          <a:xfrm>
            <a:off x="365760" y="3364992"/>
            <a:ext cx="1874520" cy="274320"/>
          </a:xfrm>
          <a:prstGeom prst="rect">
            <a:avLst/>
          </a:prstGeom>
          <a:noFill/>
        </p:spPr>
        <p:txBody>
          <a:bodyPr wrap="square" rtlCol="0" anchor="ctr"/>
          <a:lstStyle/>
          <a:p>
            <a:pPr marL="0" indent="0">
              <a:buNone/>
            </a:pPr>
            <a:r>
              <a:rPr lang="en-US" sz="900" b="1" dirty="0">
                <a:solidFill>
                  <a:srgbClr val="E67E22"/>
                </a:solidFill>
                <a:latin typeface="Calibri" panose="020F0502020204030204" pitchFamily="34" charset="0"/>
                <a:ea typeface="Calibri" panose="020F0502020204030204" pitchFamily="34" charset="-122"/>
                <a:cs typeface="Calibri" panose="020F0502020204030204" pitchFamily="34" charset="-120"/>
              </a:rPr>
              <a:t>GPBT</a:t>
            </a:r>
            <a:endParaRPr lang="en-US" sz="900" dirty="0"/>
          </a:p>
        </p:txBody>
      </p:sp>
      <p:sp>
        <p:nvSpPr>
          <p:cNvPr id="17" name="Text 15"/>
          <p:cNvSpPr/>
          <p:nvPr/>
        </p:nvSpPr>
        <p:spPr>
          <a:xfrm>
            <a:off x="365760" y="3639312"/>
            <a:ext cx="1874520" cy="384048"/>
          </a:xfrm>
          <a:prstGeom prst="rect">
            <a:avLst/>
          </a:prstGeom>
          <a:noFill/>
        </p:spPr>
        <p:txBody>
          <a:bodyPr wrap="square" rtlCol="0" anchor="ctr"/>
          <a:lstStyle/>
          <a:p>
            <a:pPr marL="0" indent="0">
              <a:buNone/>
            </a:pPr>
            <a:r>
              <a:rPr lang="en-US" sz="1050" b="1" dirty="0">
                <a:solidFill>
                  <a:srgbClr val="212121"/>
                </a:solidFill>
                <a:latin typeface="Calibri" panose="020F0502020204030204" pitchFamily="34" charset="0"/>
                <a:ea typeface="Calibri" panose="020F0502020204030204" pitchFamily="34" charset="-122"/>
                <a:cs typeface="Calibri" panose="020F0502020204030204" pitchFamily="34" charset="-120"/>
              </a:rPr>
              <a:t>8–12 yıl</a:t>
            </a:r>
            <a:endParaRPr lang="en-US" sz="1050" dirty="0"/>
          </a:p>
        </p:txBody>
      </p:sp>
      <p:sp>
        <p:nvSpPr>
          <p:cNvPr id="18" name="Text 16"/>
          <p:cNvSpPr/>
          <p:nvPr/>
        </p:nvSpPr>
        <p:spPr>
          <a:xfrm>
            <a:off x="365760" y="4078224"/>
            <a:ext cx="1874520" cy="274320"/>
          </a:xfrm>
          <a:prstGeom prst="rect">
            <a:avLst/>
          </a:prstGeom>
          <a:noFill/>
        </p:spPr>
        <p:txBody>
          <a:bodyPr wrap="square" rtlCol="0" anchor="ctr"/>
          <a:lstStyle/>
          <a:p>
            <a:pPr marL="0" indent="0">
              <a:buNone/>
            </a:pPr>
            <a:r>
              <a:rPr lang="en-US" sz="900" b="1" dirty="0">
                <a:solidFill>
                  <a:srgbClr val="E67E22"/>
                </a:solidFill>
                <a:latin typeface="Calibri" panose="020F0502020204030204" pitchFamily="34" charset="0"/>
                <a:ea typeface="Calibri" panose="020F0502020204030204" pitchFamily="34" charset="-122"/>
                <a:cs typeface="Calibri" panose="020F0502020204030204" pitchFamily="34" charset="-120"/>
              </a:rPr>
              <a:t>YEKDEM Tarifesi</a:t>
            </a:r>
            <a:endParaRPr lang="en-US" sz="900" dirty="0"/>
          </a:p>
        </p:txBody>
      </p:sp>
      <p:sp>
        <p:nvSpPr>
          <p:cNvPr id="19" name="Text 17"/>
          <p:cNvSpPr/>
          <p:nvPr/>
        </p:nvSpPr>
        <p:spPr>
          <a:xfrm>
            <a:off x="365760" y="4352544"/>
            <a:ext cx="1874520" cy="384048"/>
          </a:xfrm>
          <a:prstGeom prst="rect">
            <a:avLst/>
          </a:prstGeom>
          <a:noFill/>
        </p:spPr>
        <p:txBody>
          <a:bodyPr wrap="square" rtlCol="0" anchor="ctr"/>
          <a:lstStyle/>
          <a:p>
            <a:pPr marL="0" indent="0">
              <a:buNone/>
            </a:pPr>
            <a:r>
              <a:rPr lang="en-US" sz="1050" dirty="0">
                <a:solidFill>
                  <a:srgbClr val="212121"/>
                </a:solidFill>
                <a:latin typeface="Calibri" panose="020F0502020204030204" pitchFamily="34" charset="0"/>
                <a:ea typeface="Calibri" panose="020F0502020204030204" pitchFamily="34" charset="-122"/>
                <a:cs typeface="Calibri" panose="020F0502020204030204" pitchFamily="34" charset="-120"/>
              </a:rPr>
              <a:t>13,3 </a:t>
            </a:r>
            <a:r>
              <a:rPr lang="en-US" sz="1050" dirty="0">
                <a:solidFill>
                  <a:srgbClr val="212121"/>
                </a:solidFill>
                <a:latin typeface="Calibri" panose="020F0502020204030204" pitchFamily="34" charset="0"/>
                <a:ea typeface="Calibri" panose="020F0502020204030204" pitchFamily="34" charset="-122"/>
                <a:cs typeface="Calibri" panose="020F0502020204030204" pitchFamily="34" charset="-120"/>
                <a:sym typeface="+mn-ea"/>
              </a:rPr>
              <a:t>$</a:t>
            </a:r>
            <a:r>
              <a:rPr lang="en-US" sz="1050" dirty="0">
                <a:solidFill>
                  <a:srgbClr val="212121"/>
                </a:solidFill>
                <a:latin typeface="Calibri" panose="020F0502020204030204" pitchFamily="34" charset="0"/>
                <a:ea typeface="Calibri" panose="020F0502020204030204" pitchFamily="34" charset="-122"/>
                <a:cs typeface="Calibri" panose="020F0502020204030204" pitchFamily="34" charset="-120"/>
              </a:rPr>
              <a:t>/kWh</a:t>
            </a:r>
            <a:endParaRPr lang="en-US" sz="1050" dirty="0"/>
          </a:p>
        </p:txBody>
      </p:sp>
      <p:sp>
        <p:nvSpPr>
          <p:cNvPr id="20" name="Shape 18"/>
          <p:cNvSpPr/>
          <p:nvPr/>
        </p:nvSpPr>
        <p:spPr>
          <a:xfrm>
            <a:off x="2487168" y="1371600"/>
            <a:ext cx="2057400" cy="3520440"/>
          </a:xfrm>
          <a:prstGeom prst="rect">
            <a:avLst/>
          </a:prstGeom>
          <a:solidFill>
            <a:srgbClr val="D6EAF8"/>
          </a:solidFill>
          <a:ln w="12700">
            <a:solidFill>
              <a:srgbClr val="1A5276"/>
            </a:solidFill>
            <a:prstDash val="solid"/>
          </a:ln>
        </p:spPr>
        <p:txBody>
          <a:bodyPr/>
          <a:lstStyle/>
          <a:p>
            <a:endParaRPr lang="tr-TR"/>
          </a:p>
        </p:txBody>
      </p:sp>
      <p:sp>
        <p:nvSpPr>
          <p:cNvPr id="21" name="Shape 19"/>
          <p:cNvSpPr/>
          <p:nvPr/>
        </p:nvSpPr>
        <p:spPr>
          <a:xfrm>
            <a:off x="2487168" y="1371600"/>
            <a:ext cx="2057400" cy="475488"/>
          </a:xfrm>
          <a:prstGeom prst="rect">
            <a:avLst/>
          </a:prstGeom>
          <a:solidFill>
            <a:srgbClr val="1A5276"/>
          </a:solidFill>
          <a:ln w="12700">
            <a:solidFill>
              <a:srgbClr val="1A5276"/>
            </a:solidFill>
            <a:prstDash val="solid"/>
          </a:ln>
        </p:spPr>
        <p:txBody>
          <a:bodyPr/>
          <a:lstStyle/>
          <a:p>
            <a:endParaRPr lang="tr-TR"/>
          </a:p>
        </p:txBody>
      </p:sp>
      <p:sp>
        <p:nvSpPr>
          <p:cNvPr id="22" name="Text 20"/>
          <p:cNvSpPr/>
          <p:nvPr/>
        </p:nvSpPr>
        <p:spPr>
          <a:xfrm>
            <a:off x="2532888" y="1371600"/>
            <a:ext cx="1965960" cy="475488"/>
          </a:xfrm>
          <a:prstGeom prst="rect">
            <a:avLst/>
          </a:prstGeom>
          <a:noFill/>
        </p:spPr>
        <p:txBody>
          <a:bodyPr wrap="square" rtlCol="0" anchor="ctr"/>
          <a:lstStyle/>
          <a:p>
            <a:pPr marL="0" indent="0" algn="ctr">
              <a:buNone/>
            </a:pPr>
            <a:r>
              <a:rPr lang="en-US" sz="1100" b="1" dirty="0">
                <a:solidFill>
                  <a:srgbClr val="FFFFFF"/>
                </a:solidFill>
                <a:latin typeface="Calibri" panose="020F0502020204030204" pitchFamily="34" charset="0"/>
                <a:ea typeface="Calibri" panose="020F0502020204030204" pitchFamily="34" charset="-122"/>
                <a:cs typeface="Calibri" panose="020F0502020204030204" pitchFamily="34" charset="-120"/>
              </a:rPr>
              <a:t>RES</a:t>
            </a:r>
            <a:endParaRPr lang="en-US" sz="1100" dirty="0"/>
          </a:p>
          <a:p>
            <a:pPr marL="0" indent="0" algn="ctr">
              <a:buNone/>
            </a:pPr>
            <a:r>
              <a:rPr lang="en-US" sz="1100" b="1" dirty="0">
                <a:solidFill>
                  <a:srgbClr val="FFFFFF"/>
                </a:solidFill>
                <a:latin typeface="Calibri" panose="020F0502020204030204" pitchFamily="34" charset="0"/>
                <a:ea typeface="Calibri" panose="020F0502020204030204" pitchFamily="34" charset="-122"/>
                <a:cs typeface="Calibri" panose="020F0502020204030204" pitchFamily="34" charset="-120"/>
              </a:rPr>
              <a:t>(34,5 MW)</a:t>
            </a:r>
            <a:endParaRPr lang="en-US" sz="1100" dirty="0"/>
          </a:p>
        </p:txBody>
      </p:sp>
      <p:sp>
        <p:nvSpPr>
          <p:cNvPr id="23" name="Text 21"/>
          <p:cNvSpPr/>
          <p:nvPr/>
        </p:nvSpPr>
        <p:spPr>
          <a:xfrm>
            <a:off x="2578608" y="1938528"/>
            <a:ext cx="1874520" cy="274320"/>
          </a:xfrm>
          <a:prstGeom prst="rect">
            <a:avLst/>
          </a:prstGeom>
          <a:noFill/>
        </p:spPr>
        <p:txBody>
          <a:bodyPr wrap="square" rtlCol="0" anchor="ctr"/>
          <a:lstStyle/>
          <a:p>
            <a:pPr marL="0" indent="0">
              <a:buNone/>
            </a:pPr>
            <a:r>
              <a:rPr lang="en-US" sz="900" b="1" dirty="0">
                <a:solidFill>
                  <a:srgbClr val="1A5276"/>
                </a:solidFill>
                <a:latin typeface="Calibri" panose="020F0502020204030204" pitchFamily="34" charset="0"/>
                <a:ea typeface="Calibri" panose="020F0502020204030204" pitchFamily="34" charset="-122"/>
                <a:cs typeface="Calibri" panose="020F0502020204030204" pitchFamily="34" charset="-120"/>
              </a:rPr>
              <a:t>Kapasite Faktörü</a:t>
            </a:r>
            <a:endParaRPr lang="en-US" sz="900" dirty="0"/>
          </a:p>
        </p:txBody>
      </p:sp>
      <p:sp>
        <p:nvSpPr>
          <p:cNvPr id="24" name="Text 22"/>
          <p:cNvSpPr/>
          <p:nvPr/>
        </p:nvSpPr>
        <p:spPr>
          <a:xfrm>
            <a:off x="2578608" y="2212848"/>
            <a:ext cx="1874520" cy="384048"/>
          </a:xfrm>
          <a:prstGeom prst="rect">
            <a:avLst/>
          </a:prstGeom>
          <a:noFill/>
        </p:spPr>
        <p:txBody>
          <a:bodyPr wrap="square" rtlCol="0" anchor="ctr"/>
          <a:lstStyle/>
          <a:p>
            <a:pPr marL="0" indent="0">
              <a:buNone/>
            </a:pPr>
            <a:r>
              <a:rPr lang="en-US" sz="1050" dirty="0">
                <a:solidFill>
                  <a:srgbClr val="212121"/>
                </a:solidFill>
                <a:latin typeface="Calibri" panose="020F0502020204030204" pitchFamily="34" charset="0"/>
                <a:ea typeface="Calibri" panose="020F0502020204030204" pitchFamily="34" charset="-122"/>
                <a:cs typeface="Calibri" panose="020F0502020204030204" pitchFamily="34" charset="-120"/>
              </a:rPr>
              <a:t>%40,0</a:t>
            </a:r>
            <a:endParaRPr lang="en-US" sz="1050" dirty="0"/>
          </a:p>
        </p:txBody>
      </p:sp>
      <p:sp>
        <p:nvSpPr>
          <p:cNvPr id="25" name="Text 23"/>
          <p:cNvSpPr/>
          <p:nvPr/>
        </p:nvSpPr>
        <p:spPr>
          <a:xfrm>
            <a:off x="2578608" y="2651760"/>
            <a:ext cx="1874520" cy="274320"/>
          </a:xfrm>
          <a:prstGeom prst="rect">
            <a:avLst/>
          </a:prstGeom>
          <a:noFill/>
        </p:spPr>
        <p:txBody>
          <a:bodyPr wrap="square" rtlCol="0" anchor="ctr"/>
          <a:lstStyle/>
          <a:p>
            <a:pPr marL="0" indent="0">
              <a:buNone/>
            </a:pPr>
            <a:r>
              <a:rPr lang="en-US" sz="900" b="1" dirty="0">
                <a:solidFill>
                  <a:srgbClr val="1A5276"/>
                </a:solidFill>
                <a:latin typeface="Calibri" panose="020F0502020204030204" pitchFamily="34" charset="0"/>
                <a:ea typeface="Calibri" panose="020F0502020204030204" pitchFamily="34" charset="-122"/>
                <a:cs typeface="Calibri" panose="020F0502020204030204" pitchFamily="34" charset="-120"/>
              </a:rPr>
              <a:t>EPBT</a:t>
            </a:r>
            <a:endParaRPr lang="en-US" sz="900" dirty="0"/>
          </a:p>
        </p:txBody>
      </p:sp>
      <p:sp>
        <p:nvSpPr>
          <p:cNvPr id="26" name="Text 24"/>
          <p:cNvSpPr/>
          <p:nvPr/>
        </p:nvSpPr>
        <p:spPr>
          <a:xfrm>
            <a:off x="2578608" y="2926080"/>
            <a:ext cx="1874520" cy="384048"/>
          </a:xfrm>
          <a:prstGeom prst="rect">
            <a:avLst/>
          </a:prstGeom>
          <a:noFill/>
        </p:spPr>
        <p:txBody>
          <a:bodyPr wrap="square" rtlCol="0" anchor="ctr"/>
          <a:lstStyle/>
          <a:p>
            <a:pPr marL="0" indent="0">
              <a:buNone/>
            </a:pPr>
            <a:r>
              <a:rPr lang="en-US" sz="1050" dirty="0">
                <a:solidFill>
                  <a:srgbClr val="212121"/>
                </a:solidFill>
                <a:latin typeface="Calibri" panose="020F0502020204030204" pitchFamily="34" charset="0"/>
                <a:ea typeface="Calibri" panose="020F0502020204030204" pitchFamily="34" charset="-122"/>
                <a:cs typeface="Calibri" panose="020F0502020204030204" pitchFamily="34" charset="-120"/>
              </a:rPr>
              <a:t>~0,5 yıl (4–7 ay)</a:t>
            </a:r>
            <a:endParaRPr lang="en-US" sz="1050" dirty="0"/>
          </a:p>
        </p:txBody>
      </p:sp>
      <p:sp>
        <p:nvSpPr>
          <p:cNvPr id="27" name="Text 25"/>
          <p:cNvSpPr/>
          <p:nvPr/>
        </p:nvSpPr>
        <p:spPr>
          <a:xfrm>
            <a:off x="2578608" y="3364992"/>
            <a:ext cx="1874520" cy="274320"/>
          </a:xfrm>
          <a:prstGeom prst="rect">
            <a:avLst/>
          </a:prstGeom>
          <a:noFill/>
        </p:spPr>
        <p:txBody>
          <a:bodyPr wrap="square" rtlCol="0" anchor="ctr"/>
          <a:lstStyle/>
          <a:p>
            <a:pPr marL="0" indent="0">
              <a:buNone/>
            </a:pPr>
            <a:r>
              <a:rPr lang="en-US" sz="900" b="1" dirty="0">
                <a:solidFill>
                  <a:srgbClr val="1A5276"/>
                </a:solidFill>
                <a:latin typeface="Calibri" panose="020F0502020204030204" pitchFamily="34" charset="0"/>
                <a:ea typeface="Calibri" panose="020F0502020204030204" pitchFamily="34" charset="-122"/>
                <a:cs typeface="Calibri" panose="020F0502020204030204" pitchFamily="34" charset="-120"/>
              </a:rPr>
              <a:t>GPBT</a:t>
            </a:r>
            <a:endParaRPr lang="en-US" sz="900" dirty="0"/>
          </a:p>
        </p:txBody>
      </p:sp>
      <p:sp>
        <p:nvSpPr>
          <p:cNvPr id="28" name="Text 26"/>
          <p:cNvSpPr/>
          <p:nvPr/>
        </p:nvSpPr>
        <p:spPr>
          <a:xfrm>
            <a:off x="2578608" y="3639312"/>
            <a:ext cx="1874520" cy="384048"/>
          </a:xfrm>
          <a:prstGeom prst="rect">
            <a:avLst/>
          </a:prstGeom>
          <a:noFill/>
        </p:spPr>
        <p:txBody>
          <a:bodyPr wrap="square" rtlCol="0" anchor="ctr"/>
          <a:lstStyle/>
          <a:p>
            <a:pPr marL="0" indent="0">
              <a:buNone/>
            </a:pPr>
            <a:r>
              <a:rPr lang="en-US" sz="1050" b="1" dirty="0">
                <a:solidFill>
                  <a:srgbClr val="212121"/>
                </a:solidFill>
                <a:latin typeface="Calibri" panose="020F0502020204030204" pitchFamily="34" charset="0"/>
                <a:ea typeface="Calibri" panose="020F0502020204030204" pitchFamily="34" charset="-122"/>
                <a:cs typeface="Calibri" panose="020F0502020204030204" pitchFamily="34" charset="-120"/>
              </a:rPr>
              <a:t>7–10 yıl ★</a:t>
            </a:r>
            <a:endParaRPr lang="en-US" sz="1050" dirty="0"/>
          </a:p>
        </p:txBody>
      </p:sp>
      <p:sp>
        <p:nvSpPr>
          <p:cNvPr id="29" name="Text 27"/>
          <p:cNvSpPr/>
          <p:nvPr/>
        </p:nvSpPr>
        <p:spPr>
          <a:xfrm>
            <a:off x="2578608" y="4078224"/>
            <a:ext cx="1874520" cy="274320"/>
          </a:xfrm>
          <a:prstGeom prst="rect">
            <a:avLst/>
          </a:prstGeom>
          <a:noFill/>
        </p:spPr>
        <p:txBody>
          <a:bodyPr wrap="square" rtlCol="0" anchor="ctr"/>
          <a:lstStyle/>
          <a:p>
            <a:pPr marL="0" indent="0">
              <a:buNone/>
            </a:pPr>
            <a:r>
              <a:rPr lang="en-US" sz="900" b="1" dirty="0">
                <a:solidFill>
                  <a:srgbClr val="1A5276"/>
                </a:solidFill>
                <a:latin typeface="Calibri" panose="020F0502020204030204" pitchFamily="34" charset="0"/>
                <a:ea typeface="Calibri" panose="020F0502020204030204" pitchFamily="34" charset="-122"/>
                <a:cs typeface="Calibri" panose="020F0502020204030204" pitchFamily="34" charset="-120"/>
              </a:rPr>
              <a:t>YEKDEM Tarifesi</a:t>
            </a:r>
            <a:endParaRPr lang="en-US" sz="900" dirty="0"/>
          </a:p>
        </p:txBody>
      </p:sp>
      <p:sp>
        <p:nvSpPr>
          <p:cNvPr id="30" name="Text 28"/>
          <p:cNvSpPr/>
          <p:nvPr/>
        </p:nvSpPr>
        <p:spPr>
          <a:xfrm>
            <a:off x="2578608" y="4352544"/>
            <a:ext cx="1874520" cy="384048"/>
          </a:xfrm>
          <a:prstGeom prst="rect">
            <a:avLst/>
          </a:prstGeom>
          <a:noFill/>
        </p:spPr>
        <p:txBody>
          <a:bodyPr wrap="square" rtlCol="0" anchor="ctr"/>
          <a:lstStyle/>
          <a:p>
            <a:pPr marL="0" indent="0">
              <a:buNone/>
            </a:pPr>
            <a:r>
              <a:rPr lang="en-US" sz="1050" dirty="0">
                <a:solidFill>
                  <a:srgbClr val="212121"/>
                </a:solidFill>
                <a:latin typeface="Calibri" panose="020F0502020204030204" pitchFamily="34" charset="0"/>
                <a:ea typeface="Calibri" panose="020F0502020204030204" pitchFamily="34" charset="-122"/>
                <a:cs typeface="Calibri" panose="020F0502020204030204" pitchFamily="34" charset="-120"/>
              </a:rPr>
              <a:t>$0,107/kWh</a:t>
            </a:r>
            <a:endParaRPr lang="en-US" sz="1050" dirty="0"/>
          </a:p>
        </p:txBody>
      </p:sp>
      <p:sp>
        <p:nvSpPr>
          <p:cNvPr id="31" name="Shape 29"/>
          <p:cNvSpPr/>
          <p:nvPr/>
        </p:nvSpPr>
        <p:spPr>
          <a:xfrm>
            <a:off x="4700016" y="1371600"/>
            <a:ext cx="2057400" cy="3520440"/>
          </a:xfrm>
          <a:prstGeom prst="rect">
            <a:avLst/>
          </a:prstGeom>
          <a:solidFill>
            <a:srgbClr val="D5F5E3"/>
          </a:solidFill>
          <a:ln w="12700">
            <a:solidFill>
              <a:srgbClr val="1E8449"/>
            </a:solidFill>
            <a:prstDash val="solid"/>
          </a:ln>
        </p:spPr>
        <p:txBody>
          <a:bodyPr/>
          <a:lstStyle/>
          <a:p>
            <a:endParaRPr lang="tr-TR"/>
          </a:p>
        </p:txBody>
      </p:sp>
      <p:sp>
        <p:nvSpPr>
          <p:cNvPr id="32" name="Shape 30"/>
          <p:cNvSpPr/>
          <p:nvPr/>
        </p:nvSpPr>
        <p:spPr>
          <a:xfrm>
            <a:off x="4700016" y="1371600"/>
            <a:ext cx="2057400" cy="475488"/>
          </a:xfrm>
          <a:prstGeom prst="rect">
            <a:avLst/>
          </a:prstGeom>
          <a:solidFill>
            <a:srgbClr val="1E8449"/>
          </a:solidFill>
          <a:ln w="12700">
            <a:solidFill>
              <a:srgbClr val="1E8449"/>
            </a:solidFill>
            <a:prstDash val="solid"/>
          </a:ln>
        </p:spPr>
        <p:txBody>
          <a:bodyPr/>
          <a:lstStyle/>
          <a:p>
            <a:endParaRPr lang="tr-TR"/>
          </a:p>
        </p:txBody>
      </p:sp>
      <p:sp>
        <p:nvSpPr>
          <p:cNvPr id="33" name="Text 31"/>
          <p:cNvSpPr/>
          <p:nvPr/>
        </p:nvSpPr>
        <p:spPr>
          <a:xfrm>
            <a:off x="4745736" y="1371600"/>
            <a:ext cx="1965960" cy="475488"/>
          </a:xfrm>
          <a:prstGeom prst="rect">
            <a:avLst/>
          </a:prstGeom>
          <a:noFill/>
        </p:spPr>
        <p:txBody>
          <a:bodyPr wrap="square" rtlCol="0" anchor="ctr"/>
          <a:lstStyle/>
          <a:p>
            <a:pPr marL="0" indent="0" algn="ctr">
              <a:buNone/>
            </a:pPr>
            <a:r>
              <a:rPr lang="en-US" sz="1100" b="1" dirty="0">
                <a:solidFill>
                  <a:srgbClr val="FFFFFF"/>
                </a:solidFill>
                <a:latin typeface="Calibri" panose="020F0502020204030204" pitchFamily="34" charset="0"/>
                <a:ea typeface="Calibri" panose="020F0502020204030204" pitchFamily="34" charset="-122"/>
                <a:cs typeface="Calibri" panose="020F0502020204030204" pitchFamily="34" charset="-120"/>
              </a:rPr>
              <a:t>Mikro-HES</a:t>
            </a:r>
            <a:endParaRPr lang="en-US" sz="1100" dirty="0"/>
          </a:p>
          <a:p>
            <a:pPr marL="0" indent="0" algn="ctr">
              <a:buNone/>
            </a:pPr>
            <a:r>
              <a:rPr lang="en-US" sz="1100" b="1" dirty="0">
                <a:solidFill>
                  <a:srgbClr val="FFFFFF"/>
                </a:solidFill>
                <a:latin typeface="Calibri" panose="020F0502020204030204" pitchFamily="34" charset="0"/>
                <a:ea typeface="Calibri" panose="020F0502020204030204" pitchFamily="34" charset="-122"/>
                <a:cs typeface="Calibri" panose="020F0502020204030204" pitchFamily="34" charset="-120"/>
              </a:rPr>
              <a:t>(2 MW)</a:t>
            </a:r>
            <a:endParaRPr lang="en-US" sz="1100" dirty="0"/>
          </a:p>
        </p:txBody>
      </p:sp>
      <p:sp>
        <p:nvSpPr>
          <p:cNvPr id="34" name="Text 32"/>
          <p:cNvSpPr/>
          <p:nvPr/>
        </p:nvSpPr>
        <p:spPr>
          <a:xfrm>
            <a:off x="4791456" y="1938528"/>
            <a:ext cx="1874520" cy="274320"/>
          </a:xfrm>
          <a:prstGeom prst="rect">
            <a:avLst/>
          </a:prstGeom>
          <a:noFill/>
        </p:spPr>
        <p:txBody>
          <a:bodyPr wrap="square" rtlCol="0" anchor="ctr"/>
          <a:lstStyle/>
          <a:p>
            <a:pPr marL="0" indent="0">
              <a:buNone/>
            </a:pPr>
            <a:r>
              <a:rPr lang="en-US" sz="900" b="1" dirty="0">
                <a:solidFill>
                  <a:srgbClr val="1E8449"/>
                </a:solidFill>
                <a:latin typeface="Calibri" panose="020F0502020204030204" pitchFamily="34" charset="0"/>
                <a:ea typeface="Calibri" panose="020F0502020204030204" pitchFamily="34" charset="-122"/>
                <a:cs typeface="Calibri" panose="020F0502020204030204" pitchFamily="34" charset="-120"/>
              </a:rPr>
              <a:t>Kapasite Faktörü</a:t>
            </a:r>
            <a:endParaRPr lang="en-US" sz="900" dirty="0"/>
          </a:p>
        </p:txBody>
      </p:sp>
      <p:sp>
        <p:nvSpPr>
          <p:cNvPr id="35" name="Text 33"/>
          <p:cNvSpPr/>
          <p:nvPr/>
        </p:nvSpPr>
        <p:spPr>
          <a:xfrm>
            <a:off x="4791456" y="2212848"/>
            <a:ext cx="1874520" cy="384048"/>
          </a:xfrm>
          <a:prstGeom prst="rect">
            <a:avLst/>
          </a:prstGeom>
          <a:noFill/>
        </p:spPr>
        <p:txBody>
          <a:bodyPr wrap="square" rtlCol="0" anchor="ctr"/>
          <a:lstStyle/>
          <a:p>
            <a:pPr marL="0" indent="0">
              <a:buNone/>
            </a:pPr>
            <a:r>
              <a:rPr lang="en-US" sz="1050" dirty="0">
                <a:solidFill>
                  <a:srgbClr val="212121"/>
                </a:solidFill>
                <a:latin typeface="Calibri" panose="020F0502020204030204" pitchFamily="34" charset="0"/>
                <a:ea typeface="Calibri" panose="020F0502020204030204" pitchFamily="34" charset="-122"/>
                <a:cs typeface="Calibri" panose="020F0502020204030204" pitchFamily="34" charset="-120"/>
              </a:rPr>
              <a:t>%31,4</a:t>
            </a:r>
            <a:endParaRPr lang="en-US" sz="1050" dirty="0"/>
          </a:p>
        </p:txBody>
      </p:sp>
      <p:sp>
        <p:nvSpPr>
          <p:cNvPr id="36" name="Text 34"/>
          <p:cNvSpPr/>
          <p:nvPr/>
        </p:nvSpPr>
        <p:spPr>
          <a:xfrm>
            <a:off x="4791456" y="2651760"/>
            <a:ext cx="1874520" cy="274320"/>
          </a:xfrm>
          <a:prstGeom prst="rect">
            <a:avLst/>
          </a:prstGeom>
          <a:noFill/>
        </p:spPr>
        <p:txBody>
          <a:bodyPr wrap="square" rtlCol="0" anchor="ctr"/>
          <a:lstStyle/>
          <a:p>
            <a:pPr marL="0" indent="0">
              <a:buNone/>
            </a:pPr>
            <a:r>
              <a:rPr lang="en-US" sz="900" b="1" dirty="0">
                <a:solidFill>
                  <a:srgbClr val="1E8449"/>
                </a:solidFill>
                <a:latin typeface="Calibri" panose="020F0502020204030204" pitchFamily="34" charset="0"/>
                <a:ea typeface="Calibri" panose="020F0502020204030204" pitchFamily="34" charset="-122"/>
                <a:cs typeface="Calibri" panose="020F0502020204030204" pitchFamily="34" charset="-120"/>
              </a:rPr>
              <a:t>EPBT</a:t>
            </a:r>
            <a:endParaRPr lang="en-US" sz="900" dirty="0"/>
          </a:p>
        </p:txBody>
      </p:sp>
      <p:sp>
        <p:nvSpPr>
          <p:cNvPr id="37" name="Text 35"/>
          <p:cNvSpPr/>
          <p:nvPr/>
        </p:nvSpPr>
        <p:spPr>
          <a:xfrm>
            <a:off x="4791456" y="2926080"/>
            <a:ext cx="1874520" cy="384048"/>
          </a:xfrm>
          <a:prstGeom prst="rect">
            <a:avLst/>
          </a:prstGeom>
          <a:noFill/>
        </p:spPr>
        <p:txBody>
          <a:bodyPr wrap="square" rtlCol="0" anchor="ctr"/>
          <a:lstStyle/>
          <a:p>
            <a:pPr marL="0" indent="0">
              <a:buNone/>
            </a:pPr>
            <a:r>
              <a:rPr lang="en-US" sz="1050" dirty="0">
                <a:solidFill>
                  <a:srgbClr val="212121"/>
                </a:solidFill>
                <a:latin typeface="Calibri" panose="020F0502020204030204" pitchFamily="34" charset="0"/>
                <a:ea typeface="Calibri" panose="020F0502020204030204" pitchFamily="34" charset="-122"/>
                <a:cs typeface="Calibri" panose="020F0502020204030204" pitchFamily="34" charset="-120"/>
              </a:rPr>
              <a:t>0,5–1,5 yıl</a:t>
            </a:r>
            <a:endParaRPr lang="en-US" sz="1050" dirty="0"/>
          </a:p>
        </p:txBody>
      </p:sp>
      <p:sp>
        <p:nvSpPr>
          <p:cNvPr id="38" name="Text 36"/>
          <p:cNvSpPr/>
          <p:nvPr/>
        </p:nvSpPr>
        <p:spPr>
          <a:xfrm>
            <a:off x="4791456" y="3364992"/>
            <a:ext cx="1874520" cy="274320"/>
          </a:xfrm>
          <a:prstGeom prst="rect">
            <a:avLst/>
          </a:prstGeom>
          <a:noFill/>
        </p:spPr>
        <p:txBody>
          <a:bodyPr wrap="square" rtlCol="0" anchor="ctr"/>
          <a:lstStyle/>
          <a:p>
            <a:pPr marL="0" indent="0">
              <a:buNone/>
            </a:pPr>
            <a:r>
              <a:rPr lang="en-US" sz="900" b="1" dirty="0">
                <a:solidFill>
                  <a:srgbClr val="1E8449"/>
                </a:solidFill>
                <a:latin typeface="Calibri" panose="020F0502020204030204" pitchFamily="34" charset="0"/>
                <a:ea typeface="Calibri" panose="020F0502020204030204" pitchFamily="34" charset="-122"/>
                <a:cs typeface="Calibri" panose="020F0502020204030204" pitchFamily="34" charset="-120"/>
              </a:rPr>
              <a:t>GPBT</a:t>
            </a:r>
            <a:endParaRPr lang="en-US" sz="900" dirty="0"/>
          </a:p>
        </p:txBody>
      </p:sp>
      <p:sp>
        <p:nvSpPr>
          <p:cNvPr id="39" name="Text 37"/>
          <p:cNvSpPr/>
          <p:nvPr/>
        </p:nvSpPr>
        <p:spPr>
          <a:xfrm>
            <a:off x="4791456" y="3639312"/>
            <a:ext cx="1874520" cy="384048"/>
          </a:xfrm>
          <a:prstGeom prst="rect">
            <a:avLst/>
          </a:prstGeom>
          <a:noFill/>
        </p:spPr>
        <p:txBody>
          <a:bodyPr wrap="square" rtlCol="0" anchor="ctr"/>
          <a:lstStyle/>
          <a:p>
            <a:pPr marL="0" indent="0">
              <a:buNone/>
            </a:pPr>
            <a:r>
              <a:rPr lang="en-US" sz="1050" b="1" dirty="0">
                <a:solidFill>
                  <a:srgbClr val="212121"/>
                </a:solidFill>
                <a:latin typeface="Calibri" panose="020F0502020204030204" pitchFamily="34" charset="0"/>
                <a:ea typeface="Calibri" panose="020F0502020204030204" pitchFamily="34" charset="-122"/>
                <a:cs typeface="Calibri" panose="020F0502020204030204" pitchFamily="34" charset="-120"/>
              </a:rPr>
              <a:t>12–18 yıl</a:t>
            </a:r>
            <a:endParaRPr lang="en-US" sz="1050" dirty="0"/>
          </a:p>
        </p:txBody>
      </p:sp>
      <p:sp>
        <p:nvSpPr>
          <p:cNvPr id="40" name="Text 38"/>
          <p:cNvSpPr/>
          <p:nvPr/>
        </p:nvSpPr>
        <p:spPr>
          <a:xfrm>
            <a:off x="4791456" y="4078224"/>
            <a:ext cx="1874520" cy="274320"/>
          </a:xfrm>
          <a:prstGeom prst="rect">
            <a:avLst/>
          </a:prstGeom>
          <a:noFill/>
        </p:spPr>
        <p:txBody>
          <a:bodyPr wrap="square" rtlCol="0" anchor="ctr"/>
          <a:lstStyle/>
          <a:p>
            <a:pPr marL="0" indent="0">
              <a:buNone/>
            </a:pPr>
            <a:r>
              <a:rPr lang="en-US" sz="900" b="1" dirty="0">
                <a:solidFill>
                  <a:srgbClr val="1E8449"/>
                </a:solidFill>
                <a:latin typeface="Calibri" panose="020F0502020204030204" pitchFamily="34" charset="0"/>
                <a:ea typeface="Calibri" panose="020F0502020204030204" pitchFamily="34" charset="-122"/>
                <a:cs typeface="Calibri" panose="020F0502020204030204" pitchFamily="34" charset="-120"/>
              </a:rPr>
              <a:t>YEKDEM Tarifesi</a:t>
            </a:r>
            <a:endParaRPr lang="en-US" sz="900" dirty="0"/>
          </a:p>
        </p:txBody>
      </p:sp>
      <p:sp>
        <p:nvSpPr>
          <p:cNvPr id="41" name="Text 39"/>
          <p:cNvSpPr/>
          <p:nvPr/>
        </p:nvSpPr>
        <p:spPr>
          <a:xfrm>
            <a:off x="4791456" y="4352544"/>
            <a:ext cx="1874520" cy="384048"/>
          </a:xfrm>
          <a:prstGeom prst="rect">
            <a:avLst/>
          </a:prstGeom>
          <a:noFill/>
        </p:spPr>
        <p:txBody>
          <a:bodyPr wrap="square" rtlCol="0" anchor="ctr"/>
          <a:lstStyle/>
          <a:p>
            <a:pPr marL="0" indent="0">
              <a:buNone/>
            </a:pPr>
            <a:r>
              <a:rPr lang="en-US" sz="1050" dirty="0">
                <a:solidFill>
                  <a:srgbClr val="212121"/>
                </a:solidFill>
                <a:latin typeface="Calibri" panose="020F0502020204030204" pitchFamily="34" charset="0"/>
                <a:ea typeface="Calibri" panose="020F0502020204030204" pitchFamily="34" charset="-122"/>
                <a:cs typeface="Calibri" panose="020F0502020204030204" pitchFamily="34" charset="-120"/>
              </a:rPr>
              <a:t>$0,050/kWh</a:t>
            </a:r>
            <a:endParaRPr lang="en-US" sz="1050" dirty="0"/>
          </a:p>
        </p:txBody>
      </p:sp>
      <p:sp>
        <p:nvSpPr>
          <p:cNvPr id="42" name="Shape 40"/>
          <p:cNvSpPr/>
          <p:nvPr/>
        </p:nvSpPr>
        <p:spPr>
          <a:xfrm>
            <a:off x="6912864" y="1371600"/>
            <a:ext cx="2057400" cy="3520440"/>
          </a:xfrm>
          <a:prstGeom prst="rect">
            <a:avLst/>
          </a:prstGeom>
          <a:solidFill>
            <a:srgbClr val="FDEDEC"/>
          </a:solidFill>
          <a:ln w="12700">
            <a:solidFill>
              <a:srgbClr val="922B21"/>
            </a:solidFill>
            <a:prstDash val="solid"/>
          </a:ln>
        </p:spPr>
        <p:txBody>
          <a:bodyPr/>
          <a:lstStyle/>
          <a:p>
            <a:endParaRPr lang="tr-TR"/>
          </a:p>
        </p:txBody>
      </p:sp>
      <p:sp>
        <p:nvSpPr>
          <p:cNvPr id="43" name="Shape 41"/>
          <p:cNvSpPr/>
          <p:nvPr/>
        </p:nvSpPr>
        <p:spPr>
          <a:xfrm>
            <a:off x="6912864" y="1371600"/>
            <a:ext cx="2057400" cy="475488"/>
          </a:xfrm>
          <a:prstGeom prst="rect">
            <a:avLst/>
          </a:prstGeom>
          <a:solidFill>
            <a:srgbClr val="922B21"/>
          </a:solidFill>
          <a:ln w="12700">
            <a:solidFill>
              <a:srgbClr val="922B21"/>
            </a:solidFill>
            <a:prstDash val="solid"/>
          </a:ln>
        </p:spPr>
        <p:txBody>
          <a:bodyPr/>
          <a:lstStyle/>
          <a:p>
            <a:endParaRPr lang="tr-TR"/>
          </a:p>
        </p:txBody>
      </p:sp>
      <p:sp>
        <p:nvSpPr>
          <p:cNvPr id="44" name="Text 42"/>
          <p:cNvSpPr/>
          <p:nvPr/>
        </p:nvSpPr>
        <p:spPr>
          <a:xfrm>
            <a:off x="6958584" y="1371600"/>
            <a:ext cx="1965960" cy="475488"/>
          </a:xfrm>
          <a:prstGeom prst="rect">
            <a:avLst/>
          </a:prstGeom>
          <a:noFill/>
        </p:spPr>
        <p:txBody>
          <a:bodyPr wrap="square" rtlCol="0" anchor="ctr"/>
          <a:lstStyle/>
          <a:p>
            <a:pPr marL="0" indent="0" algn="ctr">
              <a:buNone/>
            </a:pPr>
            <a:r>
              <a:rPr lang="en-US" sz="1100" b="1" dirty="0">
                <a:solidFill>
                  <a:srgbClr val="FFFFFF"/>
                </a:solidFill>
                <a:latin typeface="Calibri" panose="020F0502020204030204" pitchFamily="34" charset="0"/>
                <a:ea typeface="Calibri" panose="020F0502020204030204" pitchFamily="34" charset="-122"/>
                <a:cs typeface="Calibri" panose="020F0502020204030204" pitchFamily="34" charset="-120"/>
              </a:rPr>
              <a:t>Nükleer</a:t>
            </a:r>
            <a:endParaRPr lang="en-US" sz="1100" dirty="0"/>
          </a:p>
        </p:txBody>
      </p:sp>
      <p:sp>
        <p:nvSpPr>
          <p:cNvPr id="45" name="Text 43"/>
          <p:cNvSpPr/>
          <p:nvPr/>
        </p:nvSpPr>
        <p:spPr>
          <a:xfrm>
            <a:off x="7004304" y="1938528"/>
            <a:ext cx="1874520" cy="274320"/>
          </a:xfrm>
          <a:prstGeom prst="rect">
            <a:avLst/>
          </a:prstGeom>
          <a:noFill/>
        </p:spPr>
        <p:txBody>
          <a:bodyPr wrap="square" rtlCol="0" anchor="ctr"/>
          <a:lstStyle/>
          <a:p>
            <a:pPr marL="0" indent="0">
              <a:buNone/>
            </a:pPr>
            <a:r>
              <a:rPr lang="en-US" sz="900" b="1" dirty="0">
                <a:solidFill>
                  <a:srgbClr val="922B21"/>
                </a:solidFill>
                <a:latin typeface="Calibri" panose="020F0502020204030204" pitchFamily="34" charset="0"/>
                <a:ea typeface="Calibri" panose="020F0502020204030204" pitchFamily="34" charset="-122"/>
                <a:cs typeface="Calibri" panose="020F0502020204030204" pitchFamily="34" charset="-120"/>
              </a:rPr>
              <a:t>Kapasite Faktörü</a:t>
            </a:r>
            <a:endParaRPr lang="en-US" sz="900" dirty="0"/>
          </a:p>
        </p:txBody>
      </p:sp>
      <p:sp>
        <p:nvSpPr>
          <p:cNvPr id="46" name="Text 44"/>
          <p:cNvSpPr/>
          <p:nvPr/>
        </p:nvSpPr>
        <p:spPr>
          <a:xfrm>
            <a:off x="7004304" y="2212848"/>
            <a:ext cx="1874520" cy="384048"/>
          </a:xfrm>
          <a:prstGeom prst="rect">
            <a:avLst/>
          </a:prstGeom>
          <a:noFill/>
        </p:spPr>
        <p:txBody>
          <a:bodyPr wrap="square" rtlCol="0" anchor="ctr"/>
          <a:lstStyle/>
          <a:p>
            <a:pPr marL="0" indent="0">
              <a:buNone/>
            </a:pPr>
            <a:r>
              <a:rPr lang="en-US" sz="1050" dirty="0">
                <a:solidFill>
                  <a:srgbClr val="212121"/>
                </a:solidFill>
                <a:latin typeface="Calibri" panose="020F0502020204030204" pitchFamily="34" charset="0"/>
                <a:ea typeface="Calibri" panose="020F0502020204030204" pitchFamily="34" charset="-122"/>
                <a:cs typeface="Calibri" panose="020F0502020204030204" pitchFamily="34" charset="-120"/>
              </a:rPr>
              <a:t>~%90</a:t>
            </a:r>
            <a:endParaRPr lang="en-US" sz="1050" dirty="0"/>
          </a:p>
        </p:txBody>
      </p:sp>
      <p:sp>
        <p:nvSpPr>
          <p:cNvPr id="47" name="Text 45"/>
          <p:cNvSpPr/>
          <p:nvPr/>
        </p:nvSpPr>
        <p:spPr>
          <a:xfrm>
            <a:off x="7004304" y="2651760"/>
            <a:ext cx="1874520" cy="274320"/>
          </a:xfrm>
          <a:prstGeom prst="rect">
            <a:avLst/>
          </a:prstGeom>
          <a:noFill/>
        </p:spPr>
        <p:txBody>
          <a:bodyPr wrap="square" rtlCol="0" anchor="ctr"/>
          <a:lstStyle/>
          <a:p>
            <a:pPr marL="0" indent="0">
              <a:buNone/>
            </a:pPr>
            <a:r>
              <a:rPr lang="en-US" sz="900" b="1" dirty="0">
                <a:solidFill>
                  <a:srgbClr val="922B21"/>
                </a:solidFill>
                <a:latin typeface="Calibri" panose="020F0502020204030204" pitchFamily="34" charset="0"/>
                <a:ea typeface="Calibri" panose="020F0502020204030204" pitchFamily="34" charset="-122"/>
                <a:cs typeface="Calibri" panose="020F0502020204030204" pitchFamily="34" charset="-120"/>
              </a:rPr>
              <a:t>EPBT</a:t>
            </a:r>
            <a:endParaRPr lang="en-US" sz="900" dirty="0"/>
          </a:p>
        </p:txBody>
      </p:sp>
      <p:sp>
        <p:nvSpPr>
          <p:cNvPr id="48" name="Text 46"/>
          <p:cNvSpPr/>
          <p:nvPr/>
        </p:nvSpPr>
        <p:spPr>
          <a:xfrm>
            <a:off x="7004304" y="2926080"/>
            <a:ext cx="1874520" cy="384048"/>
          </a:xfrm>
          <a:prstGeom prst="rect">
            <a:avLst/>
          </a:prstGeom>
          <a:noFill/>
        </p:spPr>
        <p:txBody>
          <a:bodyPr wrap="square" rtlCol="0" anchor="ctr"/>
          <a:lstStyle/>
          <a:p>
            <a:pPr marL="0" indent="0">
              <a:buNone/>
            </a:pPr>
            <a:r>
              <a:rPr lang="en-US" sz="1050" dirty="0">
                <a:solidFill>
                  <a:srgbClr val="212121"/>
                </a:solidFill>
                <a:latin typeface="Calibri" panose="020F0502020204030204" pitchFamily="34" charset="0"/>
                <a:ea typeface="Calibri" panose="020F0502020204030204" pitchFamily="34" charset="-122"/>
                <a:cs typeface="Calibri" panose="020F0502020204030204" pitchFamily="34" charset="-120"/>
              </a:rPr>
              <a:t>6–10 yıl</a:t>
            </a:r>
            <a:endParaRPr lang="en-US" sz="1050" dirty="0"/>
          </a:p>
        </p:txBody>
      </p:sp>
      <p:sp>
        <p:nvSpPr>
          <p:cNvPr id="49" name="Text 47"/>
          <p:cNvSpPr/>
          <p:nvPr/>
        </p:nvSpPr>
        <p:spPr>
          <a:xfrm>
            <a:off x="7004304" y="3364992"/>
            <a:ext cx="1874520" cy="274320"/>
          </a:xfrm>
          <a:prstGeom prst="rect">
            <a:avLst/>
          </a:prstGeom>
          <a:noFill/>
        </p:spPr>
        <p:txBody>
          <a:bodyPr wrap="square" rtlCol="0" anchor="ctr"/>
          <a:lstStyle/>
          <a:p>
            <a:pPr marL="0" indent="0">
              <a:buNone/>
            </a:pPr>
            <a:r>
              <a:rPr lang="en-US" sz="900" b="1" dirty="0">
                <a:solidFill>
                  <a:srgbClr val="922B21"/>
                </a:solidFill>
                <a:latin typeface="Calibri" panose="020F0502020204030204" pitchFamily="34" charset="0"/>
                <a:ea typeface="Calibri" panose="020F0502020204030204" pitchFamily="34" charset="-122"/>
                <a:cs typeface="Calibri" panose="020F0502020204030204" pitchFamily="34" charset="-120"/>
              </a:rPr>
              <a:t>GPBT</a:t>
            </a:r>
            <a:endParaRPr lang="en-US" sz="900" dirty="0"/>
          </a:p>
        </p:txBody>
      </p:sp>
      <p:sp>
        <p:nvSpPr>
          <p:cNvPr id="50" name="Text 48"/>
          <p:cNvSpPr/>
          <p:nvPr/>
        </p:nvSpPr>
        <p:spPr>
          <a:xfrm>
            <a:off x="7004304" y="3639312"/>
            <a:ext cx="1874520" cy="384048"/>
          </a:xfrm>
          <a:prstGeom prst="rect">
            <a:avLst/>
          </a:prstGeom>
          <a:noFill/>
        </p:spPr>
        <p:txBody>
          <a:bodyPr wrap="square" rtlCol="0" anchor="ctr"/>
          <a:lstStyle/>
          <a:p>
            <a:pPr marL="0" indent="0">
              <a:buNone/>
            </a:pPr>
            <a:r>
              <a:rPr lang="en-US" sz="1050" b="1" dirty="0">
                <a:solidFill>
                  <a:srgbClr val="212121"/>
                </a:solidFill>
                <a:latin typeface="Calibri" panose="020F0502020204030204" pitchFamily="34" charset="0"/>
                <a:ea typeface="Calibri" panose="020F0502020204030204" pitchFamily="34" charset="-122"/>
                <a:cs typeface="Calibri" panose="020F0502020204030204" pitchFamily="34" charset="-120"/>
              </a:rPr>
              <a:t>30–40 yıl</a:t>
            </a:r>
            <a:endParaRPr lang="en-US" sz="1050" dirty="0"/>
          </a:p>
        </p:txBody>
      </p:sp>
      <p:sp>
        <p:nvSpPr>
          <p:cNvPr id="51" name="Text 49"/>
          <p:cNvSpPr/>
          <p:nvPr/>
        </p:nvSpPr>
        <p:spPr>
          <a:xfrm>
            <a:off x="7004304" y="4078224"/>
            <a:ext cx="1874520" cy="274320"/>
          </a:xfrm>
          <a:prstGeom prst="rect">
            <a:avLst/>
          </a:prstGeom>
          <a:noFill/>
        </p:spPr>
        <p:txBody>
          <a:bodyPr wrap="square" rtlCol="0" anchor="ctr"/>
          <a:lstStyle/>
          <a:p>
            <a:pPr marL="0" indent="0">
              <a:buNone/>
            </a:pPr>
            <a:r>
              <a:rPr lang="en-US" sz="900" b="1" dirty="0">
                <a:solidFill>
                  <a:srgbClr val="922B21"/>
                </a:solidFill>
                <a:latin typeface="Calibri" panose="020F0502020204030204" pitchFamily="34" charset="0"/>
                <a:ea typeface="Calibri" panose="020F0502020204030204" pitchFamily="34" charset="-122"/>
                <a:cs typeface="Calibri" panose="020F0502020204030204" pitchFamily="34" charset="-120"/>
              </a:rPr>
              <a:t>YEKDEM Tarifesi</a:t>
            </a:r>
            <a:endParaRPr lang="en-US" sz="900" dirty="0"/>
          </a:p>
        </p:txBody>
      </p:sp>
      <p:sp>
        <p:nvSpPr>
          <p:cNvPr id="52" name="Text 50"/>
          <p:cNvSpPr/>
          <p:nvPr/>
        </p:nvSpPr>
        <p:spPr>
          <a:xfrm>
            <a:off x="7004304" y="4352544"/>
            <a:ext cx="1874520" cy="384048"/>
          </a:xfrm>
          <a:prstGeom prst="rect">
            <a:avLst/>
          </a:prstGeom>
          <a:noFill/>
        </p:spPr>
        <p:txBody>
          <a:bodyPr wrap="square" rtlCol="0" anchor="ctr"/>
          <a:lstStyle/>
          <a:p>
            <a:pPr marL="0" indent="0">
              <a:buNone/>
            </a:pPr>
            <a:r>
              <a:rPr lang="en-US" sz="1050" dirty="0">
                <a:solidFill>
                  <a:srgbClr val="212121"/>
                </a:solidFill>
                <a:latin typeface="Calibri" panose="020F0502020204030204" pitchFamily="34" charset="0"/>
                <a:ea typeface="Calibri" panose="020F0502020204030204" pitchFamily="34" charset="-122"/>
                <a:cs typeface="Calibri" panose="020F0502020204030204" pitchFamily="34" charset="-120"/>
              </a:rPr>
              <a:t>—</a:t>
            </a:r>
            <a:endParaRPr lang="en-US" sz="10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8F9FA"/>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B3A6B"/>
          </a:solidFill>
          <a:ln w="12700">
            <a:solidFill>
              <a:srgbClr val="1B3A6B"/>
            </a:solidFill>
            <a:prstDash val="solid"/>
          </a:ln>
        </p:spPr>
        <p:txBody>
          <a:bodyPr/>
          <a:lstStyle/>
          <a:p>
            <a:endParaRPr lang="tr-TR"/>
          </a:p>
        </p:txBody>
      </p:sp>
      <p:sp>
        <p:nvSpPr>
          <p:cNvPr id="3" name="Shape 1"/>
          <p:cNvSpPr/>
          <p:nvPr/>
        </p:nvSpPr>
        <p:spPr>
          <a:xfrm>
            <a:off x="0" y="685800"/>
            <a:ext cx="9144000" cy="45720"/>
          </a:xfrm>
          <a:prstGeom prst="rect">
            <a:avLst/>
          </a:prstGeom>
          <a:solidFill>
            <a:srgbClr val="C8901A"/>
          </a:solidFill>
          <a:ln w="12700">
            <a:solidFill>
              <a:srgbClr val="C8901A"/>
            </a:solidFill>
            <a:prstDash val="solid"/>
          </a:ln>
        </p:spPr>
        <p:txBody>
          <a:bodyPr/>
          <a:lstStyle/>
          <a:p>
            <a:endParaRPr lang="tr-TR"/>
          </a:p>
        </p:txBody>
      </p:sp>
      <p:sp>
        <p:nvSpPr>
          <p:cNvPr id="4" name="Shape 2"/>
          <p:cNvSpPr/>
          <p:nvPr/>
        </p:nvSpPr>
        <p:spPr>
          <a:xfrm>
            <a:off x="0" y="4892040"/>
            <a:ext cx="9144000" cy="251460"/>
          </a:xfrm>
          <a:prstGeom prst="rect">
            <a:avLst/>
          </a:prstGeom>
          <a:solidFill>
            <a:srgbClr val="1B3A6B"/>
          </a:solidFill>
          <a:ln w="12700">
            <a:solidFill>
              <a:srgbClr val="1B3A6B"/>
            </a:solidFill>
            <a:prstDash val="solid"/>
          </a:ln>
        </p:spPr>
        <p:txBody>
          <a:bodyPr/>
          <a:lstStyle/>
          <a:p>
            <a:endParaRPr lang="tr-TR"/>
          </a:p>
        </p:txBody>
      </p:sp>
      <p:sp>
        <p:nvSpPr>
          <p:cNvPr id="5" name="Text 3"/>
          <p:cNvSpPr/>
          <p:nvPr/>
        </p:nvSpPr>
        <p:spPr>
          <a:xfrm>
            <a:off x="274320" y="4892040"/>
            <a:ext cx="8595360" cy="251460"/>
          </a:xfrm>
          <a:prstGeom prst="rect">
            <a:avLst/>
          </a:prstGeom>
          <a:noFill/>
        </p:spPr>
        <p:txBody>
          <a:bodyPr wrap="square" rtlCol="0" anchor="ctr"/>
          <a:lstStyle/>
          <a:p>
            <a:pPr marL="0" indent="0" algn="ctr">
              <a:buNone/>
            </a:pPr>
            <a:r>
              <a:rPr lang="en-US" sz="800" dirty="0">
                <a:solidFill>
                  <a:srgbClr val="E0E6ED"/>
                </a:solidFill>
                <a:latin typeface="Calibri" panose="020F0502020204030204" pitchFamily="34" charset="0"/>
                <a:ea typeface="Calibri" panose="020F0502020204030204" pitchFamily="34" charset="-122"/>
                <a:cs typeface="Calibri" panose="020F0502020204030204" pitchFamily="34" charset="-120"/>
              </a:rPr>
              <a:t>SAÜ EEM  |  İzmir Yenilenebilir Enerji Analizi</a:t>
            </a:r>
            <a:endParaRPr lang="en-US" sz="800" dirty="0"/>
          </a:p>
        </p:txBody>
      </p:sp>
      <p:sp>
        <p:nvSpPr>
          <p:cNvPr id="6" name="Text 4"/>
          <p:cNvSpPr/>
          <p:nvPr/>
        </p:nvSpPr>
        <p:spPr>
          <a:xfrm>
            <a:off x="274320" y="45720"/>
            <a:ext cx="8595360" cy="594360"/>
          </a:xfrm>
          <a:prstGeom prst="rect">
            <a:avLst/>
          </a:prstGeom>
          <a:noFill/>
        </p:spPr>
        <p:txBody>
          <a:bodyPr wrap="square" lIns="0" tIns="0" rIns="0" bIns="0" rtlCol="0" anchor="ctr"/>
          <a:lstStyle/>
          <a:p>
            <a:pPr marL="0" indent="0" algn="l">
              <a:buNone/>
            </a:pPr>
            <a:r>
              <a:rPr lang="en-US" sz="1800" b="1" dirty="0">
                <a:solidFill>
                  <a:srgbClr val="FFFFFF"/>
                </a:solidFill>
                <a:latin typeface="Calibri" panose="020F0502020204030204" pitchFamily="34" charset="0"/>
                <a:ea typeface="Calibri" panose="020F0502020204030204" pitchFamily="34" charset="-122"/>
                <a:cs typeface="Calibri" panose="020F0502020204030204" pitchFamily="34" charset="-120"/>
              </a:rPr>
              <a:t>Neden RES? — Hibrit Senaryo ve Sonuç</a:t>
            </a:r>
            <a:endParaRPr lang="en-US" sz="1800" dirty="0"/>
          </a:p>
        </p:txBody>
      </p:sp>
      <p:sp>
        <p:nvSpPr>
          <p:cNvPr id="7" name="Shape 5"/>
          <p:cNvSpPr/>
          <p:nvPr/>
        </p:nvSpPr>
        <p:spPr>
          <a:xfrm>
            <a:off x="320040" y="777240"/>
            <a:ext cx="3474720" cy="3977640"/>
          </a:xfrm>
          <a:prstGeom prst="rect">
            <a:avLst/>
          </a:prstGeom>
          <a:solidFill>
            <a:srgbClr val="1A5276"/>
          </a:solidFill>
          <a:ln w="12700">
            <a:solidFill>
              <a:srgbClr val="1A5276"/>
            </a:solidFill>
            <a:prstDash val="solid"/>
          </a:ln>
          <a:effectLst>
            <a:outerShdw blurRad="101600" dist="50800" dir="8100000" algn="bl" rotWithShape="0">
              <a:srgbClr val="000000">
                <a:alpha val="18000"/>
              </a:srgbClr>
            </a:outerShdw>
          </a:effectLst>
        </p:spPr>
        <p:txBody>
          <a:bodyPr/>
          <a:lstStyle/>
          <a:p>
            <a:endParaRPr lang="tr-TR"/>
          </a:p>
        </p:txBody>
      </p:sp>
      <p:sp>
        <p:nvSpPr>
          <p:cNvPr id="8" name="Text 6"/>
          <p:cNvSpPr/>
          <p:nvPr/>
        </p:nvSpPr>
        <p:spPr>
          <a:xfrm>
            <a:off x="365760" y="822960"/>
            <a:ext cx="3383280" cy="640080"/>
          </a:xfrm>
          <a:prstGeom prst="rect">
            <a:avLst/>
          </a:prstGeom>
          <a:noFill/>
        </p:spPr>
        <p:txBody>
          <a:bodyPr wrap="square" rtlCol="0" anchor="ctr"/>
          <a:lstStyle/>
          <a:p>
            <a:pPr marL="0" indent="0" algn="ctr">
              <a:buNone/>
            </a:pPr>
            <a:r>
              <a:rPr lang="en-US" sz="1800" b="1" dirty="0">
                <a:solidFill>
                  <a:srgbClr val="FFFFFF"/>
                </a:solidFill>
                <a:latin typeface="Calibri" panose="020F0502020204030204" pitchFamily="34" charset="0"/>
                <a:ea typeface="Calibri" panose="020F0502020204030204" pitchFamily="34" charset="-122"/>
                <a:cs typeface="Calibri" panose="020F0502020204030204" pitchFamily="34" charset="-120"/>
              </a:rPr>
              <a:t>🏆 BİRİNCİL</a:t>
            </a:r>
            <a:endParaRPr lang="en-US" sz="1800" dirty="0"/>
          </a:p>
          <a:p>
            <a:pPr marL="0" indent="0" algn="ctr">
              <a:buNone/>
            </a:pPr>
            <a:r>
              <a:rPr lang="en-US" sz="1800" b="1" dirty="0">
                <a:solidFill>
                  <a:srgbClr val="FFFFFF"/>
                </a:solidFill>
                <a:latin typeface="Calibri" panose="020F0502020204030204" pitchFamily="34" charset="0"/>
                <a:ea typeface="Calibri" panose="020F0502020204030204" pitchFamily="34" charset="-122"/>
                <a:cs typeface="Calibri" panose="020F0502020204030204" pitchFamily="34" charset="-120"/>
              </a:rPr>
              <a:t>ÖNERİ</a:t>
            </a:r>
            <a:endParaRPr lang="en-US" sz="1800" dirty="0"/>
          </a:p>
        </p:txBody>
      </p:sp>
      <p:sp>
        <p:nvSpPr>
          <p:cNvPr id="9" name="Text 7"/>
          <p:cNvSpPr/>
          <p:nvPr/>
        </p:nvSpPr>
        <p:spPr>
          <a:xfrm>
            <a:off x="365760" y="1508760"/>
            <a:ext cx="3383280" cy="411480"/>
          </a:xfrm>
          <a:prstGeom prst="rect">
            <a:avLst/>
          </a:prstGeom>
          <a:noFill/>
        </p:spPr>
        <p:txBody>
          <a:bodyPr wrap="square" rtlCol="0" anchor="ctr"/>
          <a:lstStyle/>
          <a:p>
            <a:pPr marL="0" indent="0" algn="ctr">
              <a:buNone/>
            </a:pPr>
            <a:r>
              <a:rPr lang="en-US" sz="1400" b="1" dirty="0">
                <a:solidFill>
                  <a:srgbClr val="C8901A"/>
                </a:solidFill>
                <a:latin typeface="Calibri" panose="020F0502020204030204" pitchFamily="34" charset="0"/>
                <a:ea typeface="Calibri" panose="020F0502020204030204" pitchFamily="34" charset="-122"/>
                <a:cs typeface="Calibri" panose="020F0502020204030204" pitchFamily="34" charset="-120"/>
              </a:rPr>
              <a:t>RÜZGAR ENERJİSİ</a:t>
            </a:r>
            <a:endParaRPr lang="en-US" sz="1400" dirty="0"/>
          </a:p>
        </p:txBody>
      </p:sp>
      <p:sp>
        <p:nvSpPr>
          <p:cNvPr id="10" name="Shape 8"/>
          <p:cNvSpPr/>
          <p:nvPr/>
        </p:nvSpPr>
        <p:spPr>
          <a:xfrm>
            <a:off x="411480" y="2011680"/>
            <a:ext cx="3291840" cy="384048"/>
          </a:xfrm>
          <a:prstGeom prst="rect">
            <a:avLst/>
          </a:prstGeom>
          <a:solidFill>
            <a:srgbClr val="1A3A5C">
              <a:alpha val="70000"/>
            </a:srgbClr>
          </a:solidFill>
          <a:ln w="12700">
            <a:solidFill>
              <a:srgbClr val="1A3A5C"/>
            </a:solidFill>
            <a:prstDash val="solid"/>
          </a:ln>
        </p:spPr>
        <p:txBody>
          <a:bodyPr/>
          <a:lstStyle/>
          <a:p>
            <a:endParaRPr lang="tr-TR"/>
          </a:p>
        </p:txBody>
      </p:sp>
      <p:sp>
        <p:nvSpPr>
          <p:cNvPr id="11" name="Text 9"/>
          <p:cNvSpPr/>
          <p:nvPr/>
        </p:nvSpPr>
        <p:spPr>
          <a:xfrm>
            <a:off x="457200" y="2057400"/>
            <a:ext cx="1097280" cy="292608"/>
          </a:xfrm>
          <a:prstGeom prst="rect">
            <a:avLst/>
          </a:prstGeom>
          <a:noFill/>
        </p:spPr>
        <p:txBody>
          <a:bodyPr wrap="square" rtlCol="0" anchor="ctr"/>
          <a:lstStyle/>
          <a:p>
            <a:pPr marL="0" indent="0">
              <a:buNone/>
            </a:pPr>
            <a:r>
              <a:rPr lang="en-US" sz="950" b="1" dirty="0">
                <a:solidFill>
                  <a:srgbClr val="C8901A"/>
                </a:solidFill>
                <a:latin typeface="Calibri" panose="020F0502020204030204" pitchFamily="34" charset="0"/>
                <a:ea typeface="Calibri" panose="020F0502020204030204" pitchFamily="34" charset="-122"/>
                <a:cs typeface="Calibri" panose="020F0502020204030204" pitchFamily="34" charset="-120"/>
              </a:rPr>
              <a:t>CF</a:t>
            </a:r>
            <a:endParaRPr lang="en-US" sz="950" dirty="0"/>
          </a:p>
        </p:txBody>
      </p:sp>
      <p:sp>
        <p:nvSpPr>
          <p:cNvPr id="12" name="Text 10"/>
          <p:cNvSpPr/>
          <p:nvPr/>
        </p:nvSpPr>
        <p:spPr>
          <a:xfrm>
            <a:off x="1600200" y="2057400"/>
            <a:ext cx="2011680" cy="292608"/>
          </a:xfrm>
          <a:prstGeom prst="rect">
            <a:avLst/>
          </a:prstGeom>
          <a:noFill/>
        </p:spPr>
        <p:txBody>
          <a:bodyPr wrap="square" rtlCol="0" anchor="ctr"/>
          <a:lstStyle/>
          <a:p>
            <a:pPr marL="0" indent="0">
              <a:buNone/>
            </a:pPr>
            <a:r>
              <a:rPr lang="en-US" sz="1000" dirty="0">
                <a:solidFill>
                  <a:srgbClr val="FFFFFF"/>
                </a:solidFill>
                <a:latin typeface="Calibri" panose="020F0502020204030204" pitchFamily="34" charset="0"/>
                <a:ea typeface="Calibri" panose="020F0502020204030204" pitchFamily="34" charset="-122"/>
                <a:cs typeface="Calibri" panose="020F0502020204030204" pitchFamily="34" charset="-120"/>
              </a:rPr>
              <a:t>%40,0</a:t>
            </a:r>
            <a:endParaRPr lang="en-US" sz="1000" dirty="0"/>
          </a:p>
        </p:txBody>
      </p:sp>
      <p:sp>
        <p:nvSpPr>
          <p:cNvPr id="13" name="Shape 11"/>
          <p:cNvSpPr/>
          <p:nvPr/>
        </p:nvSpPr>
        <p:spPr>
          <a:xfrm>
            <a:off x="411480" y="2450592"/>
            <a:ext cx="3291840" cy="384048"/>
          </a:xfrm>
          <a:prstGeom prst="rect">
            <a:avLst/>
          </a:prstGeom>
          <a:solidFill>
            <a:srgbClr val="1A3A5C">
              <a:alpha val="70000"/>
            </a:srgbClr>
          </a:solidFill>
          <a:ln w="12700">
            <a:solidFill>
              <a:srgbClr val="1A3A5C"/>
            </a:solidFill>
            <a:prstDash val="solid"/>
          </a:ln>
        </p:spPr>
        <p:txBody>
          <a:bodyPr/>
          <a:lstStyle/>
          <a:p>
            <a:endParaRPr lang="tr-TR"/>
          </a:p>
        </p:txBody>
      </p:sp>
      <p:sp>
        <p:nvSpPr>
          <p:cNvPr id="14" name="Text 12"/>
          <p:cNvSpPr/>
          <p:nvPr/>
        </p:nvSpPr>
        <p:spPr>
          <a:xfrm>
            <a:off x="457200" y="2496312"/>
            <a:ext cx="1097280" cy="292608"/>
          </a:xfrm>
          <a:prstGeom prst="rect">
            <a:avLst/>
          </a:prstGeom>
          <a:noFill/>
        </p:spPr>
        <p:txBody>
          <a:bodyPr wrap="square" rtlCol="0" anchor="ctr"/>
          <a:lstStyle/>
          <a:p>
            <a:pPr marL="0" indent="0">
              <a:buNone/>
            </a:pPr>
            <a:r>
              <a:rPr lang="en-US" sz="950" b="1" dirty="0">
                <a:solidFill>
                  <a:srgbClr val="C8901A"/>
                </a:solidFill>
                <a:latin typeface="Calibri" panose="020F0502020204030204" pitchFamily="34" charset="0"/>
                <a:ea typeface="Calibri" panose="020F0502020204030204" pitchFamily="34" charset="-122"/>
                <a:cs typeface="Calibri" panose="020F0502020204030204" pitchFamily="34" charset="-120"/>
              </a:rPr>
              <a:t>Üretim</a:t>
            </a:r>
            <a:endParaRPr lang="en-US" sz="950" dirty="0"/>
          </a:p>
        </p:txBody>
      </p:sp>
      <p:sp>
        <p:nvSpPr>
          <p:cNvPr id="15" name="Text 13"/>
          <p:cNvSpPr/>
          <p:nvPr/>
        </p:nvSpPr>
        <p:spPr>
          <a:xfrm>
            <a:off x="1600200" y="2496312"/>
            <a:ext cx="2011680" cy="292608"/>
          </a:xfrm>
          <a:prstGeom prst="rect">
            <a:avLst/>
          </a:prstGeom>
          <a:noFill/>
        </p:spPr>
        <p:txBody>
          <a:bodyPr wrap="square" rtlCol="0" anchor="ctr"/>
          <a:lstStyle/>
          <a:p>
            <a:pPr marL="0" indent="0">
              <a:buNone/>
            </a:pPr>
            <a:r>
              <a:rPr lang="en-US" sz="1000" dirty="0">
                <a:solidFill>
                  <a:srgbClr val="FFFFFF"/>
                </a:solidFill>
                <a:latin typeface="Calibri" panose="020F0502020204030204" pitchFamily="34" charset="0"/>
                <a:ea typeface="Calibri" panose="020F0502020204030204" pitchFamily="34" charset="-122"/>
                <a:cs typeface="Calibri" panose="020F0502020204030204" pitchFamily="34" charset="-120"/>
              </a:rPr>
              <a:t>120.900 MWh/yıl</a:t>
            </a:r>
            <a:endParaRPr lang="en-US" sz="1000" dirty="0"/>
          </a:p>
        </p:txBody>
      </p:sp>
      <p:sp>
        <p:nvSpPr>
          <p:cNvPr id="16" name="Shape 14"/>
          <p:cNvSpPr/>
          <p:nvPr/>
        </p:nvSpPr>
        <p:spPr>
          <a:xfrm>
            <a:off x="411480" y="2889504"/>
            <a:ext cx="3291840" cy="384048"/>
          </a:xfrm>
          <a:prstGeom prst="rect">
            <a:avLst/>
          </a:prstGeom>
          <a:solidFill>
            <a:srgbClr val="1A3A5C">
              <a:alpha val="70000"/>
            </a:srgbClr>
          </a:solidFill>
          <a:ln w="12700">
            <a:solidFill>
              <a:srgbClr val="1A3A5C"/>
            </a:solidFill>
            <a:prstDash val="solid"/>
          </a:ln>
        </p:spPr>
        <p:txBody>
          <a:bodyPr/>
          <a:lstStyle/>
          <a:p>
            <a:endParaRPr lang="tr-TR"/>
          </a:p>
        </p:txBody>
      </p:sp>
      <p:sp>
        <p:nvSpPr>
          <p:cNvPr id="17" name="Text 15"/>
          <p:cNvSpPr/>
          <p:nvPr/>
        </p:nvSpPr>
        <p:spPr>
          <a:xfrm>
            <a:off x="457200" y="2935224"/>
            <a:ext cx="1097280" cy="292608"/>
          </a:xfrm>
          <a:prstGeom prst="rect">
            <a:avLst/>
          </a:prstGeom>
          <a:noFill/>
        </p:spPr>
        <p:txBody>
          <a:bodyPr wrap="square" rtlCol="0" anchor="ctr"/>
          <a:lstStyle/>
          <a:p>
            <a:pPr marL="0" indent="0">
              <a:buNone/>
            </a:pPr>
            <a:r>
              <a:rPr lang="en-US" sz="950" b="1" dirty="0">
                <a:solidFill>
                  <a:srgbClr val="C8901A"/>
                </a:solidFill>
                <a:latin typeface="Calibri" panose="020F0502020204030204" pitchFamily="34" charset="0"/>
                <a:ea typeface="Calibri" panose="020F0502020204030204" pitchFamily="34" charset="-122"/>
                <a:cs typeface="Calibri" panose="020F0502020204030204" pitchFamily="34" charset="-120"/>
              </a:rPr>
              <a:t>Hane</a:t>
            </a:r>
            <a:endParaRPr lang="en-US" sz="950" dirty="0"/>
          </a:p>
        </p:txBody>
      </p:sp>
      <p:sp>
        <p:nvSpPr>
          <p:cNvPr id="18" name="Text 16"/>
          <p:cNvSpPr/>
          <p:nvPr/>
        </p:nvSpPr>
        <p:spPr>
          <a:xfrm>
            <a:off x="1600200" y="2935224"/>
            <a:ext cx="2011680" cy="292608"/>
          </a:xfrm>
          <a:prstGeom prst="rect">
            <a:avLst/>
          </a:prstGeom>
          <a:noFill/>
        </p:spPr>
        <p:txBody>
          <a:bodyPr wrap="square" rtlCol="0" anchor="ctr"/>
          <a:lstStyle/>
          <a:p>
            <a:pPr marL="0" indent="0">
              <a:buNone/>
            </a:pPr>
            <a:r>
              <a:rPr lang="en-US" sz="1000" dirty="0">
                <a:solidFill>
                  <a:srgbClr val="FFFFFF"/>
                </a:solidFill>
                <a:latin typeface="Calibri" panose="020F0502020204030204" pitchFamily="34" charset="0"/>
                <a:ea typeface="Calibri" panose="020F0502020204030204" pitchFamily="34" charset="-122"/>
                <a:cs typeface="Calibri" panose="020F0502020204030204" pitchFamily="34" charset="-120"/>
              </a:rPr>
              <a:t>~34.500</a:t>
            </a:r>
            <a:endParaRPr lang="en-US" sz="1000" dirty="0"/>
          </a:p>
        </p:txBody>
      </p:sp>
      <p:sp>
        <p:nvSpPr>
          <p:cNvPr id="19" name="Shape 17"/>
          <p:cNvSpPr/>
          <p:nvPr/>
        </p:nvSpPr>
        <p:spPr>
          <a:xfrm>
            <a:off x="411480" y="3328416"/>
            <a:ext cx="3291840" cy="384048"/>
          </a:xfrm>
          <a:prstGeom prst="rect">
            <a:avLst/>
          </a:prstGeom>
          <a:solidFill>
            <a:srgbClr val="1A3A5C">
              <a:alpha val="70000"/>
            </a:srgbClr>
          </a:solidFill>
          <a:ln w="12700">
            <a:solidFill>
              <a:srgbClr val="1A3A5C"/>
            </a:solidFill>
            <a:prstDash val="solid"/>
          </a:ln>
        </p:spPr>
        <p:txBody>
          <a:bodyPr/>
          <a:lstStyle/>
          <a:p>
            <a:endParaRPr lang="tr-TR"/>
          </a:p>
        </p:txBody>
      </p:sp>
      <p:sp>
        <p:nvSpPr>
          <p:cNvPr id="20" name="Text 18"/>
          <p:cNvSpPr/>
          <p:nvPr/>
        </p:nvSpPr>
        <p:spPr>
          <a:xfrm>
            <a:off x="457200" y="3374136"/>
            <a:ext cx="1097280" cy="292608"/>
          </a:xfrm>
          <a:prstGeom prst="rect">
            <a:avLst/>
          </a:prstGeom>
          <a:noFill/>
        </p:spPr>
        <p:txBody>
          <a:bodyPr wrap="square" rtlCol="0" anchor="ctr"/>
          <a:lstStyle/>
          <a:p>
            <a:pPr marL="0" indent="0">
              <a:buNone/>
            </a:pPr>
            <a:r>
              <a:rPr lang="en-US" sz="950" b="1" dirty="0">
                <a:solidFill>
                  <a:srgbClr val="C8901A"/>
                </a:solidFill>
                <a:latin typeface="Calibri" panose="020F0502020204030204" pitchFamily="34" charset="0"/>
                <a:ea typeface="Calibri" panose="020F0502020204030204" pitchFamily="34" charset="-122"/>
                <a:cs typeface="Calibri" panose="020F0502020204030204" pitchFamily="34" charset="-120"/>
              </a:rPr>
              <a:t>CO₂</a:t>
            </a:r>
            <a:endParaRPr lang="en-US" sz="950" dirty="0"/>
          </a:p>
        </p:txBody>
      </p:sp>
      <p:sp>
        <p:nvSpPr>
          <p:cNvPr id="21" name="Text 19"/>
          <p:cNvSpPr/>
          <p:nvPr/>
        </p:nvSpPr>
        <p:spPr>
          <a:xfrm>
            <a:off x="1600200" y="3374136"/>
            <a:ext cx="2011680" cy="292608"/>
          </a:xfrm>
          <a:prstGeom prst="rect">
            <a:avLst/>
          </a:prstGeom>
          <a:noFill/>
        </p:spPr>
        <p:txBody>
          <a:bodyPr wrap="square" rtlCol="0" anchor="ctr"/>
          <a:lstStyle/>
          <a:p>
            <a:pPr marL="0" indent="0">
              <a:buNone/>
            </a:pPr>
            <a:r>
              <a:rPr lang="en-US" sz="1000" dirty="0">
                <a:solidFill>
                  <a:srgbClr val="FFFFFF"/>
                </a:solidFill>
                <a:latin typeface="Calibri" panose="020F0502020204030204" pitchFamily="34" charset="0"/>
                <a:ea typeface="Calibri" panose="020F0502020204030204" pitchFamily="34" charset="-122"/>
                <a:cs typeface="Calibri" panose="020F0502020204030204" pitchFamily="34" charset="-120"/>
              </a:rPr>
              <a:t>~56.823 ton/yıl</a:t>
            </a:r>
            <a:endParaRPr lang="en-US" sz="1000" dirty="0"/>
          </a:p>
        </p:txBody>
      </p:sp>
      <p:sp>
        <p:nvSpPr>
          <p:cNvPr id="22" name="Shape 20"/>
          <p:cNvSpPr/>
          <p:nvPr/>
        </p:nvSpPr>
        <p:spPr>
          <a:xfrm>
            <a:off x="411480" y="3767328"/>
            <a:ext cx="3291840" cy="384048"/>
          </a:xfrm>
          <a:prstGeom prst="rect">
            <a:avLst/>
          </a:prstGeom>
          <a:solidFill>
            <a:srgbClr val="1A3A5C">
              <a:alpha val="70000"/>
            </a:srgbClr>
          </a:solidFill>
          <a:ln w="12700">
            <a:solidFill>
              <a:srgbClr val="1A3A5C"/>
            </a:solidFill>
            <a:prstDash val="solid"/>
          </a:ln>
        </p:spPr>
        <p:txBody>
          <a:bodyPr/>
          <a:lstStyle/>
          <a:p>
            <a:endParaRPr lang="tr-TR"/>
          </a:p>
        </p:txBody>
      </p:sp>
      <p:sp>
        <p:nvSpPr>
          <p:cNvPr id="23" name="Text 21"/>
          <p:cNvSpPr/>
          <p:nvPr/>
        </p:nvSpPr>
        <p:spPr>
          <a:xfrm>
            <a:off x="457200" y="3813048"/>
            <a:ext cx="1097280" cy="292608"/>
          </a:xfrm>
          <a:prstGeom prst="rect">
            <a:avLst/>
          </a:prstGeom>
          <a:noFill/>
        </p:spPr>
        <p:txBody>
          <a:bodyPr wrap="square" rtlCol="0" anchor="ctr"/>
          <a:lstStyle/>
          <a:p>
            <a:pPr marL="0" indent="0">
              <a:buNone/>
            </a:pPr>
            <a:r>
              <a:rPr lang="en-US" sz="950" b="1" dirty="0">
                <a:solidFill>
                  <a:srgbClr val="C8901A"/>
                </a:solidFill>
                <a:latin typeface="Calibri" panose="020F0502020204030204" pitchFamily="34" charset="0"/>
                <a:ea typeface="Calibri" panose="020F0502020204030204" pitchFamily="34" charset="-122"/>
                <a:cs typeface="Calibri" panose="020F0502020204030204" pitchFamily="34" charset="-120"/>
              </a:rPr>
              <a:t>GPBT</a:t>
            </a:r>
            <a:endParaRPr lang="en-US" sz="950" dirty="0"/>
          </a:p>
        </p:txBody>
      </p:sp>
      <p:sp>
        <p:nvSpPr>
          <p:cNvPr id="24" name="Text 22"/>
          <p:cNvSpPr/>
          <p:nvPr/>
        </p:nvSpPr>
        <p:spPr>
          <a:xfrm>
            <a:off x="1600200" y="3813048"/>
            <a:ext cx="2011680" cy="292608"/>
          </a:xfrm>
          <a:prstGeom prst="rect">
            <a:avLst/>
          </a:prstGeom>
          <a:noFill/>
        </p:spPr>
        <p:txBody>
          <a:bodyPr wrap="square" rtlCol="0" anchor="ctr"/>
          <a:lstStyle/>
          <a:p>
            <a:pPr marL="0" indent="0">
              <a:buNone/>
            </a:pPr>
            <a:r>
              <a:rPr lang="en-US" sz="1000" dirty="0">
                <a:solidFill>
                  <a:srgbClr val="FFFFFF"/>
                </a:solidFill>
                <a:latin typeface="Calibri" panose="020F0502020204030204" pitchFamily="34" charset="0"/>
                <a:ea typeface="Calibri" panose="020F0502020204030204" pitchFamily="34" charset="-122"/>
                <a:cs typeface="Calibri" panose="020F0502020204030204" pitchFamily="34" charset="-120"/>
              </a:rPr>
              <a:t>7–10 yıl</a:t>
            </a:r>
            <a:endParaRPr lang="en-US" sz="1000" dirty="0"/>
          </a:p>
        </p:txBody>
      </p:sp>
      <p:sp>
        <p:nvSpPr>
          <p:cNvPr id="25" name="Shape 23"/>
          <p:cNvSpPr/>
          <p:nvPr/>
        </p:nvSpPr>
        <p:spPr>
          <a:xfrm>
            <a:off x="411480" y="4206240"/>
            <a:ext cx="3291840" cy="384048"/>
          </a:xfrm>
          <a:prstGeom prst="rect">
            <a:avLst/>
          </a:prstGeom>
          <a:solidFill>
            <a:srgbClr val="1A3A5C">
              <a:alpha val="70000"/>
            </a:srgbClr>
          </a:solidFill>
          <a:ln w="12700">
            <a:solidFill>
              <a:srgbClr val="1A3A5C"/>
            </a:solidFill>
            <a:prstDash val="solid"/>
          </a:ln>
        </p:spPr>
        <p:txBody>
          <a:bodyPr/>
          <a:lstStyle/>
          <a:p>
            <a:endParaRPr lang="tr-TR"/>
          </a:p>
        </p:txBody>
      </p:sp>
      <p:sp>
        <p:nvSpPr>
          <p:cNvPr id="26" name="Text 24"/>
          <p:cNvSpPr/>
          <p:nvPr/>
        </p:nvSpPr>
        <p:spPr>
          <a:xfrm>
            <a:off x="457200" y="4251960"/>
            <a:ext cx="1097280" cy="292608"/>
          </a:xfrm>
          <a:prstGeom prst="rect">
            <a:avLst/>
          </a:prstGeom>
          <a:noFill/>
        </p:spPr>
        <p:txBody>
          <a:bodyPr wrap="square" rtlCol="0" anchor="ctr"/>
          <a:lstStyle/>
          <a:p>
            <a:pPr marL="0" indent="0">
              <a:buNone/>
            </a:pPr>
            <a:r>
              <a:rPr lang="en-US" sz="950" b="1" dirty="0">
                <a:solidFill>
                  <a:srgbClr val="C8901A"/>
                </a:solidFill>
                <a:latin typeface="Calibri" panose="020F0502020204030204" pitchFamily="34" charset="0"/>
                <a:ea typeface="Calibri" panose="020F0502020204030204" pitchFamily="34" charset="-122"/>
                <a:cs typeface="Calibri" panose="020F0502020204030204" pitchFamily="34" charset="-120"/>
              </a:rPr>
              <a:t>YEKDEM</a:t>
            </a:r>
            <a:endParaRPr lang="en-US" sz="950" dirty="0"/>
          </a:p>
        </p:txBody>
      </p:sp>
      <p:sp>
        <p:nvSpPr>
          <p:cNvPr id="27" name="Text 25"/>
          <p:cNvSpPr/>
          <p:nvPr/>
        </p:nvSpPr>
        <p:spPr>
          <a:xfrm>
            <a:off x="1600200" y="4251960"/>
            <a:ext cx="2011680" cy="292608"/>
          </a:xfrm>
          <a:prstGeom prst="rect">
            <a:avLst/>
          </a:prstGeom>
          <a:noFill/>
        </p:spPr>
        <p:txBody>
          <a:bodyPr wrap="square" rtlCol="0" anchor="ctr"/>
          <a:lstStyle/>
          <a:p>
            <a:pPr marL="0" indent="0">
              <a:buNone/>
            </a:pPr>
            <a:r>
              <a:rPr lang="en-US" sz="1000" dirty="0">
                <a:solidFill>
                  <a:srgbClr val="FFFFFF"/>
                </a:solidFill>
                <a:latin typeface="Calibri" panose="020F0502020204030204" pitchFamily="34" charset="0"/>
                <a:ea typeface="Calibri" panose="020F0502020204030204" pitchFamily="34" charset="-122"/>
                <a:cs typeface="Calibri" panose="020F0502020204030204" pitchFamily="34" charset="-120"/>
              </a:rPr>
              <a:t>~$12,9M/yıl</a:t>
            </a:r>
            <a:endParaRPr lang="en-US" sz="1000" dirty="0"/>
          </a:p>
        </p:txBody>
      </p:sp>
      <p:sp>
        <p:nvSpPr>
          <p:cNvPr id="28" name="Text 26"/>
          <p:cNvSpPr/>
          <p:nvPr/>
        </p:nvSpPr>
        <p:spPr>
          <a:xfrm>
            <a:off x="3977640" y="822960"/>
            <a:ext cx="4846320" cy="320040"/>
          </a:xfrm>
          <a:prstGeom prst="rect">
            <a:avLst/>
          </a:prstGeom>
          <a:noFill/>
        </p:spPr>
        <p:txBody>
          <a:bodyPr wrap="square" rtlCol="0" anchor="ctr"/>
          <a:lstStyle/>
          <a:p>
            <a:pPr marL="0" indent="0">
              <a:buNone/>
            </a:pPr>
            <a:r>
              <a:rPr lang="en-US" sz="1200" b="1" dirty="0">
                <a:solidFill>
                  <a:srgbClr val="1B3A6B"/>
                </a:solidFill>
                <a:latin typeface="Calibri" panose="020F0502020204030204" pitchFamily="34" charset="0"/>
                <a:ea typeface="Calibri" panose="020F0502020204030204" pitchFamily="34" charset="-122"/>
                <a:cs typeface="Calibri" panose="020F0502020204030204" pitchFamily="34" charset="-120"/>
              </a:rPr>
              <a:t>Hibrit Senaryo: GES + RES + Mikro-HES</a:t>
            </a:r>
            <a:endParaRPr lang="en-US" sz="1200" dirty="0"/>
          </a:p>
        </p:txBody>
      </p:sp>
      <p:graphicFrame>
        <p:nvGraphicFramePr>
          <p:cNvPr id="29" name="Table 0"/>
          <p:cNvGraphicFramePr>
            <a:graphicFrameLocks noGrp="1"/>
          </p:cNvGraphicFramePr>
          <p:nvPr/>
        </p:nvGraphicFramePr>
        <p:xfrm>
          <a:off x="3977640" y="1188720"/>
          <a:ext cx="4846320" cy="1463040"/>
        </p:xfrm>
        <a:graphic>
          <a:graphicData uri="http://schemas.openxmlformats.org/drawingml/2006/table">
            <a:tbl>
              <a:tblPr/>
              <a:tblGrid>
                <a:gridCol w="2560320"/>
                <a:gridCol w="1097280"/>
                <a:gridCol w="1188720"/>
              </a:tblGrid>
              <a:tr h="292608">
                <a:tc>
                  <a:txBody>
                    <a:bodyPr/>
                    <a:lstStyle/>
                    <a:p>
                      <a:pPr marL="0" indent="0" algn="ctr">
                        <a:buNone/>
                      </a:pPr>
                      <a:r>
                        <a:rPr lang="en-US" sz="1000" b="1" dirty="0">
                          <a:solidFill>
                            <a:srgbClr val="FFFFFF"/>
                          </a:solidFill>
                          <a:latin typeface="Calibri" panose="020F0502020204030204" pitchFamily="34" charset="0"/>
                          <a:ea typeface="Calibri" panose="020F0502020204030204" pitchFamily="34" charset="-122"/>
                          <a:cs typeface="Calibri" panose="020F0502020204030204" pitchFamily="34" charset="-120"/>
                        </a:rPr>
                        <a:t>Kaynak</a:t>
                      </a:r>
                      <a:endParaRPr lang="en-US" sz="1000" dirty="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E0E6ED"/>
                      </a:solidFill>
                      <a:prstDash val="solid"/>
                      <a:round/>
                      <a:headEnd type="none" w="med" len="med"/>
                      <a:tailEnd type="none" w="med" len="med"/>
                    </a:lnL>
                    <a:lnR w="6350" cap="flat" cmpd="sng" algn="ctr">
                      <a:solidFill>
                        <a:srgbClr val="E0E6ED"/>
                      </a:solidFill>
                      <a:prstDash val="solid"/>
                      <a:round/>
                      <a:headEnd type="none" w="med" len="med"/>
                      <a:tailEnd type="none" w="med" len="med"/>
                    </a:lnR>
                    <a:lnT w="6350" cap="flat" cmpd="sng" algn="ctr">
                      <a:solidFill>
                        <a:srgbClr val="E0E6ED"/>
                      </a:solidFill>
                      <a:prstDash val="solid"/>
                      <a:round/>
                      <a:headEnd type="none" w="med" len="med"/>
                      <a:tailEnd type="none" w="med" len="med"/>
                    </a:lnT>
                    <a:lnB w="6350" cap="flat" cmpd="sng" algn="ctr">
                      <a:solidFill>
                        <a:srgbClr val="E0E6ED"/>
                      </a:solidFill>
                      <a:prstDash val="solid"/>
                      <a:round/>
                      <a:headEnd type="none" w="med" len="med"/>
                      <a:tailEnd type="none" w="med" len="med"/>
                    </a:lnB>
                    <a:solidFill>
                      <a:srgbClr val="1D6A72"/>
                    </a:solidFill>
                  </a:tcPr>
                </a:tc>
                <a:tc>
                  <a:txBody>
                    <a:bodyPr/>
                    <a:lstStyle/>
                    <a:p>
                      <a:pPr marL="0" indent="0" algn="ctr">
                        <a:buNone/>
                      </a:pPr>
                      <a:r>
                        <a:rPr lang="en-US" sz="1000" b="1" dirty="0">
                          <a:solidFill>
                            <a:srgbClr val="FFFFFF"/>
                          </a:solidFill>
                          <a:latin typeface="Calibri" panose="020F0502020204030204" pitchFamily="34" charset="0"/>
                          <a:ea typeface="Calibri" panose="020F0502020204030204" pitchFamily="34" charset="-122"/>
                          <a:cs typeface="Calibri" panose="020F0502020204030204" pitchFamily="34" charset="-120"/>
                        </a:rPr>
                        <a:t>Güç</a:t>
                      </a:r>
                      <a:endParaRPr lang="en-US" sz="1000" dirty="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E0E6ED"/>
                      </a:solidFill>
                      <a:prstDash val="solid"/>
                      <a:round/>
                      <a:headEnd type="none" w="med" len="med"/>
                      <a:tailEnd type="none" w="med" len="med"/>
                    </a:lnL>
                    <a:lnR w="6350" cap="flat" cmpd="sng" algn="ctr">
                      <a:solidFill>
                        <a:srgbClr val="E0E6ED"/>
                      </a:solidFill>
                      <a:prstDash val="solid"/>
                      <a:round/>
                      <a:headEnd type="none" w="med" len="med"/>
                      <a:tailEnd type="none" w="med" len="med"/>
                    </a:lnR>
                    <a:lnT w="6350" cap="flat" cmpd="sng" algn="ctr">
                      <a:solidFill>
                        <a:srgbClr val="E0E6ED"/>
                      </a:solidFill>
                      <a:prstDash val="solid"/>
                      <a:round/>
                      <a:headEnd type="none" w="med" len="med"/>
                      <a:tailEnd type="none" w="med" len="med"/>
                    </a:lnT>
                    <a:lnB w="6350" cap="flat" cmpd="sng" algn="ctr">
                      <a:solidFill>
                        <a:srgbClr val="E0E6ED"/>
                      </a:solidFill>
                      <a:prstDash val="solid"/>
                      <a:round/>
                      <a:headEnd type="none" w="med" len="med"/>
                      <a:tailEnd type="none" w="med" len="med"/>
                    </a:lnB>
                    <a:solidFill>
                      <a:srgbClr val="1D6A72"/>
                    </a:solidFill>
                  </a:tcPr>
                </a:tc>
                <a:tc>
                  <a:txBody>
                    <a:bodyPr/>
                    <a:lstStyle/>
                    <a:p>
                      <a:pPr marL="0" indent="0" algn="ctr">
                        <a:buNone/>
                      </a:pPr>
                      <a:r>
                        <a:rPr lang="en-US" sz="1000" b="1" dirty="0">
                          <a:solidFill>
                            <a:srgbClr val="FFFFFF"/>
                          </a:solidFill>
                          <a:latin typeface="Calibri" panose="020F0502020204030204" pitchFamily="34" charset="0"/>
                          <a:ea typeface="Calibri" panose="020F0502020204030204" pitchFamily="34" charset="-122"/>
                          <a:cs typeface="Calibri" panose="020F0502020204030204" pitchFamily="34" charset="-120"/>
                        </a:rPr>
                        <a:t>Yıllık Üretim</a:t>
                      </a:r>
                      <a:endParaRPr lang="en-US" sz="1000" dirty="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E0E6ED"/>
                      </a:solidFill>
                      <a:prstDash val="solid"/>
                      <a:round/>
                      <a:headEnd type="none" w="med" len="med"/>
                      <a:tailEnd type="none" w="med" len="med"/>
                    </a:lnL>
                    <a:lnR w="6350" cap="flat" cmpd="sng" algn="ctr">
                      <a:solidFill>
                        <a:srgbClr val="E0E6ED"/>
                      </a:solidFill>
                      <a:prstDash val="solid"/>
                      <a:round/>
                      <a:headEnd type="none" w="med" len="med"/>
                      <a:tailEnd type="none" w="med" len="med"/>
                    </a:lnR>
                    <a:lnT w="6350" cap="flat" cmpd="sng" algn="ctr">
                      <a:solidFill>
                        <a:srgbClr val="E0E6ED"/>
                      </a:solidFill>
                      <a:prstDash val="solid"/>
                      <a:round/>
                      <a:headEnd type="none" w="med" len="med"/>
                      <a:tailEnd type="none" w="med" len="med"/>
                    </a:lnT>
                    <a:lnB w="6350" cap="flat" cmpd="sng" algn="ctr">
                      <a:solidFill>
                        <a:srgbClr val="E0E6ED"/>
                      </a:solidFill>
                      <a:prstDash val="solid"/>
                      <a:round/>
                      <a:headEnd type="none" w="med" len="med"/>
                      <a:tailEnd type="none" w="med" len="med"/>
                    </a:lnB>
                    <a:solidFill>
                      <a:srgbClr val="1D6A72"/>
                    </a:solidFill>
                  </a:tcPr>
                </a:tc>
              </a:tr>
              <a:tr h="292608">
                <a:tc>
                  <a:txBody>
                    <a:bodyPr/>
                    <a:lstStyle/>
                    <a:p>
                      <a:pPr marL="0" indent="0" algn="l">
                        <a:buNone/>
                      </a:pPr>
                      <a:r>
                        <a:rPr lang="en-US" sz="950" dirty="0">
                          <a:solidFill>
                            <a:srgbClr val="212121"/>
                          </a:solidFill>
                          <a:latin typeface="Calibri" panose="020F0502020204030204" pitchFamily="34" charset="0"/>
                          <a:ea typeface="Calibri" panose="020F0502020204030204" pitchFamily="34" charset="-122"/>
                          <a:cs typeface="Calibri" panose="020F0502020204030204" pitchFamily="34" charset="-120"/>
                        </a:rPr>
                        <a:t>RES (Karaburun)</a:t>
                      </a:r>
                      <a:endParaRPr lang="en-US" sz="950" dirty="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E0E6ED"/>
                      </a:solidFill>
                      <a:prstDash val="solid"/>
                      <a:round/>
                      <a:headEnd type="none" w="med" len="med"/>
                      <a:tailEnd type="none" w="med" len="med"/>
                    </a:lnL>
                    <a:lnR w="6350" cap="flat" cmpd="sng" algn="ctr">
                      <a:solidFill>
                        <a:srgbClr val="E0E6ED"/>
                      </a:solidFill>
                      <a:prstDash val="solid"/>
                      <a:round/>
                      <a:headEnd type="none" w="med" len="med"/>
                      <a:tailEnd type="none" w="med" len="med"/>
                    </a:lnR>
                    <a:lnT w="6350" cap="flat" cmpd="sng" algn="ctr">
                      <a:solidFill>
                        <a:srgbClr val="E0E6ED"/>
                      </a:solidFill>
                      <a:prstDash val="solid"/>
                      <a:round/>
                      <a:headEnd type="none" w="med" len="med"/>
                      <a:tailEnd type="none" w="med" len="med"/>
                    </a:lnT>
                    <a:lnB w="6350" cap="flat" cmpd="sng" algn="ctr">
                      <a:solidFill>
                        <a:srgbClr val="E0E6ED"/>
                      </a:solidFill>
                      <a:prstDash val="solid"/>
                      <a:round/>
                      <a:headEnd type="none" w="med" len="med"/>
                      <a:tailEnd type="none" w="med" len="med"/>
                    </a:lnB>
                    <a:solidFill>
                      <a:srgbClr val="F4F6F8"/>
                    </a:solidFill>
                  </a:tcPr>
                </a:tc>
                <a:tc>
                  <a:txBody>
                    <a:bodyPr/>
                    <a:lstStyle/>
                    <a:p>
                      <a:pPr marL="0" indent="0" algn="ctr">
                        <a:buNone/>
                      </a:pPr>
                      <a:r>
                        <a:rPr lang="en-US" sz="950" dirty="0">
                          <a:solidFill>
                            <a:srgbClr val="212121"/>
                          </a:solidFill>
                          <a:latin typeface="Calibri" panose="020F0502020204030204" pitchFamily="34" charset="0"/>
                          <a:ea typeface="Calibri" panose="020F0502020204030204" pitchFamily="34" charset="-122"/>
                          <a:cs typeface="Calibri" panose="020F0502020204030204" pitchFamily="34" charset="-120"/>
                        </a:rPr>
                        <a:t>34,5 MW</a:t>
                      </a:r>
                      <a:endParaRPr lang="en-US" sz="950" dirty="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E0E6ED"/>
                      </a:solidFill>
                      <a:prstDash val="solid"/>
                      <a:round/>
                      <a:headEnd type="none" w="med" len="med"/>
                      <a:tailEnd type="none" w="med" len="med"/>
                    </a:lnL>
                    <a:lnR w="6350" cap="flat" cmpd="sng" algn="ctr">
                      <a:solidFill>
                        <a:srgbClr val="E0E6ED"/>
                      </a:solidFill>
                      <a:prstDash val="solid"/>
                      <a:round/>
                      <a:headEnd type="none" w="med" len="med"/>
                      <a:tailEnd type="none" w="med" len="med"/>
                    </a:lnR>
                    <a:lnT w="6350" cap="flat" cmpd="sng" algn="ctr">
                      <a:solidFill>
                        <a:srgbClr val="E0E6ED"/>
                      </a:solidFill>
                      <a:prstDash val="solid"/>
                      <a:round/>
                      <a:headEnd type="none" w="med" len="med"/>
                      <a:tailEnd type="none" w="med" len="med"/>
                    </a:lnT>
                    <a:lnB w="6350" cap="flat" cmpd="sng" algn="ctr">
                      <a:solidFill>
                        <a:srgbClr val="E0E6ED"/>
                      </a:solidFill>
                      <a:prstDash val="solid"/>
                      <a:round/>
                      <a:headEnd type="none" w="med" len="med"/>
                      <a:tailEnd type="none" w="med" len="med"/>
                    </a:lnB>
                    <a:solidFill>
                      <a:srgbClr val="F4F6F8"/>
                    </a:solidFill>
                  </a:tcPr>
                </a:tc>
                <a:tc>
                  <a:txBody>
                    <a:bodyPr/>
                    <a:lstStyle/>
                    <a:p>
                      <a:pPr marL="0" indent="0" algn="ctr">
                        <a:buNone/>
                      </a:pPr>
                      <a:r>
                        <a:rPr lang="en-US" sz="950" dirty="0">
                          <a:solidFill>
                            <a:srgbClr val="212121"/>
                          </a:solidFill>
                          <a:latin typeface="Calibri" panose="020F0502020204030204" pitchFamily="34" charset="0"/>
                          <a:ea typeface="Calibri" panose="020F0502020204030204" pitchFamily="34" charset="-122"/>
                          <a:cs typeface="Calibri" panose="020F0502020204030204" pitchFamily="34" charset="-120"/>
                        </a:rPr>
                        <a:t>120.900 MWh</a:t>
                      </a:r>
                      <a:endParaRPr lang="en-US" sz="950" dirty="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E0E6ED"/>
                      </a:solidFill>
                      <a:prstDash val="solid"/>
                      <a:round/>
                      <a:headEnd type="none" w="med" len="med"/>
                      <a:tailEnd type="none" w="med" len="med"/>
                    </a:lnL>
                    <a:lnR w="6350" cap="flat" cmpd="sng" algn="ctr">
                      <a:solidFill>
                        <a:srgbClr val="E0E6ED"/>
                      </a:solidFill>
                      <a:prstDash val="solid"/>
                      <a:round/>
                      <a:headEnd type="none" w="med" len="med"/>
                      <a:tailEnd type="none" w="med" len="med"/>
                    </a:lnR>
                    <a:lnT w="6350" cap="flat" cmpd="sng" algn="ctr">
                      <a:solidFill>
                        <a:srgbClr val="E0E6ED"/>
                      </a:solidFill>
                      <a:prstDash val="solid"/>
                      <a:round/>
                      <a:headEnd type="none" w="med" len="med"/>
                      <a:tailEnd type="none" w="med" len="med"/>
                    </a:lnT>
                    <a:lnB w="6350" cap="flat" cmpd="sng" algn="ctr">
                      <a:solidFill>
                        <a:srgbClr val="E0E6ED"/>
                      </a:solidFill>
                      <a:prstDash val="solid"/>
                      <a:round/>
                      <a:headEnd type="none" w="med" len="med"/>
                      <a:tailEnd type="none" w="med" len="med"/>
                    </a:lnB>
                    <a:solidFill>
                      <a:srgbClr val="F4F6F8"/>
                    </a:solidFill>
                  </a:tcPr>
                </a:tc>
              </a:tr>
              <a:tr h="292608">
                <a:tc>
                  <a:txBody>
                    <a:bodyPr/>
                    <a:lstStyle/>
                    <a:p>
                      <a:pPr marL="0" indent="0" algn="l">
                        <a:buNone/>
                      </a:pPr>
                      <a:r>
                        <a:rPr lang="en-US" sz="950" dirty="0">
                          <a:solidFill>
                            <a:srgbClr val="212121"/>
                          </a:solidFill>
                          <a:latin typeface="Calibri" panose="020F0502020204030204" pitchFamily="34" charset="0"/>
                          <a:ea typeface="Calibri" panose="020F0502020204030204" pitchFamily="34" charset="-122"/>
                          <a:cs typeface="Calibri" panose="020F0502020204030204" pitchFamily="34" charset="-120"/>
                        </a:rPr>
                        <a:t>GES (Torbalı/Selçuk)</a:t>
                      </a:r>
                      <a:endParaRPr lang="en-US" sz="950" dirty="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E0E6ED"/>
                      </a:solidFill>
                      <a:prstDash val="solid"/>
                      <a:round/>
                      <a:headEnd type="none" w="med" len="med"/>
                      <a:tailEnd type="none" w="med" len="med"/>
                    </a:lnL>
                    <a:lnR w="6350" cap="flat" cmpd="sng" algn="ctr">
                      <a:solidFill>
                        <a:srgbClr val="E0E6ED"/>
                      </a:solidFill>
                      <a:prstDash val="solid"/>
                      <a:round/>
                      <a:headEnd type="none" w="med" len="med"/>
                      <a:tailEnd type="none" w="med" len="med"/>
                    </a:lnR>
                    <a:lnT w="6350" cap="flat" cmpd="sng" algn="ctr">
                      <a:solidFill>
                        <a:srgbClr val="E0E6ED"/>
                      </a:solidFill>
                      <a:prstDash val="solid"/>
                      <a:round/>
                      <a:headEnd type="none" w="med" len="med"/>
                      <a:tailEnd type="none" w="med" len="med"/>
                    </a:lnT>
                    <a:lnB w="6350" cap="flat" cmpd="sng" algn="ctr">
                      <a:solidFill>
                        <a:srgbClr val="E0E6ED"/>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212121"/>
                          </a:solidFill>
                          <a:latin typeface="Calibri" panose="020F0502020204030204" pitchFamily="34" charset="0"/>
                          <a:ea typeface="Calibri" panose="020F0502020204030204" pitchFamily="34" charset="-122"/>
                          <a:cs typeface="Calibri" panose="020F0502020204030204" pitchFamily="34" charset="-120"/>
                        </a:rPr>
                        <a:t>50 MWp</a:t>
                      </a:r>
                      <a:endParaRPr lang="en-US" sz="950" dirty="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E0E6ED"/>
                      </a:solidFill>
                      <a:prstDash val="solid"/>
                      <a:round/>
                      <a:headEnd type="none" w="med" len="med"/>
                      <a:tailEnd type="none" w="med" len="med"/>
                    </a:lnL>
                    <a:lnR w="6350" cap="flat" cmpd="sng" algn="ctr">
                      <a:solidFill>
                        <a:srgbClr val="E0E6ED"/>
                      </a:solidFill>
                      <a:prstDash val="solid"/>
                      <a:round/>
                      <a:headEnd type="none" w="med" len="med"/>
                      <a:tailEnd type="none" w="med" len="med"/>
                    </a:lnR>
                    <a:lnT w="6350" cap="flat" cmpd="sng" algn="ctr">
                      <a:solidFill>
                        <a:srgbClr val="E0E6ED"/>
                      </a:solidFill>
                      <a:prstDash val="solid"/>
                      <a:round/>
                      <a:headEnd type="none" w="med" len="med"/>
                      <a:tailEnd type="none" w="med" len="med"/>
                    </a:lnT>
                    <a:lnB w="6350" cap="flat" cmpd="sng" algn="ctr">
                      <a:solidFill>
                        <a:srgbClr val="E0E6ED"/>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212121"/>
                          </a:solidFill>
                          <a:latin typeface="Calibri" panose="020F0502020204030204" pitchFamily="34" charset="0"/>
                          <a:ea typeface="Calibri" panose="020F0502020204030204" pitchFamily="34" charset="-122"/>
                          <a:cs typeface="Calibri" panose="020F0502020204030204" pitchFamily="34" charset="-120"/>
                        </a:rPr>
                        <a:t>69.800 MWh</a:t>
                      </a:r>
                      <a:endParaRPr lang="en-US" sz="950" dirty="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E0E6ED"/>
                      </a:solidFill>
                      <a:prstDash val="solid"/>
                      <a:round/>
                      <a:headEnd type="none" w="med" len="med"/>
                      <a:tailEnd type="none" w="med" len="med"/>
                    </a:lnL>
                    <a:lnR w="6350" cap="flat" cmpd="sng" algn="ctr">
                      <a:solidFill>
                        <a:srgbClr val="E0E6ED"/>
                      </a:solidFill>
                      <a:prstDash val="solid"/>
                      <a:round/>
                      <a:headEnd type="none" w="med" len="med"/>
                      <a:tailEnd type="none" w="med" len="med"/>
                    </a:lnR>
                    <a:lnT w="6350" cap="flat" cmpd="sng" algn="ctr">
                      <a:solidFill>
                        <a:srgbClr val="E0E6ED"/>
                      </a:solidFill>
                      <a:prstDash val="solid"/>
                      <a:round/>
                      <a:headEnd type="none" w="med" len="med"/>
                      <a:tailEnd type="none" w="med" len="med"/>
                    </a:lnT>
                    <a:lnB w="6350" cap="flat" cmpd="sng" algn="ctr">
                      <a:solidFill>
                        <a:srgbClr val="E0E6ED"/>
                      </a:solidFill>
                      <a:prstDash val="solid"/>
                      <a:round/>
                      <a:headEnd type="none" w="med" len="med"/>
                      <a:tailEnd type="none" w="med" len="med"/>
                    </a:lnB>
                    <a:solidFill>
                      <a:srgbClr val="FFFFFF"/>
                    </a:solidFill>
                  </a:tcPr>
                </a:tc>
              </a:tr>
              <a:tr h="292608">
                <a:tc>
                  <a:txBody>
                    <a:bodyPr/>
                    <a:lstStyle/>
                    <a:p>
                      <a:pPr marL="0" indent="0" algn="l">
                        <a:buNone/>
                      </a:pPr>
                      <a:r>
                        <a:rPr lang="en-US" sz="950" dirty="0">
                          <a:solidFill>
                            <a:srgbClr val="212121"/>
                          </a:solidFill>
                          <a:latin typeface="Calibri" panose="020F0502020204030204" pitchFamily="34" charset="0"/>
                          <a:ea typeface="Calibri" panose="020F0502020204030204" pitchFamily="34" charset="-122"/>
                          <a:cs typeface="Calibri" panose="020F0502020204030204" pitchFamily="34" charset="-120"/>
                        </a:rPr>
                        <a:t>Mikro-HES (Bakırçay)</a:t>
                      </a:r>
                      <a:endParaRPr lang="en-US" sz="950" dirty="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E0E6ED"/>
                      </a:solidFill>
                      <a:prstDash val="solid"/>
                      <a:round/>
                      <a:headEnd type="none" w="med" len="med"/>
                      <a:tailEnd type="none" w="med" len="med"/>
                    </a:lnL>
                    <a:lnR w="6350" cap="flat" cmpd="sng" algn="ctr">
                      <a:solidFill>
                        <a:srgbClr val="E0E6ED"/>
                      </a:solidFill>
                      <a:prstDash val="solid"/>
                      <a:round/>
                      <a:headEnd type="none" w="med" len="med"/>
                      <a:tailEnd type="none" w="med" len="med"/>
                    </a:lnR>
                    <a:lnT w="6350" cap="flat" cmpd="sng" algn="ctr">
                      <a:solidFill>
                        <a:srgbClr val="E0E6ED"/>
                      </a:solidFill>
                      <a:prstDash val="solid"/>
                      <a:round/>
                      <a:headEnd type="none" w="med" len="med"/>
                      <a:tailEnd type="none" w="med" len="med"/>
                    </a:lnT>
                    <a:lnB w="6350" cap="flat" cmpd="sng" algn="ctr">
                      <a:solidFill>
                        <a:srgbClr val="E0E6ED"/>
                      </a:solidFill>
                      <a:prstDash val="solid"/>
                      <a:round/>
                      <a:headEnd type="none" w="med" len="med"/>
                      <a:tailEnd type="none" w="med" len="med"/>
                    </a:lnB>
                    <a:solidFill>
                      <a:srgbClr val="F4F6F8"/>
                    </a:solidFill>
                  </a:tcPr>
                </a:tc>
                <a:tc>
                  <a:txBody>
                    <a:bodyPr/>
                    <a:lstStyle/>
                    <a:p>
                      <a:pPr marL="0" indent="0" algn="ctr">
                        <a:buNone/>
                      </a:pPr>
                      <a:r>
                        <a:rPr lang="en-US" sz="950" dirty="0">
                          <a:solidFill>
                            <a:srgbClr val="212121"/>
                          </a:solidFill>
                          <a:latin typeface="Calibri" panose="020F0502020204030204" pitchFamily="34" charset="0"/>
                          <a:ea typeface="Calibri" panose="020F0502020204030204" pitchFamily="34" charset="-122"/>
                          <a:cs typeface="Calibri" panose="020F0502020204030204" pitchFamily="34" charset="-120"/>
                        </a:rPr>
                        <a:t>2 MW</a:t>
                      </a:r>
                      <a:endParaRPr lang="en-US" sz="950" dirty="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E0E6ED"/>
                      </a:solidFill>
                      <a:prstDash val="solid"/>
                      <a:round/>
                      <a:headEnd type="none" w="med" len="med"/>
                      <a:tailEnd type="none" w="med" len="med"/>
                    </a:lnL>
                    <a:lnR w="6350" cap="flat" cmpd="sng" algn="ctr">
                      <a:solidFill>
                        <a:srgbClr val="E0E6ED"/>
                      </a:solidFill>
                      <a:prstDash val="solid"/>
                      <a:round/>
                      <a:headEnd type="none" w="med" len="med"/>
                      <a:tailEnd type="none" w="med" len="med"/>
                    </a:lnR>
                    <a:lnT w="6350" cap="flat" cmpd="sng" algn="ctr">
                      <a:solidFill>
                        <a:srgbClr val="E0E6ED"/>
                      </a:solidFill>
                      <a:prstDash val="solid"/>
                      <a:round/>
                      <a:headEnd type="none" w="med" len="med"/>
                      <a:tailEnd type="none" w="med" len="med"/>
                    </a:lnT>
                    <a:lnB w="6350" cap="flat" cmpd="sng" algn="ctr">
                      <a:solidFill>
                        <a:srgbClr val="E0E6ED"/>
                      </a:solidFill>
                      <a:prstDash val="solid"/>
                      <a:round/>
                      <a:headEnd type="none" w="med" len="med"/>
                      <a:tailEnd type="none" w="med" len="med"/>
                    </a:lnB>
                    <a:solidFill>
                      <a:srgbClr val="F4F6F8"/>
                    </a:solidFill>
                  </a:tcPr>
                </a:tc>
                <a:tc>
                  <a:txBody>
                    <a:bodyPr/>
                    <a:lstStyle/>
                    <a:p>
                      <a:pPr marL="0" indent="0" algn="ctr">
                        <a:buNone/>
                      </a:pPr>
                      <a:r>
                        <a:rPr lang="en-US" sz="950" dirty="0">
                          <a:solidFill>
                            <a:srgbClr val="212121"/>
                          </a:solidFill>
                          <a:latin typeface="Calibri" panose="020F0502020204030204" pitchFamily="34" charset="0"/>
                          <a:ea typeface="Calibri" panose="020F0502020204030204" pitchFamily="34" charset="-122"/>
                          <a:cs typeface="Calibri" panose="020F0502020204030204" pitchFamily="34" charset="-120"/>
                        </a:rPr>
                        <a:t>5.500 MWh</a:t>
                      </a:r>
                      <a:endParaRPr lang="en-US" sz="950" dirty="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E0E6ED"/>
                      </a:solidFill>
                      <a:prstDash val="solid"/>
                      <a:round/>
                      <a:headEnd type="none" w="med" len="med"/>
                      <a:tailEnd type="none" w="med" len="med"/>
                    </a:lnL>
                    <a:lnR w="6350" cap="flat" cmpd="sng" algn="ctr">
                      <a:solidFill>
                        <a:srgbClr val="E0E6ED"/>
                      </a:solidFill>
                      <a:prstDash val="solid"/>
                      <a:round/>
                      <a:headEnd type="none" w="med" len="med"/>
                      <a:tailEnd type="none" w="med" len="med"/>
                    </a:lnR>
                    <a:lnT w="6350" cap="flat" cmpd="sng" algn="ctr">
                      <a:solidFill>
                        <a:srgbClr val="E0E6ED"/>
                      </a:solidFill>
                      <a:prstDash val="solid"/>
                      <a:round/>
                      <a:headEnd type="none" w="med" len="med"/>
                      <a:tailEnd type="none" w="med" len="med"/>
                    </a:lnT>
                    <a:lnB w="6350" cap="flat" cmpd="sng" algn="ctr">
                      <a:solidFill>
                        <a:srgbClr val="E0E6ED"/>
                      </a:solidFill>
                      <a:prstDash val="solid"/>
                      <a:round/>
                      <a:headEnd type="none" w="med" len="med"/>
                      <a:tailEnd type="none" w="med" len="med"/>
                    </a:lnB>
                    <a:solidFill>
                      <a:srgbClr val="F4F6F8"/>
                    </a:solidFill>
                  </a:tcPr>
                </a:tc>
              </a:tr>
              <a:tr h="292608">
                <a:tc>
                  <a:txBody>
                    <a:bodyPr/>
                    <a:lstStyle/>
                    <a:p>
                      <a:pPr marL="0" indent="0" algn="l">
                        <a:buNone/>
                      </a:pPr>
                      <a:r>
                        <a:rPr lang="en-US" sz="950" dirty="0">
                          <a:solidFill>
                            <a:srgbClr val="212121"/>
                          </a:solidFill>
                          <a:latin typeface="Calibri" panose="020F0502020204030204" pitchFamily="34" charset="0"/>
                          <a:ea typeface="Calibri" panose="020F0502020204030204" pitchFamily="34" charset="-122"/>
                          <a:cs typeface="Calibri" panose="020F0502020204030204" pitchFamily="34" charset="-120"/>
                        </a:rPr>
                        <a:t>TOPLAM</a:t>
                      </a:r>
                      <a:endParaRPr lang="en-US" sz="950" dirty="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E0E6ED"/>
                      </a:solidFill>
                      <a:prstDash val="solid"/>
                      <a:round/>
                      <a:headEnd type="none" w="med" len="med"/>
                      <a:tailEnd type="none" w="med" len="med"/>
                    </a:lnL>
                    <a:lnR w="6350" cap="flat" cmpd="sng" algn="ctr">
                      <a:solidFill>
                        <a:srgbClr val="E0E6ED"/>
                      </a:solidFill>
                      <a:prstDash val="solid"/>
                      <a:round/>
                      <a:headEnd type="none" w="med" len="med"/>
                      <a:tailEnd type="none" w="med" len="med"/>
                    </a:lnR>
                    <a:lnT w="6350" cap="flat" cmpd="sng" algn="ctr">
                      <a:solidFill>
                        <a:srgbClr val="E0E6ED"/>
                      </a:solidFill>
                      <a:prstDash val="solid"/>
                      <a:round/>
                      <a:headEnd type="none" w="med" len="med"/>
                      <a:tailEnd type="none" w="med" len="med"/>
                    </a:lnT>
                    <a:lnB w="6350" cap="flat" cmpd="sng" algn="ctr">
                      <a:solidFill>
                        <a:srgbClr val="E0E6ED"/>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212121"/>
                          </a:solidFill>
                          <a:latin typeface="Calibri" panose="020F0502020204030204" pitchFamily="34" charset="0"/>
                          <a:ea typeface="Calibri" panose="020F0502020204030204" pitchFamily="34" charset="-122"/>
                          <a:cs typeface="Calibri" panose="020F0502020204030204" pitchFamily="34" charset="-120"/>
                        </a:rPr>
                        <a:t>~86 MW</a:t>
                      </a:r>
                      <a:endParaRPr lang="en-US" sz="950" dirty="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E0E6ED"/>
                      </a:solidFill>
                      <a:prstDash val="solid"/>
                      <a:round/>
                      <a:headEnd type="none" w="med" len="med"/>
                      <a:tailEnd type="none" w="med" len="med"/>
                    </a:lnL>
                    <a:lnR w="6350" cap="flat" cmpd="sng" algn="ctr">
                      <a:solidFill>
                        <a:srgbClr val="E0E6ED"/>
                      </a:solidFill>
                      <a:prstDash val="solid"/>
                      <a:round/>
                      <a:headEnd type="none" w="med" len="med"/>
                      <a:tailEnd type="none" w="med" len="med"/>
                    </a:lnR>
                    <a:lnT w="6350" cap="flat" cmpd="sng" algn="ctr">
                      <a:solidFill>
                        <a:srgbClr val="E0E6ED"/>
                      </a:solidFill>
                      <a:prstDash val="solid"/>
                      <a:round/>
                      <a:headEnd type="none" w="med" len="med"/>
                      <a:tailEnd type="none" w="med" len="med"/>
                    </a:lnT>
                    <a:lnB w="6350" cap="flat" cmpd="sng" algn="ctr">
                      <a:solidFill>
                        <a:srgbClr val="E0E6ED"/>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212121"/>
                          </a:solidFill>
                          <a:latin typeface="Calibri" panose="020F0502020204030204" pitchFamily="34" charset="0"/>
                          <a:ea typeface="Calibri" panose="020F0502020204030204" pitchFamily="34" charset="-122"/>
                          <a:cs typeface="Calibri" panose="020F0502020204030204" pitchFamily="34" charset="-120"/>
                        </a:rPr>
                        <a:t>~196.200 MWh</a:t>
                      </a:r>
                      <a:endParaRPr lang="en-US" sz="950" dirty="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E0E6ED"/>
                      </a:solidFill>
                      <a:prstDash val="solid"/>
                      <a:round/>
                      <a:headEnd type="none" w="med" len="med"/>
                      <a:tailEnd type="none" w="med" len="med"/>
                    </a:lnL>
                    <a:lnR w="6350" cap="flat" cmpd="sng" algn="ctr">
                      <a:solidFill>
                        <a:srgbClr val="E0E6ED"/>
                      </a:solidFill>
                      <a:prstDash val="solid"/>
                      <a:round/>
                      <a:headEnd type="none" w="med" len="med"/>
                      <a:tailEnd type="none" w="med" len="med"/>
                    </a:lnR>
                    <a:lnT w="6350" cap="flat" cmpd="sng" algn="ctr">
                      <a:solidFill>
                        <a:srgbClr val="E0E6ED"/>
                      </a:solidFill>
                      <a:prstDash val="solid"/>
                      <a:round/>
                      <a:headEnd type="none" w="med" len="med"/>
                      <a:tailEnd type="none" w="med" len="med"/>
                    </a:lnT>
                    <a:lnB w="6350" cap="flat" cmpd="sng" algn="ctr">
                      <a:solidFill>
                        <a:srgbClr val="E0E6ED"/>
                      </a:solidFill>
                      <a:prstDash val="solid"/>
                      <a:round/>
                      <a:headEnd type="none" w="med" len="med"/>
                      <a:tailEnd type="none" w="med" len="med"/>
                    </a:lnB>
                    <a:solidFill>
                      <a:srgbClr val="FFFFFF"/>
                    </a:solidFill>
                  </a:tcPr>
                </a:tc>
              </a:tr>
            </a:tbl>
          </a:graphicData>
        </a:graphic>
      </p:graphicFrame>
      <p:sp>
        <p:nvSpPr>
          <p:cNvPr id="30" name="Shape 27"/>
          <p:cNvSpPr/>
          <p:nvPr/>
        </p:nvSpPr>
        <p:spPr>
          <a:xfrm>
            <a:off x="3977640" y="2743200"/>
            <a:ext cx="4846320" cy="399968"/>
          </a:xfrm>
          <a:prstGeom prst="rect">
            <a:avLst/>
          </a:prstGeom>
          <a:solidFill>
            <a:srgbClr val="E67E22">
              <a:alpha val="12000"/>
            </a:srgbClr>
          </a:solidFill>
          <a:ln w="10160">
            <a:solidFill>
              <a:srgbClr val="E67E22"/>
            </a:solidFill>
            <a:prstDash val="solid"/>
          </a:ln>
        </p:spPr>
        <p:txBody>
          <a:bodyPr/>
          <a:lstStyle/>
          <a:p>
            <a:endParaRPr lang="tr-TR"/>
          </a:p>
        </p:txBody>
      </p:sp>
      <p:sp>
        <p:nvSpPr>
          <p:cNvPr id="31" name="Shape 28"/>
          <p:cNvSpPr/>
          <p:nvPr/>
        </p:nvSpPr>
        <p:spPr>
          <a:xfrm>
            <a:off x="3977640" y="2743200"/>
            <a:ext cx="438912" cy="420624"/>
          </a:xfrm>
          <a:prstGeom prst="rect">
            <a:avLst/>
          </a:prstGeom>
          <a:solidFill>
            <a:srgbClr val="E67E22"/>
          </a:solidFill>
          <a:ln w="12700">
            <a:solidFill>
              <a:srgbClr val="E67E22"/>
            </a:solidFill>
            <a:prstDash val="solid"/>
          </a:ln>
        </p:spPr>
        <p:txBody>
          <a:bodyPr/>
          <a:lstStyle/>
          <a:p>
            <a:endParaRPr lang="tr-TR"/>
          </a:p>
        </p:txBody>
      </p:sp>
      <p:sp>
        <p:nvSpPr>
          <p:cNvPr id="32" name="Text 29"/>
          <p:cNvSpPr/>
          <p:nvPr/>
        </p:nvSpPr>
        <p:spPr>
          <a:xfrm>
            <a:off x="3977640" y="2743200"/>
            <a:ext cx="410702" cy="420624"/>
          </a:xfrm>
          <a:prstGeom prst="rect">
            <a:avLst/>
          </a:prstGeom>
          <a:noFill/>
        </p:spPr>
        <p:txBody>
          <a:bodyPr wrap="square" rtlCol="0" anchor="ctr"/>
          <a:lstStyle/>
          <a:p>
            <a:pPr marL="0" indent="0" algn="ctr">
              <a:buNone/>
            </a:pPr>
            <a:r>
              <a:rPr lang="en-US" sz="1400" b="1" dirty="0">
                <a:solidFill>
                  <a:srgbClr val="FFFFFF"/>
                </a:solidFill>
                <a:latin typeface="Calibri" panose="020F0502020204030204" pitchFamily="34" charset="0"/>
                <a:ea typeface="Calibri" panose="020F0502020204030204" pitchFamily="34" charset="-122"/>
                <a:cs typeface="Calibri" panose="020F0502020204030204" pitchFamily="34" charset="-120"/>
              </a:rPr>
              <a:t>2.</a:t>
            </a:r>
            <a:endParaRPr lang="en-US" sz="1400" dirty="0"/>
          </a:p>
        </p:txBody>
      </p:sp>
      <p:sp>
        <p:nvSpPr>
          <p:cNvPr id="33" name="Text 30"/>
          <p:cNvSpPr/>
          <p:nvPr/>
        </p:nvSpPr>
        <p:spPr>
          <a:xfrm>
            <a:off x="4470103" y="2771708"/>
            <a:ext cx="4021455" cy="173198"/>
          </a:xfrm>
          <a:prstGeom prst="rect">
            <a:avLst/>
          </a:prstGeom>
          <a:noFill/>
        </p:spPr>
        <p:txBody>
          <a:bodyPr wrap="square" rtlCol="0" anchor="ctr"/>
          <a:lstStyle/>
          <a:p>
            <a:pPr marL="0" indent="0">
              <a:buNone/>
            </a:pPr>
            <a:r>
              <a:rPr lang="en-US" sz="1100" b="1" dirty="0">
                <a:solidFill>
                  <a:srgbClr val="212121"/>
                </a:solidFill>
                <a:latin typeface="Calibri" panose="020F0502020204030204" pitchFamily="34" charset="0"/>
                <a:ea typeface="Calibri" panose="020F0502020204030204" pitchFamily="34" charset="-122"/>
                <a:cs typeface="Calibri" panose="020F0502020204030204" pitchFamily="34" charset="-120"/>
              </a:rPr>
              <a:t>GES</a:t>
            </a:r>
            <a:endParaRPr lang="en-US" sz="1100" dirty="0"/>
          </a:p>
        </p:txBody>
      </p:sp>
      <p:sp>
        <p:nvSpPr>
          <p:cNvPr id="34" name="Text 31"/>
          <p:cNvSpPr/>
          <p:nvPr/>
        </p:nvSpPr>
        <p:spPr>
          <a:xfrm>
            <a:off x="4480560" y="2944906"/>
            <a:ext cx="4021455" cy="173198"/>
          </a:xfrm>
          <a:prstGeom prst="rect">
            <a:avLst/>
          </a:prstGeom>
          <a:noFill/>
        </p:spPr>
        <p:txBody>
          <a:bodyPr wrap="square" rtlCol="0" anchor="ctr"/>
          <a:lstStyle/>
          <a:p>
            <a:pPr marL="0" indent="0">
              <a:buNone/>
            </a:pPr>
            <a:r>
              <a:rPr lang="en-US" sz="900" dirty="0">
                <a:solidFill>
                  <a:srgbClr val="555555"/>
                </a:solidFill>
                <a:latin typeface="Calibri" panose="020F0502020204030204" pitchFamily="34" charset="0"/>
                <a:ea typeface="Calibri" panose="020F0502020204030204" pitchFamily="34" charset="-122"/>
                <a:cs typeface="Calibri" panose="020F0502020204030204" pitchFamily="34" charset="-120"/>
              </a:rPr>
              <a:t>69.800 MWh | CF %15,9</a:t>
            </a:r>
            <a:endParaRPr lang="en-US" sz="900" dirty="0"/>
          </a:p>
        </p:txBody>
      </p:sp>
      <p:sp>
        <p:nvSpPr>
          <p:cNvPr id="35" name="Shape 32"/>
          <p:cNvSpPr/>
          <p:nvPr/>
        </p:nvSpPr>
        <p:spPr>
          <a:xfrm>
            <a:off x="3977640" y="3227832"/>
            <a:ext cx="4846320" cy="482264"/>
          </a:xfrm>
          <a:prstGeom prst="rect">
            <a:avLst/>
          </a:prstGeom>
          <a:solidFill>
            <a:srgbClr val="1E8449">
              <a:alpha val="12000"/>
            </a:srgbClr>
          </a:solidFill>
          <a:ln w="10160">
            <a:solidFill>
              <a:srgbClr val="1E8449"/>
            </a:solidFill>
            <a:prstDash val="solid"/>
          </a:ln>
        </p:spPr>
        <p:txBody>
          <a:bodyPr/>
          <a:lstStyle/>
          <a:p>
            <a:endParaRPr lang="tr-TR"/>
          </a:p>
        </p:txBody>
      </p:sp>
      <p:sp>
        <p:nvSpPr>
          <p:cNvPr id="36" name="Shape 33"/>
          <p:cNvSpPr/>
          <p:nvPr/>
        </p:nvSpPr>
        <p:spPr>
          <a:xfrm>
            <a:off x="3977640" y="3234608"/>
            <a:ext cx="418447" cy="475488"/>
          </a:xfrm>
          <a:prstGeom prst="rect">
            <a:avLst/>
          </a:prstGeom>
          <a:solidFill>
            <a:srgbClr val="1E8449"/>
          </a:solidFill>
          <a:ln w="12700">
            <a:solidFill>
              <a:srgbClr val="1E8449"/>
            </a:solidFill>
            <a:prstDash val="solid"/>
          </a:ln>
        </p:spPr>
        <p:txBody>
          <a:bodyPr/>
          <a:lstStyle/>
          <a:p>
            <a:endParaRPr lang="tr-TR"/>
          </a:p>
        </p:txBody>
      </p:sp>
      <p:sp>
        <p:nvSpPr>
          <p:cNvPr id="37" name="Text 34"/>
          <p:cNvSpPr/>
          <p:nvPr/>
        </p:nvSpPr>
        <p:spPr>
          <a:xfrm>
            <a:off x="3977640" y="3157690"/>
            <a:ext cx="438912" cy="621792"/>
          </a:xfrm>
          <a:prstGeom prst="rect">
            <a:avLst/>
          </a:prstGeom>
          <a:noFill/>
        </p:spPr>
        <p:txBody>
          <a:bodyPr wrap="square" rtlCol="0" anchor="ctr"/>
          <a:lstStyle/>
          <a:p>
            <a:pPr marL="0" indent="0" algn="ctr">
              <a:buNone/>
            </a:pPr>
            <a:r>
              <a:rPr lang="en-US" sz="1400" b="1" dirty="0">
                <a:solidFill>
                  <a:srgbClr val="FFFFFF"/>
                </a:solidFill>
                <a:latin typeface="Calibri" panose="020F0502020204030204" pitchFamily="34" charset="0"/>
                <a:ea typeface="Calibri" panose="020F0502020204030204" pitchFamily="34" charset="-122"/>
                <a:cs typeface="Calibri" panose="020F0502020204030204" pitchFamily="34" charset="-120"/>
              </a:rPr>
              <a:t>3.</a:t>
            </a:r>
            <a:endParaRPr lang="en-US" sz="1400" dirty="0"/>
          </a:p>
        </p:txBody>
      </p:sp>
      <p:sp>
        <p:nvSpPr>
          <p:cNvPr id="38" name="Text 35"/>
          <p:cNvSpPr/>
          <p:nvPr/>
        </p:nvSpPr>
        <p:spPr>
          <a:xfrm>
            <a:off x="4480560" y="3249617"/>
            <a:ext cx="4097292" cy="195789"/>
          </a:xfrm>
          <a:prstGeom prst="rect">
            <a:avLst/>
          </a:prstGeom>
          <a:noFill/>
        </p:spPr>
        <p:txBody>
          <a:bodyPr wrap="square" rtlCol="0" anchor="ctr"/>
          <a:lstStyle/>
          <a:p>
            <a:pPr marL="0" indent="0">
              <a:buNone/>
            </a:pPr>
            <a:r>
              <a:rPr lang="en-US" sz="1100" b="1" dirty="0">
                <a:solidFill>
                  <a:srgbClr val="212121"/>
                </a:solidFill>
                <a:latin typeface="Calibri" panose="020F0502020204030204" pitchFamily="34" charset="0"/>
                <a:ea typeface="Calibri" panose="020F0502020204030204" pitchFamily="34" charset="-122"/>
                <a:cs typeface="Calibri" panose="020F0502020204030204" pitchFamily="34" charset="-120"/>
              </a:rPr>
              <a:t>Mikro-HES</a:t>
            </a:r>
            <a:endParaRPr lang="en-US" sz="1100" dirty="0"/>
          </a:p>
        </p:txBody>
      </p:sp>
      <p:sp>
        <p:nvSpPr>
          <p:cNvPr id="39" name="Text 36"/>
          <p:cNvSpPr/>
          <p:nvPr/>
        </p:nvSpPr>
        <p:spPr>
          <a:xfrm>
            <a:off x="4480560" y="3468586"/>
            <a:ext cx="4097292" cy="195789"/>
          </a:xfrm>
          <a:prstGeom prst="rect">
            <a:avLst/>
          </a:prstGeom>
          <a:noFill/>
        </p:spPr>
        <p:txBody>
          <a:bodyPr wrap="square" rtlCol="0" anchor="ctr"/>
          <a:lstStyle/>
          <a:p>
            <a:pPr marL="0" indent="0">
              <a:buNone/>
            </a:pPr>
            <a:r>
              <a:rPr lang="en-US" sz="900" dirty="0">
                <a:solidFill>
                  <a:srgbClr val="555555"/>
                </a:solidFill>
                <a:latin typeface="Calibri" panose="020F0502020204030204" pitchFamily="34" charset="0"/>
                <a:ea typeface="Calibri" panose="020F0502020204030204" pitchFamily="34" charset="-122"/>
                <a:cs typeface="Calibri" panose="020F0502020204030204" pitchFamily="34" charset="-120"/>
              </a:rPr>
              <a:t>5.500 MWh | Yerel kullanım</a:t>
            </a:r>
            <a:endParaRPr lang="en-US" sz="900" dirty="0"/>
          </a:p>
        </p:txBody>
      </p:sp>
      <p:sp>
        <p:nvSpPr>
          <p:cNvPr id="40" name="Shape 37"/>
          <p:cNvSpPr/>
          <p:nvPr/>
        </p:nvSpPr>
        <p:spPr>
          <a:xfrm>
            <a:off x="3977640" y="3790180"/>
            <a:ext cx="4846320" cy="440482"/>
          </a:xfrm>
          <a:prstGeom prst="rect">
            <a:avLst/>
          </a:prstGeom>
          <a:solidFill>
            <a:srgbClr val="922B21">
              <a:alpha val="12000"/>
            </a:srgbClr>
          </a:solidFill>
          <a:ln w="10160">
            <a:solidFill>
              <a:srgbClr val="922B21"/>
            </a:solidFill>
            <a:prstDash val="solid"/>
          </a:ln>
        </p:spPr>
        <p:txBody>
          <a:bodyPr/>
          <a:lstStyle/>
          <a:p>
            <a:endParaRPr lang="tr-TR"/>
          </a:p>
        </p:txBody>
      </p:sp>
      <p:sp>
        <p:nvSpPr>
          <p:cNvPr id="41" name="Shape 38"/>
          <p:cNvSpPr/>
          <p:nvPr/>
        </p:nvSpPr>
        <p:spPr>
          <a:xfrm>
            <a:off x="3977640" y="3790180"/>
            <a:ext cx="438912" cy="440482"/>
          </a:xfrm>
          <a:prstGeom prst="rect">
            <a:avLst/>
          </a:prstGeom>
          <a:solidFill>
            <a:srgbClr val="922B21"/>
          </a:solidFill>
          <a:ln w="12700">
            <a:solidFill>
              <a:srgbClr val="922B21"/>
            </a:solidFill>
            <a:prstDash val="solid"/>
          </a:ln>
        </p:spPr>
        <p:txBody>
          <a:bodyPr/>
          <a:lstStyle/>
          <a:p>
            <a:endParaRPr lang="tr-TR"/>
          </a:p>
        </p:txBody>
      </p:sp>
      <p:sp>
        <p:nvSpPr>
          <p:cNvPr id="42" name="Text 39"/>
          <p:cNvSpPr/>
          <p:nvPr/>
        </p:nvSpPr>
        <p:spPr>
          <a:xfrm>
            <a:off x="3995928" y="3697186"/>
            <a:ext cx="438912" cy="621792"/>
          </a:xfrm>
          <a:prstGeom prst="rect">
            <a:avLst/>
          </a:prstGeom>
          <a:noFill/>
        </p:spPr>
        <p:txBody>
          <a:bodyPr wrap="square" rtlCol="0" anchor="ctr"/>
          <a:lstStyle/>
          <a:p>
            <a:pPr marL="0" indent="0" algn="ctr">
              <a:buNone/>
            </a:pPr>
            <a:r>
              <a:rPr lang="en-US" sz="1400" b="1" dirty="0">
                <a:solidFill>
                  <a:srgbClr val="FFFFFF"/>
                </a:solidFill>
                <a:latin typeface="Calibri" panose="020F0502020204030204" pitchFamily="34" charset="0"/>
                <a:ea typeface="Calibri" panose="020F0502020204030204" pitchFamily="34" charset="-122"/>
                <a:cs typeface="Calibri" panose="020F0502020204030204" pitchFamily="34" charset="-120"/>
              </a:rPr>
              <a:t>4.</a:t>
            </a:r>
            <a:endParaRPr lang="en-US" sz="1400" dirty="0"/>
          </a:p>
        </p:txBody>
      </p:sp>
      <p:sp>
        <p:nvSpPr>
          <p:cNvPr id="43" name="Text 40"/>
          <p:cNvSpPr/>
          <p:nvPr/>
        </p:nvSpPr>
        <p:spPr>
          <a:xfrm>
            <a:off x="4480560" y="3760817"/>
            <a:ext cx="4297680" cy="181375"/>
          </a:xfrm>
          <a:prstGeom prst="rect">
            <a:avLst/>
          </a:prstGeom>
          <a:noFill/>
        </p:spPr>
        <p:txBody>
          <a:bodyPr wrap="square" rtlCol="0" anchor="ctr"/>
          <a:lstStyle/>
          <a:p>
            <a:pPr marL="0" indent="0">
              <a:buNone/>
            </a:pPr>
            <a:r>
              <a:rPr lang="en-US" sz="1100" b="1" dirty="0">
                <a:solidFill>
                  <a:srgbClr val="212121"/>
                </a:solidFill>
                <a:latin typeface="Calibri" panose="020F0502020204030204" pitchFamily="34" charset="0"/>
                <a:ea typeface="Calibri" panose="020F0502020204030204" pitchFamily="34" charset="-122"/>
                <a:cs typeface="Calibri" panose="020F0502020204030204" pitchFamily="34" charset="-120"/>
              </a:rPr>
              <a:t>Nükleer</a:t>
            </a:r>
            <a:endParaRPr lang="en-US" sz="1100" dirty="0"/>
          </a:p>
        </p:txBody>
      </p:sp>
      <p:sp>
        <p:nvSpPr>
          <p:cNvPr id="44" name="Text 41"/>
          <p:cNvSpPr/>
          <p:nvPr/>
        </p:nvSpPr>
        <p:spPr>
          <a:xfrm>
            <a:off x="4470103" y="4000422"/>
            <a:ext cx="4297680" cy="181375"/>
          </a:xfrm>
          <a:prstGeom prst="rect">
            <a:avLst/>
          </a:prstGeom>
          <a:noFill/>
        </p:spPr>
        <p:txBody>
          <a:bodyPr wrap="square" rtlCol="0" anchor="ctr"/>
          <a:lstStyle/>
          <a:p>
            <a:pPr marL="0" indent="0">
              <a:buNone/>
            </a:pPr>
            <a:r>
              <a:rPr lang="en-US" sz="900" dirty="0">
                <a:solidFill>
                  <a:srgbClr val="555555"/>
                </a:solidFill>
                <a:latin typeface="Calibri" panose="020F0502020204030204" pitchFamily="34" charset="0"/>
                <a:ea typeface="Calibri" panose="020F0502020204030204" pitchFamily="34" charset="-122"/>
                <a:cs typeface="Calibri" panose="020F0502020204030204" pitchFamily="34" charset="-120"/>
              </a:rPr>
              <a:t>Fay + nüfus → ELENDİ</a:t>
            </a:r>
            <a:endParaRPr lang="en-US" sz="900" dirty="0"/>
          </a:p>
        </p:txBody>
      </p:sp>
      <p:sp>
        <p:nvSpPr>
          <p:cNvPr id="45" name="Shape 42"/>
          <p:cNvSpPr/>
          <p:nvPr/>
        </p:nvSpPr>
        <p:spPr>
          <a:xfrm>
            <a:off x="3977640" y="4367418"/>
            <a:ext cx="4846320" cy="384048"/>
          </a:xfrm>
          <a:prstGeom prst="rect">
            <a:avLst/>
          </a:prstGeom>
          <a:solidFill>
            <a:srgbClr val="1B3A6B"/>
          </a:solidFill>
          <a:ln w="12700">
            <a:solidFill>
              <a:srgbClr val="1B3A6B"/>
            </a:solidFill>
            <a:prstDash val="solid"/>
          </a:ln>
        </p:spPr>
        <p:txBody>
          <a:bodyPr/>
          <a:lstStyle/>
          <a:p>
            <a:endParaRPr lang="tr-TR"/>
          </a:p>
        </p:txBody>
      </p:sp>
      <p:sp>
        <p:nvSpPr>
          <p:cNvPr id="46" name="Text 43"/>
          <p:cNvSpPr/>
          <p:nvPr/>
        </p:nvSpPr>
        <p:spPr>
          <a:xfrm>
            <a:off x="4023360" y="4367418"/>
            <a:ext cx="4754880" cy="365760"/>
          </a:xfrm>
          <a:prstGeom prst="rect">
            <a:avLst/>
          </a:prstGeom>
          <a:noFill/>
        </p:spPr>
        <p:txBody>
          <a:bodyPr wrap="square" rtlCol="0" anchor="ctr"/>
          <a:lstStyle/>
          <a:p>
            <a:pPr marL="0" indent="0" algn="ctr">
              <a:buNone/>
            </a:pPr>
            <a:r>
              <a:rPr lang="en-US" sz="900" b="1" dirty="0">
                <a:solidFill>
                  <a:srgbClr val="FFFFFF"/>
                </a:solidFill>
                <a:latin typeface="Calibri" panose="020F0502020204030204" pitchFamily="34" charset="0"/>
                <a:ea typeface="Calibri" panose="020F0502020204030204" pitchFamily="34" charset="-122"/>
                <a:cs typeface="Calibri" panose="020F0502020204030204" pitchFamily="34" charset="-120"/>
              </a:rPr>
              <a:t>Hibrit Toplam: ~196.200 MWh/yıl  |  ~56.000 hane  |  ~92.000 ton CO₂/yıl</a:t>
            </a:r>
            <a:endParaRPr lang="en-US" sz="9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1B3A6B"/>
        </a:solidFill>
        <a:effectLst/>
      </p:bgPr>
    </p:bg>
    <p:spTree>
      <p:nvGrpSpPr>
        <p:cNvPr id="1" name=""/>
        <p:cNvGrpSpPr/>
        <p:nvPr/>
      </p:nvGrpSpPr>
      <p:grpSpPr>
        <a:xfrm>
          <a:off x="0" y="0"/>
          <a:ext cx="0" cy="0"/>
          <a:chOff x="0" y="0"/>
          <a:chExt cx="0" cy="0"/>
        </a:xfrm>
      </p:grpSpPr>
      <p:sp>
        <p:nvSpPr>
          <p:cNvPr id="2" name="Shape 0"/>
          <p:cNvSpPr/>
          <p:nvPr/>
        </p:nvSpPr>
        <p:spPr>
          <a:xfrm>
            <a:off x="0" y="4297680"/>
            <a:ext cx="9144000" cy="845820"/>
          </a:xfrm>
          <a:prstGeom prst="rect">
            <a:avLst/>
          </a:prstGeom>
          <a:solidFill>
            <a:srgbClr val="C8901A"/>
          </a:solidFill>
          <a:ln w="12700">
            <a:solidFill>
              <a:srgbClr val="C8901A"/>
            </a:solidFill>
            <a:prstDash val="solid"/>
          </a:ln>
        </p:spPr>
        <p:txBody>
          <a:bodyPr/>
          <a:lstStyle/>
          <a:p>
            <a:endParaRPr lang="tr-TR"/>
          </a:p>
        </p:txBody>
      </p:sp>
      <p:sp>
        <p:nvSpPr>
          <p:cNvPr id="3" name="Shape 1"/>
          <p:cNvSpPr/>
          <p:nvPr/>
        </p:nvSpPr>
        <p:spPr>
          <a:xfrm>
            <a:off x="5669280" y="0"/>
            <a:ext cx="3474720" cy="4297680"/>
          </a:xfrm>
          <a:prstGeom prst="rect">
            <a:avLst/>
          </a:prstGeom>
          <a:solidFill>
            <a:srgbClr val="1D6A72">
              <a:alpha val="60000"/>
            </a:srgbClr>
          </a:solidFill>
          <a:ln w="12700">
            <a:solidFill>
              <a:srgbClr val="1D6A72"/>
            </a:solidFill>
            <a:prstDash val="solid"/>
          </a:ln>
        </p:spPr>
        <p:txBody>
          <a:bodyPr/>
          <a:lstStyle/>
          <a:p>
            <a:endParaRPr lang="tr-TR"/>
          </a:p>
        </p:txBody>
      </p:sp>
      <p:sp>
        <p:nvSpPr>
          <p:cNvPr id="4" name="Text 2"/>
          <p:cNvSpPr/>
          <p:nvPr/>
        </p:nvSpPr>
        <p:spPr>
          <a:xfrm>
            <a:off x="457200" y="640080"/>
            <a:ext cx="5303520" cy="914400"/>
          </a:xfrm>
          <a:prstGeom prst="rect">
            <a:avLst/>
          </a:prstGeom>
          <a:noFill/>
        </p:spPr>
        <p:txBody>
          <a:bodyPr wrap="square" rtlCol="0" anchor="ctr"/>
          <a:lstStyle/>
          <a:p>
            <a:pPr marL="0" indent="0">
              <a:buNone/>
            </a:pPr>
            <a:r>
              <a:rPr lang="en-US" sz="3800" b="1" dirty="0">
                <a:solidFill>
                  <a:srgbClr val="FFFFFF"/>
                </a:solidFill>
                <a:latin typeface="Calibri" panose="020F0502020204030204" pitchFamily="34" charset="0"/>
                <a:ea typeface="Calibri" panose="020F0502020204030204" pitchFamily="34" charset="-122"/>
                <a:cs typeface="Calibri" panose="020F0502020204030204" pitchFamily="34" charset="-120"/>
              </a:rPr>
              <a:t>Teşekkürler</a:t>
            </a:r>
            <a:endParaRPr lang="en-US" sz="3800" dirty="0"/>
          </a:p>
        </p:txBody>
      </p:sp>
      <p:sp>
        <p:nvSpPr>
          <p:cNvPr id="5" name="Text 3"/>
          <p:cNvSpPr/>
          <p:nvPr/>
        </p:nvSpPr>
        <p:spPr>
          <a:xfrm>
            <a:off x="457200" y="1645920"/>
            <a:ext cx="5303520" cy="457200"/>
          </a:xfrm>
          <a:prstGeom prst="rect">
            <a:avLst/>
          </a:prstGeom>
          <a:noFill/>
        </p:spPr>
        <p:txBody>
          <a:bodyPr wrap="square" rtlCol="0" anchor="ctr"/>
          <a:lstStyle/>
          <a:p>
            <a:pPr marL="0" indent="0">
              <a:buNone/>
            </a:pPr>
            <a:r>
              <a:rPr lang="en-US" sz="1600" i="1" dirty="0">
                <a:solidFill>
                  <a:srgbClr val="A9CCE3"/>
                </a:solidFill>
                <a:latin typeface="Calibri" panose="020F0502020204030204" pitchFamily="34" charset="0"/>
                <a:ea typeface="Calibri" panose="020F0502020204030204" pitchFamily="34" charset="-122"/>
                <a:cs typeface="Calibri" panose="020F0502020204030204" pitchFamily="34" charset="-120"/>
              </a:rPr>
              <a:t>Soru ve görüşleriniz için hazırız.</a:t>
            </a:r>
            <a:endParaRPr lang="en-US" sz="1600" dirty="0"/>
          </a:p>
        </p:txBody>
      </p:sp>
      <p:sp>
        <p:nvSpPr>
          <p:cNvPr id="6" name="Shape 4"/>
          <p:cNvSpPr/>
          <p:nvPr/>
        </p:nvSpPr>
        <p:spPr>
          <a:xfrm>
            <a:off x="457200" y="2240280"/>
            <a:ext cx="4754880" cy="0"/>
          </a:xfrm>
          <a:prstGeom prst="line">
            <a:avLst/>
          </a:prstGeom>
          <a:noFill/>
          <a:ln w="19050">
            <a:solidFill>
              <a:srgbClr val="C8901A"/>
            </a:solidFill>
            <a:prstDash val="solid"/>
          </a:ln>
        </p:spPr>
        <p:txBody>
          <a:bodyPr/>
          <a:lstStyle/>
          <a:p>
            <a:endParaRPr lang="tr-TR"/>
          </a:p>
        </p:txBody>
      </p:sp>
      <p:sp>
        <p:nvSpPr>
          <p:cNvPr id="7" name="Text 5"/>
          <p:cNvSpPr/>
          <p:nvPr/>
        </p:nvSpPr>
        <p:spPr>
          <a:xfrm>
            <a:off x="457200" y="2377440"/>
            <a:ext cx="5303520" cy="1645920"/>
          </a:xfrm>
          <a:prstGeom prst="rect">
            <a:avLst/>
          </a:prstGeom>
          <a:noFill/>
        </p:spPr>
        <p:txBody>
          <a:bodyPr wrap="square" rtlCol="0" anchor="t"/>
          <a:lstStyle/>
          <a:p>
            <a:pPr marL="0" indent="0">
              <a:buNone/>
            </a:pPr>
            <a:r>
              <a:rPr lang="en-US" sz="1300" b="1" dirty="0">
                <a:solidFill>
                  <a:srgbClr val="D6EAF8"/>
                </a:solidFill>
                <a:latin typeface="Calibri" panose="020F0502020204030204" pitchFamily="34" charset="0"/>
                <a:ea typeface="Calibri" panose="020F0502020204030204" pitchFamily="34" charset="-122"/>
                <a:cs typeface="Calibri" panose="020F0502020204030204" pitchFamily="34" charset="-120"/>
              </a:rPr>
              <a:t>İzmir İli Yenilenebilir Enerji Analizi
</a:t>
            </a:r>
            <a:r>
              <a:rPr lang="en-US" sz="1100" dirty="0">
                <a:solidFill>
                  <a:srgbClr val="C8901A"/>
                </a:solidFill>
                <a:latin typeface="Calibri" panose="020F0502020204030204" pitchFamily="34" charset="0"/>
                <a:ea typeface="Calibri" panose="020F0502020204030204" pitchFamily="34" charset="-122"/>
                <a:cs typeface="Calibri" panose="020F0502020204030204" pitchFamily="34" charset="-120"/>
              </a:rPr>
              <a:t>GES  ·  RES  ·  Mikro-HES  ·  Nükleer
</a:t>
            </a:r>
            <a:r>
              <a:rPr lang="en-US" sz="1000" dirty="0">
                <a:solidFill>
                  <a:srgbClr val="D6EAF8"/>
                </a:solidFill>
                <a:latin typeface="Calibri" panose="020F0502020204030204" pitchFamily="34" charset="0"/>
                <a:ea typeface="Calibri" panose="020F0502020204030204" pitchFamily="34" charset="-122"/>
                <a:cs typeface="Calibri" panose="020F0502020204030204" pitchFamily="34" charset="-120"/>
              </a:rPr>
              <a:t>
Danışman: Doç. Dr. Ceyda Aksoy Tırmıkçı
Can Burak Turcan · Afra Katırcı · Vahit Cem Bozkaya</a:t>
            </a:r>
            <a:endParaRPr lang="en-US" sz="1300" dirty="0"/>
          </a:p>
        </p:txBody>
      </p:sp>
      <p:sp>
        <p:nvSpPr>
          <p:cNvPr id="8" name="Text 6"/>
          <p:cNvSpPr/>
          <p:nvPr/>
        </p:nvSpPr>
        <p:spPr>
          <a:xfrm>
            <a:off x="274320" y="4334256"/>
            <a:ext cx="8595360" cy="457200"/>
          </a:xfrm>
          <a:prstGeom prst="rect">
            <a:avLst/>
          </a:prstGeom>
          <a:noFill/>
        </p:spPr>
        <p:txBody>
          <a:bodyPr wrap="square" rtlCol="0" anchor="ctr"/>
          <a:lstStyle/>
          <a:p>
            <a:pPr marL="0" indent="0" algn="ctr">
              <a:buNone/>
            </a:pPr>
            <a:r>
              <a:rPr lang="en-US" sz="1000" b="1" dirty="0">
                <a:solidFill>
                  <a:srgbClr val="1B3A6B"/>
                </a:solidFill>
                <a:latin typeface="Calibri" panose="020F0502020204030204" pitchFamily="34" charset="0"/>
                <a:ea typeface="Calibri" panose="020F0502020204030204" pitchFamily="34" charset="-122"/>
                <a:cs typeface="Calibri" panose="020F0502020204030204" pitchFamily="34" charset="-120"/>
              </a:rPr>
              <a:t>SAÜ  |  Elektrik-Elektronik Mühendisliği  |  2024–2025</a:t>
            </a:r>
            <a:endParaRPr lang="en-US" sz="1000" dirty="0"/>
          </a:p>
        </p:txBody>
      </p:sp>
    </p:spTree>
  </p:cSld>
  <p:clrMapOvr>
    <a:masterClrMapping/>
  </p:clrMapOvr>
</p:sld>
</file>

<file path=ppt/tags/tag1.xml><?xml version="1.0" encoding="utf-8"?>
<p:tagLst xmlns:p="http://schemas.openxmlformats.org/presentationml/2006/main">
  <p:tag name="KSO_WM_DIAGRAM_VIRTUALLY_FRAME" val="{&quot;height&quot;:111.6,&quot;left&quot;:25.2,&quot;top&quot;:126,&quot;width&quot;:676.8}"/>
</p:tagLst>
</file>

<file path=ppt/tags/tag2.xml><?xml version="1.0" encoding="utf-8"?>
<p:tagLst xmlns:p="http://schemas.openxmlformats.org/presentationml/2006/main">
  <p:tag name="KSO_WM_DIAGRAM_VIRTUALLY_FRAME" val="{&quot;height&quot;:111.6,&quot;left&quot;:25.2,&quot;top&quot;:126,&quot;width&quot;:676.8}"/>
</p:tagLst>
</file>

<file path=ppt/tags/tag3.xml><?xml version="1.0" encoding="utf-8"?>
<p:tagLst xmlns:p="http://schemas.openxmlformats.org/presentationml/2006/main">
  <p:tag name="KSO_WM_DIAGRAM_VIRTUALLY_FRAME" val="{&quot;height&quot;:111.6,&quot;left&quot;:25.2,&quot;top&quot;:126,&quot;width&quot;:676.8}"/>
</p:tagLst>
</file>

<file path=ppt/tags/tag4.xml><?xml version="1.0" encoding="utf-8"?>
<p:tagLst xmlns:p="http://schemas.openxmlformats.org/presentationml/2006/main">
  <p:tag name="KSO_WM_DIAGRAM_VIRTUALLY_FRAME" val="{&quot;height&quot;:111.6,&quot;left&quot;:25.2,&quot;top&quot;:126,&quot;width&quot;:676.8}"/>
</p:tagLst>
</file>

<file path=ppt/tags/tag5.xml><?xml version="1.0" encoding="utf-8"?>
<p:tagLst xmlns:p="http://schemas.openxmlformats.org/presentationml/2006/main">
  <p:tag name="KSO_WM_DIAGRAM_VIRTUALLY_FRAME" val="{&quot;height&quot;:111.6,&quot;left&quot;:25.2,&quot;top&quot;:126,&quot;width&quot;:676.8}"/>
</p:tagLst>
</file>

<file path=ppt/tags/tag6.xml><?xml version="1.0" encoding="utf-8"?>
<p:tagLst xmlns:p="http://schemas.openxmlformats.org/presentationml/2006/main">
  <p:tag name="KSO_WM_DIAGRAM_VIRTUALLY_FRAME" val="{&quot;height&quot;:111.6,&quot;left&quot;:25.2,&quot;top&quot;:126,&quot;width&quot;:676.8}"/>
</p:tagLst>
</file>

<file path=ppt/tags/tag7.xml><?xml version="1.0" encoding="utf-8"?>
<p:tagLst xmlns:p="http://schemas.openxmlformats.org/presentationml/2006/main">
  <p:tag name="KSO_WM_DIAGRAM_VIRTUALLY_FRAME" val="{&quot;height&quot;:111.6,&quot;left&quot;:25.2,&quot;top&quot;:126,&quot;width&quot;:676.8}"/>
</p:tagLst>
</file>

<file path=ppt/tags/tag8.xml><?xml version="1.0" encoding="utf-8"?>
<p:tagLst xmlns:p="http://schemas.openxmlformats.org/presentationml/2006/main">
  <p:tag name="KSO_WM_DIAGRAM_VIRTUALLY_FRAME" val="{&quot;height&quot;:111.6,&quot;left&quot;:25.2,&quot;top&quot;:126,&quot;width&quot;:676.8}"/>
</p:tagLst>
</file>

<file path=ppt/tags/tag9.xml><?xml version="1.0" encoding="utf-8"?>
<p:tagLst xmlns:p="http://schemas.openxmlformats.org/presentationml/2006/main">
  <p:tag name="KSO_WM_DIAGRAM_VIRTUALLY_FRAME" val="{&quot;height&quot;:111.6,&quot;left&quot;:25.2,&quot;top&quot;:126,&quot;width&quot;:676.8}"/>
</p:tagLst>
</file>

<file path=ppt/tags/tag10.xml><?xml version="1.0" encoding="utf-8"?>
<p:tagLst xmlns:p="http://schemas.openxmlformats.org/presentationml/2006/main">
  <p:tag name="KSO_WM_DIAGRAM_VIRTUALLY_FRAME" val="{&quot;height&quot;:111.6,&quot;left&quot;:25.2,&quot;top&quot;:126,&quot;width&quot;:676.8}"/>
</p:tagLst>
</file>

<file path=ppt/tags/tag11.xml><?xml version="1.0" encoding="utf-8"?>
<p:tagLst xmlns:p="http://schemas.openxmlformats.org/presentationml/2006/main">
  <p:tag name="KSO_WM_DIAGRAM_VIRTUALLY_FRAME" val="{&quot;height&quot;:111.6,&quot;left&quot;:25.2,&quot;top&quot;:126,&quot;width&quot;:676.8}"/>
</p:tagLst>
</file>

<file path=ppt/tags/tag12.xml><?xml version="1.0" encoding="utf-8"?>
<p:tagLst xmlns:p="http://schemas.openxmlformats.org/presentationml/2006/main">
  <p:tag name="KSO_WM_DIAGRAM_VIRTUALLY_FRAME" val="{&quot;height&quot;:111.6,&quot;left&quot;:25.2,&quot;top&quot;:126,&quot;width&quot;:676.8}"/>
</p:tagLst>
</file>

<file path=ppt/tags/tag13.xml><?xml version="1.0" encoding="utf-8"?>
<p:tagLst xmlns:p="http://schemas.openxmlformats.org/presentationml/2006/main">
  <p:tag name="KSO_WM_DIAGRAM_VIRTUALLY_FRAME" val="{&quot;height&quot;:111.6,&quot;left&quot;:25.2,&quot;top&quot;:126,&quot;width&quot;:676.8}"/>
</p:tagLst>
</file>

<file path=ppt/tags/tag14.xml><?xml version="1.0" encoding="utf-8"?>
<p:tagLst xmlns:p="http://schemas.openxmlformats.org/presentationml/2006/main">
  <p:tag name="KSO_WM_DIAGRAM_VIRTUALLY_FRAME" val="{&quot;height&quot;:111.6,&quot;left&quot;:25.2,&quot;top&quot;:126,&quot;width&quot;:676.8}"/>
</p:tagLst>
</file>

<file path=ppt/tags/tag15.xml><?xml version="1.0" encoding="utf-8"?>
<p:tagLst xmlns:p="http://schemas.openxmlformats.org/presentationml/2006/main">
  <p:tag name="KSO_WM_DIAGRAM_VIRTUALLY_FRAME" val="{&quot;height&quot;:111.6,&quot;left&quot;:25.2,&quot;top&quot;:126,&quot;width&quot;:676.8}"/>
</p:tagLst>
</file>

<file path=ppt/tags/tag16.xml><?xml version="1.0" encoding="utf-8"?>
<p:tagLst xmlns:p="http://schemas.openxmlformats.org/presentationml/2006/main">
  <p:tag name="KSO_WM_DIAGRAM_VIRTUALLY_FRAME" val="{&quot;height&quot;:111.6,&quot;left&quot;:25.2,&quot;top&quot;:126,&quot;width&quot;:676.8}"/>
</p:tagLst>
</file>

<file path=ppt/tags/tag17.xml><?xml version="1.0" encoding="utf-8"?>
<p:tagLst xmlns:p="http://schemas.openxmlformats.org/presentationml/2006/main">
  <p:tag name="KSO_WM_DIAGRAM_VIRTUALLY_FRAME" val="{&quot;height&quot;:111.6,&quot;left&quot;:25.2,&quot;top&quot;:126,&quot;width&quot;:676.8}"/>
</p:tagLst>
</file>

<file path=ppt/tags/tag18.xml><?xml version="1.0" encoding="utf-8"?>
<p:tagLst xmlns:p="http://schemas.openxmlformats.org/presentationml/2006/main">
  <p:tag name="KSO_WM_DIAGRAM_VIRTUALLY_FRAME" val="{&quot;height&quot;:111.6,&quot;left&quot;:25.2,&quot;top&quot;:126,&quot;width&quot;:676.8}"/>
</p:tagLst>
</file>

<file path=ppt/tags/tag19.xml><?xml version="1.0" encoding="utf-8"?>
<p:tagLst xmlns:p="http://schemas.openxmlformats.org/presentationml/2006/main">
  <p:tag name="KSO_WM_DIAGRAM_VIRTUALLY_FRAME" val="{&quot;height&quot;:111.6,&quot;left&quot;:25.2,&quot;top&quot;:126,&quot;width&quot;:676.8}"/>
</p:tagLst>
</file>

<file path=ppt/tags/tag20.xml><?xml version="1.0" encoding="utf-8"?>
<p:tagLst xmlns:p="http://schemas.openxmlformats.org/presentationml/2006/main">
  <p:tag name="KSO_WM_DIAGRAM_VIRTUALLY_FRAME" val="{&quot;height&quot;:111.6,&quot;left&quot;:25.2,&quot;top&quot;:126,&quot;width&quot;:676.8}"/>
</p:tagLst>
</file>

<file path=ppt/tags/tag21.xml><?xml version="1.0" encoding="utf-8"?>
<p:tagLst xmlns:p="http://schemas.openxmlformats.org/presentationml/2006/main">
  <p:tag name="KSO_WM_DIAGRAM_VIRTUALLY_FRAME" val="{&quot;height&quot;:111.6,&quot;left&quot;:25.2,&quot;top&quot;:126,&quot;width&quot;:676.8}"/>
</p:tagLst>
</file>

<file path=ppt/tags/tag22.xml><?xml version="1.0" encoding="utf-8"?>
<p:tagLst xmlns:p="http://schemas.openxmlformats.org/presentationml/2006/main">
  <p:tag name="KSO_WM_DIAGRAM_VIRTUALLY_FRAME" val="{&quot;height&quot;:111.6,&quot;left&quot;:25.2,&quot;top&quot;:126,&quot;width&quot;:676.8}"/>
</p:tagLst>
</file>

<file path=ppt/tags/tag23.xml><?xml version="1.0" encoding="utf-8"?>
<p:tagLst xmlns:p="http://schemas.openxmlformats.org/presentationml/2006/main">
  <p:tag name="KSO_WM_DIAGRAM_VIRTUALLY_FRAME" val="{&quot;height&quot;:111.6,&quot;left&quot;:25.2,&quot;top&quot;:126,&quot;width&quot;:676.8}"/>
</p:tagLst>
</file>

<file path=ppt/tags/tag24.xml><?xml version="1.0" encoding="utf-8"?>
<p:tagLst xmlns:p="http://schemas.openxmlformats.org/presentationml/2006/main">
  <p:tag name="KSO_WM_DIAGRAM_VIRTUALLY_FRAME" val="{&quot;height&quot;:111.6,&quot;left&quot;:25.2,&quot;top&quot;:126,&quot;width&quot;:676.8}"/>
</p:tagLst>
</file>

<file path=ppt/tags/tag25.xml><?xml version="1.0" encoding="utf-8"?>
<p:tagLst xmlns:p="http://schemas.openxmlformats.org/presentationml/2006/main">
  <p:tag name="KSO_WM_DIAGRAM_VIRTUALLY_FRAME" val="{&quot;height&quot;:111.6,&quot;left&quot;:25.2,&quot;top&quot;:126,&quot;width&quot;:676.8}"/>
</p:tagLst>
</file>

<file path=ppt/tags/tag26.xml><?xml version="1.0" encoding="utf-8"?>
<p:tagLst xmlns:p="http://schemas.openxmlformats.org/presentationml/2006/main">
  <p:tag name="KSO_WM_DIAGRAM_VIRTUALLY_FRAME" val="{&quot;height&quot;:111.6,&quot;left&quot;:25.2,&quot;top&quot;:126,&quot;width&quot;:676.8}"/>
</p:tagLst>
</file>

<file path=ppt/tags/tag27.xml><?xml version="1.0" encoding="utf-8"?>
<p:tagLst xmlns:p="http://schemas.openxmlformats.org/presentationml/2006/main">
  <p:tag name="KSO_WM_DIAGRAM_VIRTUALLY_FRAME" val="{&quot;height&quot;:111.6,&quot;left&quot;:25.2,&quot;top&quot;:126,&quot;width&quot;:676.8}"/>
</p:tagLst>
</file>

<file path=ppt/tags/tag28.xml><?xml version="1.0" encoding="utf-8"?>
<p:tagLst xmlns:p="http://schemas.openxmlformats.org/presentationml/2006/main">
  <p:tag name="KSO_WM_DIAGRAM_VIRTUALLY_FRAME" val="{&quot;height&quot;:111.6,&quot;left&quot;:25.2,&quot;top&quot;:126,&quot;width&quot;:676.8}"/>
</p:tagLst>
</file>

<file path=ppt/tags/tag29.xml><?xml version="1.0" encoding="utf-8"?>
<p:tagLst xmlns:p="http://schemas.openxmlformats.org/presentationml/2006/main">
  <p:tag name="KSO_WM_DIAGRAM_VIRTUALLY_FRAME" val="{&quot;height&quot;:111.6,&quot;left&quot;:25.2,&quot;top&quot;:126,&quot;width&quot;:676.8}"/>
</p:tagLst>
</file>

<file path=ppt/tags/tag30.xml><?xml version="1.0" encoding="utf-8"?>
<p:tagLst xmlns:p="http://schemas.openxmlformats.org/presentationml/2006/main">
  <p:tag name="KSO_WM_DIAGRAM_VIRTUALLY_FRAME" val="{&quot;height&quot;:111.6,&quot;left&quot;:25.2,&quot;top&quot;:126,&quot;width&quot;:676.8}"/>
</p:tagLst>
</file>

<file path=ppt/tags/tag31.xml><?xml version="1.0" encoding="utf-8"?>
<p:tagLst xmlns:p="http://schemas.openxmlformats.org/presentationml/2006/main">
  <p:tag name="KSO_WM_DIAGRAM_VIRTUALLY_FRAME" val="{&quot;height&quot;:111.6,&quot;left&quot;:25.2,&quot;top&quot;:126,&quot;width&quot;:676.8}"/>
</p:tagLst>
</file>

<file path=ppt/tags/tag32.xml><?xml version="1.0" encoding="utf-8"?>
<p:tagLst xmlns:p="http://schemas.openxmlformats.org/presentationml/2006/main">
  <p:tag name="KSO_WM_DIAGRAM_VIRTUALLY_FRAME" val="{&quot;height&quot;:111.6,&quot;left&quot;:25.2,&quot;top&quot;:126,&quot;width&quot;:676.8}"/>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eması">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28639</Words>
  <Application>WPS Sunum</Application>
  <PresentationFormat>On-screen Show (16:9)</PresentationFormat>
  <Paragraphs>1482</Paragraphs>
  <Slides>40</Slides>
  <Notes>21</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40</vt:i4>
      </vt:variant>
    </vt:vector>
  </HeadingPairs>
  <TitlesOfParts>
    <vt:vector size="53" baseType="lpstr">
      <vt:lpstr>Arial</vt:lpstr>
      <vt:lpstr>SimSun</vt:lpstr>
      <vt:lpstr>Wingdings</vt:lpstr>
      <vt:lpstr>Calibri</vt:lpstr>
      <vt:lpstr>Calibri</vt:lpstr>
      <vt:lpstr>Calibri</vt:lpstr>
      <vt:lpstr>Calibri</vt:lpstr>
      <vt:lpstr>Microsoft YaHei</vt:lpstr>
      <vt:lpstr>Arial Unicode MS</vt:lpstr>
      <vt:lpstr>Arial</vt:lpstr>
      <vt:lpstr>Calibri Light</vt:lpstr>
      <vt:lpstr>Times New Roman</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İzmir Yenilenebilir Enerji Analizi</dc:title>
  <dc:creator>SAÜ EEM</dc:creator>
  <dc:subject>PptxGenJS Presentation</dc:subject>
  <cp:lastModifiedBy>vahit cem BOZKAYA</cp:lastModifiedBy>
  <cp:revision>23</cp:revision>
  <dcterms:created xsi:type="dcterms:W3CDTF">2026-05-13T19:18:00Z</dcterms:created>
  <dcterms:modified xsi:type="dcterms:W3CDTF">2026-05-14T14:29:27Z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5CA7C87A3EC7410F91EF7BFDE76F31B3_12</vt:lpwstr>
  </property>
  <property fmtid="{D5CDD505-2E9C-101B-9397-08002B2CF9AE}" pid="3" name="KSOProductBuildVer">
    <vt:lpwstr>1055-12.2.0.22549</vt:lpwstr>
  </property>
</Properties>
</file>